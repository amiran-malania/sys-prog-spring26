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</p:sldIdLst>
  <p:sldSz cy="6858000" cx="9144000"/>
  <p:notesSz cx="7302500" cy="9586900"/>
  <p:embeddedFontLst>
    <p:embeddedFont>
      <p:font typeface="Arial Narrow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672">
          <p15:clr>
            <a:srgbClr val="000000"/>
          </p15:clr>
        </p15:guide>
        <p15:guide id="2" pos="336">
          <p15:clr>
            <a:srgbClr val="000000"/>
          </p15:clr>
        </p15:guide>
      </p15:sldGuideLst>
    </p:ext>
    <p:ext uri="GoogleSlidesCustomDataVersion2">
      <go:slidesCustomData xmlns:go="http://customooxmlschemas.google.com/" r:id="rId53" roundtripDataSignature="AMtx7miEM5GjoYPvlSjVY7x7MH09hbUZ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72" orient="horz"/>
        <p:guide pos="33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font" Target="fonts/ArialNarrow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ArialNarrow-italic.fntdata"/><Relationship Id="rId50" Type="http://schemas.openxmlformats.org/officeDocument/2006/relationships/font" Target="fonts/ArialNarrow-bold.fntdata"/><Relationship Id="rId53" Type="http://customschemas.google.com/relationships/presentationmetadata" Target="metadata"/><Relationship Id="rId52" Type="http://schemas.openxmlformats.org/officeDocument/2006/relationships/font" Target="fonts/ArialNarrow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14800" y="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44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14800" y="9144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" name="Google Shape;63;p1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" name="Google Shape;64;p1:notes"/>
          <p:cNvSpPr txBox="1"/>
          <p:nvPr>
            <p:ph idx="12" type="sldNum"/>
          </p:nvPr>
        </p:nvSpPr>
        <p:spPr>
          <a:xfrm>
            <a:off x="4114800" y="9144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0" name="Google Shape;70;p2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" name="Google Shape;71;p2:notes"/>
          <p:cNvSpPr txBox="1"/>
          <p:nvPr>
            <p:ph idx="12" type="sldNum"/>
          </p:nvPr>
        </p:nvSpPr>
        <p:spPr>
          <a:xfrm>
            <a:off x="4114800" y="9144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" name="Google Shape;99;p5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6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8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9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" name="Google Shape;205;p10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2" name="Google Shape;212;p11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2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9" name="Google Shape;219;p12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3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6" name="Google Shape;226;p13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4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3" name="Google Shape;233;p14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5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0" name="Google Shape;240;p15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46" name="Google Shape;246;p16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p16:notes"/>
          <p:cNvSpPr txBox="1"/>
          <p:nvPr>
            <p:ph idx="12" type="sldNum"/>
          </p:nvPr>
        </p:nvSpPr>
        <p:spPr>
          <a:xfrm>
            <a:off x="4114800" y="9144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7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3" name="Google Shape;253;p17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8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9" name="Google Shape;259;p18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9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6" name="Google Shape;266;p19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0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3" name="Google Shape;273;p20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1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1" name="Google Shape;281;p21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2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9" name="Google Shape;289;p22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3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8" name="Google Shape;318;p23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4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7" name="Google Shape;337;p24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5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45" name="Google Shape;345;p25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6" name="Google Shape;346;p25:notes"/>
          <p:cNvSpPr txBox="1"/>
          <p:nvPr>
            <p:ph idx="12" type="sldNum"/>
          </p:nvPr>
        </p:nvSpPr>
        <p:spPr>
          <a:xfrm>
            <a:off x="4114800" y="9144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6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2" name="Google Shape;352;p26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7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9" name="Google Shape;359;p27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8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7" name="Google Shape;367;p28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9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3" name="Google Shape;413;p29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0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3" name="Google Shape;453;p30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1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7" name="Google Shape;497;p31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2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2" name="Google Shape;552;p32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33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4" name="Google Shape;584;p33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34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9" name="Google Shape;629;p34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35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73" name="Google Shape;673;p35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4" name="Google Shape;674;p35:notes"/>
          <p:cNvSpPr txBox="1"/>
          <p:nvPr>
            <p:ph idx="12" type="sldNum"/>
          </p:nvPr>
        </p:nvSpPr>
        <p:spPr>
          <a:xfrm>
            <a:off x="4114800" y="9144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36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0" name="Google Shape;680;p36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37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6" name="Google Shape;686;p37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38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3" name="Google Shape;693;p38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39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3" name="Google Shape;703;p39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40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4" name="Google Shape;734;p40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41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42" name="Google Shape;742;p41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3" name="Google Shape;743;p41:notes"/>
          <p:cNvSpPr txBox="1"/>
          <p:nvPr>
            <p:ph idx="12" type="sldNum"/>
          </p:nvPr>
        </p:nvSpPr>
        <p:spPr>
          <a:xfrm>
            <a:off x="4114800" y="9144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42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9" name="Google Shape;749;p42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47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6" name="Google Shape;766;p47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4"/>
          <p:cNvSpPr txBox="1"/>
          <p:nvPr>
            <p:ph type="ctrTitle"/>
          </p:nvPr>
        </p:nvSpPr>
        <p:spPr>
          <a:xfrm>
            <a:off x="685800" y="1708012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54"/>
          <p:cNvSpPr txBox="1"/>
          <p:nvPr>
            <p:ph idx="1" type="subTitle"/>
          </p:nvPr>
        </p:nvSpPr>
        <p:spPr>
          <a:xfrm>
            <a:off x="685800" y="3886200"/>
            <a:ext cx="7677492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b="0" sz="2000"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5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5"/>
          <p:cNvSpPr txBox="1"/>
          <p:nvPr>
            <p:ph idx="1" type="body"/>
          </p:nvPr>
        </p:nvSpPr>
        <p:spPr>
          <a:xfrm>
            <a:off x="396875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20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98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7"/>
          <p:cNvSpPr txBox="1"/>
          <p:nvPr>
            <p:ph type="title"/>
          </p:nvPr>
        </p:nvSpPr>
        <p:spPr>
          <a:xfrm>
            <a:off x="374090" y="371182"/>
            <a:ext cx="75914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7"/>
          <p:cNvSpPr txBox="1"/>
          <p:nvPr>
            <p:ph idx="1" type="body"/>
          </p:nvPr>
        </p:nvSpPr>
        <p:spPr>
          <a:xfrm>
            <a:off x="638175" y="1362075"/>
            <a:ext cx="3871913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⬛"/>
              <a:defRPr sz="2800">
                <a:latin typeface="Calibri"/>
                <a:ea typeface="Calibri"/>
                <a:cs typeface="Calibri"/>
                <a:sym typeface="Calibri"/>
              </a:defRPr>
            </a:lvl1pPr>
            <a:lvl2pPr indent="-39624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640"/>
              <a:buChar char="▪"/>
              <a:defRPr sz="2400"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2000"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–"/>
              <a:defRPr sz="1800"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»"/>
              <a:defRPr sz="18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28" name="Google Shape;28;p57"/>
          <p:cNvSpPr txBox="1"/>
          <p:nvPr>
            <p:ph idx="2" type="body"/>
          </p:nvPr>
        </p:nvSpPr>
        <p:spPr>
          <a:xfrm>
            <a:off x="4662488" y="1362075"/>
            <a:ext cx="3871912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⬛"/>
              <a:defRPr sz="2800">
                <a:latin typeface="Calibri"/>
                <a:ea typeface="Calibri"/>
                <a:cs typeface="Calibri"/>
                <a:sym typeface="Calibri"/>
              </a:defRPr>
            </a:lvl1pPr>
            <a:lvl2pPr indent="-39624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640"/>
              <a:buChar char="▪"/>
              <a:defRPr sz="2400"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2000"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–"/>
              <a:defRPr sz="1800"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»"/>
              <a:defRPr sz="18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32" name="Google Shape;32;p5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 sz="2000">
                <a:latin typeface="Calibri"/>
                <a:ea typeface="Calibri"/>
                <a:cs typeface="Calibri"/>
                <a:sym typeface="Calibri"/>
              </a:defRPr>
            </a:lvl2pPr>
            <a:lvl3pPr indent="-32004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–"/>
              <a:defRPr sz="1600"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»"/>
              <a:defRPr sz="1600"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33" name="Google Shape;33;p5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34" name="Google Shape;34;p5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 sz="2000">
                <a:latin typeface="Calibri"/>
                <a:ea typeface="Calibri"/>
                <a:cs typeface="Calibri"/>
                <a:sym typeface="Calibri"/>
              </a:defRPr>
            </a:lvl2pPr>
            <a:lvl3pPr indent="-32004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–"/>
              <a:defRPr sz="1600"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»"/>
              <a:defRPr sz="1600"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9"/>
          <p:cNvSpPr txBox="1"/>
          <p:nvPr>
            <p:ph type="title"/>
          </p:nvPr>
        </p:nvSpPr>
        <p:spPr>
          <a:xfrm>
            <a:off x="357762" y="445070"/>
            <a:ext cx="75914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⬛"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indent="-42418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3080"/>
              <a:buChar char="▪"/>
              <a:defRPr sz="2800">
                <a:latin typeface="Calibri"/>
                <a:ea typeface="Calibri"/>
                <a:cs typeface="Calibri"/>
                <a:sym typeface="Calibri"/>
              </a:defRPr>
            </a:lvl2pPr>
            <a:lvl3pPr indent="-35052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▪"/>
              <a:defRPr sz="2400"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 sz="2000"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 sz="2000"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41" name="Google Shape;41;p6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32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6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32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3"/>
          <p:cNvSpPr txBox="1"/>
          <p:nvPr>
            <p:ph type="title"/>
          </p:nvPr>
        </p:nvSpPr>
        <p:spPr>
          <a:xfrm>
            <a:off x="374090" y="371182"/>
            <a:ext cx="75914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3"/>
          <p:cNvSpPr txBox="1"/>
          <p:nvPr>
            <p:ph idx="1" type="body"/>
          </p:nvPr>
        </p:nvSpPr>
        <p:spPr>
          <a:xfrm rot="5400000">
            <a:off x="1858963" y="-100012"/>
            <a:ext cx="4972050" cy="789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4"/>
          <p:cNvSpPr txBox="1"/>
          <p:nvPr>
            <p:ph type="title"/>
          </p:nvPr>
        </p:nvSpPr>
        <p:spPr>
          <a:xfrm rot="5400000">
            <a:off x="4998244" y="2188369"/>
            <a:ext cx="6105525" cy="21859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4"/>
          <p:cNvSpPr txBox="1"/>
          <p:nvPr>
            <p:ph idx="1" type="body"/>
          </p:nvPr>
        </p:nvSpPr>
        <p:spPr>
          <a:xfrm rot="5400000">
            <a:off x="548481" y="76994"/>
            <a:ext cx="6105525" cy="6408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, and 2 Content" type="objAndTwoObj">
  <p:cSld name="OBJECT_AND_TWO_OBJECT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5"/>
          <p:cNvSpPr txBox="1"/>
          <p:nvPr>
            <p:ph type="title"/>
          </p:nvPr>
        </p:nvSpPr>
        <p:spPr>
          <a:xfrm>
            <a:off x="396875" y="228600"/>
            <a:ext cx="87471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5"/>
          <p:cNvSpPr txBox="1"/>
          <p:nvPr>
            <p:ph idx="1" type="body"/>
          </p:nvPr>
        </p:nvSpPr>
        <p:spPr>
          <a:xfrm>
            <a:off x="638175" y="1362075"/>
            <a:ext cx="3871913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55" name="Google Shape;55;p65"/>
          <p:cNvSpPr txBox="1"/>
          <p:nvPr>
            <p:ph idx="2" type="body"/>
          </p:nvPr>
        </p:nvSpPr>
        <p:spPr>
          <a:xfrm>
            <a:off x="4662488" y="1362075"/>
            <a:ext cx="3871912" cy="240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56" name="Google Shape;56;p65"/>
          <p:cNvSpPr txBox="1"/>
          <p:nvPr>
            <p:ph idx="3" type="body"/>
          </p:nvPr>
        </p:nvSpPr>
        <p:spPr>
          <a:xfrm>
            <a:off x="4662488" y="3924300"/>
            <a:ext cx="3871912" cy="240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6"/>
          <p:cNvSpPr txBox="1"/>
          <p:nvPr>
            <p:ph type="title"/>
          </p:nvPr>
        </p:nvSpPr>
        <p:spPr>
          <a:xfrm>
            <a:off x="396875" y="228600"/>
            <a:ext cx="87471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6"/>
          <p:cNvSpPr txBox="1"/>
          <p:nvPr>
            <p:ph idx="1" type="body"/>
          </p:nvPr>
        </p:nvSpPr>
        <p:spPr>
          <a:xfrm>
            <a:off x="638175" y="1362075"/>
            <a:ext cx="3871913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60" name="Google Shape;60;p66"/>
          <p:cNvSpPr txBox="1"/>
          <p:nvPr>
            <p:ph idx="2" type="body"/>
          </p:nvPr>
        </p:nvSpPr>
        <p:spPr>
          <a:xfrm>
            <a:off x="4662488" y="1362075"/>
            <a:ext cx="3871912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3"/>
          <p:cNvSpPr txBox="1"/>
          <p:nvPr>
            <p:ph type="title"/>
          </p:nvPr>
        </p:nvSpPr>
        <p:spPr>
          <a:xfrm>
            <a:off x="374090" y="371182"/>
            <a:ext cx="75914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/>
        </p:txBody>
      </p:sp>
      <p:sp>
        <p:nvSpPr>
          <p:cNvPr id="11" name="Google Shape;11;p53"/>
          <p:cNvSpPr txBox="1"/>
          <p:nvPr>
            <p:ph idx="1" type="body"/>
          </p:nvPr>
        </p:nvSpPr>
        <p:spPr>
          <a:xfrm>
            <a:off x="396875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00"/>
              </a:buClr>
              <a:buSzPts val="1440"/>
              <a:buFont typeface="Noto Sans Symbols"/>
              <a:buChar char="⬛"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53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" name="Google Shape;13;p53"/>
          <p:cNvSpPr txBox="1"/>
          <p:nvPr/>
        </p:nvSpPr>
        <p:spPr>
          <a:xfrm>
            <a:off x="7319855" y="-27000"/>
            <a:ext cx="1887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Ilia State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53"/>
          <p:cNvSpPr/>
          <p:nvPr/>
        </p:nvSpPr>
        <p:spPr>
          <a:xfrm>
            <a:off x="8830843" y="6611779"/>
            <a:ext cx="31315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-US" sz="10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" name="Google Shape;15;p53"/>
          <p:cNvSpPr txBox="1"/>
          <p:nvPr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csapp.cs.cmu.edu/public/code.html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"/>
          <p:cNvSpPr txBox="1"/>
          <p:nvPr>
            <p:ph type="ctrTitle"/>
          </p:nvPr>
        </p:nvSpPr>
        <p:spPr>
          <a:xfrm>
            <a:off x="685800" y="1708150"/>
            <a:ext cx="7772400" cy="1720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System-Level I/O</a:t>
            </a:r>
            <a:br>
              <a:rPr lang="en-US"/>
            </a:br>
            <a:br>
              <a:rPr lang="en-US"/>
            </a:br>
            <a:r>
              <a:rPr b="0" lang="en-US" sz="2000"/>
              <a:t>Systems	Programming</a:t>
            </a:r>
            <a:br>
              <a:rPr b="0" lang="en-US"/>
            </a:br>
            <a:r>
              <a:rPr b="0" lang="en-US" sz="2000"/>
              <a:t>Week 13, Jun. 15, 2022</a:t>
            </a:r>
            <a:endParaRPr/>
          </a:p>
        </p:txBody>
      </p:sp>
      <p:sp>
        <p:nvSpPr>
          <p:cNvPr id="67" name="Google Shape;67;p1"/>
          <p:cNvSpPr txBox="1"/>
          <p:nvPr>
            <p:ph idx="1" type="subTitle"/>
          </p:nvPr>
        </p:nvSpPr>
        <p:spPr>
          <a:xfrm>
            <a:off x="685800" y="3886200"/>
            <a:ext cx="7678738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Instructors:</a:t>
            </a:r>
            <a:r>
              <a:rPr lang="en-US"/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lang="en-US"/>
              <a:t>Amiran Malania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Today</a:t>
            </a:r>
            <a:endParaRPr/>
          </a:p>
        </p:txBody>
      </p:sp>
      <p:sp>
        <p:nvSpPr>
          <p:cNvPr id="74" name="Google Shape;74;p2"/>
          <p:cNvSpPr txBox="1"/>
          <p:nvPr>
            <p:ph idx="1" type="body"/>
          </p:nvPr>
        </p:nvSpPr>
        <p:spPr>
          <a:xfrm>
            <a:off x="396875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Unix I/O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>
                <a:solidFill>
                  <a:srgbClr val="7F7F7F"/>
                </a:solidFill>
              </a:rPr>
              <a:t>RIO (robust I/O) package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>
                <a:solidFill>
                  <a:srgbClr val="7F7F7F"/>
                </a:solidFill>
              </a:rPr>
              <a:t>Metadata, sharing, and redirection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>
                <a:solidFill>
                  <a:srgbClr val="7F7F7F"/>
                </a:solidFill>
              </a:rPr>
              <a:t>Standard I/O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>
                <a:solidFill>
                  <a:srgbClr val="7F7F7F"/>
                </a:solidFill>
              </a:rPr>
              <a:t>Closing remarks</a:t>
            </a:r>
            <a:endParaRPr>
              <a:solidFill>
                <a:srgbClr val="7F7F7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"/>
          <p:cNvSpPr txBox="1"/>
          <p:nvPr>
            <p:ph type="title"/>
          </p:nvPr>
        </p:nvSpPr>
        <p:spPr>
          <a:xfrm>
            <a:off x="457200" y="569913"/>
            <a:ext cx="4953000" cy="573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Unix I/O Overview</a:t>
            </a:r>
            <a:endParaRPr/>
          </a:p>
        </p:txBody>
      </p:sp>
      <p:sp>
        <p:nvSpPr>
          <p:cNvPr id="80" name="Google Shape;80;p3"/>
          <p:cNvSpPr txBox="1"/>
          <p:nvPr>
            <p:ph idx="1" type="body"/>
          </p:nvPr>
        </p:nvSpPr>
        <p:spPr>
          <a:xfrm>
            <a:off x="396875" y="1362075"/>
            <a:ext cx="86709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A Linux </a:t>
            </a:r>
            <a:r>
              <a:rPr i="1" lang="en-US">
                <a:solidFill>
                  <a:srgbClr val="C00000"/>
                </a:solidFill>
              </a:rPr>
              <a:t>file</a:t>
            </a:r>
            <a:r>
              <a:rPr lang="en-US"/>
              <a:t> is a sequence of </a:t>
            </a:r>
            <a:r>
              <a:rPr i="1" lang="en-US"/>
              <a:t>m</a:t>
            </a:r>
            <a:r>
              <a:rPr lang="en-US"/>
              <a:t> bytes: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i="1" lang="en-US"/>
              <a:t>B</a:t>
            </a:r>
            <a:r>
              <a:rPr baseline="-25000" i="1" lang="en-US"/>
              <a:t>0 </a:t>
            </a:r>
            <a:r>
              <a:rPr i="1" lang="en-US"/>
              <a:t>, B</a:t>
            </a:r>
            <a:r>
              <a:rPr baseline="-25000" i="1" lang="en-US"/>
              <a:t>1 </a:t>
            </a:r>
            <a:r>
              <a:rPr i="1" lang="en-US"/>
              <a:t>, .... , B</a:t>
            </a:r>
            <a:r>
              <a:rPr baseline="-25000" i="1" lang="en-US"/>
              <a:t>k</a:t>
            </a:r>
            <a:r>
              <a:rPr i="1" lang="en-US"/>
              <a:t> , .... , B</a:t>
            </a:r>
            <a:r>
              <a:rPr baseline="-25000" i="1" lang="en-US"/>
              <a:t>m-1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Cool fact: All I/O devices are represented as files: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/dev/sda2</a:t>
            </a:r>
            <a:r>
              <a:rPr b="1" lang="en-US"/>
              <a:t>    </a:t>
            </a:r>
            <a:r>
              <a:rPr lang="en-US"/>
              <a:t>(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/usr</a:t>
            </a:r>
            <a:r>
              <a:rPr b="1" lang="en-US"/>
              <a:t> </a:t>
            </a:r>
            <a:r>
              <a:rPr lang="en-US"/>
              <a:t>disk partition)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/dev/tty2</a:t>
            </a:r>
            <a:r>
              <a:rPr b="1" lang="en-US"/>
              <a:t>    </a:t>
            </a:r>
            <a:r>
              <a:rPr lang="en-US"/>
              <a:t>(terminal)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Even the kernel is represented as a file: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/boot/vmlinuz-3.13.0-55-generic </a:t>
            </a:r>
            <a:r>
              <a:rPr lang="en-US"/>
              <a:t>(kernel image)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/proc</a:t>
            </a:r>
            <a:r>
              <a:rPr b="1" lang="en-US"/>
              <a:t>             	                                                  </a:t>
            </a:r>
            <a:r>
              <a:rPr lang="en-US"/>
              <a:t>(kernel data structures)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 txBox="1"/>
          <p:nvPr>
            <p:ph type="title"/>
          </p:nvPr>
        </p:nvSpPr>
        <p:spPr>
          <a:xfrm>
            <a:off x="503237" y="438150"/>
            <a:ext cx="8716963" cy="781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Unix I/O Overview</a:t>
            </a:r>
            <a:endParaRPr/>
          </a:p>
        </p:txBody>
      </p:sp>
      <p:sp>
        <p:nvSpPr>
          <p:cNvPr id="86" name="Google Shape;86;p4"/>
          <p:cNvSpPr txBox="1"/>
          <p:nvPr>
            <p:ph idx="1" type="body"/>
          </p:nvPr>
        </p:nvSpPr>
        <p:spPr>
          <a:xfrm>
            <a:off x="381000" y="1327150"/>
            <a:ext cx="8307387" cy="4997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Elegant mapping of files to devices allows kernel to export simple interface called </a:t>
            </a:r>
            <a:r>
              <a:rPr i="1" lang="en-US"/>
              <a:t>Unix I/O:</a:t>
            </a:r>
            <a:endParaRPr i="1"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Opening and closing files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open()</a:t>
            </a:r>
            <a:r>
              <a:rPr lang="en-US"/>
              <a:t>and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close()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Reading and writing a file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read()</a:t>
            </a:r>
            <a:r>
              <a:rPr b="1" lang="en-US"/>
              <a:t> </a:t>
            </a:r>
            <a:r>
              <a:rPr lang="en-US"/>
              <a:t>and 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write()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Changing the </a:t>
            </a:r>
            <a:r>
              <a:rPr b="1" i="1" lang="en-US">
                <a:solidFill>
                  <a:srgbClr val="C00000"/>
                </a:solidFill>
              </a:rPr>
              <a:t>current file position</a:t>
            </a:r>
            <a:r>
              <a:rPr b="1" lang="en-US">
                <a:solidFill>
                  <a:srgbClr val="C00000"/>
                </a:solidFill>
              </a:rPr>
              <a:t> </a:t>
            </a:r>
            <a:r>
              <a:rPr lang="en-US"/>
              <a:t>(seek)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indicates next offset into file to read or write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lseek()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87" name="Google Shape;87;p4"/>
          <p:cNvGrpSpPr/>
          <p:nvPr/>
        </p:nvGrpSpPr>
        <p:grpSpPr>
          <a:xfrm>
            <a:off x="1480752" y="4837710"/>
            <a:ext cx="4767648" cy="1258290"/>
            <a:chOff x="3048000" y="5561999"/>
            <a:chExt cx="4767648" cy="1258290"/>
          </a:xfrm>
        </p:grpSpPr>
        <p:sp>
          <p:nvSpPr>
            <p:cNvPr id="88" name="Google Shape;88;p4"/>
            <p:cNvSpPr/>
            <p:nvPr/>
          </p:nvSpPr>
          <p:spPr>
            <a:xfrm>
              <a:off x="3048000" y="5562600"/>
              <a:ext cx="433388" cy="441325"/>
            </a:xfrm>
            <a:prstGeom prst="rect">
              <a:avLst/>
            </a:prstGeom>
            <a:solidFill>
              <a:srgbClr val="D5F1CF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r>
                <a:rPr b="1" baseline="-2500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3481388" y="5562600"/>
              <a:ext cx="433388" cy="441325"/>
            </a:xfrm>
            <a:prstGeom prst="rect">
              <a:avLst/>
            </a:prstGeom>
            <a:solidFill>
              <a:srgbClr val="D5F1CF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r>
                <a:rPr b="1" baseline="-2500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3914775" y="5562600"/>
              <a:ext cx="1319213" cy="441325"/>
            </a:xfrm>
            <a:prstGeom prst="rect">
              <a:avLst/>
            </a:prstGeom>
            <a:solidFill>
              <a:srgbClr val="D5F1CF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• • •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5214938" y="5562600"/>
              <a:ext cx="433388" cy="441325"/>
            </a:xfrm>
            <a:prstGeom prst="rect">
              <a:avLst/>
            </a:prstGeom>
            <a:solidFill>
              <a:srgbClr val="D5F1CF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r>
                <a:rPr b="1" baseline="-2500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k-1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5638800" y="5562600"/>
              <a:ext cx="433388" cy="441325"/>
            </a:xfrm>
            <a:prstGeom prst="rect">
              <a:avLst/>
            </a:prstGeom>
            <a:solidFill>
              <a:srgbClr val="E5E5E5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r>
                <a:rPr b="1" baseline="-2500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endParaRPr b="1" baseline="-2500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6070384" y="5561999"/>
              <a:ext cx="433388" cy="441325"/>
            </a:xfrm>
            <a:prstGeom prst="rect">
              <a:avLst/>
            </a:prstGeom>
            <a:solidFill>
              <a:srgbClr val="E5E5E5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r>
                <a:rPr b="1" baseline="-2500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k+1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6496435" y="5562600"/>
              <a:ext cx="1319213" cy="441325"/>
            </a:xfrm>
            <a:prstGeom prst="rect">
              <a:avLst/>
            </a:prstGeom>
            <a:solidFill>
              <a:srgbClr val="E5E5E5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• • •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5" name="Google Shape;95;p4"/>
            <p:cNvCxnSpPr/>
            <p:nvPr/>
          </p:nvCxnSpPr>
          <p:spPr>
            <a:xfrm rot="10800000">
              <a:off x="5851826" y="6011562"/>
              <a:ext cx="0" cy="381000"/>
            </a:xfrm>
            <a:prstGeom prst="straightConnector1">
              <a:avLst/>
            </a:prstGeom>
            <a:noFill/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96" name="Google Shape;96;p4"/>
            <p:cNvSpPr txBox="1"/>
            <p:nvPr/>
          </p:nvSpPr>
          <p:spPr>
            <a:xfrm>
              <a:off x="4258962" y="6358624"/>
              <a:ext cx="317593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Current file position = 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File Types	</a:t>
            </a:r>
            <a:endParaRPr/>
          </a:p>
        </p:txBody>
      </p:sp>
      <p:sp>
        <p:nvSpPr>
          <p:cNvPr id="102" name="Google Shape;102;p5"/>
          <p:cNvSpPr txBox="1"/>
          <p:nvPr>
            <p:ph idx="1" type="body"/>
          </p:nvPr>
        </p:nvSpPr>
        <p:spPr>
          <a:xfrm>
            <a:off x="396875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Each file has a </a:t>
            </a:r>
            <a:r>
              <a:rPr i="1" lang="en-US"/>
              <a:t>type</a:t>
            </a:r>
            <a:r>
              <a:rPr lang="en-US"/>
              <a:t> indicating its role in the system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i="1" lang="en-US"/>
              <a:t>Regular file: </a:t>
            </a:r>
            <a:r>
              <a:rPr lang="en-US"/>
              <a:t>Contains arbitrary data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i="1" lang="en-US"/>
              <a:t>Directory:  </a:t>
            </a:r>
            <a:r>
              <a:rPr lang="en-US"/>
              <a:t>Index for a related group of files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i="1" lang="en-US"/>
              <a:t>Socket:</a:t>
            </a:r>
            <a:r>
              <a:rPr lang="en-US"/>
              <a:t> For communicating with a process on another machine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Other file types beyond our scope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i="1" lang="en-US"/>
              <a:t>Named pipes (FIFOs)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i="1" lang="en-US"/>
              <a:t>Symbolic links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i="1" lang="en-US"/>
              <a:t>Character and block devices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Regular Files</a:t>
            </a:r>
            <a:endParaRPr/>
          </a:p>
        </p:txBody>
      </p:sp>
      <p:sp>
        <p:nvSpPr>
          <p:cNvPr id="108" name="Google Shape;108;p6"/>
          <p:cNvSpPr txBox="1"/>
          <p:nvPr>
            <p:ph idx="1" type="body"/>
          </p:nvPr>
        </p:nvSpPr>
        <p:spPr>
          <a:xfrm>
            <a:off x="396875" y="1362074"/>
            <a:ext cx="7896225" cy="5267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9999"/>
              <a:buChar char="⬛"/>
            </a:pPr>
            <a:r>
              <a:rPr lang="en-US"/>
              <a:t>A regular file contains arbitrary data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59999"/>
              <a:buChar char="⬛"/>
            </a:pPr>
            <a:r>
              <a:rPr lang="en-US"/>
              <a:t>Applications often distinguish between </a:t>
            </a:r>
            <a:r>
              <a:rPr i="1" lang="en-US"/>
              <a:t>text files </a:t>
            </a:r>
            <a:r>
              <a:rPr lang="en-US"/>
              <a:t>and </a:t>
            </a:r>
            <a:r>
              <a:rPr i="1" lang="en-US"/>
              <a:t>binary files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ct val="110000"/>
              <a:buChar char="▪"/>
            </a:pPr>
            <a:r>
              <a:rPr lang="en-US"/>
              <a:t>Text files are regular files with only ASCII or Unicode characters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ct val="110000"/>
              <a:buChar char="▪"/>
            </a:pPr>
            <a:r>
              <a:rPr lang="en-US"/>
              <a:t>Binary files are everything else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80000"/>
              <a:buChar char="▪"/>
            </a:pPr>
            <a:r>
              <a:rPr lang="en-US"/>
              <a:t>e.g., object files, JPEG images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ct val="110000"/>
              <a:buChar char="▪"/>
            </a:pPr>
            <a:r>
              <a:rPr lang="en-US"/>
              <a:t>Kernel doesn’t know the difference!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59999"/>
              <a:buChar char="⬛"/>
            </a:pPr>
            <a:r>
              <a:rPr lang="en-US"/>
              <a:t>Text file is sequence of </a:t>
            </a:r>
            <a:r>
              <a:rPr i="1" lang="en-US"/>
              <a:t>text lines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ct val="110000"/>
              <a:buChar char="▪"/>
            </a:pPr>
            <a:r>
              <a:rPr lang="en-US"/>
              <a:t>Text line is sequence of chars terminated by </a:t>
            </a:r>
            <a:r>
              <a:rPr i="1" lang="en-US"/>
              <a:t>newline char </a:t>
            </a:r>
            <a:r>
              <a:rPr lang="en-US"/>
              <a:t>(‘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lang="en-US"/>
              <a:t>’)	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80000"/>
              <a:buChar char="▪"/>
            </a:pPr>
            <a:r>
              <a:rPr lang="en-US"/>
              <a:t>Newline is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0xa</a:t>
            </a:r>
            <a:r>
              <a:rPr lang="en-US"/>
              <a:t>, same as ASCII line feed character (LF)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59999"/>
              <a:buChar char="⬛"/>
            </a:pPr>
            <a:r>
              <a:rPr lang="en-US"/>
              <a:t>End of line (EOL) indicators in other systems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ct val="110000"/>
              <a:buChar char="▪"/>
            </a:pPr>
            <a:r>
              <a:rPr lang="en-US"/>
              <a:t>Linux and Mac OS: ‘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lang="en-US"/>
              <a:t>’ (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0xa</a:t>
            </a:r>
            <a:r>
              <a:rPr lang="en-US"/>
              <a:t>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80000"/>
              <a:buChar char="▪"/>
            </a:pPr>
            <a:r>
              <a:rPr lang="en-US"/>
              <a:t>line feed (LF)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ct val="110000"/>
              <a:buChar char="▪"/>
            </a:pPr>
            <a:r>
              <a:rPr lang="en-US"/>
              <a:t>Windows and Internet protocols: ‘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\r\n</a:t>
            </a:r>
            <a:r>
              <a:rPr lang="en-US"/>
              <a:t>’ (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0xd 0xa</a:t>
            </a:r>
            <a:r>
              <a:rPr lang="en-US"/>
              <a:t>) 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80000"/>
              <a:buChar char="▪"/>
            </a:pPr>
            <a:r>
              <a:rPr lang="en-US"/>
              <a:t>Carriage return (CR) followed by line feed (LF)</a:t>
            </a:r>
            <a:endParaRPr/>
          </a:p>
          <a:p>
            <a:pPr indent="-258318" lvl="0" marL="34290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59999"/>
              <a:buNone/>
            </a:pPr>
            <a:r>
              <a:t/>
            </a:r>
            <a:endParaRPr/>
          </a:p>
        </p:txBody>
      </p:sp>
      <p:pic>
        <p:nvPicPr>
          <p:cNvPr id="109" name="Google Shape;10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7000" y="4707457"/>
            <a:ext cx="2590800" cy="194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Directories	</a:t>
            </a:r>
            <a:endParaRPr/>
          </a:p>
        </p:txBody>
      </p:sp>
      <p:sp>
        <p:nvSpPr>
          <p:cNvPr id="115" name="Google Shape;115;p7"/>
          <p:cNvSpPr txBox="1"/>
          <p:nvPr>
            <p:ph idx="1" type="body"/>
          </p:nvPr>
        </p:nvSpPr>
        <p:spPr>
          <a:xfrm>
            <a:off x="396875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Directory consists of an array of </a:t>
            </a:r>
            <a:r>
              <a:rPr i="1" lang="en-US"/>
              <a:t>links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Each link maps a </a:t>
            </a:r>
            <a:r>
              <a:rPr i="1" lang="en-US"/>
              <a:t>filenam</a:t>
            </a:r>
            <a:r>
              <a:rPr lang="en-US"/>
              <a:t>e to a file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Each directory contains at least two entries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/>
              <a:t> (dot) is  a link to itself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..</a:t>
            </a:r>
            <a:r>
              <a:rPr lang="en-US"/>
              <a:t> (dot dot) is a link to </a:t>
            </a:r>
            <a:r>
              <a:rPr i="1" lang="en-US"/>
              <a:t>the parent directory </a:t>
            </a:r>
            <a:r>
              <a:rPr lang="en-US"/>
              <a:t>in the </a:t>
            </a:r>
            <a:r>
              <a:rPr i="1" lang="en-US"/>
              <a:t>directory hierarchy</a:t>
            </a:r>
            <a:r>
              <a:rPr lang="en-US"/>
              <a:t> (next slide)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Commands for manipulating directories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mkdir</a:t>
            </a:r>
            <a:r>
              <a:rPr lang="en-US"/>
              <a:t>: create empty directory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ls</a:t>
            </a:r>
            <a:r>
              <a:rPr lang="en-US"/>
              <a:t>: view directory contents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rmdir</a:t>
            </a:r>
            <a:r>
              <a:rPr lang="en-US"/>
              <a:t>: delete empty directory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Directory Hierarchy	</a:t>
            </a:r>
            <a:endParaRPr/>
          </a:p>
        </p:txBody>
      </p:sp>
      <p:sp>
        <p:nvSpPr>
          <p:cNvPr id="121" name="Google Shape;121;p8"/>
          <p:cNvSpPr txBox="1"/>
          <p:nvPr>
            <p:ph idx="1" type="body"/>
          </p:nvPr>
        </p:nvSpPr>
        <p:spPr>
          <a:xfrm>
            <a:off x="228600" y="1362075"/>
            <a:ext cx="8899525" cy="5267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All files are organized as a hierarchy anchored by root directory named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en-US"/>
              <a:t> (slash)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Kernel maintains </a:t>
            </a:r>
            <a:r>
              <a:rPr i="1" lang="en-US"/>
              <a:t>current working directory (cwd) </a:t>
            </a:r>
            <a:r>
              <a:rPr lang="en-US"/>
              <a:t>for each process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Modified using the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cd</a:t>
            </a:r>
            <a:r>
              <a:rPr lang="en-US"/>
              <a:t> command</a:t>
            </a:r>
            <a:endParaRPr/>
          </a:p>
        </p:txBody>
      </p:sp>
      <p:sp>
        <p:nvSpPr>
          <p:cNvPr id="122" name="Google Shape;122;p8"/>
          <p:cNvSpPr txBox="1"/>
          <p:nvPr/>
        </p:nvSpPr>
        <p:spPr>
          <a:xfrm>
            <a:off x="3962400" y="2209800"/>
            <a:ext cx="3077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3" name="Google Shape;123;p8"/>
          <p:cNvSpPr txBox="1"/>
          <p:nvPr/>
        </p:nvSpPr>
        <p:spPr>
          <a:xfrm>
            <a:off x="174353" y="2933700"/>
            <a:ext cx="67718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bin/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4" name="Google Shape;124;p8"/>
          <p:cNvSpPr txBox="1"/>
          <p:nvPr/>
        </p:nvSpPr>
        <p:spPr>
          <a:xfrm>
            <a:off x="1143000" y="2933700"/>
            <a:ext cx="67718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dev/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5" name="Google Shape;125;p8"/>
          <p:cNvSpPr txBox="1"/>
          <p:nvPr/>
        </p:nvSpPr>
        <p:spPr>
          <a:xfrm>
            <a:off x="2376835" y="2933700"/>
            <a:ext cx="67718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etc/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6" name="Google Shape;126;p8"/>
          <p:cNvSpPr txBox="1"/>
          <p:nvPr/>
        </p:nvSpPr>
        <p:spPr>
          <a:xfrm>
            <a:off x="4457480" y="2933700"/>
            <a:ext cx="80031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home/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7" name="Google Shape;127;p8"/>
          <p:cNvSpPr txBox="1"/>
          <p:nvPr/>
        </p:nvSpPr>
        <p:spPr>
          <a:xfrm>
            <a:off x="7095211" y="2933700"/>
            <a:ext cx="67718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usr/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8" name="Google Shape;128;p8"/>
          <p:cNvSpPr txBox="1"/>
          <p:nvPr/>
        </p:nvSpPr>
        <p:spPr>
          <a:xfrm>
            <a:off x="174353" y="3581400"/>
            <a:ext cx="67718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bash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9" name="Google Shape;129;p8"/>
          <p:cNvSpPr txBox="1"/>
          <p:nvPr/>
        </p:nvSpPr>
        <p:spPr>
          <a:xfrm>
            <a:off x="1143000" y="3581400"/>
            <a:ext cx="67718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tty1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0" name="Google Shape;130;p8"/>
          <p:cNvSpPr txBox="1"/>
          <p:nvPr/>
        </p:nvSpPr>
        <p:spPr>
          <a:xfrm>
            <a:off x="1957514" y="3581400"/>
            <a:ext cx="80031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group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1" name="Google Shape;131;p8"/>
          <p:cNvSpPr txBox="1"/>
          <p:nvPr/>
        </p:nvSpPr>
        <p:spPr>
          <a:xfrm>
            <a:off x="2734150" y="3581400"/>
            <a:ext cx="92345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passwd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2" name="Google Shape;132;p8"/>
          <p:cNvSpPr txBox="1"/>
          <p:nvPr/>
        </p:nvSpPr>
        <p:spPr>
          <a:xfrm>
            <a:off x="4029550" y="3581400"/>
            <a:ext cx="80031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droh/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3" name="Google Shape;133;p8"/>
          <p:cNvSpPr txBox="1"/>
          <p:nvPr/>
        </p:nvSpPr>
        <p:spPr>
          <a:xfrm>
            <a:off x="4897019" y="3581400"/>
            <a:ext cx="104658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bryant/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4" name="Google Shape;134;p8"/>
          <p:cNvSpPr txBox="1"/>
          <p:nvPr/>
        </p:nvSpPr>
        <p:spPr>
          <a:xfrm>
            <a:off x="6096000" y="3581400"/>
            <a:ext cx="116971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include/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5" name="Google Shape;135;p8"/>
          <p:cNvSpPr txBox="1"/>
          <p:nvPr/>
        </p:nvSpPr>
        <p:spPr>
          <a:xfrm>
            <a:off x="7781011" y="3581400"/>
            <a:ext cx="67718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bin/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6" name="Google Shape;136;p8"/>
          <p:cNvSpPr txBox="1"/>
          <p:nvPr/>
        </p:nvSpPr>
        <p:spPr>
          <a:xfrm>
            <a:off x="5638800" y="4419600"/>
            <a:ext cx="104658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stdio.h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7" name="Google Shape;137;p8"/>
          <p:cNvSpPr txBox="1"/>
          <p:nvPr/>
        </p:nvSpPr>
        <p:spPr>
          <a:xfrm>
            <a:off x="7842576" y="4419600"/>
            <a:ext cx="55405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vim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8" name="Google Shape;138;p8"/>
          <p:cNvSpPr txBox="1"/>
          <p:nvPr/>
        </p:nvSpPr>
        <p:spPr>
          <a:xfrm>
            <a:off x="6875661" y="4419600"/>
            <a:ext cx="67718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sys/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9" name="Google Shape;139;p8"/>
          <p:cNvSpPr txBox="1"/>
          <p:nvPr/>
        </p:nvSpPr>
        <p:spPr>
          <a:xfrm>
            <a:off x="6629400" y="5300246"/>
            <a:ext cx="116971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unistd.h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40" name="Google Shape;140;p8"/>
          <p:cNvCxnSpPr>
            <a:stCxn id="122" idx="2"/>
            <a:endCxn id="123" idx="0"/>
          </p:cNvCxnSpPr>
          <p:nvPr/>
        </p:nvCxnSpPr>
        <p:spPr>
          <a:xfrm flipH="1">
            <a:off x="512999" y="2548354"/>
            <a:ext cx="3603300" cy="3852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1" name="Google Shape;141;p8"/>
          <p:cNvCxnSpPr>
            <a:stCxn id="122" idx="2"/>
            <a:endCxn id="124" idx="0"/>
          </p:cNvCxnSpPr>
          <p:nvPr/>
        </p:nvCxnSpPr>
        <p:spPr>
          <a:xfrm flipH="1">
            <a:off x="1481699" y="2548354"/>
            <a:ext cx="2634600" cy="3852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" name="Google Shape;142;p8"/>
          <p:cNvCxnSpPr>
            <a:stCxn id="122" idx="2"/>
            <a:endCxn id="125" idx="0"/>
          </p:cNvCxnSpPr>
          <p:nvPr/>
        </p:nvCxnSpPr>
        <p:spPr>
          <a:xfrm flipH="1">
            <a:off x="2715299" y="2548354"/>
            <a:ext cx="1401000" cy="3852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" name="Google Shape;143;p8"/>
          <p:cNvCxnSpPr>
            <a:stCxn id="122" idx="2"/>
            <a:endCxn id="126" idx="0"/>
          </p:cNvCxnSpPr>
          <p:nvPr/>
        </p:nvCxnSpPr>
        <p:spPr>
          <a:xfrm>
            <a:off x="4116299" y="2548354"/>
            <a:ext cx="741300" cy="3852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4" name="Google Shape;144;p8"/>
          <p:cNvCxnSpPr>
            <a:stCxn id="122" idx="2"/>
            <a:endCxn id="127" idx="0"/>
          </p:cNvCxnSpPr>
          <p:nvPr/>
        </p:nvCxnSpPr>
        <p:spPr>
          <a:xfrm>
            <a:off x="4116299" y="2548354"/>
            <a:ext cx="3317400" cy="3852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5" name="Google Shape;145;p8"/>
          <p:cNvCxnSpPr>
            <a:stCxn id="126" idx="2"/>
            <a:endCxn id="132" idx="0"/>
          </p:cNvCxnSpPr>
          <p:nvPr/>
        </p:nvCxnSpPr>
        <p:spPr>
          <a:xfrm flipH="1">
            <a:off x="4429840" y="3272254"/>
            <a:ext cx="427800" cy="3090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6" name="Google Shape;146;p8"/>
          <p:cNvCxnSpPr>
            <a:stCxn id="126" idx="2"/>
            <a:endCxn id="133" idx="0"/>
          </p:cNvCxnSpPr>
          <p:nvPr/>
        </p:nvCxnSpPr>
        <p:spPr>
          <a:xfrm>
            <a:off x="4857640" y="3272254"/>
            <a:ext cx="562800" cy="3090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7" name="Google Shape;147;p8"/>
          <p:cNvCxnSpPr>
            <a:stCxn id="132" idx="2"/>
          </p:cNvCxnSpPr>
          <p:nvPr/>
        </p:nvCxnSpPr>
        <p:spPr>
          <a:xfrm>
            <a:off x="4429710" y="3919954"/>
            <a:ext cx="0" cy="537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" name="Google Shape;148;p8"/>
          <p:cNvCxnSpPr>
            <a:stCxn id="123" idx="2"/>
            <a:endCxn id="128" idx="0"/>
          </p:cNvCxnSpPr>
          <p:nvPr/>
        </p:nvCxnSpPr>
        <p:spPr>
          <a:xfrm>
            <a:off x="512948" y="3272254"/>
            <a:ext cx="0" cy="3090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" name="Google Shape;149;p8"/>
          <p:cNvCxnSpPr>
            <a:stCxn id="124" idx="2"/>
            <a:endCxn id="129" idx="0"/>
          </p:cNvCxnSpPr>
          <p:nvPr/>
        </p:nvCxnSpPr>
        <p:spPr>
          <a:xfrm>
            <a:off x="1481595" y="3272254"/>
            <a:ext cx="0" cy="3090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" name="Google Shape;150;p8"/>
          <p:cNvCxnSpPr>
            <a:stCxn id="125" idx="2"/>
            <a:endCxn id="130" idx="0"/>
          </p:cNvCxnSpPr>
          <p:nvPr/>
        </p:nvCxnSpPr>
        <p:spPr>
          <a:xfrm flipH="1">
            <a:off x="2357530" y="3272254"/>
            <a:ext cx="357900" cy="3090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" name="Google Shape;151;p8"/>
          <p:cNvCxnSpPr>
            <a:stCxn id="125" idx="2"/>
            <a:endCxn id="131" idx="0"/>
          </p:cNvCxnSpPr>
          <p:nvPr/>
        </p:nvCxnSpPr>
        <p:spPr>
          <a:xfrm>
            <a:off x="2715430" y="3272254"/>
            <a:ext cx="480300" cy="3090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" name="Google Shape;152;p8"/>
          <p:cNvCxnSpPr>
            <a:stCxn id="127" idx="2"/>
            <a:endCxn id="134" idx="0"/>
          </p:cNvCxnSpPr>
          <p:nvPr/>
        </p:nvCxnSpPr>
        <p:spPr>
          <a:xfrm flipH="1">
            <a:off x="6680805" y="3272254"/>
            <a:ext cx="753000" cy="3090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" name="Google Shape;153;p8"/>
          <p:cNvCxnSpPr>
            <a:stCxn id="127" idx="2"/>
            <a:endCxn id="135" idx="0"/>
          </p:cNvCxnSpPr>
          <p:nvPr/>
        </p:nvCxnSpPr>
        <p:spPr>
          <a:xfrm>
            <a:off x="7433805" y="3272254"/>
            <a:ext cx="685800" cy="3090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" name="Google Shape;154;p8"/>
          <p:cNvCxnSpPr>
            <a:stCxn id="134" idx="2"/>
            <a:endCxn id="136" idx="0"/>
          </p:cNvCxnSpPr>
          <p:nvPr/>
        </p:nvCxnSpPr>
        <p:spPr>
          <a:xfrm flipH="1">
            <a:off x="6162155" y="3919954"/>
            <a:ext cx="518700" cy="4995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5" name="Google Shape;155;p8"/>
          <p:cNvCxnSpPr>
            <a:stCxn id="134" idx="2"/>
            <a:endCxn id="138" idx="0"/>
          </p:cNvCxnSpPr>
          <p:nvPr/>
        </p:nvCxnSpPr>
        <p:spPr>
          <a:xfrm>
            <a:off x="6680855" y="3919954"/>
            <a:ext cx="533400" cy="4995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6" name="Google Shape;156;p8"/>
          <p:cNvCxnSpPr>
            <a:stCxn id="135" idx="2"/>
            <a:endCxn id="137" idx="0"/>
          </p:cNvCxnSpPr>
          <p:nvPr/>
        </p:nvCxnSpPr>
        <p:spPr>
          <a:xfrm>
            <a:off x="8119606" y="3919954"/>
            <a:ext cx="0" cy="4995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7" name="Google Shape;157;p8"/>
          <p:cNvCxnSpPr>
            <a:stCxn id="138" idx="2"/>
            <a:endCxn id="139" idx="0"/>
          </p:cNvCxnSpPr>
          <p:nvPr/>
        </p:nvCxnSpPr>
        <p:spPr>
          <a:xfrm>
            <a:off x="7214255" y="4758154"/>
            <a:ext cx="0" cy="5421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8"/>
          <p:cNvSpPr txBox="1"/>
          <p:nvPr/>
        </p:nvSpPr>
        <p:spPr>
          <a:xfrm>
            <a:off x="3906419" y="4419600"/>
            <a:ext cx="104658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hello.c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Pathnames	</a:t>
            </a:r>
            <a:endParaRPr/>
          </a:p>
        </p:txBody>
      </p:sp>
      <p:sp>
        <p:nvSpPr>
          <p:cNvPr id="164" name="Google Shape;164;p9"/>
          <p:cNvSpPr txBox="1"/>
          <p:nvPr>
            <p:ph idx="1" type="body"/>
          </p:nvPr>
        </p:nvSpPr>
        <p:spPr>
          <a:xfrm>
            <a:off x="396875" y="1362075"/>
            <a:ext cx="8518525" cy="191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Locations of files in the hierarchy denoted by </a:t>
            </a:r>
            <a:r>
              <a:rPr i="1" lang="en-US"/>
              <a:t>pathnames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i="1" lang="en-US"/>
              <a:t>Absolute pathname </a:t>
            </a:r>
            <a:r>
              <a:rPr lang="en-US"/>
              <a:t>starts with ‘/’ and denotes path from root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/home/droh/hello.c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i="1" lang="en-US">
                <a:latin typeface="Calibri"/>
                <a:ea typeface="Calibri"/>
                <a:cs typeface="Calibri"/>
                <a:sym typeface="Calibri"/>
              </a:rPr>
              <a:t>Relative pathname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denotes path from current working directory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../home/droh/hello.c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  <p:sp>
        <p:nvSpPr>
          <p:cNvPr id="165" name="Google Shape;165;p9"/>
          <p:cNvSpPr txBox="1"/>
          <p:nvPr/>
        </p:nvSpPr>
        <p:spPr>
          <a:xfrm>
            <a:off x="3962400" y="3505200"/>
            <a:ext cx="3077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6" name="Google Shape;166;p9"/>
          <p:cNvSpPr txBox="1"/>
          <p:nvPr/>
        </p:nvSpPr>
        <p:spPr>
          <a:xfrm>
            <a:off x="174353" y="4229100"/>
            <a:ext cx="67718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bin/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7" name="Google Shape;167;p9"/>
          <p:cNvSpPr txBox="1"/>
          <p:nvPr/>
        </p:nvSpPr>
        <p:spPr>
          <a:xfrm>
            <a:off x="1143000" y="4229100"/>
            <a:ext cx="67718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dev/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8" name="Google Shape;168;p9"/>
          <p:cNvSpPr txBox="1"/>
          <p:nvPr/>
        </p:nvSpPr>
        <p:spPr>
          <a:xfrm>
            <a:off x="2376835" y="4229100"/>
            <a:ext cx="67718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etc/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9" name="Google Shape;169;p9"/>
          <p:cNvSpPr txBox="1"/>
          <p:nvPr/>
        </p:nvSpPr>
        <p:spPr>
          <a:xfrm>
            <a:off x="4457480" y="4229100"/>
            <a:ext cx="80031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home/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0" name="Google Shape;170;p9"/>
          <p:cNvSpPr txBox="1"/>
          <p:nvPr/>
        </p:nvSpPr>
        <p:spPr>
          <a:xfrm>
            <a:off x="7095211" y="4229100"/>
            <a:ext cx="67718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usr/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1" name="Google Shape;171;p9"/>
          <p:cNvSpPr txBox="1"/>
          <p:nvPr/>
        </p:nvSpPr>
        <p:spPr>
          <a:xfrm>
            <a:off x="174353" y="4876800"/>
            <a:ext cx="67718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bash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2" name="Google Shape;172;p9"/>
          <p:cNvSpPr txBox="1"/>
          <p:nvPr/>
        </p:nvSpPr>
        <p:spPr>
          <a:xfrm>
            <a:off x="1143000" y="4876800"/>
            <a:ext cx="67718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tty1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3" name="Google Shape;173;p9"/>
          <p:cNvSpPr txBox="1"/>
          <p:nvPr/>
        </p:nvSpPr>
        <p:spPr>
          <a:xfrm>
            <a:off x="1957514" y="4876800"/>
            <a:ext cx="80031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group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4" name="Google Shape;174;p9"/>
          <p:cNvSpPr txBox="1"/>
          <p:nvPr/>
        </p:nvSpPr>
        <p:spPr>
          <a:xfrm>
            <a:off x="2734150" y="4876800"/>
            <a:ext cx="92345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passwd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5" name="Google Shape;175;p9"/>
          <p:cNvSpPr txBox="1"/>
          <p:nvPr/>
        </p:nvSpPr>
        <p:spPr>
          <a:xfrm>
            <a:off x="4029550" y="4876800"/>
            <a:ext cx="80031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droh/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6" name="Google Shape;176;p9"/>
          <p:cNvSpPr txBox="1"/>
          <p:nvPr/>
        </p:nvSpPr>
        <p:spPr>
          <a:xfrm>
            <a:off x="4897019" y="4876800"/>
            <a:ext cx="104658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333CC"/>
                </a:solidFill>
                <a:latin typeface="Courier New"/>
                <a:ea typeface="Courier New"/>
                <a:cs typeface="Courier New"/>
                <a:sym typeface="Courier New"/>
              </a:rPr>
              <a:t>bryant/</a:t>
            </a:r>
            <a:endParaRPr b="1" i="0" sz="1600" u="none" cap="none" strike="noStrike">
              <a:solidFill>
                <a:srgbClr val="3333C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7" name="Google Shape;177;p9"/>
          <p:cNvSpPr txBox="1"/>
          <p:nvPr/>
        </p:nvSpPr>
        <p:spPr>
          <a:xfrm>
            <a:off x="6096000" y="4876800"/>
            <a:ext cx="116971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include/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8" name="Google Shape;178;p9"/>
          <p:cNvSpPr txBox="1"/>
          <p:nvPr/>
        </p:nvSpPr>
        <p:spPr>
          <a:xfrm>
            <a:off x="7781011" y="4876800"/>
            <a:ext cx="67718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bin/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9" name="Google Shape;179;p9"/>
          <p:cNvSpPr txBox="1"/>
          <p:nvPr/>
        </p:nvSpPr>
        <p:spPr>
          <a:xfrm>
            <a:off x="5638800" y="5715000"/>
            <a:ext cx="104658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stdio.h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0" name="Google Shape;180;p9"/>
          <p:cNvSpPr txBox="1"/>
          <p:nvPr/>
        </p:nvSpPr>
        <p:spPr>
          <a:xfrm>
            <a:off x="7842576" y="5715000"/>
            <a:ext cx="55405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vim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1" name="Google Shape;181;p9"/>
          <p:cNvSpPr txBox="1"/>
          <p:nvPr/>
        </p:nvSpPr>
        <p:spPr>
          <a:xfrm>
            <a:off x="6875661" y="5715000"/>
            <a:ext cx="67718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sys/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2" name="Google Shape;182;p9"/>
          <p:cNvSpPr txBox="1"/>
          <p:nvPr/>
        </p:nvSpPr>
        <p:spPr>
          <a:xfrm>
            <a:off x="6629400" y="6595646"/>
            <a:ext cx="116971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unistd.h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83" name="Google Shape;183;p9"/>
          <p:cNvCxnSpPr>
            <a:stCxn id="165" idx="2"/>
            <a:endCxn id="166" idx="0"/>
          </p:cNvCxnSpPr>
          <p:nvPr/>
        </p:nvCxnSpPr>
        <p:spPr>
          <a:xfrm flipH="1">
            <a:off x="512999" y="3843754"/>
            <a:ext cx="3603300" cy="3852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4" name="Google Shape;184;p9"/>
          <p:cNvCxnSpPr>
            <a:stCxn id="165" idx="2"/>
            <a:endCxn id="167" idx="0"/>
          </p:cNvCxnSpPr>
          <p:nvPr/>
        </p:nvCxnSpPr>
        <p:spPr>
          <a:xfrm flipH="1">
            <a:off x="1481699" y="3843754"/>
            <a:ext cx="2634600" cy="3852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5" name="Google Shape;185;p9"/>
          <p:cNvCxnSpPr>
            <a:stCxn id="165" idx="2"/>
            <a:endCxn id="168" idx="0"/>
          </p:cNvCxnSpPr>
          <p:nvPr/>
        </p:nvCxnSpPr>
        <p:spPr>
          <a:xfrm flipH="1">
            <a:off x="2715299" y="3843754"/>
            <a:ext cx="1401000" cy="3852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6" name="Google Shape;186;p9"/>
          <p:cNvCxnSpPr>
            <a:stCxn id="165" idx="2"/>
            <a:endCxn id="169" idx="0"/>
          </p:cNvCxnSpPr>
          <p:nvPr/>
        </p:nvCxnSpPr>
        <p:spPr>
          <a:xfrm>
            <a:off x="4116299" y="3843754"/>
            <a:ext cx="741300" cy="3852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7" name="Google Shape;187;p9"/>
          <p:cNvCxnSpPr>
            <a:stCxn id="165" idx="2"/>
            <a:endCxn id="170" idx="0"/>
          </p:cNvCxnSpPr>
          <p:nvPr/>
        </p:nvCxnSpPr>
        <p:spPr>
          <a:xfrm>
            <a:off x="4116299" y="3843754"/>
            <a:ext cx="3317400" cy="3852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8" name="Google Shape;188;p9"/>
          <p:cNvCxnSpPr>
            <a:stCxn id="169" idx="2"/>
            <a:endCxn id="175" idx="0"/>
          </p:cNvCxnSpPr>
          <p:nvPr/>
        </p:nvCxnSpPr>
        <p:spPr>
          <a:xfrm flipH="1">
            <a:off x="4429840" y="4567654"/>
            <a:ext cx="427800" cy="3090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9" name="Google Shape;189;p9"/>
          <p:cNvCxnSpPr>
            <a:stCxn id="169" idx="2"/>
            <a:endCxn id="176" idx="0"/>
          </p:cNvCxnSpPr>
          <p:nvPr/>
        </p:nvCxnSpPr>
        <p:spPr>
          <a:xfrm>
            <a:off x="4857640" y="4567654"/>
            <a:ext cx="562800" cy="3090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0" name="Google Shape;190;p9"/>
          <p:cNvCxnSpPr>
            <a:stCxn id="175" idx="2"/>
          </p:cNvCxnSpPr>
          <p:nvPr/>
        </p:nvCxnSpPr>
        <p:spPr>
          <a:xfrm>
            <a:off x="4429710" y="5215354"/>
            <a:ext cx="0" cy="537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1" name="Google Shape;191;p9"/>
          <p:cNvCxnSpPr>
            <a:stCxn id="166" idx="2"/>
            <a:endCxn id="171" idx="0"/>
          </p:cNvCxnSpPr>
          <p:nvPr/>
        </p:nvCxnSpPr>
        <p:spPr>
          <a:xfrm>
            <a:off x="512948" y="4567654"/>
            <a:ext cx="0" cy="3090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2" name="Google Shape;192;p9"/>
          <p:cNvCxnSpPr>
            <a:stCxn id="167" idx="2"/>
            <a:endCxn id="172" idx="0"/>
          </p:cNvCxnSpPr>
          <p:nvPr/>
        </p:nvCxnSpPr>
        <p:spPr>
          <a:xfrm>
            <a:off x="1481595" y="4567654"/>
            <a:ext cx="0" cy="3090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3" name="Google Shape;193;p9"/>
          <p:cNvCxnSpPr>
            <a:stCxn id="168" idx="2"/>
            <a:endCxn id="173" idx="0"/>
          </p:cNvCxnSpPr>
          <p:nvPr/>
        </p:nvCxnSpPr>
        <p:spPr>
          <a:xfrm flipH="1">
            <a:off x="2357530" y="4567654"/>
            <a:ext cx="357900" cy="3090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4" name="Google Shape;194;p9"/>
          <p:cNvCxnSpPr>
            <a:stCxn id="168" idx="2"/>
            <a:endCxn id="174" idx="0"/>
          </p:cNvCxnSpPr>
          <p:nvPr/>
        </p:nvCxnSpPr>
        <p:spPr>
          <a:xfrm>
            <a:off x="2715430" y="4567654"/>
            <a:ext cx="480300" cy="3090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5" name="Google Shape;195;p9"/>
          <p:cNvCxnSpPr>
            <a:stCxn id="170" idx="2"/>
            <a:endCxn id="177" idx="0"/>
          </p:cNvCxnSpPr>
          <p:nvPr/>
        </p:nvCxnSpPr>
        <p:spPr>
          <a:xfrm flipH="1">
            <a:off x="6680805" y="4567654"/>
            <a:ext cx="753000" cy="3090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6" name="Google Shape;196;p9"/>
          <p:cNvCxnSpPr>
            <a:stCxn id="170" idx="2"/>
            <a:endCxn id="178" idx="0"/>
          </p:cNvCxnSpPr>
          <p:nvPr/>
        </p:nvCxnSpPr>
        <p:spPr>
          <a:xfrm>
            <a:off x="7433805" y="4567654"/>
            <a:ext cx="685800" cy="3090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7" name="Google Shape;197;p9"/>
          <p:cNvCxnSpPr>
            <a:stCxn id="177" idx="2"/>
            <a:endCxn id="179" idx="0"/>
          </p:cNvCxnSpPr>
          <p:nvPr/>
        </p:nvCxnSpPr>
        <p:spPr>
          <a:xfrm flipH="1">
            <a:off x="6162155" y="5215354"/>
            <a:ext cx="518700" cy="4995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8" name="Google Shape;198;p9"/>
          <p:cNvCxnSpPr>
            <a:stCxn id="177" idx="2"/>
            <a:endCxn id="181" idx="0"/>
          </p:cNvCxnSpPr>
          <p:nvPr/>
        </p:nvCxnSpPr>
        <p:spPr>
          <a:xfrm>
            <a:off x="6680855" y="5215354"/>
            <a:ext cx="533400" cy="4995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9" name="Google Shape;199;p9"/>
          <p:cNvCxnSpPr>
            <a:stCxn id="178" idx="2"/>
            <a:endCxn id="180" idx="0"/>
          </p:cNvCxnSpPr>
          <p:nvPr/>
        </p:nvCxnSpPr>
        <p:spPr>
          <a:xfrm>
            <a:off x="8119606" y="5215354"/>
            <a:ext cx="0" cy="4995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0" name="Google Shape;200;p9"/>
          <p:cNvCxnSpPr>
            <a:stCxn id="181" idx="2"/>
            <a:endCxn id="182" idx="0"/>
          </p:cNvCxnSpPr>
          <p:nvPr/>
        </p:nvCxnSpPr>
        <p:spPr>
          <a:xfrm>
            <a:off x="7214255" y="6053554"/>
            <a:ext cx="0" cy="5421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" name="Google Shape;201;p9"/>
          <p:cNvSpPr txBox="1"/>
          <p:nvPr/>
        </p:nvSpPr>
        <p:spPr>
          <a:xfrm>
            <a:off x="3906419" y="5715000"/>
            <a:ext cx="104658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hello.c</a:t>
            </a:r>
            <a:endParaRPr b="1" i="0" sz="1600" u="none" cap="none" strike="noStrike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2" name="Google Shape;202;p9"/>
          <p:cNvSpPr txBox="1"/>
          <p:nvPr/>
        </p:nvSpPr>
        <p:spPr>
          <a:xfrm>
            <a:off x="6227506" y="3474422"/>
            <a:ext cx="24415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cwd: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18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/home/bryant</a:t>
            </a:r>
            <a:endParaRPr b="1" i="0" sz="1800" u="none" cap="none" strike="noStrike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"/>
          <p:cNvSpPr txBox="1"/>
          <p:nvPr>
            <p:ph type="title"/>
          </p:nvPr>
        </p:nvSpPr>
        <p:spPr>
          <a:xfrm>
            <a:off x="356286" y="493712"/>
            <a:ext cx="6496050" cy="573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Opening Files</a:t>
            </a:r>
            <a:endParaRPr/>
          </a:p>
        </p:txBody>
      </p:sp>
      <p:sp>
        <p:nvSpPr>
          <p:cNvPr id="208" name="Google Shape;208;p10"/>
          <p:cNvSpPr txBox="1"/>
          <p:nvPr>
            <p:ph idx="1" type="body"/>
          </p:nvPr>
        </p:nvSpPr>
        <p:spPr>
          <a:xfrm>
            <a:off x="366713" y="1296988"/>
            <a:ext cx="8624887" cy="52562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Opening a file informs the kernel that you are getting ready to access that file</a:t>
            </a:r>
            <a:endParaRPr/>
          </a:p>
          <a:p>
            <a:pPr indent="-251459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Returns a small identifying integer </a:t>
            </a:r>
            <a:r>
              <a:rPr i="1" lang="en-US">
                <a:solidFill>
                  <a:srgbClr val="C00000"/>
                </a:solidFill>
              </a:rPr>
              <a:t>file descriptor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fd == -1</a:t>
            </a:r>
            <a:r>
              <a:rPr b="1" lang="en-US"/>
              <a:t> </a:t>
            </a:r>
            <a:r>
              <a:rPr lang="en-US"/>
              <a:t>indicates that an error occurred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Each process created by a Linux shell begins life with three open files associated with a terminal: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0: standard input (stdin)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1: standard output (stdout)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2: standard error (stderr)</a:t>
            </a:r>
            <a:endParaRPr/>
          </a:p>
        </p:txBody>
      </p:sp>
      <p:sp>
        <p:nvSpPr>
          <p:cNvPr id="209" name="Google Shape;209;p10"/>
          <p:cNvSpPr txBox="1"/>
          <p:nvPr/>
        </p:nvSpPr>
        <p:spPr>
          <a:xfrm>
            <a:off x="821724" y="2057400"/>
            <a:ext cx="6324600" cy="1584325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fd;   </a:t>
            </a:r>
            <a:r>
              <a:rPr b="1" i="0" lang="en-US" sz="16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file descriptor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((fd = open("/etc/hosts", O_RDONLY)) &lt; 0)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perror("open");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exit(1);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"/>
          <p:cNvSpPr txBox="1"/>
          <p:nvPr>
            <p:ph type="title"/>
          </p:nvPr>
        </p:nvSpPr>
        <p:spPr>
          <a:xfrm>
            <a:off x="381000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Closing Files</a:t>
            </a:r>
            <a:endParaRPr/>
          </a:p>
        </p:txBody>
      </p:sp>
      <p:sp>
        <p:nvSpPr>
          <p:cNvPr id="215" name="Google Shape;215;p11"/>
          <p:cNvSpPr txBox="1"/>
          <p:nvPr>
            <p:ph idx="1" type="body"/>
          </p:nvPr>
        </p:nvSpPr>
        <p:spPr>
          <a:xfrm>
            <a:off x="396875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Closing a file informs the kernel that you are finished accessing that file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Closing an already closed file is a recipe for disaster in threaded programs (more on this later)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Moral: Always check return codes, even for seemingly benign functions such as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close()</a:t>
            </a:r>
            <a:endParaRPr/>
          </a:p>
        </p:txBody>
      </p:sp>
      <p:sp>
        <p:nvSpPr>
          <p:cNvPr id="216" name="Google Shape;216;p11"/>
          <p:cNvSpPr txBox="1"/>
          <p:nvPr/>
        </p:nvSpPr>
        <p:spPr>
          <a:xfrm>
            <a:off x="838200" y="2286000"/>
            <a:ext cx="6324600" cy="1828800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fd;     </a:t>
            </a:r>
            <a:r>
              <a:rPr b="1" i="0" lang="en-US" sz="16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file descriptor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retval; </a:t>
            </a:r>
            <a:r>
              <a:rPr b="1" i="0" lang="en-US" sz="16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return value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((retval = close(fd)) &lt; 0)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perror("close");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exit(1);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"/>
          <p:cNvSpPr txBox="1"/>
          <p:nvPr>
            <p:ph type="title"/>
          </p:nvPr>
        </p:nvSpPr>
        <p:spPr>
          <a:xfrm>
            <a:off x="381000" y="457200"/>
            <a:ext cx="6496050" cy="573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Reading Files</a:t>
            </a:r>
            <a:endParaRPr/>
          </a:p>
        </p:txBody>
      </p:sp>
      <p:sp>
        <p:nvSpPr>
          <p:cNvPr id="222" name="Google Shape;222;p12"/>
          <p:cNvSpPr txBox="1"/>
          <p:nvPr>
            <p:ph idx="1" type="body"/>
          </p:nvPr>
        </p:nvSpPr>
        <p:spPr>
          <a:xfrm>
            <a:off x="379413" y="1219200"/>
            <a:ext cx="8307387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Reading a file copies bytes from the current file position to memory, and then updates file position</a:t>
            </a:r>
            <a:endParaRPr/>
          </a:p>
          <a:p>
            <a:pPr indent="-251459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Returns number of bytes read from file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fd</a:t>
            </a:r>
            <a:r>
              <a:rPr lang="en-US"/>
              <a:t> into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buf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Return type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ssize_t</a:t>
            </a:r>
            <a:r>
              <a:rPr lang="en-US"/>
              <a:t> is signed integer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nbytes &lt; 0</a:t>
            </a:r>
            <a:r>
              <a:rPr b="1" lang="en-US"/>
              <a:t> </a:t>
            </a:r>
            <a:r>
              <a:rPr lang="en-US"/>
              <a:t>indicates that an error occurred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b="1" i="1" lang="en-US">
                <a:solidFill>
                  <a:srgbClr val="C00000"/>
                </a:solidFill>
              </a:rPr>
              <a:t>Short counts</a:t>
            </a:r>
            <a:r>
              <a:rPr b="1" lang="en-US">
                <a:solidFill>
                  <a:srgbClr val="C00000"/>
                </a:solidFill>
              </a:rPr>
              <a:t> </a:t>
            </a:r>
            <a:r>
              <a:rPr lang="en-US"/>
              <a:t>(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nbytes &lt; sizeof(buf)</a:t>
            </a:r>
            <a:r>
              <a:rPr b="1" lang="en-US"/>
              <a:t> </a:t>
            </a:r>
            <a:r>
              <a:rPr lang="en-US"/>
              <a:t>) are possible and are not errors!</a:t>
            </a:r>
            <a:endParaRPr/>
          </a:p>
        </p:txBody>
      </p:sp>
      <p:sp>
        <p:nvSpPr>
          <p:cNvPr id="223" name="Google Shape;223;p12"/>
          <p:cNvSpPr txBox="1"/>
          <p:nvPr/>
        </p:nvSpPr>
        <p:spPr>
          <a:xfrm>
            <a:off x="834424" y="2085975"/>
            <a:ext cx="6076950" cy="2562225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char buf[512];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fd;       </a:t>
            </a:r>
            <a:r>
              <a:rPr b="1" i="0" lang="en-US" sz="16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file descriptor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nbytes;   </a:t>
            </a:r>
            <a:r>
              <a:rPr b="1" i="0" lang="en-US" sz="16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number of bytes read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Open file fd ... 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Then read up to 512 bytes from file fd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((nbytes = read(fd, buf, sizeof(buf))) &lt; 0)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perror("read");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exit(1);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3"/>
          <p:cNvSpPr txBox="1"/>
          <p:nvPr>
            <p:ph type="title"/>
          </p:nvPr>
        </p:nvSpPr>
        <p:spPr>
          <a:xfrm>
            <a:off x="381000" y="457200"/>
            <a:ext cx="6634163" cy="573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Writing Files</a:t>
            </a:r>
            <a:endParaRPr/>
          </a:p>
        </p:txBody>
      </p:sp>
      <p:sp>
        <p:nvSpPr>
          <p:cNvPr id="229" name="Google Shape;229;p13"/>
          <p:cNvSpPr txBox="1"/>
          <p:nvPr>
            <p:ph idx="1" type="body"/>
          </p:nvPr>
        </p:nvSpPr>
        <p:spPr>
          <a:xfrm>
            <a:off x="381000" y="1143000"/>
            <a:ext cx="8548687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Writing a file copies bytes from memory to the current file position, and then updates current file position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Returns number of bytes written from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buf</a:t>
            </a:r>
            <a:r>
              <a:rPr lang="en-US"/>
              <a:t> to file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fd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nbytes &lt; 0</a:t>
            </a:r>
            <a:r>
              <a:rPr b="1" lang="en-US"/>
              <a:t> </a:t>
            </a:r>
            <a:r>
              <a:rPr lang="en-US"/>
              <a:t>indicates that an error occurred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As with reads, short counts are possible and are not errors!</a:t>
            </a:r>
            <a:endParaRPr/>
          </a:p>
        </p:txBody>
      </p:sp>
      <p:sp>
        <p:nvSpPr>
          <p:cNvPr id="230" name="Google Shape;230;p13"/>
          <p:cNvSpPr txBox="1"/>
          <p:nvPr/>
        </p:nvSpPr>
        <p:spPr>
          <a:xfrm>
            <a:off x="831549" y="2133600"/>
            <a:ext cx="6565900" cy="2562225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char buf[512];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fd;       </a:t>
            </a:r>
            <a:r>
              <a:rPr b="1" i="0" lang="en-US" sz="16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file descriptor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nbytes;   </a:t>
            </a:r>
            <a:r>
              <a:rPr b="1" i="0" lang="en-US" sz="16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number of bytes read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Open the file fd ...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Then write up to 512 bytes from buf to file fd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((nbytes = write(fd, buf, sizeof(buf)) &lt; 0)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perror("write");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exit(1);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4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Simple Unix I/O example</a:t>
            </a:r>
            <a:endParaRPr/>
          </a:p>
        </p:txBody>
      </p:sp>
      <p:sp>
        <p:nvSpPr>
          <p:cNvPr id="236" name="Google Shape;236;p14"/>
          <p:cNvSpPr txBox="1"/>
          <p:nvPr>
            <p:ph idx="1" type="body"/>
          </p:nvPr>
        </p:nvSpPr>
        <p:spPr>
          <a:xfrm>
            <a:off x="381000" y="1143000"/>
            <a:ext cx="86106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Copying stdin to stdout, one byte at a time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  <p:sp>
        <p:nvSpPr>
          <p:cNvPr id="237" name="Google Shape;237;p14"/>
          <p:cNvSpPr txBox="1"/>
          <p:nvPr/>
        </p:nvSpPr>
        <p:spPr>
          <a:xfrm>
            <a:off x="990600" y="2057400"/>
            <a:ext cx="6461125" cy="2554545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926492"/>
                </a:solidFill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1600" u="none" cap="none" strike="noStrike">
                <a:solidFill>
                  <a:srgbClr val="9D206F"/>
                </a:solidFill>
                <a:latin typeface="Courier New"/>
                <a:ea typeface="Courier New"/>
                <a:cs typeface="Courier New"/>
                <a:sym typeface="Courier New"/>
              </a:rPr>
              <a:t>"csapp.h"</a:t>
            </a:r>
            <a:endParaRPr b="1" i="0" sz="16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D961E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1600" u="none" cap="none" strike="noStrike">
                <a:solidFill>
                  <a:srgbClr val="4A00FF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n-US" sz="1600" u="none" cap="none" strike="noStrike">
                <a:solidFill>
                  <a:srgbClr val="2D961E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1600" u="none" cap="none" strike="noStrike">
                <a:solidFill>
                  <a:srgbClr val="C1651C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en-US" sz="1600" u="none" cap="none" strike="noStrike">
                <a:solidFill>
                  <a:srgbClr val="C200FF"/>
                </a:solidFill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(Read(STDIN_FILENO, &amp;c, 1) != 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Write(STDOUT_FILENO, &amp;c, 1);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exit(0);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i="0" sz="16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5"/>
          <p:cNvSpPr txBox="1"/>
          <p:nvPr>
            <p:ph type="title"/>
          </p:nvPr>
        </p:nvSpPr>
        <p:spPr>
          <a:xfrm>
            <a:off x="381000" y="457200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On Short Counts</a:t>
            </a:r>
            <a:endParaRPr/>
          </a:p>
        </p:txBody>
      </p:sp>
      <p:sp>
        <p:nvSpPr>
          <p:cNvPr id="243" name="Google Shape;243;p15"/>
          <p:cNvSpPr txBox="1"/>
          <p:nvPr>
            <p:ph idx="1" type="body"/>
          </p:nvPr>
        </p:nvSpPr>
        <p:spPr>
          <a:xfrm>
            <a:off x="388637" y="1295400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Short counts can occur in these situations: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Encountering (end-of-file) EOF on reads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Reading text lines from a terminal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Reading and writing network sockets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Short counts never occur in these situations: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Reading from disk files (except for EOF)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Writing to disk files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Best practice is to always allow for short counts.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6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Today</a:t>
            </a:r>
            <a:endParaRPr/>
          </a:p>
        </p:txBody>
      </p:sp>
      <p:sp>
        <p:nvSpPr>
          <p:cNvPr id="250" name="Google Shape;250;p16"/>
          <p:cNvSpPr txBox="1"/>
          <p:nvPr>
            <p:ph idx="1" type="body"/>
          </p:nvPr>
        </p:nvSpPr>
        <p:spPr>
          <a:xfrm>
            <a:off x="396875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>
                <a:solidFill>
                  <a:srgbClr val="7F7F7F"/>
                </a:solidFill>
              </a:rPr>
              <a:t>Unix I/O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RIO (robust I/O) package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>
                <a:solidFill>
                  <a:srgbClr val="7F7F7F"/>
                </a:solidFill>
              </a:rPr>
              <a:t>Metadata, sharing, and redirection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>
                <a:solidFill>
                  <a:srgbClr val="7F7F7F"/>
                </a:solidFill>
              </a:rPr>
              <a:t>Standard I/O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>
                <a:solidFill>
                  <a:srgbClr val="7F7F7F"/>
                </a:solidFill>
              </a:rPr>
              <a:t>Closing remarks</a:t>
            </a:r>
            <a:endParaRPr>
              <a:solidFill>
                <a:srgbClr val="7F7F7F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7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RIO Package</a:t>
            </a:r>
            <a:endParaRPr/>
          </a:p>
        </p:txBody>
      </p:sp>
      <p:sp>
        <p:nvSpPr>
          <p:cNvPr id="256" name="Google Shape;256;p17"/>
          <p:cNvSpPr txBox="1"/>
          <p:nvPr>
            <p:ph idx="1" type="body"/>
          </p:nvPr>
        </p:nvSpPr>
        <p:spPr>
          <a:xfrm>
            <a:off x="396875" y="1362075"/>
            <a:ext cx="83661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RIO is a set of wrappers that provide efficient and robust I/O in apps, such as network programs that are subject to short counts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RIO provides two different kinds of functions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Unbuffered input and output of binary data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rio_readn</a:t>
            </a:r>
            <a:r>
              <a:rPr lang="en-US"/>
              <a:t> and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rio_writen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Buffered input of text lines and binary data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rio_readlineb</a:t>
            </a:r>
            <a:r>
              <a:rPr lang="en-US"/>
              <a:t> and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rio_readnb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Buffered RIO routines are thread-safe and can be interleaved arbitrarily on the same descriptor</a:t>
            </a:r>
            <a:endParaRPr/>
          </a:p>
          <a:p>
            <a:pPr indent="-1270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Download from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http://csapp.cs.cmu.edu/3e/code.html</a:t>
            </a:r>
            <a:r>
              <a:rPr lang="en-US"/>
              <a:t> 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rPr lang="en-US"/>
              <a:t>🡪  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src/csapp.c </a:t>
            </a:r>
            <a:r>
              <a:rPr lang="en-US"/>
              <a:t>and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include/csapp.h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8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Unbuffered RIO Input and Output</a:t>
            </a:r>
            <a:endParaRPr/>
          </a:p>
        </p:txBody>
      </p:sp>
      <p:sp>
        <p:nvSpPr>
          <p:cNvPr id="262" name="Google Shape;262;p18"/>
          <p:cNvSpPr txBox="1"/>
          <p:nvPr>
            <p:ph idx="1" type="body"/>
          </p:nvPr>
        </p:nvSpPr>
        <p:spPr>
          <a:xfrm>
            <a:off x="366713" y="1220788"/>
            <a:ext cx="8701087" cy="5180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Same interface as Unix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read</a:t>
            </a:r>
            <a:r>
              <a:rPr lang="en-US"/>
              <a:t> and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write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Especially useful for transferring data on network sockets</a:t>
            </a:r>
            <a:endParaRPr/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rio_readn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/>
              <a:t>returns short count only if it encounters EOF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Only use it when you know how many bytes to read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rio_writen </a:t>
            </a:r>
            <a:r>
              <a:rPr lang="en-US"/>
              <a:t>never returns a short count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Calls to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rio_readn</a:t>
            </a:r>
            <a:r>
              <a:rPr b="1" lang="en-US"/>
              <a:t> </a:t>
            </a:r>
            <a:r>
              <a:rPr lang="en-US"/>
              <a:t>and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rio_writen</a:t>
            </a:r>
            <a:r>
              <a:rPr b="1" lang="en-US"/>
              <a:t> </a:t>
            </a:r>
            <a:r>
              <a:rPr lang="en-US"/>
              <a:t>can be interleaved arbitrarily on the same descriptor</a:t>
            </a:r>
            <a:endParaRPr/>
          </a:p>
        </p:txBody>
      </p:sp>
      <p:sp>
        <p:nvSpPr>
          <p:cNvPr id="263" name="Google Shape;263;p18"/>
          <p:cNvSpPr txBox="1"/>
          <p:nvPr/>
        </p:nvSpPr>
        <p:spPr>
          <a:xfrm>
            <a:off x="818592" y="2316540"/>
            <a:ext cx="7478970" cy="1569660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#include "csapp.h"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ssize_t rio_readn(int fd, void *usrbuf, size_t n);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ssize_t rio_writen(int fd, void *usrbuf, size_t n);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b="1" i="0" lang="en-US" sz="16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Return: num. bytes transferred if OK,</a:t>
            </a:r>
            <a:r>
              <a:rPr b="1" i="1" lang="en-US" sz="16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i="0" lang="en-US" sz="16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0 on EOF (</a:t>
            </a:r>
            <a:r>
              <a:rPr b="1" i="0" lang="en-US" sz="16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rio_readn</a:t>
            </a:r>
            <a:r>
              <a:rPr b="1" i="0" lang="en-US" sz="16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 only), -1 on error</a:t>
            </a:r>
            <a:r>
              <a:rPr b="1" i="1" lang="en-US" sz="16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 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9"/>
          <p:cNvSpPr txBox="1"/>
          <p:nvPr>
            <p:ph type="title"/>
          </p:nvPr>
        </p:nvSpPr>
        <p:spPr>
          <a:xfrm>
            <a:off x="228600" y="304800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Implementation of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rio_readn</a:t>
            </a:r>
            <a:endParaRPr/>
          </a:p>
        </p:txBody>
      </p:sp>
      <p:sp>
        <p:nvSpPr>
          <p:cNvPr id="269" name="Google Shape;269;p19"/>
          <p:cNvSpPr txBox="1"/>
          <p:nvPr/>
        </p:nvSpPr>
        <p:spPr>
          <a:xfrm>
            <a:off x="357018" y="990600"/>
            <a:ext cx="8710782" cy="5755422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 * rio_readn - Robustly read n bytes (unbuffered)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ssize_t rio_readn(int fd, void *usrbuf, size_t n)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size_t nleft = n;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ssize_t nread;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char *bufp = usrbuf;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while (nleft &gt; 0)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if ((nread =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read</a:t>
            </a: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(fd, bufp, nleft)) &lt; 0)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    if (errno == EINTR) </a:t>
            </a:r>
            <a:r>
              <a:rPr b="1" i="0" lang="en-US" sz="16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Interrupted by sig handler return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nread = 0;       </a:t>
            </a:r>
            <a:r>
              <a:rPr b="1" i="0" lang="en-US" sz="16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and call read() again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    else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return -1;       </a:t>
            </a:r>
            <a:r>
              <a:rPr b="1" i="0" lang="en-US" sz="16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errno set by read() */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}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else if (nread == 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    break;              </a:t>
            </a:r>
            <a:r>
              <a:rPr b="1" i="0" lang="en-US" sz="16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EOF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nleft -= nread;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bufp += nread;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(n - nleft);         </a:t>
            </a:r>
            <a:r>
              <a:rPr b="1" i="0" lang="en-US" sz="16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Return &gt;= 0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9"/>
          <p:cNvSpPr txBox="1"/>
          <p:nvPr/>
        </p:nvSpPr>
        <p:spPr>
          <a:xfrm>
            <a:off x="7913480" y="6376690"/>
            <a:ext cx="11543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ourier New"/>
                <a:ea typeface="Courier New"/>
                <a:cs typeface="Courier New"/>
                <a:sym typeface="Courier New"/>
              </a:rPr>
              <a:t>csapp.c</a:t>
            </a:r>
            <a:endParaRPr b="1" i="0" sz="1800" u="none" cap="none" strike="noStrike">
              <a:solidFill>
                <a:srgbClr val="7F7F7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0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Buffered RIO Input Functions</a:t>
            </a:r>
            <a:endParaRPr/>
          </a:p>
        </p:txBody>
      </p:sp>
      <p:sp>
        <p:nvSpPr>
          <p:cNvPr id="276" name="Google Shape;276;p20"/>
          <p:cNvSpPr txBox="1"/>
          <p:nvPr>
            <p:ph idx="1" type="body"/>
          </p:nvPr>
        </p:nvSpPr>
        <p:spPr>
          <a:xfrm>
            <a:off x="362936" y="1219200"/>
            <a:ext cx="8307388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Efficiently read text lines and binary data from a file partially cached in an internal memory buffer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1460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▪"/>
            </a:pP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rio_readlineb</a:t>
            </a:r>
            <a:r>
              <a:rPr lang="en-US"/>
              <a:t> reads a text line of up to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maxlen</a:t>
            </a:r>
            <a:r>
              <a:rPr lang="en-US"/>
              <a:t> bytes from file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fd</a:t>
            </a:r>
            <a:r>
              <a:rPr lang="en-US"/>
              <a:t> and stores the line in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usrbuf</a:t>
            </a:r>
            <a:endParaRPr b="1"/>
          </a:p>
          <a:p>
            <a:pPr indent="-228600" lvl="2" marL="1143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Especially useful for reading text lines from network sockets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Stopping conditions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maxlen</a:t>
            </a:r>
            <a:r>
              <a:rPr lang="en-US"/>
              <a:t> bytes read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EOF encountered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Newline (‘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lang="en-US"/>
              <a:t>’) encountered</a:t>
            </a:r>
            <a:endParaRPr/>
          </a:p>
          <a:p>
            <a:pPr indent="-127000" lvl="2" marL="1143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</p:txBody>
      </p:sp>
      <p:sp>
        <p:nvSpPr>
          <p:cNvPr id="277" name="Google Shape;277;p20"/>
          <p:cNvSpPr txBox="1"/>
          <p:nvPr/>
        </p:nvSpPr>
        <p:spPr>
          <a:xfrm>
            <a:off x="106363" y="4132263"/>
            <a:ext cx="92075" cy="420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8" name="Google Shape;278;p20"/>
          <p:cNvSpPr txBox="1"/>
          <p:nvPr/>
        </p:nvSpPr>
        <p:spPr>
          <a:xfrm>
            <a:off x="481914" y="2057400"/>
            <a:ext cx="7745069" cy="2062103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#include "csapp.h"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rio_readinitb(rio_t *rp, int fd);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ssize_t rio_readlineb(rio_t *rp, void *usrbuf, size_t maxlen);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ssize_t rio_readnb(rio_t *rp, void *usrbuf, size_t n);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</a:t>
            </a:r>
            <a:r>
              <a:rPr b="1" i="0" lang="en-US" sz="16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Return: num. bytes read if OK, 0 on EOF, -1 on error</a:t>
            </a:r>
            <a:endParaRPr b="1" i="1" sz="1600" u="none" cap="none" strike="noStrike">
              <a:solidFill>
                <a:srgbClr val="99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1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Buffered RIO Input Functions (cont)</a:t>
            </a:r>
            <a:endParaRPr/>
          </a:p>
        </p:txBody>
      </p:sp>
      <p:sp>
        <p:nvSpPr>
          <p:cNvPr id="284" name="Google Shape;284;p21"/>
          <p:cNvSpPr txBox="1"/>
          <p:nvPr>
            <p:ph idx="1" type="body"/>
          </p:nvPr>
        </p:nvSpPr>
        <p:spPr>
          <a:xfrm>
            <a:off x="304800" y="3429000"/>
            <a:ext cx="8307388" cy="28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rio_readnb</a:t>
            </a:r>
            <a:r>
              <a:rPr lang="en-US"/>
              <a:t> reads up to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-US"/>
              <a:t> bytes from file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fd</a:t>
            </a:r>
            <a:endParaRPr b="1"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Stopping conditions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maxlen</a:t>
            </a:r>
            <a:r>
              <a:rPr lang="en-US"/>
              <a:t> bytes read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EOF encountered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Calls to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rio_readlineb</a:t>
            </a:r>
            <a:r>
              <a:rPr lang="en-US"/>
              <a:t> and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rio_readnb</a:t>
            </a:r>
            <a:r>
              <a:rPr lang="en-US"/>
              <a:t> can be interleaved arbitrarily on the same descriptor</a:t>
            </a:r>
            <a:endParaRPr/>
          </a:p>
          <a:p>
            <a:pPr indent="-228600" lvl="2" marL="1143000" rtl="0" algn="l">
              <a:lnSpc>
                <a:spcPct val="97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Warning: Don’t interleave with calls to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rio_readn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5" name="Google Shape;285;p21"/>
          <p:cNvSpPr txBox="1"/>
          <p:nvPr/>
        </p:nvSpPr>
        <p:spPr>
          <a:xfrm>
            <a:off x="106363" y="4132263"/>
            <a:ext cx="92075" cy="420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6" name="Google Shape;286;p21"/>
          <p:cNvSpPr txBox="1"/>
          <p:nvPr/>
        </p:nvSpPr>
        <p:spPr>
          <a:xfrm>
            <a:off x="533400" y="1366897"/>
            <a:ext cx="7745069" cy="2062103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#include "csapp.h"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rio_readinitb(rio_t *rp, int fd);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ssize_t rio_readlineb(rio_t *rp, void *usrbuf, size_t maxlen);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ssize_t rio_readnb(rio_t *rp, void *usrbuf, size_t n);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</a:t>
            </a:r>
            <a:r>
              <a:rPr b="1" i="0" lang="en-US" sz="16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Return: num. bytes read if OK, 0 on EOF, -1 on error</a:t>
            </a:r>
            <a:endParaRPr b="1" i="1" sz="1600" u="none" cap="none" strike="noStrike">
              <a:solidFill>
                <a:srgbClr val="99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2"/>
          <p:cNvSpPr/>
          <p:nvPr/>
        </p:nvSpPr>
        <p:spPr>
          <a:xfrm>
            <a:off x="4724400" y="3040062"/>
            <a:ext cx="2362200" cy="441325"/>
          </a:xfrm>
          <a:prstGeom prst="rect">
            <a:avLst/>
          </a:prstGeom>
          <a:solidFill>
            <a:srgbClr val="F1C7C7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unread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2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Buffered I/O: Implementation</a:t>
            </a:r>
            <a:endParaRPr/>
          </a:p>
        </p:txBody>
      </p:sp>
      <p:sp>
        <p:nvSpPr>
          <p:cNvPr id="293" name="Google Shape;293;p22"/>
          <p:cNvSpPr txBox="1"/>
          <p:nvPr>
            <p:ph idx="1" type="body"/>
          </p:nvPr>
        </p:nvSpPr>
        <p:spPr>
          <a:xfrm>
            <a:off x="290513" y="1220788"/>
            <a:ext cx="8307387" cy="3960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For reading from file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File has associated buffer to hold bytes that have been read from file but not yet read by user code</a:t>
            </a:r>
            <a:endParaRPr/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Layered on Unix file:</a:t>
            </a:r>
            <a:endParaRPr/>
          </a:p>
        </p:txBody>
      </p:sp>
      <p:sp>
        <p:nvSpPr>
          <p:cNvPr id="294" name="Google Shape;294;p22"/>
          <p:cNvSpPr/>
          <p:nvPr/>
        </p:nvSpPr>
        <p:spPr>
          <a:xfrm>
            <a:off x="2362200" y="3040062"/>
            <a:ext cx="2362200" cy="441325"/>
          </a:xfrm>
          <a:prstGeom prst="rect">
            <a:avLst/>
          </a:prstGeom>
          <a:solidFill>
            <a:srgbClr val="D5F1CF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already read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2"/>
          <p:cNvSpPr/>
          <p:nvPr/>
        </p:nvSpPr>
        <p:spPr>
          <a:xfrm>
            <a:off x="2362200" y="3040062"/>
            <a:ext cx="6096000" cy="44132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2"/>
          <p:cNvSpPr txBox="1"/>
          <p:nvPr/>
        </p:nvSpPr>
        <p:spPr>
          <a:xfrm>
            <a:off x="1498697" y="3056538"/>
            <a:ext cx="84702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Buffer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2"/>
          <p:cNvSpPr/>
          <p:nvPr/>
        </p:nvSpPr>
        <p:spPr>
          <a:xfrm rot="5400000">
            <a:off x="1978110" y="3418829"/>
            <a:ext cx="304800" cy="461665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2"/>
          <p:cNvSpPr/>
          <p:nvPr/>
        </p:nvSpPr>
        <p:spPr>
          <a:xfrm rot="5400000">
            <a:off x="4264110" y="3495029"/>
            <a:ext cx="457200" cy="461665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2"/>
          <p:cNvSpPr/>
          <p:nvPr/>
        </p:nvSpPr>
        <p:spPr>
          <a:xfrm>
            <a:off x="720810" y="3649662"/>
            <a:ext cx="1039813" cy="312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rio_buf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2"/>
          <p:cNvSpPr/>
          <p:nvPr/>
        </p:nvSpPr>
        <p:spPr>
          <a:xfrm>
            <a:off x="2702010" y="3802062"/>
            <a:ext cx="1600200" cy="312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rio_bufptr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1" name="Google Shape;301;p22"/>
          <p:cNvCxnSpPr/>
          <p:nvPr/>
        </p:nvCxnSpPr>
        <p:spPr>
          <a:xfrm rot="10800000">
            <a:off x="4724400" y="2659062"/>
            <a:ext cx="0" cy="30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2" name="Google Shape;302;p22"/>
          <p:cNvCxnSpPr/>
          <p:nvPr/>
        </p:nvCxnSpPr>
        <p:spPr>
          <a:xfrm rot="10800000">
            <a:off x="7086600" y="2659062"/>
            <a:ext cx="0" cy="30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3" name="Google Shape;303;p22"/>
          <p:cNvCxnSpPr/>
          <p:nvPr/>
        </p:nvCxnSpPr>
        <p:spPr>
          <a:xfrm>
            <a:off x="4724400" y="2811462"/>
            <a:ext cx="2362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04" name="Google Shape;304;p22"/>
          <p:cNvSpPr/>
          <p:nvPr/>
        </p:nvSpPr>
        <p:spPr>
          <a:xfrm>
            <a:off x="5257800" y="2659062"/>
            <a:ext cx="1219200" cy="31273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rio_cnt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22"/>
          <p:cNvSpPr/>
          <p:nvPr/>
        </p:nvSpPr>
        <p:spPr>
          <a:xfrm>
            <a:off x="5105400" y="5452646"/>
            <a:ext cx="2362200" cy="441325"/>
          </a:xfrm>
          <a:prstGeom prst="rect">
            <a:avLst/>
          </a:prstGeom>
          <a:solidFill>
            <a:srgbClr val="F1C7C7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unread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2"/>
          <p:cNvSpPr/>
          <p:nvPr/>
        </p:nvSpPr>
        <p:spPr>
          <a:xfrm>
            <a:off x="2743200" y="5452646"/>
            <a:ext cx="2362200" cy="441325"/>
          </a:xfrm>
          <a:prstGeom prst="rect">
            <a:avLst/>
          </a:prstGeom>
          <a:solidFill>
            <a:srgbClr val="D5F1CF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already read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2"/>
          <p:cNvSpPr/>
          <p:nvPr/>
        </p:nvSpPr>
        <p:spPr>
          <a:xfrm>
            <a:off x="762000" y="5452646"/>
            <a:ext cx="8229600" cy="44132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2"/>
          <p:cNvSpPr/>
          <p:nvPr/>
        </p:nvSpPr>
        <p:spPr>
          <a:xfrm>
            <a:off x="762000" y="5452646"/>
            <a:ext cx="1981200" cy="441325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in buffer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2"/>
          <p:cNvSpPr/>
          <p:nvPr/>
        </p:nvSpPr>
        <p:spPr>
          <a:xfrm>
            <a:off x="7467600" y="5452646"/>
            <a:ext cx="1524000" cy="441325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unseen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22"/>
          <p:cNvSpPr/>
          <p:nvPr/>
        </p:nvSpPr>
        <p:spPr>
          <a:xfrm rot="5400000">
            <a:off x="7007310" y="5907613"/>
            <a:ext cx="457200" cy="461665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2"/>
          <p:cNvSpPr/>
          <p:nvPr/>
        </p:nvSpPr>
        <p:spPr>
          <a:xfrm>
            <a:off x="4378410" y="6214646"/>
            <a:ext cx="25908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File Position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2" name="Google Shape;312;p22"/>
          <p:cNvCxnSpPr/>
          <p:nvPr/>
        </p:nvCxnSpPr>
        <p:spPr>
          <a:xfrm rot="10800000">
            <a:off x="2743200" y="5029200"/>
            <a:ext cx="0" cy="30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3" name="Google Shape;313;p22"/>
          <p:cNvCxnSpPr/>
          <p:nvPr/>
        </p:nvCxnSpPr>
        <p:spPr>
          <a:xfrm rot="10800000">
            <a:off x="7467600" y="5029200"/>
            <a:ext cx="0" cy="30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4" name="Google Shape;314;p22"/>
          <p:cNvCxnSpPr/>
          <p:nvPr/>
        </p:nvCxnSpPr>
        <p:spPr>
          <a:xfrm flipH="1" rot="10800000">
            <a:off x="2743200" y="5181600"/>
            <a:ext cx="4724400" cy="7938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15" name="Google Shape;315;p22"/>
          <p:cNvSpPr/>
          <p:nvPr/>
        </p:nvSpPr>
        <p:spPr>
          <a:xfrm>
            <a:off x="3886200" y="5029200"/>
            <a:ext cx="2667000" cy="33855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Buffered Portion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3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Buffered I/O: Declaration</a:t>
            </a:r>
            <a:endParaRPr/>
          </a:p>
        </p:txBody>
      </p:sp>
      <p:sp>
        <p:nvSpPr>
          <p:cNvPr id="321" name="Google Shape;321;p23"/>
          <p:cNvSpPr txBox="1"/>
          <p:nvPr>
            <p:ph idx="1" type="body"/>
          </p:nvPr>
        </p:nvSpPr>
        <p:spPr>
          <a:xfrm>
            <a:off x="379413" y="1296988"/>
            <a:ext cx="8307387" cy="608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All information contained in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2" name="Google Shape;322;p23"/>
          <p:cNvSpPr txBox="1"/>
          <p:nvPr/>
        </p:nvSpPr>
        <p:spPr>
          <a:xfrm>
            <a:off x="452437" y="4267200"/>
            <a:ext cx="8539163" cy="1600200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typedef struct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int rio_fd;                </a:t>
            </a:r>
            <a:r>
              <a:rPr b="1" i="0" lang="en-US" sz="16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descriptor for this internal buf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int rio_cnt;               </a:t>
            </a:r>
            <a:r>
              <a:rPr b="1" i="0" lang="en-US" sz="16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unread bytes in internal buf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char *rio_bufptr;          </a:t>
            </a:r>
            <a:r>
              <a:rPr b="1" i="0" lang="en-US" sz="16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next unread byte in internal buf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char rio_buf[RIO_BUFSIZE]; </a:t>
            </a:r>
            <a:r>
              <a:rPr b="1" i="0" lang="en-US" sz="16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internal buffer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 rio_t;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3"/>
          <p:cNvSpPr/>
          <p:nvPr/>
        </p:nvSpPr>
        <p:spPr>
          <a:xfrm>
            <a:off x="4724400" y="2430462"/>
            <a:ext cx="2362200" cy="441325"/>
          </a:xfrm>
          <a:prstGeom prst="rect">
            <a:avLst/>
          </a:prstGeom>
          <a:solidFill>
            <a:srgbClr val="F1C7C7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unread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3"/>
          <p:cNvSpPr/>
          <p:nvPr/>
        </p:nvSpPr>
        <p:spPr>
          <a:xfrm>
            <a:off x="2362200" y="2430462"/>
            <a:ext cx="2362200" cy="441325"/>
          </a:xfrm>
          <a:prstGeom prst="rect">
            <a:avLst/>
          </a:prstGeom>
          <a:solidFill>
            <a:srgbClr val="D5F1CF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already read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3"/>
          <p:cNvSpPr/>
          <p:nvPr/>
        </p:nvSpPr>
        <p:spPr>
          <a:xfrm>
            <a:off x="2362200" y="2430462"/>
            <a:ext cx="6096000" cy="44132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3"/>
          <p:cNvSpPr txBox="1"/>
          <p:nvPr/>
        </p:nvSpPr>
        <p:spPr>
          <a:xfrm>
            <a:off x="1498697" y="2452994"/>
            <a:ext cx="84702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Buffer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23"/>
          <p:cNvSpPr/>
          <p:nvPr/>
        </p:nvSpPr>
        <p:spPr>
          <a:xfrm rot="5400000">
            <a:off x="1978110" y="2809229"/>
            <a:ext cx="304800" cy="461665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3"/>
          <p:cNvSpPr/>
          <p:nvPr/>
        </p:nvSpPr>
        <p:spPr>
          <a:xfrm rot="5400000">
            <a:off x="4264110" y="2885429"/>
            <a:ext cx="457200" cy="461665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3"/>
          <p:cNvSpPr/>
          <p:nvPr/>
        </p:nvSpPr>
        <p:spPr>
          <a:xfrm>
            <a:off x="720810" y="3040062"/>
            <a:ext cx="1039813" cy="312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rio_buf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23"/>
          <p:cNvSpPr/>
          <p:nvPr/>
        </p:nvSpPr>
        <p:spPr>
          <a:xfrm>
            <a:off x="2702010" y="3192462"/>
            <a:ext cx="1600200" cy="312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rio_bufptr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1" name="Google Shape;331;p23"/>
          <p:cNvCxnSpPr/>
          <p:nvPr/>
        </p:nvCxnSpPr>
        <p:spPr>
          <a:xfrm rot="10800000">
            <a:off x="4724400" y="2049462"/>
            <a:ext cx="0" cy="30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2" name="Google Shape;332;p23"/>
          <p:cNvCxnSpPr/>
          <p:nvPr/>
        </p:nvCxnSpPr>
        <p:spPr>
          <a:xfrm rot="10800000">
            <a:off x="7086600" y="2049462"/>
            <a:ext cx="0" cy="30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3" name="Google Shape;333;p23"/>
          <p:cNvCxnSpPr/>
          <p:nvPr/>
        </p:nvCxnSpPr>
        <p:spPr>
          <a:xfrm>
            <a:off x="4724400" y="2201862"/>
            <a:ext cx="2362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34" name="Google Shape;334;p23"/>
          <p:cNvSpPr/>
          <p:nvPr/>
        </p:nvSpPr>
        <p:spPr>
          <a:xfrm>
            <a:off x="5257800" y="2049462"/>
            <a:ext cx="1219200" cy="31273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rio_cnt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4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RIO Example</a:t>
            </a:r>
            <a:endParaRPr/>
          </a:p>
        </p:txBody>
      </p:sp>
      <p:sp>
        <p:nvSpPr>
          <p:cNvPr id="340" name="Google Shape;340;p24"/>
          <p:cNvSpPr txBox="1"/>
          <p:nvPr>
            <p:ph idx="1" type="body"/>
          </p:nvPr>
        </p:nvSpPr>
        <p:spPr>
          <a:xfrm>
            <a:off x="379413" y="1220788"/>
            <a:ext cx="8307387" cy="912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Copying the lines of a text file from standard input to standard output</a:t>
            </a:r>
            <a:endParaRPr/>
          </a:p>
        </p:txBody>
      </p:sp>
      <p:sp>
        <p:nvSpPr>
          <p:cNvPr id="341" name="Google Shape;341;p24"/>
          <p:cNvSpPr txBox="1"/>
          <p:nvPr/>
        </p:nvSpPr>
        <p:spPr>
          <a:xfrm>
            <a:off x="844118" y="2286000"/>
            <a:ext cx="7004482" cy="3293209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#include "csapp.h"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main(int argc, char **argv)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int n;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rio_t rio;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char buf[MAXLINE];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Rio_readinitb(&amp;rio, STDIN_FILENO);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while((n = Rio_readlineb(&amp;rio, buf, MAXLINE)) != 0)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Rio_writen(STDOUT_FILENO, buf, n);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exit(0);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4"/>
          <p:cNvSpPr txBox="1"/>
          <p:nvPr/>
        </p:nvSpPr>
        <p:spPr>
          <a:xfrm>
            <a:off x="6555758" y="5209877"/>
            <a:ext cx="129284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ourier New"/>
                <a:ea typeface="Courier New"/>
                <a:cs typeface="Courier New"/>
                <a:sym typeface="Courier New"/>
              </a:rPr>
              <a:t>cpfile.c</a:t>
            </a:r>
            <a:endParaRPr b="1" i="0" sz="1800" u="none" cap="none" strike="noStrike">
              <a:solidFill>
                <a:srgbClr val="7F7F7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5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Today</a:t>
            </a:r>
            <a:endParaRPr/>
          </a:p>
        </p:txBody>
      </p:sp>
      <p:sp>
        <p:nvSpPr>
          <p:cNvPr id="349" name="Google Shape;349;p25"/>
          <p:cNvSpPr txBox="1"/>
          <p:nvPr>
            <p:ph idx="1" type="body"/>
          </p:nvPr>
        </p:nvSpPr>
        <p:spPr>
          <a:xfrm>
            <a:off x="396875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>
                <a:solidFill>
                  <a:srgbClr val="7F7F7F"/>
                </a:solidFill>
              </a:rPr>
              <a:t>Unix I/O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>
                <a:solidFill>
                  <a:srgbClr val="7F7F7F"/>
                </a:solidFill>
              </a:rPr>
              <a:t>RIO (robust I/O) package</a:t>
            </a:r>
            <a:endParaRPr>
              <a:solidFill>
                <a:srgbClr val="7F7F7F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Metadata, sharing, and redirection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>
                <a:solidFill>
                  <a:srgbClr val="7F7F7F"/>
                </a:solidFill>
              </a:rPr>
              <a:t>Standard I/O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>
                <a:solidFill>
                  <a:srgbClr val="7F7F7F"/>
                </a:solidFill>
              </a:rPr>
              <a:t>Closing remarks</a:t>
            </a:r>
            <a:endParaRPr>
              <a:solidFill>
                <a:srgbClr val="7F7F7F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6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File Metadata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5" name="Google Shape;355;p26"/>
          <p:cNvSpPr txBox="1"/>
          <p:nvPr>
            <p:ph idx="1" type="body"/>
          </p:nvPr>
        </p:nvSpPr>
        <p:spPr>
          <a:xfrm>
            <a:off x="372161" y="1123950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i="1" lang="en-US">
                <a:solidFill>
                  <a:srgbClr val="C00000"/>
                </a:solidFill>
              </a:rPr>
              <a:t>Metadata</a:t>
            </a:r>
            <a:r>
              <a:rPr lang="en-US"/>
              <a:t> is data about data, in this case file data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Per-file metadata maintained by kernel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Font typeface="Noto Sans Symbols"/>
              <a:buChar char="▪"/>
            </a:pPr>
            <a:r>
              <a:rPr lang="en-US"/>
              <a:t>accessed by users with the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stat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/>
              <a:t>and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fstat</a:t>
            </a:r>
            <a:r>
              <a:rPr lang="en-US"/>
              <a:t> functions</a:t>
            </a:r>
            <a:endParaRPr/>
          </a:p>
        </p:txBody>
      </p:sp>
      <p:sp>
        <p:nvSpPr>
          <p:cNvPr id="356" name="Google Shape;356;p26"/>
          <p:cNvSpPr/>
          <p:nvPr/>
        </p:nvSpPr>
        <p:spPr>
          <a:xfrm>
            <a:off x="473761" y="2590800"/>
            <a:ext cx="8264525" cy="4016375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Metadata returned by the stat and fstat functions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 stat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dev_t         st_dev;      </a:t>
            </a:r>
            <a:r>
              <a:rPr b="1" i="0" lang="en-US" sz="16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Device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ino_t         st_ino;      </a:t>
            </a:r>
            <a:r>
              <a:rPr b="1" i="0" lang="en-US" sz="16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inode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mode_t        st_mode;     </a:t>
            </a:r>
            <a:r>
              <a:rPr b="1" i="0" lang="en-US" sz="16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Protection and file type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nlink_t       st_nlink;    </a:t>
            </a:r>
            <a:r>
              <a:rPr b="1" i="0" lang="en-US" sz="16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Number of hard links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uid_t         st_uid;      </a:t>
            </a:r>
            <a:r>
              <a:rPr b="1" i="0" lang="en-US" sz="16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User ID of owner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gid_t         st_gid;      </a:t>
            </a:r>
            <a:r>
              <a:rPr b="1" i="0" lang="en-US" sz="16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Group ID of owner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dev_t         st_rdev;     </a:t>
            </a:r>
            <a:r>
              <a:rPr b="1" i="0" lang="en-US" sz="16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Device type (if inode device)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off_t         st_size;     </a:t>
            </a:r>
            <a:r>
              <a:rPr b="1" i="0" lang="en-US" sz="16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Total size, in bytes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unsigned long st_blksize;  </a:t>
            </a:r>
            <a:r>
              <a:rPr b="1" i="0" lang="en-US" sz="16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Blocksize for filesystem I/O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unsigned long st_blocks;   </a:t>
            </a:r>
            <a:r>
              <a:rPr b="1" i="0" lang="en-US" sz="16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Number of blocks allocated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time_t        st_atime;    </a:t>
            </a:r>
            <a:r>
              <a:rPr b="1" i="0" lang="en-US" sz="16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Time of last access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time_t        st_mtime;    </a:t>
            </a:r>
            <a:r>
              <a:rPr b="1" i="0" lang="en-US" sz="16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Time of last modification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time_t        st_ctime;    </a:t>
            </a:r>
            <a:r>
              <a:rPr b="1" i="0" lang="en-US" sz="16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Time of last change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7"/>
          <p:cNvSpPr txBox="1"/>
          <p:nvPr>
            <p:ph type="title"/>
          </p:nvPr>
        </p:nvSpPr>
        <p:spPr>
          <a:xfrm>
            <a:off x="332707" y="304800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Example of Accessing File Metadata</a:t>
            </a:r>
            <a:endParaRPr/>
          </a:p>
        </p:txBody>
      </p:sp>
      <p:sp>
        <p:nvSpPr>
          <p:cNvPr id="362" name="Google Shape;362;p27"/>
          <p:cNvSpPr txBox="1"/>
          <p:nvPr/>
        </p:nvSpPr>
        <p:spPr>
          <a:xfrm>
            <a:off x="152400" y="1371600"/>
            <a:ext cx="8153400" cy="5016759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D961E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1600" u="none" cap="none" strike="noStrike">
                <a:solidFill>
                  <a:srgbClr val="4A00FF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b="1" i="0" lang="en-US" sz="1600" u="none" cap="none" strike="noStrike">
                <a:solidFill>
                  <a:srgbClr val="2D961E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1600" u="none" cap="none" strike="noStrike">
                <a:solidFill>
                  <a:srgbClr val="C1651C"/>
                </a:solidFill>
                <a:latin typeface="Courier New"/>
                <a:ea typeface="Courier New"/>
                <a:cs typeface="Courier New"/>
                <a:sym typeface="Courier New"/>
              </a:rPr>
              <a:t>argc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**</a:t>
            </a:r>
            <a:r>
              <a:rPr b="1" i="0" lang="en-US" sz="1600" u="none" cap="none" strike="noStrike">
                <a:solidFill>
                  <a:srgbClr val="C1651C"/>
                </a:solidFill>
                <a:latin typeface="Courier New"/>
                <a:ea typeface="Courier New"/>
                <a:cs typeface="Courier New"/>
                <a:sym typeface="Courier New"/>
              </a:rPr>
              <a:t>argv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 i="0" sz="16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en-US" sz="1600" u="none" cap="none" strike="noStrike">
                <a:solidFill>
                  <a:srgbClr val="C200FF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Courier New"/>
                <a:ea typeface="Courier New"/>
                <a:cs typeface="Courier New"/>
                <a:sym typeface="Courier New"/>
              </a:rPr>
              <a:t>stat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1600" u="none" cap="none" strike="noStrike">
                <a:solidFill>
                  <a:srgbClr val="C1651C"/>
                </a:solidFill>
                <a:latin typeface="Courier New"/>
                <a:ea typeface="Courier New"/>
                <a:cs typeface="Courier New"/>
                <a:sym typeface="Courier New"/>
              </a:rPr>
              <a:t>stat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b="1" i="0" lang="en-US" sz="1600" u="none" cap="none" strike="noStrike">
                <a:solidFill>
                  <a:srgbClr val="C1651C"/>
                </a:solidFill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*</a:t>
            </a:r>
            <a:r>
              <a:rPr b="1" i="0" lang="en-US" sz="1600" u="none" cap="none" strike="noStrike">
                <a:solidFill>
                  <a:srgbClr val="C1651C"/>
                </a:solidFill>
                <a:latin typeface="Courier New"/>
                <a:ea typeface="Courier New"/>
                <a:cs typeface="Courier New"/>
                <a:sym typeface="Courier New"/>
              </a:rPr>
              <a:t>readok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Stat(argv[1], &amp;stat);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en-US" sz="1600" u="none" cap="none" strike="noStrike">
                <a:solidFill>
                  <a:srgbClr val="C200FF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(S_ISREG(stat.st_mode))     </a:t>
            </a:r>
            <a:r>
              <a:rPr b="1" i="0" lang="en-US" sz="1600" u="none" cap="none" strike="noStrike">
                <a:solidFill>
                  <a:srgbClr val="CB2418"/>
                </a:solidFill>
                <a:latin typeface="Courier New"/>
                <a:ea typeface="Courier New"/>
                <a:cs typeface="Courier New"/>
                <a:sym typeface="Courier New"/>
              </a:rPr>
              <a:t>/* Determine file type */</a:t>
            </a:r>
            <a:endParaRPr b="1" i="0" sz="16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type = </a:t>
            </a:r>
            <a:r>
              <a:rPr b="1" i="0" lang="en-US" sz="1600" u="none" cap="none" strike="noStrike">
                <a:solidFill>
                  <a:srgbClr val="9D206F"/>
                </a:solidFill>
                <a:latin typeface="Courier New"/>
                <a:ea typeface="Courier New"/>
                <a:cs typeface="Courier New"/>
                <a:sym typeface="Courier New"/>
              </a:rPr>
              <a:t>"regular"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en-US" sz="1600" u="none" cap="none" strike="noStrike">
                <a:solidFill>
                  <a:srgbClr val="C200FF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1600" u="none" cap="none" strike="noStrike">
                <a:solidFill>
                  <a:srgbClr val="C200FF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(S_ISDIR(stat.st_mode))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type = </a:t>
            </a:r>
            <a:r>
              <a:rPr b="1" i="0" lang="en-US" sz="1600" u="none" cap="none" strike="noStrike">
                <a:solidFill>
                  <a:srgbClr val="9D206F"/>
                </a:solidFill>
                <a:latin typeface="Courier New"/>
                <a:ea typeface="Courier New"/>
                <a:cs typeface="Courier New"/>
                <a:sym typeface="Courier New"/>
              </a:rPr>
              <a:t>"directory"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en-US" sz="1600" u="none" cap="none" strike="noStrike">
                <a:solidFill>
                  <a:srgbClr val="C200FF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endParaRPr b="1" i="0" sz="16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type = </a:t>
            </a:r>
            <a:r>
              <a:rPr b="1" i="0" lang="en-US" sz="1600" u="none" cap="none" strike="noStrike">
                <a:solidFill>
                  <a:srgbClr val="9D206F"/>
                </a:solidFill>
                <a:latin typeface="Courier New"/>
                <a:ea typeface="Courier New"/>
                <a:cs typeface="Courier New"/>
                <a:sym typeface="Courier New"/>
              </a:rPr>
              <a:t>"other"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en-US" sz="1600" u="none" cap="none" strike="noStrike">
                <a:solidFill>
                  <a:srgbClr val="C200FF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((stat.st_mode &amp; S_IRUSR)) </a:t>
            </a:r>
            <a:r>
              <a:rPr b="1" i="0" lang="en-US" sz="1600" u="none" cap="none" strike="noStrike">
                <a:solidFill>
                  <a:srgbClr val="CB2418"/>
                </a:solidFill>
                <a:latin typeface="Courier New"/>
                <a:ea typeface="Courier New"/>
                <a:cs typeface="Courier New"/>
                <a:sym typeface="Courier New"/>
              </a:rPr>
              <a:t>/* Check read access */</a:t>
            </a:r>
            <a:endParaRPr b="1" i="0" sz="16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readok = </a:t>
            </a:r>
            <a:r>
              <a:rPr b="1" i="0" lang="en-US" sz="1600" u="none" cap="none" strike="noStrike">
                <a:solidFill>
                  <a:srgbClr val="9D206F"/>
                </a:solidFill>
                <a:latin typeface="Courier New"/>
                <a:ea typeface="Courier New"/>
                <a:cs typeface="Courier New"/>
                <a:sym typeface="Courier New"/>
              </a:rPr>
              <a:t>"yes"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en-US" sz="1600" u="none" cap="none" strike="noStrike">
                <a:solidFill>
                  <a:srgbClr val="C200FF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endParaRPr b="1" i="0" sz="16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readok = </a:t>
            </a:r>
            <a:r>
              <a:rPr b="1" i="0" lang="en-US" sz="1600" u="none" cap="none" strike="noStrike">
                <a:solidFill>
                  <a:srgbClr val="9D206F"/>
                </a:solidFill>
                <a:latin typeface="Courier New"/>
                <a:ea typeface="Courier New"/>
                <a:cs typeface="Courier New"/>
                <a:sym typeface="Courier New"/>
              </a:rPr>
              <a:t>"no"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printf(</a:t>
            </a:r>
            <a:r>
              <a:rPr b="1" i="0" lang="en-US" sz="1600" u="none" cap="none" strike="noStrike">
                <a:solidFill>
                  <a:srgbClr val="9D206F"/>
                </a:solidFill>
                <a:latin typeface="Courier New"/>
                <a:ea typeface="Courier New"/>
                <a:cs typeface="Courier New"/>
                <a:sym typeface="Courier New"/>
              </a:rPr>
              <a:t>"type: %s, read: %s\n"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type, readok);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exit(0);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7"/>
          <p:cNvSpPr txBox="1"/>
          <p:nvPr/>
        </p:nvSpPr>
        <p:spPr>
          <a:xfrm>
            <a:off x="4876801" y="1143000"/>
            <a:ext cx="4114800" cy="1815882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linux&gt; ./statcheck statcheck.c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type: regular, read: yes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linux&gt; chmod 000 statcheck.c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linux&gt; ./statcheck statcheck.c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type: regular, read: 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linux&gt; ./statcheck 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type: directory, read: yes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64" name="Google Shape;364;p27"/>
          <p:cNvSpPr txBox="1"/>
          <p:nvPr/>
        </p:nvSpPr>
        <p:spPr>
          <a:xfrm>
            <a:off x="6553200" y="6019800"/>
            <a:ext cx="17084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ourier New"/>
                <a:ea typeface="Courier New"/>
                <a:cs typeface="Courier New"/>
                <a:sym typeface="Courier New"/>
              </a:rPr>
              <a:t>statcheck.c</a:t>
            </a:r>
            <a:endParaRPr b="1" i="0" sz="1800" u="none" cap="none" strike="noStrike">
              <a:solidFill>
                <a:srgbClr val="7F7F7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8"/>
          <p:cNvSpPr txBox="1"/>
          <p:nvPr>
            <p:ph type="title"/>
          </p:nvPr>
        </p:nvSpPr>
        <p:spPr>
          <a:xfrm>
            <a:off x="357018" y="435678"/>
            <a:ext cx="8710782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How the Unix Kernel Represents Open Files</a:t>
            </a:r>
            <a:endParaRPr/>
          </a:p>
        </p:txBody>
      </p:sp>
      <p:sp>
        <p:nvSpPr>
          <p:cNvPr id="370" name="Google Shape;370;p28"/>
          <p:cNvSpPr txBox="1"/>
          <p:nvPr>
            <p:ph idx="1" type="body"/>
          </p:nvPr>
        </p:nvSpPr>
        <p:spPr>
          <a:xfrm>
            <a:off x="362937" y="1295400"/>
            <a:ext cx="8307387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Two descriptors referencing two distinct open files. Descriptor 1 (stdout) points to terminal, and descriptor 4 points to open disk file</a:t>
            </a:r>
            <a:endParaRPr/>
          </a:p>
        </p:txBody>
      </p:sp>
      <p:sp>
        <p:nvSpPr>
          <p:cNvPr id="371" name="Google Shape;371;p28"/>
          <p:cNvSpPr/>
          <p:nvPr/>
        </p:nvSpPr>
        <p:spPr>
          <a:xfrm>
            <a:off x="1506538" y="3670300"/>
            <a:ext cx="609600" cy="2286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8"/>
          <p:cNvSpPr/>
          <p:nvPr/>
        </p:nvSpPr>
        <p:spPr>
          <a:xfrm>
            <a:off x="1506538" y="3898900"/>
            <a:ext cx="609600" cy="2286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8"/>
          <p:cNvSpPr/>
          <p:nvPr/>
        </p:nvSpPr>
        <p:spPr>
          <a:xfrm>
            <a:off x="1506538" y="4127500"/>
            <a:ext cx="609600" cy="2286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8"/>
          <p:cNvSpPr/>
          <p:nvPr/>
        </p:nvSpPr>
        <p:spPr>
          <a:xfrm>
            <a:off x="1506538" y="4356100"/>
            <a:ext cx="609600" cy="2286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8"/>
          <p:cNvSpPr/>
          <p:nvPr/>
        </p:nvSpPr>
        <p:spPr>
          <a:xfrm>
            <a:off x="1506538" y="4584700"/>
            <a:ext cx="609600" cy="2286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8"/>
          <p:cNvSpPr/>
          <p:nvPr/>
        </p:nvSpPr>
        <p:spPr>
          <a:xfrm>
            <a:off x="896938" y="36703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28"/>
          <p:cNvSpPr/>
          <p:nvPr/>
        </p:nvSpPr>
        <p:spPr>
          <a:xfrm>
            <a:off x="896938" y="38989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28"/>
          <p:cNvSpPr/>
          <p:nvPr/>
        </p:nvSpPr>
        <p:spPr>
          <a:xfrm>
            <a:off x="896938" y="41275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28"/>
          <p:cNvSpPr/>
          <p:nvPr/>
        </p:nvSpPr>
        <p:spPr>
          <a:xfrm>
            <a:off x="896938" y="43561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8"/>
          <p:cNvSpPr/>
          <p:nvPr/>
        </p:nvSpPr>
        <p:spPr>
          <a:xfrm>
            <a:off x="896938" y="45847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28"/>
          <p:cNvSpPr txBox="1"/>
          <p:nvPr/>
        </p:nvSpPr>
        <p:spPr>
          <a:xfrm>
            <a:off x="610550" y="2636222"/>
            <a:ext cx="2390085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Descriptor 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[one table per process]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8"/>
          <p:cNvSpPr txBox="1"/>
          <p:nvPr/>
        </p:nvSpPr>
        <p:spPr>
          <a:xfrm>
            <a:off x="3159491" y="2636222"/>
            <a:ext cx="2532326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Open file table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[shared by all processes]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28"/>
          <p:cNvSpPr txBox="1"/>
          <p:nvPr/>
        </p:nvSpPr>
        <p:spPr>
          <a:xfrm>
            <a:off x="5750291" y="2636222"/>
            <a:ext cx="2532326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v-node 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[shared by all processes]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8"/>
          <p:cNvSpPr/>
          <p:nvPr/>
        </p:nvSpPr>
        <p:spPr>
          <a:xfrm>
            <a:off x="3868738" y="3962400"/>
            <a:ext cx="1066800" cy="304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pos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8"/>
          <p:cNvSpPr/>
          <p:nvPr/>
        </p:nvSpPr>
        <p:spPr>
          <a:xfrm>
            <a:off x="3868738" y="4267200"/>
            <a:ext cx="1066800" cy="304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refcnt=1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8"/>
          <p:cNvSpPr/>
          <p:nvPr/>
        </p:nvSpPr>
        <p:spPr>
          <a:xfrm rot="5400000">
            <a:off x="4249738" y="4191000"/>
            <a:ext cx="304800" cy="1066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7" name="Google Shape;387;p28"/>
          <p:cNvCxnSpPr/>
          <p:nvPr/>
        </p:nvCxnSpPr>
        <p:spPr>
          <a:xfrm flipH="1" rot="10800000">
            <a:off x="1828800" y="3657599"/>
            <a:ext cx="2039938" cy="35242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88" name="Google Shape;388;p28"/>
          <p:cNvSpPr/>
          <p:nvPr/>
        </p:nvSpPr>
        <p:spPr>
          <a:xfrm>
            <a:off x="3868738" y="3657600"/>
            <a:ext cx="1066800" cy="304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8"/>
          <p:cNvSpPr/>
          <p:nvPr/>
        </p:nvSpPr>
        <p:spPr>
          <a:xfrm>
            <a:off x="3868738" y="5638800"/>
            <a:ext cx="1066800" cy="304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pos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28"/>
          <p:cNvSpPr/>
          <p:nvPr/>
        </p:nvSpPr>
        <p:spPr>
          <a:xfrm>
            <a:off x="3868738" y="5943600"/>
            <a:ext cx="1066800" cy="304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refcnt=1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28"/>
          <p:cNvSpPr/>
          <p:nvPr/>
        </p:nvSpPr>
        <p:spPr>
          <a:xfrm rot="5400000">
            <a:off x="4249738" y="5867400"/>
            <a:ext cx="304800" cy="1066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8"/>
          <p:cNvSpPr/>
          <p:nvPr/>
        </p:nvSpPr>
        <p:spPr>
          <a:xfrm>
            <a:off x="3868738" y="5334000"/>
            <a:ext cx="1066800" cy="304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3" name="Google Shape;393;p28"/>
          <p:cNvCxnSpPr/>
          <p:nvPr/>
        </p:nvCxnSpPr>
        <p:spPr>
          <a:xfrm>
            <a:off x="1828800" y="4683125"/>
            <a:ext cx="2057400" cy="6985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4" name="Google Shape;394;p28"/>
          <p:cNvSpPr txBox="1"/>
          <p:nvPr/>
        </p:nvSpPr>
        <p:spPr>
          <a:xfrm>
            <a:off x="228600" y="4086225"/>
            <a:ext cx="822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stderr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28"/>
          <p:cNvSpPr txBox="1"/>
          <p:nvPr/>
        </p:nvSpPr>
        <p:spPr>
          <a:xfrm>
            <a:off x="228600" y="3857625"/>
            <a:ext cx="822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stdout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28"/>
          <p:cNvSpPr txBox="1"/>
          <p:nvPr/>
        </p:nvSpPr>
        <p:spPr>
          <a:xfrm>
            <a:off x="334963" y="3629025"/>
            <a:ext cx="715962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7" name="Google Shape;397;p28"/>
          <p:cNvCxnSpPr/>
          <p:nvPr/>
        </p:nvCxnSpPr>
        <p:spPr>
          <a:xfrm flipH="1" rot="10800000">
            <a:off x="4786313" y="3641725"/>
            <a:ext cx="1690687" cy="15398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8" name="Google Shape;398;p28"/>
          <p:cNvSpPr/>
          <p:nvPr/>
        </p:nvSpPr>
        <p:spPr>
          <a:xfrm>
            <a:off x="6477000" y="3629025"/>
            <a:ext cx="1066800" cy="304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access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28"/>
          <p:cNvSpPr/>
          <p:nvPr/>
        </p:nvSpPr>
        <p:spPr>
          <a:xfrm rot="5400000">
            <a:off x="6858000" y="4162425"/>
            <a:ext cx="304800" cy="1066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28"/>
          <p:cNvSpPr/>
          <p:nvPr/>
        </p:nvSpPr>
        <p:spPr>
          <a:xfrm>
            <a:off x="6477000" y="3933825"/>
            <a:ext cx="1066800" cy="304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size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28"/>
          <p:cNvSpPr/>
          <p:nvPr/>
        </p:nvSpPr>
        <p:spPr>
          <a:xfrm>
            <a:off x="6477000" y="4238625"/>
            <a:ext cx="1066800" cy="304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type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28"/>
          <p:cNvSpPr/>
          <p:nvPr/>
        </p:nvSpPr>
        <p:spPr>
          <a:xfrm>
            <a:off x="6477000" y="5229225"/>
            <a:ext cx="1066800" cy="304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access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28"/>
          <p:cNvSpPr/>
          <p:nvPr/>
        </p:nvSpPr>
        <p:spPr>
          <a:xfrm rot="5400000">
            <a:off x="6858000" y="5762625"/>
            <a:ext cx="304800" cy="1066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28"/>
          <p:cNvSpPr/>
          <p:nvPr/>
        </p:nvSpPr>
        <p:spPr>
          <a:xfrm>
            <a:off x="6477000" y="5534025"/>
            <a:ext cx="1066800" cy="304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size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28"/>
          <p:cNvSpPr/>
          <p:nvPr/>
        </p:nvSpPr>
        <p:spPr>
          <a:xfrm>
            <a:off x="6477000" y="5838825"/>
            <a:ext cx="1066800" cy="304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type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28"/>
          <p:cNvSpPr txBox="1"/>
          <p:nvPr/>
        </p:nvSpPr>
        <p:spPr>
          <a:xfrm>
            <a:off x="3758514" y="3352800"/>
            <a:ext cx="1549527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A (terminal)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8"/>
          <p:cNvSpPr txBox="1"/>
          <p:nvPr/>
        </p:nvSpPr>
        <p:spPr>
          <a:xfrm>
            <a:off x="3766752" y="5029200"/>
            <a:ext cx="1157689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B (disk)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8"/>
          <p:cNvSpPr txBox="1"/>
          <p:nvPr/>
        </p:nvSpPr>
        <p:spPr>
          <a:xfrm>
            <a:off x="7975600" y="3886200"/>
            <a:ext cx="9144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 in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stat</a:t>
            </a:r>
            <a:r>
              <a:rPr b="1" i="1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struct</a:t>
            </a:r>
            <a:endParaRPr b="1" i="1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8"/>
          <p:cNvSpPr/>
          <p:nvPr/>
        </p:nvSpPr>
        <p:spPr>
          <a:xfrm>
            <a:off x="7611076" y="3649361"/>
            <a:ext cx="366418" cy="1188720"/>
          </a:xfrm>
          <a:prstGeom prst="rightBrace">
            <a:avLst>
              <a:gd fmla="val 133333" name="adj1"/>
              <a:gd fmla="val 5000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0" name="Google Shape;410;p28"/>
          <p:cNvCxnSpPr/>
          <p:nvPr/>
        </p:nvCxnSpPr>
        <p:spPr>
          <a:xfrm flipH="1" rot="10800000">
            <a:off x="4706938" y="5229224"/>
            <a:ext cx="1770062" cy="25717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9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File Sharing</a:t>
            </a:r>
            <a:endParaRPr/>
          </a:p>
        </p:txBody>
      </p:sp>
      <p:sp>
        <p:nvSpPr>
          <p:cNvPr id="416" name="Google Shape;416;p29"/>
          <p:cNvSpPr txBox="1"/>
          <p:nvPr>
            <p:ph idx="1" type="body"/>
          </p:nvPr>
        </p:nvSpPr>
        <p:spPr>
          <a:xfrm>
            <a:off x="371175" y="1220788"/>
            <a:ext cx="8307387" cy="1141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Two distinct descriptors sharing the same disk file through two distinct open file table entries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E.g., Calling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open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/>
              <a:t>twice with the same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filename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/>
              <a:t>argument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17" name="Google Shape;417;p29"/>
          <p:cNvSpPr/>
          <p:nvPr/>
        </p:nvSpPr>
        <p:spPr>
          <a:xfrm>
            <a:off x="1506538" y="3670300"/>
            <a:ext cx="609600" cy="2286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9"/>
          <p:cNvSpPr/>
          <p:nvPr/>
        </p:nvSpPr>
        <p:spPr>
          <a:xfrm>
            <a:off x="1506538" y="3898900"/>
            <a:ext cx="609600" cy="2286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9"/>
          <p:cNvSpPr/>
          <p:nvPr/>
        </p:nvSpPr>
        <p:spPr>
          <a:xfrm>
            <a:off x="1506538" y="4127500"/>
            <a:ext cx="609600" cy="2286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9"/>
          <p:cNvSpPr/>
          <p:nvPr/>
        </p:nvSpPr>
        <p:spPr>
          <a:xfrm>
            <a:off x="1506538" y="4356100"/>
            <a:ext cx="609600" cy="2286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9"/>
          <p:cNvSpPr/>
          <p:nvPr/>
        </p:nvSpPr>
        <p:spPr>
          <a:xfrm>
            <a:off x="1506538" y="4584700"/>
            <a:ext cx="609600" cy="2286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9"/>
          <p:cNvSpPr/>
          <p:nvPr/>
        </p:nvSpPr>
        <p:spPr>
          <a:xfrm>
            <a:off x="896938" y="36703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29"/>
          <p:cNvSpPr/>
          <p:nvPr/>
        </p:nvSpPr>
        <p:spPr>
          <a:xfrm>
            <a:off x="896938" y="38989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29"/>
          <p:cNvSpPr/>
          <p:nvPr/>
        </p:nvSpPr>
        <p:spPr>
          <a:xfrm>
            <a:off x="896938" y="41275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29"/>
          <p:cNvSpPr/>
          <p:nvPr/>
        </p:nvSpPr>
        <p:spPr>
          <a:xfrm>
            <a:off x="896938" y="43561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29"/>
          <p:cNvSpPr/>
          <p:nvPr/>
        </p:nvSpPr>
        <p:spPr>
          <a:xfrm>
            <a:off x="896938" y="45847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29"/>
          <p:cNvSpPr txBox="1"/>
          <p:nvPr/>
        </p:nvSpPr>
        <p:spPr>
          <a:xfrm>
            <a:off x="610550" y="2636222"/>
            <a:ext cx="2390085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Descriptor 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[one table per process]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29"/>
          <p:cNvSpPr txBox="1"/>
          <p:nvPr/>
        </p:nvSpPr>
        <p:spPr>
          <a:xfrm>
            <a:off x="3159491" y="2636222"/>
            <a:ext cx="2532326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Open file table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[shared by all processes]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29"/>
          <p:cNvSpPr txBox="1"/>
          <p:nvPr/>
        </p:nvSpPr>
        <p:spPr>
          <a:xfrm>
            <a:off x="5750291" y="2636222"/>
            <a:ext cx="2532326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v-node 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[shared by all processes]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29"/>
          <p:cNvSpPr/>
          <p:nvPr/>
        </p:nvSpPr>
        <p:spPr>
          <a:xfrm>
            <a:off x="3868738" y="3962400"/>
            <a:ext cx="1066800" cy="304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pos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29"/>
          <p:cNvSpPr/>
          <p:nvPr/>
        </p:nvSpPr>
        <p:spPr>
          <a:xfrm>
            <a:off x="3868738" y="4267200"/>
            <a:ext cx="1066800" cy="304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refcnt=1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29"/>
          <p:cNvSpPr/>
          <p:nvPr/>
        </p:nvSpPr>
        <p:spPr>
          <a:xfrm rot="5400000">
            <a:off x="4249738" y="4191000"/>
            <a:ext cx="304800" cy="1066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3" name="Google Shape;433;p29"/>
          <p:cNvCxnSpPr/>
          <p:nvPr/>
        </p:nvCxnSpPr>
        <p:spPr>
          <a:xfrm flipH="1" rot="10800000">
            <a:off x="2116138" y="3657595"/>
            <a:ext cx="1752600" cy="73342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4" name="Google Shape;434;p29"/>
          <p:cNvSpPr/>
          <p:nvPr/>
        </p:nvSpPr>
        <p:spPr>
          <a:xfrm>
            <a:off x="3868738" y="3657600"/>
            <a:ext cx="1066800" cy="304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9"/>
          <p:cNvSpPr/>
          <p:nvPr/>
        </p:nvSpPr>
        <p:spPr>
          <a:xfrm>
            <a:off x="3868738" y="5638800"/>
            <a:ext cx="1066800" cy="304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pos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29"/>
          <p:cNvSpPr/>
          <p:nvPr/>
        </p:nvSpPr>
        <p:spPr>
          <a:xfrm>
            <a:off x="3868738" y="5943600"/>
            <a:ext cx="1066800" cy="304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refcnt=1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29"/>
          <p:cNvSpPr/>
          <p:nvPr/>
        </p:nvSpPr>
        <p:spPr>
          <a:xfrm rot="5400000">
            <a:off x="4249738" y="5867400"/>
            <a:ext cx="304800" cy="1066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29"/>
          <p:cNvSpPr/>
          <p:nvPr/>
        </p:nvSpPr>
        <p:spPr>
          <a:xfrm>
            <a:off x="3868738" y="5334000"/>
            <a:ext cx="1066800" cy="304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9" name="Google Shape;439;p29"/>
          <p:cNvCxnSpPr/>
          <p:nvPr/>
        </p:nvCxnSpPr>
        <p:spPr>
          <a:xfrm>
            <a:off x="2116138" y="4683125"/>
            <a:ext cx="1770062" cy="6985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40" name="Google Shape;440;p29"/>
          <p:cNvSpPr txBox="1"/>
          <p:nvPr/>
        </p:nvSpPr>
        <p:spPr>
          <a:xfrm>
            <a:off x="228600" y="4086225"/>
            <a:ext cx="822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stderr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29"/>
          <p:cNvSpPr txBox="1"/>
          <p:nvPr/>
        </p:nvSpPr>
        <p:spPr>
          <a:xfrm>
            <a:off x="228600" y="3857625"/>
            <a:ext cx="822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stdout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29"/>
          <p:cNvSpPr txBox="1"/>
          <p:nvPr/>
        </p:nvSpPr>
        <p:spPr>
          <a:xfrm>
            <a:off x="334963" y="3629025"/>
            <a:ext cx="715962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3" name="Google Shape;443;p29"/>
          <p:cNvCxnSpPr/>
          <p:nvPr/>
        </p:nvCxnSpPr>
        <p:spPr>
          <a:xfrm flipH="1" rot="10800000">
            <a:off x="4786313" y="3641725"/>
            <a:ext cx="1690687" cy="15398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44" name="Google Shape;444;p29"/>
          <p:cNvSpPr/>
          <p:nvPr/>
        </p:nvSpPr>
        <p:spPr>
          <a:xfrm>
            <a:off x="6477000" y="3629025"/>
            <a:ext cx="1066800" cy="304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access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29"/>
          <p:cNvSpPr/>
          <p:nvPr/>
        </p:nvSpPr>
        <p:spPr>
          <a:xfrm rot="5400000">
            <a:off x="6858000" y="4162425"/>
            <a:ext cx="304800" cy="1066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29"/>
          <p:cNvSpPr/>
          <p:nvPr/>
        </p:nvSpPr>
        <p:spPr>
          <a:xfrm>
            <a:off x="6477000" y="3933825"/>
            <a:ext cx="1066800" cy="304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size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29"/>
          <p:cNvSpPr/>
          <p:nvPr/>
        </p:nvSpPr>
        <p:spPr>
          <a:xfrm>
            <a:off x="6477000" y="4238625"/>
            <a:ext cx="1066800" cy="304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type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29"/>
          <p:cNvSpPr txBox="1"/>
          <p:nvPr/>
        </p:nvSpPr>
        <p:spPr>
          <a:xfrm>
            <a:off x="3758514" y="3352800"/>
            <a:ext cx="1168709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A (disk)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9"/>
          <p:cNvSpPr txBox="1"/>
          <p:nvPr/>
        </p:nvSpPr>
        <p:spPr>
          <a:xfrm>
            <a:off x="3766752" y="5029200"/>
            <a:ext cx="1157689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B (disk)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0" name="Google Shape;450;p29"/>
          <p:cNvCxnSpPr/>
          <p:nvPr/>
        </p:nvCxnSpPr>
        <p:spPr>
          <a:xfrm flipH="1" rot="10800000">
            <a:off x="4706938" y="3641725"/>
            <a:ext cx="1770062" cy="1844674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0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How Processes Share Files: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fork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56" name="Google Shape;456;p30"/>
          <p:cNvSpPr txBox="1"/>
          <p:nvPr>
            <p:ph idx="1" type="body"/>
          </p:nvPr>
        </p:nvSpPr>
        <p:spPr>
          <a:xfrm>
            <a:off x="379413" y="1143000"/>
            <a:ext cx="8307387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A child process inherits its parent’s open files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 sz="2000"/>
              <a:t>Note: situation unchanged by </a:t>
            </a: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exec </a:t>
            </a:r>
            <a:r>
              <a:rPr lang="en-US" sz="2000"/>
              <a:t>functions (use </a:t>
            </a: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fcntl</a:t>
            </a:r>
            <a:r>
              <a:rPr lang="en-US" sz="2000"/>
              <a:t> to change)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i="1" lang="en-US">
                <a:solidFill>
                  <a:srgbClr val="C00000"/>
                </a:solidFill>
              </a:rPr>
              <a:t>Before</a:t>
            </a:r>
            <a:r>
              <a:rPr lang="en-US"/>
              <a:t>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fork</a:t>
            </a:r>
            <a:r>
              <a:rPr lang="en-US"/>
              <a:t> call:</a:t>
            </a:r>
            <a:endParaRPr/>
          </a:p>
        </p:txBody>
      </p:sp>
      <p:sp>
        <p:nvSpPr>
          <p:cNvPr id="457" name="Google Shape;457;p30"/>
          <p:cNvSpPr/>
          <p:nvPr/>
        </p:nvSpPr>
        <p:spPr>
          <a:xfrm>
            <a:off x="1506538" y="3670300"/>
            <a:ext cx="609600" cy="2286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30"/>
          <p:cNvSpPr/>
          <p:nvPr/>
        </p:nvSpPr>
        <p:spPr>
          <a:xfrm>
            <a:off x="1506538" y="3898900"/>
            <a:ext cx="609600" cy="2286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30"/>
          <p:cNvSpPr/>
          <p:nvPr/>
        </p:nvSpPr>
        <p:spPr>
          <a:xfrm>
            <a:off x="1506538" y="4127500"/>
            <a:ext cx="609600" cy="2286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30"/>
          <p:cNvSpPr/>
          <p:nvPr/>
        </p:nvSpPr>
        <p:spPr>
          <a:xfrm>
            <a:off x="1506538" y="4356100"/>
            <a:ext cx="609600" cy="2286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30"/>
          <p:cNvSpPr/>
          <p:nvPr/>
        </p:nvSpPr>
        <p:spPr>
          <a:xfrm>
            <a:off x="1506538" y="4584700"/>
            <a:ext cx="609600" cy="2286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30"/>
          <p:cNvSpPr/>
          <p:nvPr/>
        </p:nvSpPr>
        <p:spPr>
          <a:xfrm>
            <a:off x="896938" y="36703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30"/>
          <p:cNvSpPr/>
          <p:nvPr/>
        </p:nvSpPr>
        <p:spPr>
          <a:xfrm>
            <a:off x="896938" y="38989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30"/>
          <p:cNvSpPr/>
          <p:nvPr/>
        </p:nvSpPr>
        <p:spPr>
          <a:xfrm>
            <a:off x="896938" y="41275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30"/>
          <p:cNvSpPr/>
          <p:nvPr/>
        </p:nvSpPr>
        <p:spPr>
          <a:xfrm>
            <a:off x="896938" y="43561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30"/>
          <p:cNvSpPr/>
          <p:nvPr/>
        </p:nvSpPr>
        <p:spPr>
          <a:xfrm>
            <a:off x="896938" y="45847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30"/>
          <p:cNvSpPr txBox="1"/>
          <p:nvPr/>
        </p:nvSpPr>
        <p:spPr>
          <a:xfrm>
            <a:off x="610550" y="2636222"/>
            <a:ext cx="2390085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Descriptor 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[one table per process]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30"/>
          <p:cNvSpPr txBox="1"/>
          <p:nvPr/>
        </p:nvSpPr>
        <p:spPr>
          <a:xfrm>
            <a:off x="3159491" y="2636222"/>
            <a:ext cx="2532326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Open file table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[shared by all processes]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30"/>
          <p:cNvSpPr txBox="1"/>
          <p:nvPr/>
        </p:nvSpPr>
        <p:spPr>
          <a:xfrm>
            <a:off x="5750291" y="2636222"/>
            <a:ext cx="2532326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v-node 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[shared by all processes]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30"/>
          <p:cNvSpPr/>
          <p:nvPr/>
        </p:nvSpPr>
        <p:spPr>
          <a:xfrm>
            <a:off x="3868738" y="3962400"/>
            <a:ext cx="1066800" cy="304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pos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30"/>
          <p:cNvSpPr/>
          <p:nvPr/>
        </p:nvSpPr>
        <p:spPr>
          <a:xfrm>
            <a:off x="3868738" y="4267200"/>
            <a:ext cx="1066800" cy="304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refcnt=1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30"/>
          <p:cNvSpPr/>
          <p:nvPr/>
        </p:nvSpPr>
        <p:spPr>
          <a:xfrm rot="5400000">
            <a:off x="4249738" y="4191000"/>
            <a:ext cx="304800" cy="1066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3" name="Google Shape;473;p30"/>
          <p:cNvCxnSpPr/>
          <p:nvPr/>
        </p:nvCxnSpPr>
        <p:spPr>
          <a:xfrm flipH="1" rot="10800000">
            <a:off x="1828800" y="3657599"/>
            <a:ext cx="2039938" cy="35242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74" name="Google Shape;474;p30"/>
          <p:cNvSpPr/>
          <p:nvPr/>
        </p:nvSpPr>
        <p:spPr>
          <a:xfrm>
            <a:off x="3868738" y="3657600"/>
            <a:ext cx="1066800" cy="304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30"/>
          <p:cNvSpPr/>
          <p:nvPr/>
        </p:nvSpPr>
        <p:spPr>
          <a:xfrm>
            <a:off x="3868738" y="5638800"/>
            <a:ext cx="1066800" cy="304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pos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30"/>
          <p:cNvSpPr/>
          <p:nvPr/>
        </p:nvSpPr>
        <p:spPr>
          <a:xfrm>
            <a:off x="3868738" y="5943600"/>
            <a:ext cx="1066800" cy="304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refcnt=1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30"/>
          <p:cNvSpPr/>
          <p:nvPr/>
        </p:nvSpPr>
        <p:spPr>
          <a:xfrm rot="5400000">
            <a:off x="4249738" y="5867400"/>
            <a:ext cx="304800" cy="1066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30"/>
          <p:cNvSpPr/>
          <p:nvPr/>
        </p:nvSpPr>
        <p:spPr>
          <a:xfrm>
            <a:off x="3868738" y="5334000"/>
            <a:ext cx="1066800" cy="304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9" name="Google Shape;479;p30"/>
          <p:cNvCxnSpPr/>
          <p:nvPr/>
        </p:nvCxnSpPr>
        <p:spPr>
          <a:xfrm>
            <a:off x="1828800" y="4683125"/>
            <a:ext cx="2057400" cy="6985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80" name="Google Shape;480;p30"/>
          <p:cNvSpPr txBox="1"/>
          <p:nvPr/>
        </p:nvSpPr>
        <p:spPr>
          <a:xfrm>
            <a:off x="228600" y="4086225"/>
            <a:ext cx="822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stderr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30"/>
          <p:cNvSpPr txBox="1"/>
          <p:nvPr/>
        </p:nvSpPr>
        <p:spPr>
          <a:xfrm>
            <a:off x="228600" y="3857625"/>
            <a:ext cx="822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stdout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30"/>
          <p:cNvSpPr txBox="1"/>
          <p:nvPr/>
        </p:nvSpPr>
        <p:spPr>
          <a:xfrm>
            <a:off x="334963" y="3629025"/>
            <a:ext cx="715962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3" name="Google Shape;483;p30"/>
          <p:cNvCxnSpPr/>
          <p:nvPr/>
        </p:nvCxnSpPr>
        <p:spPr>
          <a:xfrm flipH="1" rot="10800000">
            <a:off x="4786313" y="3641725"/>
            <a:ext cx="1690687" cy="15398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84" name="Google Shape;484;p30"/>
          <p:cNvSpPr/>
          <p:nvPr/>
        </p:nvSpPr>
        <p:spPr>
          <a:xfrm>
            <a:off x="6477000" y="3629025"/>
            <a:ext cx="1066800" cy="304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access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30"/>
          <p:cNvSpPr/>
          <p:nvPr/>
        </p:nvSpPr>
        <p:spPr>
          <a:xfrm rot="5400000">
            <a:off x="6858000" y="4162425"/>
            <a:ext cx="304800" cy="1066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30"/>
          <p:cNvSpPr/>
          <p:nvPr/>
        </p:nvSpPr>
        <p:spPr>
          <a:xfrm>
            <a:off x="6477000" y="3933825"/>
            <a:ext cx="1066800" cy="304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size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30"/>
          <p:cNvSpPr/>
          <p:nvPr/>
        </p:nvSpPr>
        <p:spPr>
          <a:xfrm>
            <a:off x="6477000" y="4238625"/>
            <a:ext cx="1066800" cy="304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type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30"/>
          <p:cNvSpPr/>
          <p:nvPr/>
        </p:nvSpPr>
        <p:spPr>
          <a:xfrm>
            <a:off x="6477000" y="5229225"/>
            <a:ext cx="1066800" cy="304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access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30"/>
          <p:cNvSpPr/>
          <p:nvPr/>
        </p:nvSpPr>
        <p:spPr>
          <a:xfrm rot="5400000">
            <a:off x="6858000" y="5762625"/>
            <a:ext cx="304800" cy="1066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30"/>
          <p:cNvSpPr/>
          <p:nvPr/>
        </p:nvSpPr>
        <p:spPr>
          <a:xfrm>
            <a:off x="6477000" y="5534025"/>
            <a:ext cx="1066800" cy="304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size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30"/>
          <p:cNvSpPr/>
          <p:nvPr/>
        </p:nvSpPr>
        <p:spPr>
          <a:xfrm>
            <a:off x="6477000" y="5838825"/>
            <a:ext cx="1066800" cy="304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type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30"/>
          <p:cNvSpPr txBox="1"/>
          <p:nvPr/>
        </p:nvSpPr>
        <p:spPr>
          <a:xfrm>
            <a:off x="3758514" y="3352800"/>
            <a:ext cx="1549527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A (terminal)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30"/>
          <p:cNvSpPr txBox="1"/>
          <p:nvPr/>
        </p:nvSpPr>
        <p:spPr>
          <a:xfrm>
            <a:off x="3766752" y="5029200"/>
            <a:ext cx="1157689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B (disk)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4" name="Google Shape;494;p30"/>
          <p:cNvCxnSpPr/>
          <p:nvPr/>
        </p:nvCxnSpPr>
        <p:spPr>
          <a:xfrm flipH="1" rot="10800000">
            <a:off x="4706938" y="5229224"/>
            <a:ext cx="1770062" cy="25717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1"/>
          <p:cNvSpPr txBox="1"/>
          <p:nvPr>
            <p:ph type="title"/>
          </p:nvPr>
        </p:nvSpPr>
        <p:spPr>
          <a:xfrm>
            <a:off x="272983" y="381000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/>
              <a:t>How Processes Share Files: </a:t>
            </a:r>
            <a:r>
              <a:rPr lang="en-US" sz="3200">
                <a:latin typeface="Courier New"/>
                <a:ea typeface="Courier New"/>
                <a:cs typeface="Courier New"/>
                <a:sym typeface="Courier New"/>
              </a:rPr>
              <a:t>fork</a:t>
            </a:r>
            <a:endParaRPr sz="3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00" name="Google Shape;500;p31"/>
          <p:cNvSpPr txBox="1"/>
          <p:nvPr>
            <p:ph idx="1" type="body"/>
          </p:nvPr>
        </p:nvSpPr>
        <p:spPr>
          <a:xfrm>
            <a:off x="290513" y="1066800"/>
            <a:ext cx="8307387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A child process inherits its parent’s open files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i="1" lang="en-US">
                <a:solidFill>
                  <a:srgbClr val="C00000"/>
                </a:solidFill>
              </a:rPr>
              <a:t>After</a:t>
            </a:r>
            <a:r>
              <a:rPr lang="en-US"/>
              <a:t>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fork</a:t>
            </a:r>
            <a:r>
              <a:rPr lang="en-US"/>
              <a:t>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Font typeface="Noto Sans Symbols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Child’s table same as parent’s, and +1 to each refcnt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31"/>
          <p:cNvSpPr/>
          <p:nvPr/>
        </p:nvSpPr>
        <p:spPr>
          <a:xfrm>
            <a:off x="1506538" y="3670300"/>
            <a:ext cx="609600" cy="2286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31"/>
          <p:cNvSpPr/>
          <p:nvPr/>
        </p:nvSpPr>
        <p:spPr>
          <a:xfrm>
            <a:off x="1506538" y="3898900"/>
            <a:ext cx="609600" cy="2286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31"/>
          <p:cNvSpPr/>
          <p:nvPr/>
        </p:nvSpPr>
        <p:spPr>
          <a:xfrm>
            <a:off x="1506538" y="4127500"/>
            <a:ext cx="609600" cy="2286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31"/>
          <p:cNvSpPr/>
          <p:nvPr/>
        </p:nvSpPr>
        <p:spPr>
          <a:xfrm>
            <a:off x="1506538" y="4356100"/>
            <a:ext cx="609600" cy="2286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31"/>
          <p:cNvSpPr/>
          <p:nvPr/>
        </p:nvSpPr>
        <p:spPr>
          <a:xfrm>
            <a:off x="1506538" y="4584700"/>
            <a:ext cx="609600" cy="2286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31"/>
          <p:cNvSpPr/>
          <p:nvPr/>
        </p:nvSpPr>
        <p:spPr>
          <a:xfrm>
            <a:off x="896938" y="36703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31"/>
          <p:cNvSpPr/>
          <p:nvPr/>
        </p:nvSpPr>
        <p:spPr>
          <a:xfrm>
            <a:off x="896938" y="38989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31"/>
          <p:cNvSpPr/>
          <p:nvPr/>
        </p:nvSpPr>
        <p:spPr>
          <a:xfrm>
            <a:off x="896938" y="41275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31"/>
          <p:cNvSpPr/>
          <p:nvPr/>
        </p:nvSpPr>
        <p:spPr>
          <a:xfrm>
            <a:off x="896938" y="43561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31"/>
          <p:cNvSpPr/>
          <p:nvPr/>
        </p:nvSpPr>
        <p:spPr>
          <a:xfrm>
            <a:off x="896938" y="45847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31"/>
          <p:cNvSpPr txBox="1"/>
          <p:nvPr/>
        </p:nvSpPr>
        <p:spPr>
          <a:xfrm>
            <a:off x="610550" y="2636222"/>
            <a:ext cx="2390085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Descriptor 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[one table per process]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31"/>
          <p:cNvSpPr txBox="1"/>
          <p:nvPr/>
        </p:nvSpPr>
        <p:spPr>
          <a:xfrm>
            <a:off x="3159491" y="2636222"/>
            <a:ext cx="2532326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Open file table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[shared by all processes]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31"/>
          <p:cNvSpPr txBox="1"/>
          <p:nvPr/>
        </p:nvSpPr>
        <p:spPr>
          <a:xfrm>
            <a:off x="5750291" y="2636222"/>
            <a:ext cx="2532326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v-node 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[shared by all processes]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31"/>
          <p:cNvSpPr/>
          <p:nvPr/>
        </p:nvSpPr>
        <p:spPr>
          <a:xfrm>
            <a:off x="3868738" y="3962400"/>
            <a:ext cx="1066800" cy="304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pos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31"/>
          <p:cNvSpPr/>
          <p:nvPr/>
        </p:nvSpPr>
        <p:spPr>
          <a:xfrm>
            <a:off x="3868738" y="4267200"/>
            <a:ext cx="1066800" cy="304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refcnt=2</a:t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16" name="Google Shape;516;p31"/>
          <p:cNvSpPr/>
          <p:nvPr/>
        </p:nvSpPr>
        <p:spPr>
          <a:xfrm rot="5400000">
            <a:off x="4249738" y="4191000"/>
            <a:ext cx="304800" cy="1066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7" name="Google Shape;517;p31"/>
          <p:cNvCxnSpPr/>
          <p:nvPr/>
        </p:nvCxnSpPr>
        <p:spPr>
          <a:xfrm flipH="1" rot="10800000">
            <a:off x="1828800" y="3657599"/>
            <a:ext cx="2039938" cy="35242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18" name="Google Shape;518;p31"/>
          <p:cNvSpPr/>
          <p:nvPr/>
        </p:nvSpPr>
        <p:spPr>
          <a:xfrm>
            <a:off x="3868738" y="3657600"/>
            <a:ext cx="1066800" cy="304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31"/>
          <p:cNvSpPr/>
          <p:nvPr/>
        </p:nvSpPr>
        <p:spPr>
          <a:xfrm>
            <a:off x="3868738" y="5638800"/>
            <a:ext cx="1066800" cy="304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pos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31"/>
          <p:cNvSpPr/>
          <p:nvPr/>
        </p:nvSpPr>
        <p:spPr>
          <a:xfrm>
            <a:off x="3868738" y="5943600"/>
            <a:ext cx="1066800" cy="304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refcnt=2</a:t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21" name="Google Shape;521;p31"/>
          <p:cNvSpPr/>
          <p:nvPr/>
        </p:nvSpPr>
        <p:spPr>
          <a:xfrm rot="5400000">
            <a:off x="4249738" y="5867400"/>
            <a:ext cx="304800" cy="1066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31"/>
          <p:cNvSpPr/>
          <p:nvPr/>
        </p:nvSpPr>
        <p:spPr>
          <a:xfrm>
            <a:off x="3868738" y="5334000"/>
            <a:ext cx="1066800" cy="304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3" name="Google Shape;523;p31"/>
          <p:cNvCxnSpPr/>
          <p:nvPr/>
        </p:nvCxnSpPr>
        <p:spPr>
          <a:xfrm>
            <a:off x="1828800" y="4683125"/>
            <a:ext cx="2057400" cy="65087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24" name="Google Shape;524;p31"/>
          <p:cNvCxnSpPr/>
          <p:nvPr/>
        </p:nvCxnSpPr>
        <p:spPr>
          <a:xfrm flipH="1" rot="10800000">
            <a:off x="4786313" y="3641725"/>
            <a:ext cx="1690687" cy="15398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25" name="Google Shape;525;p31"/>
          <p:cNvSpPr/>
          <p:nvPr/>
        </p:nvSpPr>
        <p:spPr>
          <a:xfrm>
            <a:off x="6477000" y="3629025"/>
            <a:ext cx="1066800" cy="304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access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31"/>
          <p:cNvSpPr/>
          <p:nvPr/>
        </p:nvSpPr>
        <p:spPr>
          <a:xfrm rot="5400000">
            <a:off x="6858000" y="4162425"/>
            <a:ext cx="304800" cy="1066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31"/>
          <p:cNvSpPr/>
          <p:nvPr/>
        </p:nvSpPr>
        <p:spPr>
          <a:xfrm>
            <a:off x="6477000" y="3933825"/>
            <a:ext cx="1066800" cy="304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size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31"/>
          <p:cNvSpPr/>
          <p:nvPr/>
        </p:nvSpPr>
        <p:spPr>
          <a:xfrm>
            <a:off x="6477000" y="4238625"/>
            <a:ext cx="1066800" cy="304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type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31"/>
          <p:cNvSpPr/>
          <p:nvPr/>
        </p:nvSpPr>
        <p:spPr>
          <a:xfrm>
            <a:off x="6477000" y="5229225"/>
            <a:ext cx="1066800" cy="304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access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31"/>
          <p:cNvSpPr/>
          <p:nvPr/>
        </p:nvSpPr>
        <p:spPr>
          <a:xfrm rot="5400000">
            <a:off x="6858000" y="5762625"/>
            <a:ext cx="304800" cy="1066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31"/>
          <p:cNvSpPr/>
          <p:nvPr/>
        </p:nvSpPr>
        <p:spPr>
          <a:xfrm>
            <a:off x="6477000" y="5534025"/>
            <a:ext cx="1066800" cy="304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size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31"/>
          <p:cNvSpPr/>
          <p:nvPr/>
        </p:nvSpPr>
        <p:spPr>
          <a:xfrm>
            <a:off x="6477000" y="5838825"/>
            <a:ext cx="1066800" cy="304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type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31"/>
          <p:cNvSpPr txBox="1"/>
          <p:nvPr/>
        </p:nvSpPr>
        <p:spPr>
          <a:xfrm>
            <a:off x="3758514" y="3352800"/>
            <a:ext cx="1549527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A (terminal)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31"/>
          <p:cNvSpPr txBox="1"/>
          <p:nvPr/>
        </p:nvSpPr>
        <p:spPr>
          <a:xfrm>
            <a:off x="3766752" y="5029200"/>
            <a:ext cx="1157689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B (disk)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5" name="Google Shape;535;p31"/>
          <p:cNvCxnSpPr/>
          <p:nvPr/>
        </p:nvCxnSpPr>
        <p:spPr>
          <a:xfrm flipH="1" rot="10800000">
            <a:off x="4706938" y="5229224"/>
            <a:ext cx="1770062" cy="25717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36" name="Google Shape;536;p31"/>
          <p:cNvSpPr/>
          <p:nvPr/>
        </p:nvSpPr>
        <p:spPr>
          <a:xfrm>
            <a:off x="1507524" y="5410200"/>
            <a:ext cx="609600" cy="2286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31"/>
          <p:cNvSpPr/>
          <p:nvPr/>
        </p:nvSpPr>
        <p:spPr>
          <a:xfrm>
            <a:off x="1507524" y="5638800"/>
            <a:ext cx="609600" cy="2286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31"/>
          <p:cNvSpPr/>
          <p:nvPr/>
        </p:nvSpPr>
        <p:spPr>
          <a:xfrm>
            <a:off x="1507524" y="5867400"/>
            <a:ext cx="609600" cy="2286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31"/>
          <p:cNvSpPr/>
          <p:nvPr/>
        </p:nvSpPr>
        <p:spPr>
          <a:xfrm>
            <a:off x="1507524" y="6096000"/>
            <a:ext cx="609600" cy="2286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31"/>
          <p:cNvSpPr/>
          <p:nvPr/>
        </p:nvSpPr>
        <p:spPr>
          <a:xfrm>
            <a:off x="1507524" y="6324600"/>
            <a:ext cx="609600" cy="2286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31"/>
          <p:cNvSpPr/>
          <p:nvPr/>
        </p:nvSpPr>
        <p:spPr>
          <a:xfrm>
            <a:off x="897924" y="54102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31"/>
          <p:cNvSpPr/>
          <p:nvPr/>
        </p:nvSpPr>
        <p:spPr>
          <a:xfrm>
            <a:off x="897924" y="56388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31"/>
          <p:cNvSpPr/>
          <p:nvPr/>
        </p:nvSpPr>
        <p:spPr>
          <a:xfrm>
            <a:off x="897924" y="58674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31"/>
          <p:cNvSpPr/>
          <p:nvPr/>
        </p:nvSpPr>
        <p:spPr>
          <a:xfrm>
            <a:off x="897924" y="60960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31"/>
          <p:cNvSpPr/>
          <p:nvPr/>
        </p:nvSpPr>
        <p:spPr>
          <a:xfrm>
            <a:off x="897924" y="63246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31"/>
          <p:cNvSpPr txBox="1"/>
          <p:nvPr/>
        </p:nvSpPr>
        <p:spPr>
          <a:xfrm>
            <a:off x="1397559" y="3352800"/>
            <a:ext cx="743858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31"/>
          <p:cNvSpPr txBox="1"/>
          <p:nvPr/>
        </p:nvSpPr>
        <p:spPr>
          <a:xfrm>
            <a:off x="1389742" y="5105400"/>
            <a:ext cx="614271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Child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8" name="Google Shape;548;p31"/>
          <p:cNvCxnSpPr/>
          <p:nvPr/>
        </p:nvCxnSpPr>
        <p:spPr>
          <a:xfrm rot="-5400000">
            <a:off x="1808070" y="3695608"/>
            <a:ext cx="2064922" cy="2056414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49" name="Google Shape;549;p31"/>
          <p:cNvCxnSpPr/>
          <p:nvPr/>
        </p:nvCxnSpPr>
        <p:spPr>
          <a:xfrm flipH="1" rot="10800000">
            <a:off x="1812324" y="5334000"/>
            <a:ext cx="2073876" cy="110799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32"/>
          <p:cNvSpPr txBox="1"/>
          <p:nvPr>
            <p:ph type="title"/>
          </p:nvPr>
        </p:nvSpPr>
        <p:spPr>
          <a:xfrm>
            <a:off x="364524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I/O Redirection</a:t>
            </a:r>
            <a:endParaRPr/>
          </a:p>
        </p:txBody>
      </p:sp>
      <p:sp>
        <p:nvSpPr>
          <p:cNvPr id="555" name="Google Shape;555;p32"/>
          <p:cNvSpPr txBox="1"/>
          <p:nvPr>
            <p:ph idx="1" type="body"/>
          </p:nvPr>
        </p:nvSpPr>
        <p:spPr>
          <a:xfrm>
            <a:off x="381000" y="1219200"/>
            <a:ext cx="83058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Question: How does a shell implement I/O redirection?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Font typeface="Noto Sans Symbols"/>
              <a:buNone/>
            </a:pP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linux&gt; ls &gt; foo.txt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Answer: By calling the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dup2(oldfd, newfd) </a:t>
            </a:r>
            <a:r>
              <a:rPr lang="en-US"/>
              <a:t>function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Copies (per-process) descriptor table entry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oldfd</a:t>
            </a:r>
            <a:r>
              <a:rPr lang="en-US"/>
              <a:t>  to entry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newfd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556" name="Google Shape;556;p32"/>
          <p:cNvGrpSpPr/>
          <p:nvPr/>
        </p:nvGrpSpPr>
        <p:grpSpPr>
          <a:xfrm>
            <a:off x="873210" y="4602162"/>
            <a:ext cx="1838325" cy="1722438"/>
            <a:chOff x="906162" y="4221162"/>
            <a:chExt cx="1838325" cy="1722438"/>
          </a:xfrm>
        </p:grpSpPr>
        <p:sp>
          <p:nvSpPr>
            <p:cNvPr id="557" name="Google Shape;557;p32"/>
            <p:cNvSpPr/>
            <p:nvPr/>
          </p:nvSpPr>
          <p:spPr>
            <a:xfrm>
              <a:off x="1825324" y="4221162"/>
              <a:ext cx="919163" cy="344488"/>
            </a:xfrm>
            <a:prstGeom prst="rect">
              <a:avLst/>
            </a:prstGeom>
            <a:solidFill>
              <a:srgbClr val="D5D5F4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" name="Google Shape;558;p32"/>
            <p:cNvSpPr/>
            <p:nvPr/>
          </p:nvSpPr>
          <p:spPr>
            <a:xfrm>
              <a:off x="1825324" y="4565650"/>
              <a:ext cx="919163" cy="344487"/>
            </a:xfrm>
            <a:prstGeom prst="rect">
              <a:avLst/>
            </a:prstGeom>
            <a:solidFill>
              <a:srgbClr val="D5D5F4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32"/>
            <p:cNvSpPr/>
            <p:nvPr/>
          </p:nvSpPr>
          <p:spPr>
            <a:xfrm>
              <a:off x="1825324" y="4910137"/>
              <a:ext cx="919163" cy="344488"/>
            </a:xfrm>
            <a:prstGeom prst="rect">
              <a:avLst/>
            </a:prstGeom>
            <a:solidFill>
              <a:srgbClr val="D5D5F4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" name="Google Shape;560;p32"/>
            <p:cNvSpPr/>
            <p:nvPr/>
          </p:nvSpPr>
          <p:spPr>
            <a:xfrm>
              <a:off x="1825324" y="5254625"/>
              <a:ext cx="919163" cy="344487"/>
            </a:xfrm>
            <a:prstGeom prst="rect">
              <a:avLst/>
            </a:prstGeom>
            <a:solidFill>
              <a:srgbClr val="D5D5F4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561" name="Google Shape;561;p32"/>
            <p:cNvSpPr/>
            <p:nvPr/>
          </p:nvSpPr>
          <p:spPr>
            <a:xfrm>
              <a:off x="1825324" y="5599112"/>
              <a:ext cx="919163" cy="344488"/>
            </a:xfrm>
            <a:prstGeom prst="rect">
              <a:avLst/>
            </a:prstGeom>
            <a:solidFill>
              <a:srgbClr val="D5D5F4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32"/>
            <p:cNvSpPr/>
            <p:nvPr/>
          </p:nvSpPr>
          <p:spPr>
            <a:xfrm>
              <a:off x="906162" y="4221162"/>
              <a:ext cx="919162" cy="3444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fd 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32"/>
            <p:cNvSpPr/>
            <p:nvPr/>
          </p:nvSpPr>
          <p:spPr>
            <a:xfrm>
              <a:off x="906162" y="4565650"/>
              <a:ext cx="919162" cy="344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fd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32"/>
            <p:cNvSpPr/>
            <p:nvPr/>
          </p:nvSpPr>
          <p:spPr>
            <a:xfrm>
              <a:off x="906162" y="4910137"/>
              <a:ext cx="919162" cy="3444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fd 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32"/>
            <p:cNvSpPr/>
            <p:nvPr/>
          </p:nvSpPr>
          <p:spPr>
            <a:xfrm>
              <a:off x="906162" y="5254625"/>
              <a:ext cx="919162" cy="344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fd 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32"/>
            <p:cNvSpPr/>
            <p:nvPr/>
          </p:nvSpPr>
          <p:spPr>
            <a:xfrm>
              <a:off x="906162" y="5599112"/>
              <a:ext cx="919162" cy="3444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fd 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7" name="Google Shape;567;p32"/>
          <p:cNvSpPr txBox="1"/>
          <p:nvPr/>
        </p:nvSpPr>
        <p:spPr>
          <a:xfrm>
            <a:off x="1141798" y="3611562"/>
            <a:ext cx="2750305" cy="83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Descriptor 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before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dup2(4,1)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8" name="Google Shape;568;p32"/>
          <p:cNvGrpSpPr/>
          <p:nvPr/>
        </p:nvGrpSpPr>
        <p:grpSpPr>
          <a:xfrm>
            <a:off x="3624648" y="3611562"/>
            <a:ext cx="4367544" cy="2713038"/>
            <a:chOff x="3624648" y="3611562"/>
            <a:chExt cx="4367544" cy="2713038"/>
          </a:xfrm>
        </p:grpSpPr>
        <p:grpSp>
          <p:nvGrpSpPr>
            <p:cNvPr id="569" name="Google Shape;569;p32"/>
            <p:cNvGrpSpPr/>
            <p:nvPr/>
          </p:nvGrpSpPr>
          <p:grpSpPr>
            <a:xfrm>
              <a:off x="5208673" y="4602162"/>
              <a:ext cx="1836737" cy="1722438"/>
              <a:chOff x="5241625" y="4267200"/>
              <a:chExt cx="1836737" cy="1722438"/>
            </a:xfrm>
          </p:grpSpPr>
          <p:sp>
            <p:nvSpPr>
              <p:cNvPr id="570" name="Google Shape;570;p32"/>
              <p:cNvSpPr/>
              <p:nvPr/>
            </p:nvSpPr>
            <p:spPr>
              <a:xfrm>
                <a:off x="6159200" y="4267200"/>
                <a:ext cx="919162" cy="344488"/>
              </a:xfrm>
              <a:prstGeom prst="rect">
                <a:avLst/>
              </a:prstGeom>
              <a:solidFill>
                <a:srgbClr val="D5D5F4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1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" name="Google Shape;571;p32"/>
              <p:cNvSpPr/>
              <p:nvPr/>
            </p:nvSpPr>
            <p:spPr>
              <a:xfrm>
                <a:off x="6159200" y="4611688"/>
                <a:ext cx="919162" cy="344487"/>
              </a:xfrm>
              <a:prstGeom prst="rect">
                <a:avLst/>
              </a:prstGeom>
              <a:solidFill>
                <a:srgbClr val="D5D5F4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b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2" name="Google Shape;572;p32"/>
              <p:cNvSpPr/>
              <p:nvPr/>
            </p:nvSpPr>
            <p:spPr>
              <a:xfrm>
                <a:off x="6159200" y="4956175"/>
                <a:ext cx="919162" cy="344488"/>
              </a:xfrm>
              <a:prstGeom prst="rect">
                <a:avLst/>
              </a:prstGeom>
              <a:solidFill>
                <a:srgbClr val="D5D5F4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1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" name="Google Shape;573;p32"/>
              <p:cNvSpPr/>
              <p:nvPr/>
            </p:nvSpPr>
            <p:spPr>
              <a:xfrm>
                <a:off x="6159200" y="5300663"/>
                <a:ext cx="919162" cy="344487"/>
              </a:xfrm>
              <a:prstGeom prst="rect">
                <a:avLst/>
              </a:prstGeom>
              <a:solidFill>
                <a:srgbClr val="D5D5F4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1" i="0" sz="24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574" name="Google Shape;574;p32"/>
              <p:cNvSpPr/>
              <p:nvPr/>
            </p:nvSpPr>
            <p:spPr>
              <a:xfrm>
                <a:off x="6159200" y="5645150"/>
                <a:ext cx="919162" cy="344488"/>
              </a:xfrm>
              <a:prstGeom prst="rect">
                <a:avLst/>
              </a:prstGeom>
              <a:solidFill>
                <a:srgbClr val="D5D5F4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b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5" name="Google Shape;575;p32"/>
              <p:cNvSpPr/>
              <p:nvPr/>
            </p:nvSpPr>
            <p:spPr>
              <a:xfrm>
                <a:off x="5241625" y="4267200"/>
                <a:ext cx="917575" cy="3444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0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fd 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6" name="Google Shape;576;p32"/>
              <p:cNvSpPr/>
              <p:nvPr/>
            </p:nvSpPr>
            <p:spPr>
              <a:xfrm>
                <a:off x="5241625" y="4611688"/>
                <a:ext cx="917575" cy="3444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0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fd 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7" name="Google Shape;577;p32"/>
              <p:cNvSpPr/>
              <p:nvPr/>
            </p:nvSpPr>
            <p:spPr>
              <a:xfrm>
                <a:off x="5241625" y="4956175"/>
                <a:ext cx="917575" cy="3444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0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fd 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8" name="Google Shape;578;p32"/>
              <p:cNvSpPr/>
              <p:nvPr/>
            </p:nvSpPr>
            <p:spPr>
              <a:xfrm>
                <a:off x="5241625" y="5300663"/>
                <a:ext cx="917575" cy="3444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0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fd 3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9" name="Google Shape;579;p32"/>
              <p:cNvSpPr/>
              <p:nvPr/>
            </p:nvSpPr>
            <p:spPr>
              <a:xfrm>
                <a:off x="5241625" y="5645150"/>
                <a:ext cx="917575" cy="3444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0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fd 4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80" name="Google Shape;580;p32"/>
            <p:cNvSpPr txBox="1"/>
            <p:nvPr/>
          </p:nvSpPr>
          <p:spPr>
            <a:xfrm>
              <a:off x="5462973" y="3611562"/>
              <a:ext cx="252921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Descriptor table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1" lang="en-US" sz="2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after</a:t>
              </a:r>
              <a:r>
                <a:rPr b="1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1" i="0" lang="en-US" sz="24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dup2(4,1)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32"/>
            <p:cNvSpPr/>
            <p:nvPr/>
          </p:nvSpPr>
          <p:spPr>
            <a:xfrm>
              <a:off x="3624648" y="5059362"/>
              <a:ext cx="1295400" cy="592138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33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I/O Redirection Example</a:t>
            </a:r>
            <a:endParaRPr/>
          </a:p>
        </p:txBody>
      </p:sp>
      <p:sp>
        <p:nvSpPr>
          <p:cNvPr id="587" name="Google Shape;587;p33"/>
          <p:cNvSpPr txBox="1"/>
          <p:nvPr>
            <p:ph idx="1" type="body"/>
          </p:nvPr>
        </p:nvSpPr>
        <p:spPr>
          <a:xfrm>
            <a:off x="350237" y="1296988"/>
            <a:ext cx="8548687" cy="989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 Step #1: open file to which stdout should be redirected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Font typeface="Noto Sans Symbols"/>
              <a:buChar char="▪"/>
            </a:pPr>
            <a:r>
              <a:rPr lang="en-US"/>
              <a:t>Happens in child executing shell code, before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exec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88" name="Google Shape;588;p33"/>
          <p:cNvSpPr/>
          <p:nvPr/>
        </p:nvSpPr>
        <p:spPr>
          <a:xfrm>
            <a:off x="1506538" y="3670300"/>
            <a:ext cx="609600" cy="2286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33"/>
          <p:cNvSpPr/>
          <p:nvPr/>
        </p:nvSpPr>
        <p:spPr>
          <a:xfrm>
            <a:off x="1506538" y="3898900"/>
            <a:ext cx="609600" cy="2286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33"/>
          <p:cNvSpPr/>
          <p:nvPr/>
        </p:nvSpPr>
        <p:spPr>
          <a:xfrm>
            <a:off x="1506538" y="4127500"/>
            <a:ext cx="609600" cy="2286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33"/>
          <p:cNvSpPr/>
          <p:nvPr/>
        </p:nvSpPr>
        <p:spPr>
          <a:xfrm>
            <a:off x="1506538" y="4356100"/>
            <a:ext cx="609600" cy="2286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33"/>
          <p:cNvSpPr/>
          <p:nvPr/>
        </p:nvSpPr>
        <p:spPr>
          <a:xfrm>
            <a:off x="1506538" y="4584700"/>
            <a:ext cx="609600" cy="2286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33"/>
          <p:cNvSpPr/>
          <p:nvPr/>
        </p:nvSpPr>
        <p:spPr>
          <a:xfrm>
            <a:off x="896938" y="36703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33"/>
          <p:cNvSpPr/>
          <p:nvPr/>
        </p:nvSpPr>
        <p:spPr>
          <a:xfrm>
            <a:off x="896938" y="38989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33"/>
          <p:cNvSpPr/>
          <p:nvPr/>
        </p:nvSpPr>
        <p:spPr>
          <a:xfrm>
            <a:off x="896938" y="41275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33"/>
          <p:cNvSpPr/>
          <p:nvPr/>
        </p:nvSpPr>
        <p:spPr>
          <a:xfrm>
            <a:off x="896938" y="43561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33"/>
          <p:cNvSpPr/>
          <p:nvPr/>
        </p:nvSpPr>
        <p:spPr>
          <a:xfrm>
            <a:off x="896938" y="45847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33"/>
          <p:cNvSpPr txBox="1"/>
          <p:nvPr/>
        </p:nvSpPr>
        <p:spPr>
          <a:xfrm>
            <a:off x="610550" y="2636222"/>
            <a:ext cx="2390085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Descriptor 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[one table per process]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33"/>
          <p:cNvSpPr txBox="1"/>
          <p:nvPr/>
        </p:nvSpPr>
        <p:spPr>
          <a:xfrm>
            <a:off x="3159491" y="2636222"/>
            <a:ext cx="2532326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Open file table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[shared by all processes]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33"/>
          <p:cNvSpPr txBox="1"/>
          <p:nvPr/>
        </p:nvSpPr>
        <p:spPr>
          <a:xfrm>
            <a:off x="5750291" y="2636222"/>
            <a:ext cx="2532326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v-node 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[shared by all processes]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33"/>
          <p:cNvSpPr/>
          <p:nvPr/>
        </p:nvSpPr>
        <p:spPr>
          <a:xfrm>
            <a:off x="3868738" y="3962400"/>
            <a:ext cx="1066800" cy="304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pos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33"/>
          <p:cNvSpPr/>
          <p:nvPr/>
        </p:nvSpPr>
        <p:spPr>
          <a:xfrm>
            <a:off x="3868738" y="4267200"/>
            <a:ext cx="1066800" cy="304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refcnt=1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33"/>
          <p:cNvSpPr/>
          <p:nvPr/>
        </p:nvSpPr>
        <p:spPr>
          <a:xfrm rot="5400000">
            <a:off x="4249738" y="4191000"/>
            <a:ext cx="304800" cy="1066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4" name="Google Shape;604;p33"/>
          <p:cNvCxnSpPr/>
          <p:nvPr/>
        </p:nvCxnSpPr>
        <p:spPr>
          <a:xfrm flipH="1" rot="10800000">
            <a:off x="1828800" y="3657599"/>
            <a:ext cx="2039938" cy="35242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05" name="Google Shape;605;p33"/>
          <p:cNvSpPr/>
          <p:nvPr/>
        </p:nvSpPr>
        <p:spPr>
          <a:xfrm>
            <a:off x="3868738" y="3657600"/>
            <a:ext cx="1066800" cy="304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33"/>
          <p:cNvSpPr txBox="1"/>
          <p:nvPr/>
        </p:nvSpPr>
        <p:spPr>
          <a:xfrm>
            <a:off x="228600" y="4086225"/>
            <a:ext cx="822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stderr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33"/>
          <p:cNvSpPr txBox="1"/>
          <p:nvPr/>
        </p:nvSpPr>
        <p:spPr>
          <a:xfrm>
            <a:off x="228600" y="3857625"/>
            <a:ext cx="822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stdout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33"/>
          <p:cNvSpPr txBox="1"/>
          <p:nvPr/>
        </p:nvSpPr>
        <p:spPr>
          <a:xfrm>
            <a:off x="334963" y="3629025"/>
            <a:ext cx="715962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9" name="Google Shape;609;p33"/>
          <p:cNvCxnSpPr/>
          <p:nvPr/>
        </p:nvCxnSpPr>
        <p:spPr>
          <a:xfrm flipH="1" rot="10800000">
            <a:off x="4786313" y="3641725"/>
            <a:ext cx="1690687" cy="15398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10" name="Google Shape;610;p33"/>
          <p:cNvSpPr/>
          <p:nvPr/>
        </p:nvSpPr>
        <p:spPr>
          <a:xfrm>
            <a:off x="6477000" y="3629025"/>
            <a:ext cx="1066800" cy="304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access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33"/>
          <p:cNvSpPr/>
          <p:nvPr/>
        </p:nvSpPr>
        <p:spPr>
          <a:xfrm rot="5400000">
            <a:off x="6858000" y="4162425"/>
            <a:ext cx="304800" cy="1066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33"/>
          <p:cNvSpPr/>
          <p:nvPr/>
        </p:nvSpPr>
        <p:spPr>
          <a:xfrm>
            <a:off x="6477000" y="3933825"/>
            <a:ext cx="1066800" cy="304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size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33"/>
          <p:cNvSpPr/>
          <p:nvPr/>
        </p:nvSpPr>
        <p:spPr>
          <a:xfrm>
            <a:off x="6477000" y="4238625"/>
            <a:ext cx="1066800" cy="304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type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33"/>
          <p:cNvSpPr txBox="1"/>
          <p:nvPr/>
        </p:nvSpPr>
        <p:spPr>
          <a:xfrm>
            <a:off x="3758514" y="3352800"/>
            <a:ext cx="652743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A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15" name="Google Shape;615;p33"/>
          <p:cNvGrpSpPr/>
          <p:nvPr/>
        </p:nvGrpSpPr>
        <p:grpSpPr>
          <a:xfrm>
            <a:off x="1828800" y="4683125"/>
            <a:ext cx="5715000" cy="1870075"/>
            <a:chOff x="1828800" y="4683125"/>
            <a:chExt cx="5715000" cy="1870075"/>
          </a:xfrm>
        </p:grpSpPr>
        <p:sp>
          <p:nvSpPr>
            <p:cNvPr id="616" name="Google Shape;616;p33"/>
            <p:cNvSpPr/>
            <p:nvPr/>
          </p:nvSpPr>
          <p:spPr>
            <a:xfrm>
              <a:off x="3868738" y="5638800"/>
              <a:ext cx="1066800" cy="304800"/>
            </a:xfrm>
            <a:prstGeom prst="rect">
              <a:avLst/>
            </a:prstGeom>
            <a:solidFill>
              <a:srgbClr val="D5D5F4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File pos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33"/>
            <p:cNvSpPr/>
            <p:nvPr/>
          </p:nvSpPr>
          <p:spPr>
            <a:xfrm>
              <a:off x="3868738" y="5943600"/>
              <a:ext cx="1066800" cy="304800"/>
            </a:xfrm>
            <a:prstGeom prst="rect">
              <a:avLst/>
            </a:prstGeom>
            <a:solidFill>
              <a:srgbClr val="D5D5F4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refcnt=1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33"/>
            <p:cNvSpPr/>
            <p:nvPr/>
          </p:nvSpPr>
          <p:spPr>
            <a:xfrm rot="5400000">
              <a:off x="4249738" y="5867400"/>
              <a:ext cx="304800" cy="1066800"/>
            </a:xfrm>
            <a:prstGeom prst="rect">
              <a:avLst/>
            </a:prstGeom>
            <a:solidFill>
              <a:srgbClr val="D5D5F4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...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33"/>
            <p:cNvSpPr/>
            <p:nvPr/>
          </p:nvSpPr>
          <p:spPr>
            <a:xfrm>
              <a:off x="3868738" y="5334000"/>
              <a:ext cx="1066800" cy="304800"/>
            </a:xfrm>
            <a:prstGeom prst="rect">
              <a:avLst/>
            </a:prstGeom>
            <a:solidFill>
              <a:srgbClr val="D5D5F4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20" name="Google Shape;620;p33"/>
            <p:cNvCxnSpPr/>
            <p:nvPr/>
          </p:nvCxnSpPr>
          <p:spPr>
            <a:xfrm>
              <a:off x="1828800" y="4683125"/>
              <a:ext cx="2057400" cy="6985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621" name="Google Shape;621;p33"/>
            <p:cNvSpPr/>
            <p:nvPr/>
          </p:nvSpPr>
          <p:spPr>
            <a:xfrm>
              <a:off x="6477000" y="5229225"/>
              <a:ext cx="1066800" cy="304800"/>
            </a:xfrm>
            <a:prstGeom prst="rect">
              <a:avLst/>
            </a:prstGeom>
            <a:solidFill>
              <a:srgbClr val="D5D5F4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File access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33"/>
            <p:cNvSpPr/>
            <p:nvPr/>
          </p:nvSpPr>
          <p:spPr>
            <a:xfrm rot="5400000">
              <a:off x="6858000" y="5762625"/>
              <a:ext cx="304800" cy="1066800"/>
            </a:xfrm>
            <a:prstGeom prst="rect">
              <a:avLst/>
            </a:prstGeom>
            <a:solidFill>
              <a:srgbClr val="D5D5F4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...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33"/>
            <p:cNvSpPr/>
            <p:nvPr/>
          </p:nvSpPr>
          <p:spPr>
            <a:xfrm>
              <a:off x="6477000" y="5534025"/>
              <a:ext cx="1066800" cy="304800"/>
            </a:xfrm>
            <a:prstGeom prst="rect">
              <a:avLst/>
            </a:prstGeom>
            <a:solidFill>
              <a:srgbClr val="D5D5F4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File size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33"/>
            <p:cNvSpPr/>
            <p:nvPr/>
          </p:nvSpPr>
          <p:spPr>
            <a:xfrm>
              <a:off x="6477000" y="5838825"/>
              <a:ext cx="1066800" cy="304800"/>
            </a:xfrm>
            <a:prstGeom prst="rect">
              <a:avLst/>
            </a:prstGeom>
            <a:solidFill>
              <a:srgbClr val="D5D5F4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File type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33"/>
            <p:cNvSpPr txBox="1"/>
            <p:nvPr/>
          </p:nvSpPr>
          <p:spPr>
            <a:xfrm>
              <a:off x="3766752" y="5029200"/>
              <a:ext cx="64312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File B</a:t>
              </a:r>
              <a:endPara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26" name="Google Shape;626;p33"/>
            <p:cNvCxnSpPr/>
            <p:nvPr/>
          </p:nvCxnSpPr>
          <p:spPr>
            <a:xfrm flipH="1" rot="10800000">
              <a:off x="4706938" y="5229224"/>
              <a:ext cx="1770062" cy="257175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34"/>
          <p:cNvSpPr txBox="1"/>
          <p:nvPr>
            <p:ph type="title"/>
          </p:nvPr>
        </p:nvSpPr>
        <p:spPr>
          <a:xfrm>
            <a:off x="357018" y="457200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I/O Redirection Example (cont.)</a:t>
            </a:r>
            <a:endParaRPr/>
          </a:p>
        </p:txBody>
      </p:sp>
      <p:sp>
        <p:nvSpPr>
          <p:cNvPr id="632" name="Google Shape;632;p34"/>
          <p:cNvSpPr txBox="1"/>
          <p:nvPr>
            <p:ph idx="1" type="body"/>
          </p:nvPr>
        </p:nvSpPr>
        <p:spPr>
          <a:xfrm>
            <a:off x="366713" y="1296988"/>
            <a:ext cx="8624887" cy="989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Step #2: call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dup2(4,1)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Font typeface="Noto Sans Symbols"/>
              <a:buChar char="▪"/>
            </a:pPr>
            <a:r>
              <a:rPr lang="en-US"/>
              <a:t>cause fd=1 (stdout) to refer to disk file pointed at by fd=4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33" name="Google Shape;633;p34"/>
          <p:cNvSpPr/>
          <p:nvPr/>
        </p:nvSpPr>
        <p:spPr>
          <a:xfrm>
            <a:off x="1506538" y="3670300"/>
            <a:ext cx="609600" cy="2286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34"/>
          <p:cNvSpPr/>
          <p:nvPr/>
        </p:nvSpPr>
        <p:spPr>
          <a:xfrm>
            <a:off x="1506538" y="3898900"/>
            <a:ext cx="609600" cy="2286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34"/>
          <p:cNvSpPr/>
          <p:nvPr/>
        </p:nvSpPr>
        <p:spPr>
          <a:xfrm>
            <a:off x="1506538" y="4127500"/>
            <a:ext cx="609600" cy="2286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34"/>
          <p:cNvSpPr/>
          <p:nvPr/>
        </p:nvSpPr>
        <p:spPr>
          <a:xfrm>
            <a:off x="1506538" y="4356100"/>
            <a:ext cx="609600" cy="2286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34"/>
          <p:cNvSpPr/>
          <p:nvPr/>
        </p:nvSpPr>
        <p:spPr>
          <a:xfrm>
            <a:off x="1506538" y="4584700"/>
            <a:ext cx="609600" cy="2286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34"/>
          <p:cNvSpPr/>
          <p:nvPr/>
        </p:nvSpPr>
        <p:spPr>
          <a:xfrm>
            <a:off x="896938" y="36703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34"/>
          <p:cNvSpPr/>
          <p:nvPr/>
        </p:nvSpPr>
        <p:spPr>
          <a:xfrm>
            <a:off x="896938" y="38989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34"/>
          <p:cNvSpPr/>
          <p:nvPr/>
        </p:nvSpPr>
        <p:spPr>
          <a:xfrm>
            <a:off x="896938" y="41275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34"/>
          <p:cNvSpPr/>
          <p:nvPr/>
        </p:nvSpPr>
        <p:spPr>
          <a:xfrm>
            <a:off x="896938" y="43561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34"/>
          <p:cNvSpPr/>
          <p:nvPr/>
        </p:nvSpPr>
        <p:spPr>
          <a:xfrm>
            <a:off x="896938" y="45847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34"/>
          <p:cNvSpPr txBox="1"/>
          <p:nvPr/>
        </p:nvSpPr>
        <p:spPr>
          <a:xfrm>
            <a:off x="610550" y="2636222"/>
            <a:ext cx="2390085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Descriptor 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[one table per process]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34"/>
          <p:cNvSpPr txBox="1"/>
          <p:nvPr/>
        </p:nvSpPr>
        <p:spPr>
          <a:xfrm>
            <a:off x="3159491" y="2636222"/>
            <a:ext cx="2532326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Open file table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[shared by all processes]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34"/>
          <p:cNvSpPr txBox="1"/>
          <p:nvPr/>
        </p:nvSpPr>
        <p:spPr>
          <a:xfrm>
            <a:off x="5750291" y="2636222"/>
            <a:ext cx="2532326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v-node 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[shared by all processes]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34"/>
          <p:cNvSpPr/>
          <p:nvPr/>
        </p:nvSpPr>
        <p:spPr>
          <a:xfrm>
            <a:off x="3868738" y="3962400"/>
            <a:ext cx="1066800" cy="3048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pos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34"/>
          <p:cNvSpPr/>
          <p:nvPr/>
        </p:nvSpPr>
        <p:spPr>
          <a:xfrm>
            <a:off x="3868738" y="4267200"/>
            <a:ext cx="1066800" cy="3048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refcnt=0</a:t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48" name="Google Shape;648;p34"/>
          <p:cNvSpPr/>
          <p:nvPr/>
        </p:nvSpPr>
        <p:spPr>
          <a:xfrm rot="5400000">
            <a:off x="4249738" y="4191000"/>
            <a:ext cx="304800" cy="10668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9" name="Google Shape;649;p34"/>
          <p:cNvCxnSpPr/>
          <p:nvPr/>
        </p:nvCxnSpPr>
        <p:spPr>
          <a:xfrm>
            <a:off x="1828800" y="4010023"/>
            <a:ext cx="2057400" cy="135773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50" name="Google Shape;650;p34"/>
          <p:cNvSpPr/>
          <p:nvPr/>
        </p:nvSpPr>
        <p:spPr>
          <a:xfrm>
            <a:off x="3868738" y="3657600"/>
            <a:ext cx="1066800" cy="3048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34"/>
          <p:cNvSpPr/>
          <p:nvPr/>
        </p:nvSpPr>
        <p:spPr>
          <a:xfrm>
            <a:off x="3868738" y="5638800"/>
            <a:ext cx="1066800" cy="304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pos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34"/>
          <p:cNvSpPr/>
          <p:nvPr/>
        </p:nvSpPr>
        <p:spPr>
          <a:xfrm>
            <a:off x="3868738" y="5943600"/>
            <a:ext cx="1066800" cy="304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refcnt=2</a:t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53" name="Google Shape;653;p34"/>
          <p:cNvSpPr/>
          <p:nvPr/>
        </p:nvSpPr>
        <p:spPr>
          <a:xfrm rot="5400000">
            <a:off x="4249738" y="5867400"/>
            <a:ext cx="304800" cy="1066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34"/>
          <p:cNvSpPr/>
          <p:nvPr/>
        </p:nvSpPr>
        <p:spPr>
          <a:xfrm>
            <a:off x="3868738" y="5334000"/>
            <a:ext cx="1066800" cy="304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5" name="Google Shape;655;p34"/>
          <p:cNvCxnSpPr/>
          <p:nvPr/>
        </p:nvCxnSpPr>
        <p:spPr>
          <a:xfrm>
            <a:off x="1828800" y="4683125"/>
            <a:ext cx="2057400" cy="6985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56" name="Google Shape;656;p34"/>
          <p:cNvSpPr txBox="1"/>
          <p:nvPr/>
        </p:nvSpPr>
        <p:spPr>
          <a:xfrm>
            <a:off x="228600" y="4086225"/>
            <a:ext cx="822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stderr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34"/>
          <p:cNvSpPr txBox="1"/>
          <p:nvPr/>
        </p:nvSpPr>
        <p:spPr>
          <a:xfrm>
            <a:off x="228600" y="3857625"/>
            <a:ext cx="822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stdout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34"/>
          <p:cNvSpPr txBox="1"/>
          <p:nvPr/>
        </p:nvSpPr>
        <p:spPr>
          <a:xfrm>
            <a:off x="334963" y="3629025"/>
            <a:ext cx="715962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9" name="Google Shape;659;p34"/>
          <p:cNvCxnSpPr/>
          <p:nvPr/>
        </p:nvCxnSpPr>
        <p:spPr>
          <a:xfrm flipH="1" rot="10800000">
            <a:off x="4786313" y="3641725"/>
            <a:ext cx="1690687" cy="15398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60" name="Google Shape;660;p34"/>
          <p:cNvSpPr/>
          <p:nvPr/>
        </p:nvSpPr>
        <p:spPr>
          <a:xfrm>
            <a:off x="6477000" y="3629025"/>
            <a:ext cx="1066800" cy="3048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access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34"/>
          <p:cNvSpPr/>
          <p:nvPr/>
        </p:nvSpPr>
        <p:spPr>
          <a:xfrm rot="5400000">
            <a:off x="6858000" y="4162425"/>
            <a:ext cx="304800" cy="10668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34"/>
          <p:cNvSpPr/>
          <p:nvPr/>
        </p:nvSpPr>
        <p:spPr>
          <a:xfrm>
            <a:off x="6477000" y="3933825"/>
            <a:ext cx="1066800" cy="3048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size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34"/>
          <p:cNvSpPr/>
          <p:nvPr/>
        </p:nvSpPr>
        <p:spPr>
          <a:xfrm>
            <a:off x="6477000" y="4238625"/>
            <a:ext cx="1066800" cy="3048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type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34"/>
          <p:cNvSpPr/>
          <p:nvPr/>
        </p:nvSpPr>
        <p:spPr>
          <a:xfrm>
            <a:off x="6477000" y="5229225"/>
            <a:ext cx="1066800" cy="304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access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34"/>
          <p:cNvSpPr/>
          <p:nvPr/>
        </p:nvSpPr>
        <p:spPr>
          <a:xfrm rot="5400000">
            <a:off x="6858000" y="5762625"/>
            <a:ext cx="304800" cy="1066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34"/>
          <p:cNvSpPr/>
          <p:nvPr/>
        </p:nvSpPr>
        <p:spPr>
          <a:xfrm>
            <a:off x="6477000" y="5534025"/>
            <a:ext cx="1066800" cy="304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size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34"/>
          <p:cNvSpPr/>
          <p:nvPr/>
        </p:nvSpPr>
        <p:spPr>
          <a:xfrm>
            <a:off x="6477000" y="5838825"/>
            <a:ext cx="1066800" cy="3048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type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34"/>
          <p:cNvSpPr txBox="1"/>
          <p:nvPr/>
        </p:nvSpPr>
        <p:spPr>
          <a:xfrm>
            <a:off x="3758514" y="3352800"/>
            <a:ext cx="652743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A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34"/>
          <p:cNvSpPr txBox="1"/>
          <p:nvPr/>
        </p:nvSpPr>
        <p:spPr>
          <a:xfrm>
            <a:off x="3766752" y="5029200"/>
            <a:ext cx="643125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B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0" name="Google Shape;670;p34"/>
          <p:cNvCxnSpPr/>
          <p:nvPr/>
        </p:nvCxnSpPr>
        <p:spPr>
          <a:xfrm flipH="1" rot="10800000">
            <a:off x="4706938" y="5229224"/>
            <a:ext cx="1770062" cy="25717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35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Today</a:t>
            </a:r>
            <a:endParaRPr/>
          </a:p>
        </p:txBody>
      </p:sp>
      <p:sp>
        <p:nvSpPr>
          <p:cNvPr id="677" name="Google Shape;677;p35"/>
          <p:cNvSpPr txBox="1"/>
          <p:nvPr>
            <p:ph idx="1" type="body"/>
          </p:nvPr>
        </p:nvSpPr>
        <p:spPr>
          <a:xfrm>
            <a:off x="396875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>
                <a:solidFill>
                  <a:srgbClr val="7F7F7F"/>
                </a:solidFill>
              </a:rPr>
              <a:t>Unix I/O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>
                <a:solidFill>
                  <a:srgbClr val="7F7F7F"/>
                </a:solidFill>
              </a:rPr>
              <a:t>RIO (robust I/O) package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>
                <a:solidFill>
                  <a:srgbClr val="7F7F7F"/>
                </a:solidFill>
              </a:rPr>
              <a:t>Metadata, sharing, and redirection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>
                <a:solidFill>
                  <a:srgbClr val="000000"/>
                </a:solidFill>
              </a:rPr>
              <a:t>Standard I/O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>
                <a:solidFill>
                  <a:srgbClr val="7F7F7F"/>
                </a:solidFill>
              </a:rPr>
              <a:t>Closing remarks</a:t>
            </a:r>
            <a:endParaRPr>
              <a:solidFill>
                <a:srgbClr val="7F7F7F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36"/>
          <p:cNvSpPr txBox="1"/>
          <p:nvPr>
            <p:ph type="title"/>
          </p:nvPr>
        </p:nvSpPr>
        <p:spPr>
          <a:xfrm>
            <a:off x="384193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Standard I/O Functions</a:t>
            </a:r>
            <a:endParaRPr/>
          </a:p>
        </p:txBody>
      </p:sp>
      <p:sp>
        <p:nvSpPr>
          <p:cNvPr id="683" name="Google Shape;683;p36"/>
          <p:cNvSpPr txBox="1"/>
          <p:nvPr>
            <p:ph idx="1" type="body"/>
          </p:nvPr>
        </p:nvSpPr>
        <p:spPr>
          <a:xfrm>
            <a:off x="384861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The C standard library (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libc.so</a:t>
            </a:r>
            <a:r>
              <a:rPr lang="en-US"/>
              <a:t>) contains a collection of higher-level </a:t>
            </a:r>
            <a:r>
              <a:rPr i="1" lang="en-US">
                <a:solidFill>
                  <a:srgbClr val="C00000"/>
                </a:solidFill>
              </a:rPr>
              <a:t>standard I/O </a:t>
            </a:r>
            <a:r>
              <a:rPr lang="en-US"/>
              <a:t>functions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Documented in Appendix B of K&amp;R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Examples of standard I/O functions: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Opening and closing files (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fopen</a:t>
            </a:r>
            <a:r>
              <a:rPr lang="en-US"/>
              <a:t> and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fclose</a:t>
            </a:r>
            <a:r>
              <a:rPr lang="en-US"/>
              <a:t>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Reading and writing bytes (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fread</a:t>
            </a:r>
            <a:r>
              <a:rPr lang="en-US"/>
              <a:t> and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fwrite</a:t>
            </a:r>
            <a:r>
              <a:rPr lang="en-US"/>
              <a:t>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Reading and writing text lines (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fgets</a:t>
            </a:r>
            <a:r>
              <a:rPr lang="en-US"/>
              <a:t> and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fputs</a:t>
            </a:r>
            <a:r>
              <a:rPr lang="en-US"/>
              <a:t>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Formatted reading and writing (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fscanf</a:t>
            </a:r>
            <a:r>
              <a:rPr lang="en-US"/>
              <a:t> and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fprintf</a:t>
            </a:r>
            <a:r>
              <a:rPr lang="en-US"/>
              <a:t>)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37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Standard I/O Streams</a:t>
            </a:r>
            <a:endParaRPr/>
          </a:p>
        </p:txBody>
      </p:sp>
      <p:sp>
        <p:nvSpPr>
          <p:cNvPr id="689" name="Google Shape;689;p37"/>
          <p:cNvSpPr txBox="1"/>
          <p:nvPr>
            <p:ph idx="1" type="body"/>
          </p:nvPr>
        </p:nvSpPr>
        <p:spPr>
          <a:xfrm>
            <a:off x="362937" y="1220788"/>
            <a:ext cx="8307387" cy="29702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Standard I/O models open files as </a:t>
            </a:r>
            <a:r>
              <a:rPr i="1" lang="en-US">
                <a:solidFill>
                  <a:srgbClr val="C00000"/>
                </a:solidFill>
              </a:rPr>
              <a:t>streams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Abstraction for a file descriptor and a buffer in memory</a:t>
            </a:r>
            <a:endParaRPr/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C programs begin life with three open streams </a:t>
            </a:r>
            <a:br>
              <a:rPr lang="en-US"/>
            </a:br>
            <a:r>
              <a:rPr lang="en-US"/>
              <a:t>(defined in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stdio.h</a:t>
            </a:r>
            <a:r>
              <a:rPr lang="en-US"/>
              <a:t>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stdin</a:t>
            </a:r>
            <a:r>
              <a:rPr lang="en-US"/>
              <a:t>  (standard input)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stdout</a:t>
            </a:r>
            <a:r>
              <a:rPr lang="en-US"/>
              <a:t> (standard output)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stderr</a:t>
            </a:r>
            <a:r>
              <a:rPr lang="en-US"/>
              <a:t> (standard error)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Font typeface="Noto Sans Symbols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  <p:sp>
        <p:nvSpPr>
          <p:cNvPr id="690" name="Google Shape;690;p37"/>
          <p:cNvSpPr txBox="1"/>
          <p:nvPr/>
        </p:nvSpPr>
        <p:spPr>
          <a:xfrm>
            <a:off x="914400" y="4495800"/>
            <a:ext cx="7164388" cy="2057400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&lt;stdio.h&gt;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extern FILE *stdin;  </a:t>
            </a:r>
            <a:r>
              <a:rPr b="1" i="0" lang="en-US" sz="16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standard input  (descriptor 0) */</a:t>
            </a:r>
            <a:endParaRPr b="1" i="0" sz="1600" u="none" cap="none" strike="noStrike">
              <a:solidFill>
                <a:srgbClr val="99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extern FILE *stdout; </a:t>
            </a:r>
            <a:r>
              <a:rPr b="1" i="0" lang="en-US" sz="16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standard output (descriptor 1) */</a:t>
            </a:r>
            <a:endParaRPr b="1" i="0" sz="1600" u="none" cap="none" strike="noStrike">
              <a:solidFill>
                <a:srgbClr val="99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extern FILE *stderr; </a:t>
            </a:r>
            <a:r>
              <a:rPr b="1" i="0" lang="en-US" sz="16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standard error  (descriptor 2) */</a:t>
            </a:r>
            <a:endParaRPr b="1" i="0" sz="1600" u="none" cap="none" strike="noStrike">
              <a:solidFill>
                <a:srgbClr val="99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main()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fprintf(stdout, "Hello, world\n");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38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Buffered I/O: Motivation</a:t>
            </a:r>
            <a:endParaRPr/>
          </a:p>
        </p:txBody>
      </p:sp>
      <p:sp>
        <p:nvSpPr>
          <p:cNvPr id="696" name="Google Shape;696;p38"/>
          <p:cNvSpPr txBox="1"/>
          <p:nvPr>
            <p:ph idx="1" type="body"/>
          </p:nvPr>
        </p:nvSpPr>
        <p:spPr>
          <a:xfrm>
            <a:off x="362937" y="1220788"/>
            <a:ext cx="8307387" cy="4341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Applications often read/write one character at a time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getc, putc, ungetc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gets, fgets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Read line of text one character at a time, stopping at newline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Implementing as Unix I/O calls expensive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read</a:t>
            </a:r>
            <a:r>
              <a:rPr lang="en-US"/>
              <a:t> and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write</a:t>
            </a:r>
            <a:r>
              <a:rPr lang="en-US"/>
              <a:t> require Unix kernel calls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&gt; 10,000 clock cycles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Solution: Buffered read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Use Unix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read </a:t>
            </a:r>
            <a:r>
              <a:rPr lang="en-US"/>
              <a:t>to grab block of bytes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User input functions take one byte at a time from buffer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Refill buffer when empty</a:t>
            </a:r>
            <a:endParaRPr/>
          </a:p>
        </p:txBody>
      </p:sp>
      <p:sp>
        <p:nvSpPr>
          <p:cNvPr id="697" name="Google Shape;697;p38"/>
          <p:cNvSpPr/>
          <p:nvPr/>
        </p:nvSpPr>
        <p:spPr>
          <a:xfrm>
            <a:off x="3826476" y="5807075"/>
            <a:ext cx="2362200" cy="441325"/>
          </a:xfrm>
          <a:prstGeom prst="rect">
            <a:avLst/>
          </a:prstGeom>
          <a:solidFill>
            <a:srgbClr val="F1C7C7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unread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38"/>
          <p:cNvSpPr/>
          <p:nvPr/>
        </p:nvSpPr>
        <p:spPr>
          <a:xfrm>
            <a:off x="1464276" y="5807075"/>
            <a:ext cx="2362200" cy="441325"/>
          </a:xfrm>
          <a:prstGeom prst="rect">
            <a:avLst/>
          </a:prstGeom>
          <a:solidFill>
            <a:srgbClr val="D5F1CF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already read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38"/>
          <p:cNvSpPr/>
          <p:nvPr/>
        </p:nvSpPr>
        <p:spPr>
          <a:xfrm>
            <a:off x="1464276" y="5807075"/>
            <a:ext cx="6096000" cy="44132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38"/>
          <p:cNvSpPr txBox="1"/>
          <p:nvPr/>
        </p:nvSpPr>
        <p:spPr>
          <a:xfrm>
            <a:off x="609600" y="5831299"/>
            <a:ext cx="84234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Buffer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39"/>
          <p:cNvSpPr txBox="1"/>
          <p:nvPr>
            <p:ph type="title"/>
          </p:nvPr>
        </p:nvSpPr>
        <p:spPr>
          <a:xfrm>
            <a:off x="381000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Buffering in Standard I/O</a:t>
            </a:r>
            <a:endParaRPr/>
          </a:p>
        </p:txBody>
      </p:sp>
      <p:sp>
        <p:nvSpPr>
          <p:cNvPr id="706" name="Google Shape;706;p39"/>
          <p:cNvSpPr txBox="1"/>
          <p:nvPr>
            <p:ph idx="1" type="body"/>
          </p:nvPr>
        </p:nvSpPr>
        <p:spPr>
          <a:xfrm>
            <a:off x="396875" y="1362074"/>
            <a:ext cx="7896225" cy="5267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Standard I/O functions use buffered I/O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Buffer flushed to output fd on “\n”, call to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fflush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or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exit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or return from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main. </a:t>
            </a:r>
            <a:endParaRPr/>
          </a:p>
        </p:txBody>
      </p:sp>
      <p:sp>
        <p:nvSpPr>
          <p:cNvPr id="707" name="Google Shape;707;p39"/>
          <p:cNvSpPr txBox="1"/>
          <p:nvPr/>
        </p:nvSpPr>
        <p:spPr>
          <a:xfrm>
            <a:off x="2544762" y="1905000"/>
            <a:ext cx="165100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printf("h");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39"/>
          <p:cNvSpPr/>
          <p:nvPr/>
        </p:nvSpPr>
        <p:spPr>
          <a:xfrm>
            <a:off x="2620962" y="3995737"/>
            <a:ext cx="457200" cy="228600"/>
          </a:xfrm>
          <a:prstGeom prst="rect">
            <a:avLst/>
          </a:prstGeom>
          <a:solidFill>
            <a:srgbClr val="D5D5F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39"/>
          <p:cNvSpPr/>
          <p:nvPr/>
        </p:nvSpPr>
        <p:spPr>
          <a:xfrm>
            <a:off x="3078162" y="3995737"/>
            <a:ext cx="457200" cy="228600"/>
          </a:xfrm>
          <a:prstGeom prst="rect">
            <a:avLst/>
          </a:prstGeom>
          <a:solidFill>
            <a:srgbClr val="D5D5F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39"/>
          <p:cNvSpPr/>
          <p:nvPr/>
        </p:nvSpPr>
        <p:spPr>
          <a:xfrm>
            <a:off x="3459162" y="3995737"/>
            <a:ext cx="457200" cy="228600"/>
          </a:xfrm>
          <a:prstGeom prst="rect">
            <a:avLst/>
          </a:prstGeom>
          <a:solidFill>
            <a:srgbClr val="D5D5F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39"/>
          <p:cNvSpPr/>
          <p:nvPr/>
        </p:nvSpPr>
        <p:spPr>
          <a:xfrm>
            <a:off x="3916362" y="3995737"/>
            <a:ext cx="457200" cy="228600"/>
          </a:xfrm>
          <a:prstGeom prst="rect">
            <a:avLst/>
          </a:prstGeom>
          <a:solidFill>
            <a:srgbClr val="D5D5F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39"/>
          <p:cNvSpPr/>
          <p:nvPr/>
        </p:nvSpPr>
        <p:spPr>
          <a:xfrm>
            <a:off x="4373562" y="3995737"/>
            <a:ext cx="457200" cy="228600"/>
          </a:xfrm>
          <a:prstGeom prst="rect">
            <a:avLst/>
          </a:prstGeom>
          <a:solidFill>
            <a:srgbClr val="D5D5F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39"/>
          <p:cNvSpPr/>
          <p:nvPr/>
        </p:nvSpPr>
        <p:spPr>
          <a:xfrm>
            <a:off x="4830762" y="3995737"/>
            <a:ext cx="457200" cy="228600"/>
          </a:xfrm>
          <a:prstGeom prst="rect">
            <a:avLst/>
          </a:prstGeom>
          <a:solidFill>
            <a:srgbClr val="D5D5F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\n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39"/>
          <p:cNvSpPr/>
          <p:nvPr/>
        </p:nvSpPr>
        <p:spPr>
          <a:xfrm>
            <a:off x="5287962" y="3995737"/>
            <a:ext cx="457200" cy="228600"/>
          </a:xfrm>
          <a:prstGeom prst="rect">
            <a:avLst/>
          </a:prstGeom>
          <a:solidFill>
            <a:srgbClr val="D5D5F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39"/>
          <p:cNvSpPr/>
          <p:nvPr/>
        </p:nvSpPr>
        <p:spPr>
          <a:xfrm>
            <a:off x="5745162" y="3995737"/>
            <a:ext cx="457200" cy="228600"/>
          </a:xfrm>
          <a:prstGeom prst="rect">
            <a:avLst/>
          </a:prstGeom>
          <a:solidFill>
            <a:srgbClr val="D5D5F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6" name="Google Shape;716;p39"/>
          <p:cNvCxnSpPr/>
          <p:nvPr/>
        </p:nvCxnSpPr>
        <p:spPr>
          <a:xfrm>
            <a:off x="2849562" y="2319337"/>
            <a:ext cx="0" cy="16764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17" name="Google Shape;717;p39"/>
          <p:cNvSpPr txBox="1"/>
          <p:nvPr/>
        </p:nvSpPr>
        <p:spPr>
          <a:xfrm>
            <a:off x="3001962" y="2133600"/>
            <a:ext cx="165100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printf("e");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8" name="Google Shape;718;p39"/>
          <p:cNvCxnSpPr/>
          <p:nvPr/>
        </p:nvCxnSpPr>
        <p:spPr>
          <a:xfrm>
            <a:off x="3306762" y="2471737"/>
            <a:ext cx="0" cy="15240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19" name="Google Shape;719;p39"/>
          <p:cNvSpPr txBox="1"/>
          <p:nvPr/>
        </p:nvSpPr>
        <p:spPr>
          <a:xfrm>
            <a:off x="3382962" y="2363787"/>
            <a:ext cx="165100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printf("l");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0" name="Google Shape;720;p39"/>
          <p:cNvCxnSpPr/>
          <p:nvPr/>
        </p:nvCxnSpPr>
        <p:spPr>
          <a:xfrm>
            <a:off x="5059362" y="3462337"/>
            <a:ext cx="0" cy="5334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21" name="Google Shape;721;p39"/>
          <p:cNvSpPr txBox="1"/>
          <p:nvPr/>
        </p:nvSpPr>
        <p:spPr>
          <a:xfrm>
            <a:off x="3759200" y="2624137"/>
            <a:ext cx="165100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printf("l");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2" name="Google Shape;722;p39"/>
          <p:cNvCxnSpPr/>
          <p:nvPr/>
        </p:nvCxnSpPr>
        <p:spPr>
          <a:xfrm>
            <a:off x="4525962" y="3233737"/>
            <a:ext cx="0" cy="7620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23" name="Google Shape;723;p39"/>
          <p:cNvSpPr txBox="1"/>
          <p:nvPr/>
        </p:nvSpPr>
        <p:spPr>
          <a:xfrm>
            <a:off x="4140200" y="2897187"/>
            <a:ext cx="165100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printf("o");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39"/>
          <p:cNvSpPr txBox="1"/>
          <p:nvPr/>
        </p:nvSpPr>
        <p:spPr>
          <a:xfrm>
            <a:off x="4627562" y="3157537"/>
            <a:ext cx="17732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printf("\n");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5" name="Google Shape;725;p39"/>
          <p:cNvCxnSpPr/>
          <p:nvPr/>
        </p:nvCxnSpPr>
        <p:spPr>
          <a:xfrm>
            <a:off x="3687762" y="2700337"/>
            <a:ext cx="0" cy="12954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26" name="Google Shape;726;p39"/>
          <p:cNvCxnSpPr/>
          <p:nvPr/>
        </p:nvCxnSpPr>
        <p:spPr>
          <a:xfrm>
            <a:off x="4144962" y="2928937"/>
            <a:ext cx="0" cy="10668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27" name="Google Shape;727;p39"/>
          <p:cNvCxnSpPr/>
          <p:nvPr/>
        </p:nvCxnSpPr>
        <p:spPr>
          <a:xfrm>
            <a:off x="3916362" y="4300537"/>
            <a:ext cx="0" cy="82296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28" name="Google Shape;728;p39"/>
          <p:cNvSpPr txBox="1"/>
          <p:nvPr/>
        </p:nvSpPr>
        <p:spPr>
          <a:xfrm>
            <a:off x="3992562" y="4510087"/>
            <a:ext cx="2232025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fflush(stdout);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39"/>
          <p:cNvSpPr txBox="1"/>
          <p:nvPr/>
        </p:nvSpPr>
        <p:spPr>
          <a:xfrm>
            <a:off x="1630362" y="3076574"/>
            <a:ext cx="593725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buf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0" name="Google Shape;730;p39"/>
          <p:cNvCxnSpPr/>
          <p:nvPr/>
        </p:nvCxnSpPr>
        <p:spPr>
          <a:xfrm>
            <a:off x="1935162" y="3394075"/>
            <a:ext cx="685800" cy="601662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31" name="Google Shape;731;p39"/>
          <p:cNvSpPr txBox="1"/>
          <p:nvPr/>
        </p:nvSpPr>
        <p:spPr>
          <a:xfrm>
            <a:off x="2659400" y="5195887"/>
            <a:ext cx="25282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write(1, buf, 6);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40"/>
          <p:cNvSpPr txBox="1"/>
          <p:nvPr>
            <p:ph type="title"/>
          </p:nvPr>
        </p:nvSpPr>
        <p:spPr>
          <a:xfrm>
            <a:off x="357018" y="457200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Standard I/O Buffering in Action</a:t>
            </a:r>
            <a:endParaRPr/>
          </a:p>
        </p:txBody>
      </p:sp>
      <p:sp>
        <p:nvSpPr>
          <p:cNvPr id="737" name="Google Shape;737;p40"/>
          <p:cNvSpPr txBox="1"/>
          <p:nvPr>
            <p:ph idx="1" type="body"/>
          </p:nvPr>
        </p:nvSpPr>
        <p:spPr>
          <a:xfrm>
            <a:off x="356286" y="1295400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You can see this buffering in action for yourself, using the always fascinating Linux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strace</a:t>
            </a:r>
            <a:r>
              <a:rPr lang="en-US"/>
              <a:t> program:</a:t>
            </a:r>
            <a:endParaRPr/>
          </a:p>
        </p:txBody>
      </p:sp>
      <p:sp>
        <p:nvSpPr>
          <p:cNvPr id="738" name="Google Shape;738;p40"/>
          <p:cNvSpPr/>
          <p:nvPr/>
        </p:nvSpPr>
        <p:spPr>
          <a:xfrm>
            <a:off x="3276600" y="2438400"/>
            <a:ext cx="5638800" cy="1815882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linux&gt; strace ./hello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execve("./hello", ["hello"], [/* ... */]).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write(1, "hello\n", 6)               =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exit_group(0)                        =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39" name="Google Shape;739;p40"/>
          <p:cNvSpPr/>
          <p:nvPr/>
        </p:nvSpPr>
        <p:spPr>
          <a:xfrm>
            <a:off x="457200" y="2432050"/>
            <a:ext cx="2590800" cy="3282950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&lt;stdio.h&gt;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main()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printf("h");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printf("e");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printf("l");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printf("l");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printf("o");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printf("\n");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fflush(stdout);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exit(0);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41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Today</a:t>
            </a:r>
            <a:endParaRPr/>
          </a:p>
        </p:txBody>
      </p:sp>
      <p:sp>
        <p:nvSpPr>
          <p:cNvPr id="746" name="Google Shape;746;p41"/>
          <p:cNvSpPr txBox="1"/>
          <p:nvPr>
            <p:ph idx="1" type="body"/>
          </p:nvPr>
        </p:nvSpPr>
        <p:spPr>
          <a:xfrm>
            <a:off x="396875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>
                <a:solidFill>
                  <a:srgbClr val="7F7F7F"/>
                </a:solidFill>
              </a:rPr>
              <a:t>Unix I/O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>
                <a:solidFill>
                  <a:srgbClr val="7F7F7F"/>
                </a:solidFill>
              </a:rPr>
              <a:t>RIO (robust I/O) package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>
                <a:solidFill>
                  <a:srgbClr val="7F7F7F"/>
                </a:solidFill>
              </a:rPr>
              <a:t>Metadata, sharing, and redirection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>
                <a:solidFill>
                  <a:srgbClr val="7F7F7F"/>
                </a:solidFill>
              </a:rPr>
              <a:t>Standard I/O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Closing remarks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42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Unix I/O vs. Standard I/O vs. RIO</a:t>
            </a:r>
            <a:endParaRPr/>
          </a:p>
        </p:txBody>
      </p:sp>
      <p:sp>
        <p:nvSpPr>
          <p:cNvPr id="752" name="Google Shape;752;p42"/>
          <p:cNvSpPr txBox="1"/>
          <p:nvPr>
            <p:ph idx="1" type="body"/>
          </p:nvPr>
        </p:nvSpPr>
        <p:spPr>
          <a:xfrm>
            <a:off x="241300" y="1600200"/>
            <a:ext cx="87503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Standard I/O and RIO are implemented using low-level Unix I/O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Which ones should you use in your programs?</a:t>
            </a:r>
            <a:endParaRPr/>
          </a:p>
        </p:txBody>
      </p:sp>
      <p:sp>
        <p:nvSpPr>
          <p:cNvPr id="753" name="Google Shape;753;p42"/>
          <p:cNvSpPr/>
          <p:nvPr/>
        </p:nvSpPr>
        <p:spPr>
          <a:xfrm>
            <a:off x="2740025" y="2913063"/>
            <a:ext cx="4041775" cy="1577975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42"/>
          <p:cNvSpPr/>
          <p:nvPr/>
        </p:nvSpPr>
        <p:spPr>
          <a:xfrm>
            <a:off x="2740025" y="4491038"/>
            <a:ext cx="4041775" cy="685800"/>
          </a:xfrm>
          <a:prstGeom prst="rect">
            <a:avLst/>
          </a:prstGeom>
          <a:solidFill>
            <a:srgbClr val="E5E5E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Unix I/O functions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(accessed via system calls)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42"/>
          <p:cNvSpPr/>
          <p:nvPr/>
        </p:nvSpPr>
        <p:spPr>
          <a:xfrm>
            <a:off x="2741913" y="3805238"/>
            <a:ext cx="1447800" cy="685800"/>
          </a:xfrm>
          <a:prstGeom prst="rect">
            <a:avLst/>
          </a:prstGeom>
          <a:solidFill>
            <a:srgbClr val="D5F1C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Standard I/O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42"/>
          <p:cNvSpPr txBox="1"/>
          <p:nvPr/>
        </p:nvSpPr>
        <p:spPr>
          <a:xfrm>
            <a:off x="3254439" y="3124200"/>
            <a:ext cx="299396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application program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42"/>
          <p:cNvSpPr txBox="1"/>
          <p:nvPr/>
        </p:nvSpPr>
        <p:spPr>
          <a:xfrm>
            <a:off x="241300" y="2451100"/>
            <a:ext cx="1989138" cy="18161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fopen  fdopen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fread  fwrite fscanf fprintf  sscanf sprintf fgets  fputs fflush fseek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fclose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42"/>
          <p:cNvSpPr txBox="1"/>
          <p:nvPr/>
        </p:nvSpPr>
        <p:spPr>
          <a:xfrm>
            <a:off x="530225" y="4419600"/>
            <a:ext cx="1663700" cy="8382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open   read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write  lseek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stat   close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9" name="Google Shape;759;p42"/>
          <p:cNvCxnSpPr/>
          <p:nvPr/>
        </p:nvCxnSpPr>
        <p:spPr>
          <a:xfrm rot="10800000">
            <a:off x="2230438" y="4840288"/>
            <a:ext cx="474662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760" name="Google Shape;760;p42"/>
          <p:cNvSpPr txBox="1"/>
          <p:nvPr/>
        </p:nvSpPr>
        <p:spPr>
          <a:xfrm>
            <a:off x="7150100" y="3490913"/>
            <a:ext cx="1841500" cy="132715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rio_readn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rio_writen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rio_readinitb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rio_readlineb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rio_readnb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42"/>
          <p:cNvSpPr/>
          <p:nvPr/>
        </p:nvSpPr>
        <p:spPr>
          <a:xfrm>
            <a:off x="5334000" y="3805238"/>
            <a:ext cx="1447800" cy="685800"/>
          </a:xfrm>
          <a:prstGeom prst="rect">
            <a:avLst/>
          </a:prstGeom>
          <a:solidFill>
            <a:srgbClr val="F1C7C7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2" name="Google Shape;762;p42"/>
          <p:cNvCxnSpPr/>
          <p:nvPr/>
        </p:nvCxnSpPr>
        <p:spPr>
          <a:xfrm rot="10800000">
            <a:off x="2260600" y="3340100"/>
            <a:ext cx="482600" cy="749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763" name="Google Shape;763;p42"/>
          <p:cNvCxnSpPr/>
          <p:nvPr/>
        </p:nvCxnSpPr>
        <p:spPr>
          <a:xfrm>
            <a:off x="6794500" y="4152900"/>
            <a:ext cx="3683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47"/>
          <p:cNvSpPr txBox="1"/>
          <p:nvPr>
            <p:ph type="title"/>
          </p:nvPr>
        </p:nvSpPr>
        <p:spPr>
          <a:xfrm>
            <a:off x="381000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For Further Information</a:t>
            </a:r>
            <a:endParaRPr/>
          </a:p>
        </p:txBody>
      </p:sp>
      <p:sp>
        <p:nvSpPr>
          <p:cNvPr id="769" name="Google Shape;769;p47"/>
          <p:cNvSpPr txBox="1"/>
          <p:nvPr>
            <p:ph idx="1" type="body"/>
          </p:nvPr>
        </p:nvSpPr>
        <p:spPr>
          <a:xfrm>
            <a:off x="396875" y="1143000"/>
            <a:ext cx="85185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The Unix bible: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W. Richard  Stevens &amp; Stephen A. Rago, </a:t>
            </a:r>
            <a:r>
              <a:rPr b="1" i="1" lang="en-US"/>
              <a:t>Advanced Programming in the Unix Environment</a:t>
            </a:r>
            <a:r>
              <a:rPr lang="en-US"/>
              <a:t>, 2</a:t>
            </a:r>
            <a:r>
              <a:rPr baseline="30000" lang="en-US"/>
              <a:t>nd</a:t>
            </a:r>
            <a:r>
              <a:rPr lang="en-US"/>
              <a:t> Edition, Addison Wesley, 2005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Updated from Stevens’s 1993 classic text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The Linux bible: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Michael Kerrisk, The Linux Programming Interface, No Starch Press, 2010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Encyclopedic and authoritative</a:t>
            </a:r>
            <a:endParaRPr/>
          </a:p>
          <a:p>
            <a:pPr indent="0" lvl="2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plate2007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00000"/>
      </a:hlink>
      <a:folHlink>
        <a:srgbClr val="C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2012-10-18T16:33:38Z</dcterms:created>
  <dc:creator>Markus Pueschel</dc:creator>
</cp:coreProperties>
</file>