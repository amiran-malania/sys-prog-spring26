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  <p:sldMasterId id="2147483684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</p:sldIdLst>
  <p:sldSz cy="6858000" cx="9144000"/>
  <p:notesSz cx="6858000" cy="9144000"/>
  <p:embeddedFontLst>
    <p:embeddedFont>
      <p:font typeface="Arial Narrow"/>
      <p:regular r:id="rId56"/>
      <p:bold r:id="rId57"/>
      <p:italic r:id="rId58"/>
      <p:boldItalic r:id="rId59"/>
    </p:embeddedFont>
    <p:embeddedFont>
      <p:font typeface="Gill Sans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2" roundtripDataSignature="AMtx7mhKZzewpuSjAMzsUiUfbgCNqk9/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AED31E-58DD-4CFE-AAC9-DFF6C2001F35}">
  <a:tblStyle styleId="{3FAED31E-58DD-4CFE-AAC9-DFF6C2001F3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6966357-860F-4ACA-96BA-B15ADBB11B70}" styleName="Table_1">
    <a:wholeTbl>
      <a:tcTxStyle b="off" i="off">
        <a:font>
          <a:latin typeface="Calibri Bold"/>
          <a:ea typeface="Calibri Bold"/>
          <a:cs typeface="Calibri Bold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E6E6"/>
          </a:solidFill>
        </a:fill>
      </a:tcStyle>
    </a:wholeTbl>
    <a:band1H>
      <a:tcTxStyle b="off" i="off"/>
      <a:tcStyle>
        <a:fill>
          <a:solidFill>
            <a:srgbClr val="DD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DCACA"/>
          </a:solidFill>
        </a:fill>
      </a:tcStyle>
    </a:band1V>
    <a:band2V>
      <a:tcTxStyle b="off" i="off"/>
    </a:band2V>
    <a:lastCol>
      <a:tcTxStyle b="on" i="off">
        <a:font>
          <a:latin typeface="Calibri Bold"/>
          <a:ea typeface="Calibri Bold"/>
          <a:cs typeface="Calibri Bold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 Bold"/>
          <a:ea typeface="Calibri Bold"/>
          <a:cs typeface="Calibri Bold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 Bold"/>
          <a:ea typeface="Calibri Bold"/>
          <a:cs typeface="Calibri Bold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 Bold"/>
          <a:ea typeface="Calibri Bold"/>
          <a:cs typeface="Calibri Bold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customschemas.google.com/relationships/presentationmetadata" Target="metadata"/><Relationship Id="rId61" Type="http://schemas.openxmlformats.org/officeDocument/2006/relationships/font" Target="fonts/GillSans-bold.fntdata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60" Type="http://schemas.openxmlformats.org/officeDocument/2006/relationships/font" Target="fonts/GillSans-regular.fntdata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slide" Target="slides/slide46.xml"/><Relationship Id="rId10" Type="http://schemas.openxmlformats.org/officeDocument/2006/relationships/slide" Target="slides/slide1.xml"/><Relationship Id="rId54" Type="http://schemas.openxmlformats.org/officeDocument/2006/relationships/slide" Target="slides/slide45.xml"/><Relationship Id="rId13" Type="http://schemas.openxmlformats.org/officeDocument/2006/relationships/slide" Target="slides/slide4.xml"/><Relationship Id="rId57" Type="http://schemas.openxmlformats.org/officeDocument/2006/relationships/font" Target="fonts/ArialNarrow-bold.fntdata"/><Relationship Id="rId12" Type="http://schemas.openxmlformats.org/officeDocument/2006/relationships/slide" Target="slides/slide3.xml"/><Relationship Id="rId56" Type="http://schemas.openxmlformats.org/officeDocument/2006/relationships/font" Target="fonts/ArialNarrow-regular.fntdata"/><Relationship Id="rId15" Type="http://schemas.openxmlformats.org/officeDocument/2006/relationships/slide" Target="slides/slide6.xml"/><Relationship Id="rId59" Type="http://schemas.openxmlformats.org/officeDocument/2006/relationships/font" Target="fonts/ArialNarrow-boldItalic.fntdata"/><Relationship Id="rId14" Type="http://schemas.openxmlformats.org/officeDocument/2006/relationships/slide" Target="slides/slide5.xml"/><Relationship Id="rId58" Type="http://schemas.openxmlformats.org/officeDocument/2006/relationships/font" Target="fonts/ArialNarrow-italic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7" name="Google Shape;727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8" name="Google Shape;75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8" name="Google Shape;83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1" name="Google Shape;87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9" name="Google Shape;90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3" name="Google Shape;93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2" name="Google Shape;952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2" name="Google Shape;96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0" name="Google Shape;97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2" name="Google Shape;992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0" name="Google Shape;1010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4" name="Google Shape;103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8" name="Google Shape;1058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6" name="Google Shape;106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6"/>
          <p:cNvSpPr txBox="1"/>
          <p:nvPr>
            <p:ph type="title"/>
          </p:nvPr>
        </p:nvSpPr>
        <p:spPr>
          <a:xfrm>
            <a:off x="635000" y="2032000"/>
            <a:ext cx="77724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/>
          <p:cNvSpPr txBox="1"/>
          <p:nvPr>
            <p:ph type="title"/>
          </p:nvPr>
        </p:nvSpPr>
        <p:spPr>
          <a:xfrm>
            <a:off x="635000" y="2032000"/>
            <a:ext cx="77724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6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6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6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6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9"/>
          <p:cNvSpPr txBox="1"/>
          <p:nvPr>
            <p:ph type="title"/>
          </p:nvPr>
        </p:nvSpPr>
        <p:spPr>
          <a:xfrm>
            <a:off x="635000" y="2032000"/>
            <a:ext cx="77724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7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7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3"/>
          <p:cNvSpPr txBox="1"/>
          <p:nvPr>
            <p:ph type="title"/>
          </p:nvPr>
        </p:nvSpPr>
        <p:spPr>
          <a:xfrm>
            <a:off x="635000" y="2032000"/>
            <a:ext cx="77724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4"/>
          <p:cNvSpPr txBox="1"/>
          <p:nvPr>
            <p:ph type="title"/>
          </p:nvPr>
        </p:nvSpPr>
        <p:spPr>
          <a:xfrm rot="5400000">
            <a:off x="5395119" y="2834482"/>
            <a:ext cx="45259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4"/>
          <p:cNvSpPr txBox="1"/>
          <p:nvPr>
            <p:ph idx="1" type="body"/>
          </p:nvPr>
        </p:nvSpPr>
        <p:spPr>
          <a:xfrm rot="5400000">
            <a:off x="1204119" y="853281"/>
            <a:ext cx="45259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8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1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6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62" name="Google Shape;62;p6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6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7"/>
          <p:cNvSpPr txBox="1"/>
          <p:nvPr>
            <p:ph idx="1" type="body"/>
          </p:nvPr>
        </p:nvSpPr>
        <p:spPr>
          <a:xfrm>
            <a:off x="381000" y="1397000"/>
            <a:ext cx="41148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Char char="⬛"/>
              <a:defRPr sz="2800"/>
            </a:lvl1pPr>
            <a:lvl2pPr indent="-3962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40"/>
              <a:buChar char="▪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73" name="Google Shape;73;p77"/>
          <p:cNvSpPr txBox="1"/>
          <p:nvPr>
            <p:ph idx="2" type="body"/>
          </p:nvPr>
        </p:nvSpPr>
        <p:spPr>
          <a:xfrm>
            <a:off x="4648200" y="1397000"/>
            <a:ext cx="41148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Char char="⬛"/>
              <a:defRPr sz="2800"/>
            </a:lvl1pPr>
            <a:lvl2pPr indent="-3962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40"/>
              <a:buChar char="▪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⬛"/>
              <a:defRPr sz="3200"/>
            </a:lvl1pPr>
            <a:lvl2pPr indent="-42418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80"/>
              <a:buChar char="▪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2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/>
        </p:txBody>
      </p:sp>
      <p:sp>
        <p:nvSpPr>
          <p:cNvPr id="78" name="Google Shape;78;p7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8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1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1"/>
          <p:cNvSpPr txBox="1"/>
          <p:nvPr>
            <p:ph idx="1" type="body"/>
          </p:nvPr>
        </p:nvSpPr>
        <p:spPr>
          <a:xfrm rot="5400000">
            <a:off x="1854200" y="-76200"/>
            <a:ext cx="54356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2"/>
          <p:cNvSpPr txBox="1"/>
          <p:nvPr>
            <p:ph type="title"/>
          </p:nvPr>
        </p:nvSpPr>
        <p:spPr>
          <a:xfrm rot="5400000">
            <a:off x="4425950" y="2495550"/>
            <a:ext cx="6578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82"/>
          <p:cNvSpPr txBox="1"/>
          <p:nvPr>
            <p:ph idx="1" type="body"/>
          </p:nvPr>
        </p:nvSpPr>
        <p:spPr>
          <a:xfrm rot="5400000">
            <a:off x="158750" y="476250"/>
            <a:ext cx="6578600" cy="6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0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0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9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5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5"/>
          <p:cNvSpPr txBox="1"/>
          <p:nvPr>
            <p:ph idx="1" type="body"/>
          </p:nvPr>
        </p:nvSpPr>
        <p:spPr>
          <a:xfrm>
            <a:off x="381000" y="1397000"/>
            <a:ext cx="41148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Char char="⬛"/>
              <a:defRPr sz="2800"/>
            </a:lvl1pPr>
            <a:lvl2pPr indent="-3962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40"/>
              <a:buChar char="▪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106" name="Google Shape;106;p95"/>
          <p:cNvSpPr txBox="1"/>
          <p:nvPr>
            <p:ph idx="2" type="body"/>
          </p:nvPr>
        </p:nvSpPr>
        <p:spPr>
          <a:xfrm>
            <a:off x="4648200" y="1397000"/>
            <a:ext cx="41148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80"/>
              <a:buChar char="⬛"/>
              <a:defRPr sz="2800"/>
            </a:lvl1pPr>
            <a:lvl2pPr indent="-3962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640"/>
              <a:buChar char="▪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p9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111" name="Google Shape;111;p9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p9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  <a:defRPr sz="2400"/>
            </a:lvl1pPr>
            <a:lvl2pPr indent="-3683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9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⬛"/>
              <a:defRPr sz="3200"/>
            </a:lvl1pPr>
            <a:lvl2pPr indent="-42418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080"/>
              <a:buChar char="▪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20"/>
              <a:buChar char="▪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9pPr>
          </a:lstStyle>
          <a:p/>
        </p:txBody>
      </p:sp>
      <p:sp>
        <p:nvSpPr>
          <p:cNvPr id="119" name="Google Shape;119;p9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0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10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1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01"/>
          <p:cNvSpPr txBox="1"/>
          <p:nvPr>
            <p:ph idx="1" type="body"/>
          </p:nvPr>
        </p:nvSpPr>
        <p:spPr>
          <a:xfrm rot="5400000">
            <a:off x="1854200" y="-76200"/>
            <a:ext cx="5435600" cy="83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2"/>
          <p:cNvSpPr txBox="1"/>
          <p:nvPr>
            <p:ph type="title"/>
          </p:nvPr>
        </p:nvSpPr>
        <p:spPr>
          <a:xfrm rot="5400000">
            <a:off x="4425950" y="2495550"/>
            <a:ext cx="6578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02"/>
          <p:cNvSpPr txBox="1"/>
          <p:nvPr>
            <p:ph idx="1" type="body"/>
          </p:nvPr>
        </p:nvSpPr>
        <p:spPr>
          <a:xfrm rot="5400000">
            <a:off x="158750" y="476250"/>
            <a:ext cx="6578600" cy="6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⬛"/>
              <a:defRPr/>
            </a:lvl1pPr>
            <a:lvl2pPr indent="-35433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2003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4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6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200"/>
              <a:buFont typeface="Noto San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Noto Sans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5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"/>
              <a:buChar char="⬛"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8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680"/>
              <a:buFont typeface="Noto Sans"/>
              <a:buChar char="⬛"/>
              <a:defRPr b="1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640"/>
              <a:buFont typeface="Noto San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8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8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8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3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8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920"/>
              <a:buFont typeface="Noto Sans"/>
              <a:buChar char="⬛"/>
              <a:defRPr b="1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308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05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Noto San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8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9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9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840"/>
              <a:buFont typeface="Noto Sans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1320"/>
              <a:buFont typeface="Noto Sans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Noto Sans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1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9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2"/>
          <p:cNvSpPr txBox="1"/>
          <p:nvPr>
            <p:ph type="title"/>
          </p:nvPr>
        </p:nvSpPr>
        <p:spPr>
          <a:xfrm rot="5400000">
            <a:off x="4779169" y="2142332"/>
            <a:ext cx="5872163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92"/>
          <p:cNvSpPr txBox="1"/>
          <p:nvPr>
            <p:ph idx="1" type="body"/>
          </p:nvPr>
        </p:nvSpPr>
        <p:spPr>
          <a:xfrm rot="5400000">
            <a:off x="511969" y="123031"/>
            <a:ext cx="5872163" cy="6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title"/>
          </p:nvPr>
        </p:nvSpPr>
        <p:spPr>
          <a:xfrm>
            <a:off x="635000" y="2032000"/>
            <a:ext cx="77724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5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57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57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" name="Google Shape;52;p57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9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59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59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" name="Google Shape;93;p59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3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63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" name="Google Shape;133;p63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7759526" y="-27000"/>
            <a:ext cx="1459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685800" y="4572000"/>
            <a:ext cx="4319642" cy="75341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Instructors: 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Amiran Malania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"/>
          <p:cNvSpPr txBox="1"/>
          <p:nvPr>
            <p:ph type="title"/>
          </p:nvPr>
        </p:nvSpPr>
        <p:spPr>
          <a:xfrm>
            <a:off x="609600" y="1752600"/>
            <a:ext cx="8356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Machine-Level Programming III:</a:t>
            </a:r>
            <a:r>
              <a:rPr lang="en-US"/>
              <a:t> </a:t>
            </a:r>
            <a:r>
              <a:rPr b="1" lang="en-US"/>
              <a:t>Procedures</a:t>
            </a:r>
            <a:br>
              <a:rPr b="1" lang="en-US"/>
            </a:br>
            <a:br>
              <a:rPr b="1" lang="en-US"/>
            </a:br>
            <a:r>
              <a:rPr lang="en-US" sz="2000"/>
              <a:t>Systems Programming</a:t>
            </a:r>
            <a:br>
              <a:rPr lang="en-US" sz="2000"/>
            </a:br>
            <a:r>
              <a:rPr lang="en-US" sz="2000"/>
              <a:t>6</a:t>
            </a:r>
            <a:r>
              <a:rPr baseline="30000" lang="en-US" sz="2000"/>
              <a:t>th</a:t>
            </a:r>
            <a:r>
              <a:rPr lang="en-US" sz="2000"/>
              <a:t> Lecture, Apr. 21, 2022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Mechanisms in Procedures</a:t>
            </a:r>
            <a:endParaRPr/>
          </a:p>
        </p:txBody>
      </p:sp>
      <p:sp>
        <p:nvSpPr>
          <p:cNvPr id="183" name="Google Shape;183;p2"/>
          <p:cNvSpPr txBox="1"/>
          <p:nvPr>
            <p:ph idx="1" type="body"/>
          </p:nvPr>
        </p:nvSpPr>
        <p:spPr>
          <a:xfrm>
            <a:off x="381000" y="1219200"/>
            <a:ext cx="52578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Passing control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To beginning of procedure code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Back to return point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Passing data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Procedure arguments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Return value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Memory management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Allocate during procedure execution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Deallocate upon return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Mechanisms all implemented with machine instructions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x86-64 implementation of a procedure uses only those mechanisms required</a:t>
            </a:r>
            <a:endParaRPr/>
          </a:p>
        </p:txBody>
      </p:sp>
      <p:sp>
        <p:nvSpPr>
          <p:cNvPr id="184" name="Google Shape;184;p2"/>
          <p:cNvSpPr/>
          <p:nvPr/>
        </p:nvSpPr>
        <p:spPr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P(…) {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y = Q(x);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print(y)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Q(int 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t = 3*i;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int v[10];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v[t];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86" name="Google Shape;186;p2"/>
          <p:cNvGrpSpPr/>
          <p:nvPr/>
        </p:nvGrpSpPr>
        <p:grpSpPr>
          <a:xfrm>
            <a:off x="5334000" y="2057400"/>
            <a:ext cx="3352800" cy="3352800"/>
            <a:chOff x="5334000" y="2057400"/>
            <a:chExt cx="3352800" cy="3352800"/>
          </a:xfrm>
        </p:grpSpPr>
        <p:sp>
          <p:nvSpPr>
            <p:cNvPr id="187" name="Google Shape;187;p2"/>
            <p:cNvSpPr/>
            <p:nvPr/>
          </p:nvSpPr>
          <p:spPr>
            <a:xfrm>
              <a:off x="6477000" y="2057400"/>
              <a:ext cx="2209800" cy="2286000"/>
            </a:xfrm>
            <a:prstGeom prst="arc">
              <a:avLst>
                <a:gd fmla="val 16200000" name="adj1"/>
                <a:gd fmla="val 4768750" name="adj2"/>
              </a:avLst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Gill Sans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8" name="Google Shape;188;p2"/>
            <p:cNvSpPr/>
            <p:nvPr/>
          </p:nvSpPr>
          <p:spPr>
            <a:xfrm rot="10800000">
              <a:off x="5334000" y="2362200"/>
              <a:ext cx="1371600" cy="3048000"/>
            </a:xfrm>
            <a:prstGeom prst="arc">
              <a:avLst>
                <a:gd fmla="val 16200000" name="adj1"/>
                <a:gd fmla="val 5567493" name="adj2"/>
              </a:avLst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Gill Sans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89" name="Google Shape;189;p2"/>
          <p:cNvGrpSpPr/>
          <p:nvPr/>
        </p:nvGrpSpPr>
        <p:grpSpPr>
          <a:xfrm>
            <a:off x="6248400" y="2133600"/>
            <a:ext cx="990600" cy="3200400"/>
            <a:chOff x="6248400" y="2133600"/>
            <a:chExt cx="990600" cy="3200400"/>
          </a:xfrm>
        </p:grpSpPr>
        <p:cxnSp>
          <p:nvCxnSpPr>
            <p:cNvPr id="190" name="Google Shape;190;p2"/>
            <p:cNvCxnSpPr/>
            <p:nvPr/>
          </p:nvCxnSpPr>
          <p:spPr>
            <a:xfrm>
              <a:off x="7010400" y="2133600"/>
              <a:ext cx="228600" cy="152400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008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91" name="Google Shape;191;p2"/>
            <p:cNvCxnSpPr/>
            <p:nvPr/>
          </p:nvCxnSpPr>
          <p:spPr>
            <a:xfrm rot="10800000">
              <a:off x="6248400" y="2133600"/>
              <a:ext cx="914400" cy="3200400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008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192" name="Google Shape;192;p2"/>
          <p:cNvSpPr/>
          <p:nvPr/>
        </p:nvSpPr>
        <p:spPr>
          <a:xfrm>
            <a:off x="6019800" y="4419600"/>
            <a:ext cx="1447800" cy="381000"/>
          </a:xfrm>
          <a:prstGeom prst="rect">
            <a:avLst/>
          </a:prstGeom>
          <a:solidFill>
            <a:schemeClr val="accent1">
              <a:alpha val="22352"/>
            </a:schemeClr>
          </a:solidFill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Gill Sans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3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00" name="Google Shape;200;p3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Procedures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/>
              <a:t>Stack Structure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Calling Conventions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control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data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Managing local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7" name="Google Shape;207;p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Stack</a:t>
            </a:r>
            <a:endParaRPr/>
          </a:p>
        </p:txBody>
      </p:sp>
      <p:sp>
        <p:nvSpPr>
          <p:cNvPr id="208" name="Google Shape;208;p4"/>
          <p:cNvSpPr txBox="1"/>
          <p:nvPr>
            <p:ph idx="1" type="body"/>
          </p:nvPr>
        </p:nvSpPr>
        <p:spPr>
          <a:xfrm>
            <a:off x="381000" y="1397000"/>
            <a:ext cx="44577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Region of memory managed with stack discipline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Grows toward lower addresses</a:t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Register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%rsp</a:t>
            </a:r>
            <a:r>
              <a:rPr lang="en-US"/>
              <a:t> contains </a:t>
            </a:r>
            <a:br>
              <a:rPr lang="en-US"/>
            </a:br>
            <a:r>
              <a:rPr lang="en-US"/>
              <a:t>lowest  stack address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address of “top” element</a:t>
            </a:r>
            <a:endParaRPr/>
          </a:p>
        </p:txBody>
      </p:sp>
      <p:grpSp>
        <p:nvGrpSpPr>
          <p:cNvPr id="209" name="Google Shape;209;p4"/>
          <p:cNvGrpSpPr/>
          <p:nvPr/>
        </p:nvGrpSpPr>
        <p:grpSpPr>
          <a:xfrm>
            <a:off x="2463800" y="1066800"/>
            <a:ext cx="6559550" cy="5013325"/>
            <a:chOff x="0" y="0"/>
            <a:chExt cx="4131" cy="3158"/>
          </a:xfrm>
        </p:grpSpPr>
        <p:cxnSp>
          <p:nvCxnSpPr>
            <p:cNvPr id="210" name="Google Shape;210;p4"/>
            <p:cNvCxnSpPr/>
            <p:nvPr/>
          </p:nvCxnSpPr>
          <p:spPr>
            <a:xfrm>
              <a:off x="1679" y="2496"/>
              <a:ext cx="32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1" name="Google Shape;211;p4"/>
            <p:cNvSpPr/>
            <p:nvPr/>
          </p:nvSpPr>
          <p:spPr>
            <a:xfrm>
              <a:off x="0" y="2350"/>
              <a:ext cx="165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62699"/>
                  </a:solidFill>
                  <a:latin typeface="Calibri"/>
                  <a:ea typeface="Calibri"/>
                  <a:cs typeface="Calibri"/>
                  <a:sym typeface="Calibri"/>
                </a:rPr>
                <a:t>Stack Pointer: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2073" y="576"/>
              <a:ext cx="822" cy="2016"/>
            </a:xfrm>
            <a:prstGeom prst="rect">
              <a:avLst/>
            </a:prstGeom>
            <a:solidFill>
              <a:srgbClr val="D6D6F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rotWithShape="0" algn="ctr" dir="2700000" dist="76199">
                <a:schemeClr val="lt2">
                  <a:alpha val="74509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13" name="Google Shape;213;p4"/>
            <p:cNvCxnSpPr/>
            <p:nvPr/>
          </p:nvCxnSpPr>
          <p:spPr>
            <a:xfrm>
              <a:off x="3418" y="1824"/>
              <a:ext cx="0" cy="86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4" name="Google Shape;214;p4"/>
            <p:cNvSpPr/>
            <p:nvPr/>
          </p:nvSpPr>
          <p:spPr>
            <a:xfrm>
              <a:off x="3477" y="1918"/>
              <a:ext cx="512" cy="5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Stack Grows</a:t>
              </a:r>
              <a:endParaRPr b="0" i="0" sz="42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Down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5" name="Google Shape;215;p4"/>
            <p:cNvCxnSpPr/>
            <p:nvPr/>
          </p:nvCxnSpPr>
          <p:spPr>
            <a:xfrm rot="10800000">
              <a:off x="3418" y="432"/>
              <a:ext cx="0" cy="912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6" name="Google Shape;216;p4"/>
            <p:cNvSpPr/>
            <p:nvPr/>
          </p:nvSpPr>
          <p:spPr>
            <a:xfrm>
              <a:off x="3480" y="690"/>
              <a:ext cx="651" cy="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Increasing</a:t>
              </a:r>
              <a:endParaRPr b="0" i="0" sz="42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Addresses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1994" y="2878"/>
              <a:ext cx="981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62699"/>
                  </a:solidFill>
                  <a:latin typeface="Calibri"/>
                  <a:ea typeface="Calibri"/>
                  <a:cs typeface="Calibri"/>
                  <a:sym typeface="Calibri"/>
                </a:rPr>
                <a:t>Stack “Top”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4"/>
            <p:cNvCxnSpPr/>
            <p:nvPr/>
          </p:nvCxnSpPr>
          <p:spPr>
            <a:xfrm>
              <a:off x="2072" y="2400"/>
              <a:ext cx="816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9" name="Google Shape;219;p4"/>
            <p:cNvSpPr/>
            <p:nvPr/>
          </p:nvSpPr>
          <p:spPr>
            <a:xfrm>
              <a:off x="1842" y="0"/>
              <a:ext cx="1285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62699"/>
                  </a:solidFill>
                  <a:latin typeface="Calibri"/>
                  <a:ea typeface="Calibri"/>
                  <a:cs typeface="Calibri"/>
                  <a:sym typeface="Calibri"/>
                </a:rPr>
                <a:t>Stack “Bottom”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2288" y="288"/>
              <a:ext cx="384" cy="240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>
              <a:noFill/>
            </a:ln>
            <a:effectLst>
              <a:outerShdw rotWithShape="0" algn="ctr" dir="2700000" dist="76199">
                <a:schemeClr val="lt2">
                  <a:alpha val="74509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21" name="Google Shape;221;p4"/>
            <p:cNvSpPr/>
            <p:nvPr/>
          </p:nvSpPr>
          <p:spPr>
            <a:xfrm flipH="1" rot="10800000">
              <a:off x="2288" y="2640"/>
              <a:ext cx="384" cy="240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>
              <a:noFill/>
            </a:ln>
            <a:effectLst>
              <a:outerShdw rotWithShape="0" algn="ctr" dir="2700000" dist="76199">
                <a:schemeClr val="lt2">
                  <a:alpha val="74509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5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Stack: Push</a:t>
            </a:r>
            <a:endParaRPr/>
          </a:p>
        </p:txBody>
      </p:sp>
      <p:sp>
        <p:nvSpPr>
          <p:cNvPr id="229" name="Google Shape;229;p5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pushq </a:t>
            </a:r>
            <a:r>
              <a:rPr b="1" i="1" lang="en-US">
                <a:latin typeface="Calibri"/>
                <a:ea typeface="Calibri"/>
                <a:cs typeface="Calibri"/>
                <a:sym typeface="Calibri"/>
              </a:rPr>
              <a:t>Src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Fetch operand at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Src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Decrement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%rsp</a:t>
            </a:r>
            <a:r>
              <a:rPr lang="en-US"/>
              <a:t> by 8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Write operand at address given by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30" name="Google Shape;230;p5"/>
          <p:cNvCxnSpPr/>
          <p:nvPr/>
        </p:nvCxnSpPr>
        <p:spPr>
          <a:xfrm>
            <a:off x="5130800" y="5029200"/>
            <a:ext cx="508000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5"/>
          <p:cNvCxnSpPr/>
          <p:nvPr/>
        </p:nvCxnSpPr>
        <p:spPr>
          <a:xfrm>
            <a:off x="5754688" y="4876800"/>
            <a:ext cx="1295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2" name="Google Shape;232;p5"/>
          <p:cNvGrpSpPr/>
          <p:nvPr/>
        </p:nvGrpSpPr>
        <p:grpSpPr>
          <a:xfrm>
            <a:off x="5040313" y="5011738"/>
            <a:ext cx="2016125" cy="474662"/>
            <a:chOff x="0" y="0"/>
            <a:chExt cx="1270" cy="298"/>
          </a:xfrm>
        </p:grpSpPr>
        <p:sp>
          <p:nvSpPr>
            <p:cNvPr id="233" name="Google Shape;233;p5"/>
            <p:cNvSpPr/>
            <p:nvPr/>
          </p:nvSpPr>
          <p:spPr>
            <a:xfrm>
              <a:off x="450" y="106"/>
              <a:ext cx="820" cy="192"/>
            </a:xfrm>
            <a:prstGeom prst="rect">
              <a:avLst/>
            </a:prstGeom>
            <a:solidFill>
              <a:srgbClr val="8484E0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34" name="Google Shape;234;p5"/>
            <p:cNvCxnSpPr/>
            <p:nvPr/>
          </p:nvCxnSpPr>
          <p:spPr>
            <a:xfrm>
              <a:off x="56" y="203"/>
              <a:ext cx="32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5" name="Google Shape;235;p5"/>
            <p:cNvSpPr/>
            <p:nvPr/>
          </p:nvSpPr>
          <p:spPr>
            <a:xfrm>
              <a:off x="222" y="0"/>
              <a:ext cx="154" cy="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-8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0" y="53"/>
              <a:ext cx="232" cy="120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>
              <a:noFill/>
            </a:ln>
            <a:effectLst>
              <a:outerShdw rotWithShape="0" algn="ctr" dir="2700000" dist="76199">
                <a:schemeClr val="lt2">
                  <a:alpha val="74509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237" name="Google Shape;237;p5"/>
          <p:cNvCxnSpPr/>
          <p:nvPr/>
        </p:nvCxnSpPr>
        <p:spPr>
          <a:xfrm>
            <a:off x="5130800" y="5029200"/>
            <a:ext cx="50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5"/>
          <p:cNvSpPr/>
          <p:nvPr/>
        </p:nvSpPr>
        <p:spPr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39" name="Google Shape;239;p5"/>
          <p:cNvCxnSpPr/>
          <p:nvPr/>
        </p:nvCxnSpPr>
        <p:spPr>
          <a:xfrm>
            <a:off x="7891463" y="3962400"/>
            <a:ext cx="0" cy="137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5"/>
          <p:cNvSpPr/>
          <p:nvPr/>
        </p:nvSpPr>
        <p:spPr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Grows</a:t>
            </a:r>
            <a:endParaRPr b="0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5"/>
          <p:cNvCxnSpPr/>
          <p:nvPr/>
        </p:nvCxnSpPr>
        <p:spPr>
          <a:xfrm rot="10800000">
            <a:off x="7891463" y="1752600"/>
            <a:ext cx="0" cy="144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" name="Google Shape;242;p5"/>
          <p:cNvSpPr/>
          <p:nvPr/>
        </p:nvSpPr>
        <p:spPr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</a:t>
            </a:r>
            <a:endParaRPr b="0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5"/>
          <p:cNvCxnSpPr/>
          <p:nvPr/>
        </p:nvCxnSpPr>
        <p:spPr>
          <a:xfrm>
            <a:off x="5754688" y="4876800"/>
            <a:ext cx="1295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5"/>
          <p:cNvSpPr/>
          <p:nvPr/>
        </p:nvSpPr>
        <p:spPr>
          <a:xfrm>
            <a:off x="5387975" y="1066800"/>
            <a:ext cx="204152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62699"/>
                </a:solidFill>
                <a:latin typeface="Calibri"/>
                <a:ea typeface="Calibri"/>
                <a:cs typeface="Calibri"/>
                <a:sym typeface="Calibri"/>
              </a:rPr>
              <a:t>Stack “Bottom”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6097588" y="1524000"/>
            <a:ext cx="609600" cy="3810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46" name="Google Shape;246;p5"/>
          <p:cNvGrpSpPr/>
          <p:nvPr/>
        </p:nvGrpSpPr>
        <p:grpSpPr>
          <a:xfrm>
            <a:off x="2544763" y="4759325"/>
            <a:ext cx="4641850" cy="1628775"/>
            <a:chOff x="59" y="0"/>
            <a:chExt cx="2924" cy="1026"/>
          </a:xfrm>
        </p:grpSpPr>
        <p:sp>
          <p:nvSpPr>
            <p:cNvPr id="247" name="Google Shape;247;p5"/>
            <p:cNvSpPr/>
            <p:nvPr/>
          </p:nvSpPr>
          <p:spPr>
            <a:xfrm>
              <a:off x="59" y="0"/>
              <a:ext cx="160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62699"/>
                  </a:solidFill>
                  <a:latin typeface="Calibri"/>
                  <a:ea typeface="Calibri"/>
                  <a:cs typeface="Calibri"/>
                  <a:sym typeface="Calibri"/>
                </a:rPr>
                <a:t>Stack Pointer: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2002" y="746"/>
              <a:ext cx="981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262699"/>
                  </a:solidFill>
                  <a:latin typeface="Calibri"/>
                  <a:ea typeface="Calibri"/>
                  <a:cs typeface="Calibri"/>
                  <a:sym typeface="Calibri"/>
                </a:rPr>
                <a:t>Stack “Top”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5"/>
            <p:cNvSpPr/>
            <p:nvPr/>
          </p:nvSpPr>
          <p:spPr>
            <a:xfrm flipH="1" rot="10800000">
              <a:off x="2296" y="506"/>
              <a:ext cx="384" cy="240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>
              <a:noFill/>
            </a:ln>
            <a:effectLst>
              <a:outerShdw rotWithShape="0" algn="ctr" dir="2700000" dist="76199">
                <a:schemeClr val="lt2">
                  <a:alpha val="74509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"/>
          <p:cNvSpPr/>
          <p:nvPr/>
        </p:nvSpPr>
        <p:spPr>
          <a:xfrm flipH="1" rot="10800000">
            <a:off x="6108700" y="5257800"/>
            <a:ext cx="609600" cy="3810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55" name="Google Shape;255;p6"/>
          <p:cNvCxnSpPr/>
          <p:nvPr/>
        </p:nvCxnSpPr>
        <p:spPr>
          <a:xfrm>
            <a:off x="5130800" y="5029200"/>
            <a:ext cx="50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6"/>
          <p:cNvSpPr/>
          <p:nvPr/>
        </p:nvSpPr>
        <p:spPr>
          <a:xfrm>
            <a:off x="2559593" y="4797425"/>
            <a:ext cx="25394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62699"/>
                </a:solidFill>
                <a:latin typeface="Calibri"/>
                <a:ea typeface="Calibri"/>
                <a:cs typeface="Calibri"/>
                <a:sym typeface="Calibri"/>
              </a:rPr>
              <a:t>Stack Pointer: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58" name="Google Shape;258;p6"/>
          <p:cNvCxnSpPr/>
          <p:nvPr/>
        </p:nvCxnSpPr>
        <p:spPr>
          <a:xfrm>
            <a:off x="7891463" y="3962400"/>
            <a:ext cx="0" cy="137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6"/>
          <p:cNvSpPr/>
          <p:nvPr/>
        </p:nvSpPr>
        <p:spPr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Grows</a:t>
            </a:r>
            <a:endParaRPr b="0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6"/>
          <p:cNvCxnSpPr/>
          <p:nvPr/>
        </p:nvCxnSpPr>
        <p:spPr>
          <a:xfrm rot="10800000">
            <a:off x="7891463" y="1752600"/>
            <a:ext cx="0" cy="144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1" name="Google Shape;261;p6"/>
          <p:cNvSpPr/>
          <p:nvPr/>
        </p:nvSpPr>
        <p:spPr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</a:t>
            </a:r>
            <a:endParaRPr b="0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5630863" y="5635625"/>
            <a:ext cx="155575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62699"/>
                </a:solidFill>
                <a:latin typeface="Calibri"/>
                <a:ea typeface="Calibri"/>
                <a:cs typeface="Calibri"/>
                <a:sym typeface="Calibri"/>
              </a:rPr>
              <a:t>Stack “Top”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6"/>
          <p:cNvCxnSpPr/>
          <p:nvPr/>
        </p:nvCxnSpPr>
        <p:spPr>
          <a:xfrm>
            <a:off x="5754688" y="4876800"/>
            <a:ext cx="1295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6"/>
          <p:cNvSpPr/>
          <p:nvPr/>
        </p:nvSpPr>
        <p:spPr>
          <a:xfrm>
            <a:off x="5387975" y="1066800"/>
            <a:ext cx="2041525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62699"/>
                </a:solidFill>
                <a:latin typeface="Calibri"/>
                <a:ea typeface="Calibri"/>
                <a:cs typeface="Calibri"/>
                <a:sym typeface="Calibri"/>
              </a:rPr>
              <a:t>Stack “Bottom”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097588" y="1524000"/>
            <a:ext cx="609600" cy="3810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6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Stack: Pop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70" name="Google Shape;270;p6"/>
          <p:cNvCxnSpPr/>
          <p:nvPr/>
        </p:nvCxnSpPr>
        <p:spPr>
          <a:xfrm>
            <a:off x="5754688" y="4876800"/>
            <a:ext cx="1295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1" name="Google Shape;271;p6"/>
          <p:cNvGrpSpPr/>
          <p:nvPr/>
        </p:nvGrpSpPr>
        <p:grpSpPr>
          <a:xfrm>
            <a:off x="5040313" y="4706938"/>
            <a:ext cx="635000" cy="323850"/>
            <a:chOff x="0" y="0"/>
            <a:chExt cx="400" cy="204"/>
          </a:xfrm>
        </p:grpSpPr>
        <p:cxnSp>
          <p:nvCxnSpPr>
            <p:cNvPr id="272" name="Google Shape;272;p6"/>
            <p:cNvCxnSpPr/>
            <p:nvPr/>
          </p:nvCxnSpPr>
          <p:spPr>
            <a:xfrm>
              <a:off x="56" y="10"/>
              <a:ext cx="32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3" name="Google Shape;273;p6"/>
            <p:cNvSpPr/>
            <p:nvPr/>
          </p:nvSpPr>
          <p:spPr>
            <a:xfrm>
              <a:off x="222" y="0"/>
              <a:ext cx="178" cy="2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+8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6"/>
            <p:cNvSpPr/>
            <p:nvPr/>
          </p:nvSpPr>
          <p:spPr>
            <a:xfrm flipH="1" rot="10800000">
              <a:off x="0" y="53"/>
              <a:ext cx="232" cy="120"/>
            </a:xfrm>
            <a:custGeom>
              <a:rect b="b" l="l" r="r" t="t"/>
              <a:pathLst>
                <a:path extrusionOk="0" h="21600" w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>
              <a:noFill/>
            </a:ln>
            <a:effectLst>
              <a:outerShdw rotWithShape="0" algn="ctr" dir="2700000" dist="76199">
                <a:schemeClr val="lt2">
                  <a:alpha val="74509"/>
                </a:schemeClr>
              </a:outerShdw>
            </a:effectLst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200"/>
                <a:buFont typeface="Arial"/>
                <a:buNone/>
              </a:pPr>
              <a:r>
                <a:t/>
              </a:r>
              <a:endParaRPr b="0" i="0" sz="4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75" name="Google Shape;275;p6"/>
          <p:cNvSpPr/>
          <p:nvPr/>
        </p:nvSpPr>
        <p:spPr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6107113" y="4953000"/>
            <a:ext cx="604837" cy="685800"/>
          </a:xfrm>
          <a:custGeom>
            <a:rect b="b" l="l" r="r" t="t"/>
            <a:pathLst>
              <a:path extrusionOk="0" h="21600" w="21600">
                <a:moveTo>
                  <a:pt x="5263" y="6200"/>
                </a:moveTo>
                <a:lnTo>
                  <a:pt x="5263" y="21600"/>
                </a:lnTo>
                <a:lnTo>
                  <a:pt x="16144" y="21600"/>
                </a:lnTo>
                <a:lnTo>
                  <a:pt x="16144" y="6400"/>
                </a:lnTo>
                <a:lnTo>
                  <a:pt x="21600" y="6400"/>
                </a:lnTo>
                <a:lnTo>
                  <a:pt x="10929" y="0"/>
                </a:lnTo>
                <a:lnTo>
                  <a:pt x="0" y="6043"/>
                </a:lnTo>
                <a:lnTo>
                  <a:pt x="5263" y="6200"/>
                </a:lnTo>
                <a:close/>
                <a:moveTo>
                  <a:pt x="5263" y="6200"/>
                </a:moveTo>
              </a:path>
            </a:pathLst>
          </a:custGeom>
          <a:solidFill>
            <a:srgbClr val="980002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"/>
              <a:buChar char="⬛"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popq </a:t>
            </a:r>
            <a:r>
              <a:rPr b="1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value at address given by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20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1" marL="5524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 value at Dest (must be register)</a:t>
            </a:r>
            <a:endParaRPr b="1" i="0" sz="20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7775625" y="22225"/>
            <a:ext cx="16083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5" name="Google Shape;285;p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86" name="Google Shape;286;p7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Procedures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Stack Structure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Calling Conventions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/>
              <a:t>Passing control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data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Managing local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Code Examples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76200" y="4800600"/>
            <a:ext cx="2667000" cy="18288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mult2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(long a, long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long s = a * 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505200" y="381000"/>
            <a:ext cx="4267200" cy="1828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multstore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(long x, long y, long *dest)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t = mult2(x, 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*dest = 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0000000000400550 &lt;mult2&gt;: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400550:  mov    %rdi,%rax	# a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400553:  imul   %rsi,%rax	# a * b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400557:  retq					# Return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1066800" y="2362200"/>
            <a:ext cx="6781800" cy="2057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0000000000400540 &lt;multstore&gt;: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400540: push   %rbx				# Save %rbx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400541: mov    %rdx,%rbx			# Save dest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400544: callq  400550 &lt;mult2&gt;	# mult2(x,y)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400549: mov    %rax,(%rbx)		# Save at dest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40054c: pop    %rbx				# Restore %rbx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40054d: retq						#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2" name="Google Shape;302;p9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Procedure Control Flow</a:t>
            </a:r>
            <a:endParaRPr/>
          </a:p>
        </p:txBody>
      </p:sp>
      <p:sp>
        <p:nvSpPr>
          <p:cNvPr id="303" name="Google Shape;303;p9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Use stack to support procedure call and return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980002"/>
                </a:solidFill>
              </a:rPr>
              <a:t>Procedure call:</a:t>
            </a:r>
            <a:r>
              <a:rPr lang="en-US"/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call label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Push return address on stack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Jump to </a:t>
            </a:r>
            <a:r>
              <a:rPr b="1" i="1" lang="en-US">
                <a:latin typeface="Calibri"/>
                <a:ea typeface="Calibri"/>
                <a:cs typeface="Calibri"/>
                <a:sym typeface="Calibri"/>
              </a:rPr>
              <a:t>label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Return address: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Address of the next instruction right after call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Example from disassembly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980002"/>
                </a:solidFill>
              </a:rPr>
              <a:t>Procedure return:</a:t>
            </a:r>
            <a:r>
              <a:rPr lang="en-US"/>
              <a:t>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Pop address from stack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Jump to address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Control Flow Example #1</a:t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0000000000400550 &lt;mult2&gt;: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400550:  mov    %rdi,%rax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400557:  retq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0000000000400540 &lt;multstore&gt;: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400544: callq  400550 &lt;mult2&gt;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400549: mov    %rax,(%rbx)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0x400544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0x120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4" name="Google Shape;314;p10"/>
          <p:cNvSpPr/>
          <p:nvPr/>
        </p:nvSpPr>
        <p:spPr>
          <a:xfrm flipH="1" rot="10800000">
            <a:off x="6629400" y="2133600"/>
            <a:ext cx="1676400" cy="990600"/>
          </a:xfrm>
          <a:prstGeom prst="arc">
            <a:avLst>
              <a:gd fmla="val 17108922" name="adj1"/>
              <a:gd fmla="val 4768750" name="adj2"/>
            </a:avLst>
          </a:prstGeom>
          <a:noFill/>
          <a:ln cap="flat" cmpd="sng" w="254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Gill Sans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15" name="Google Shape;315;p10"/>
          <p:cNvCxnSpPr>
            <a:stCxn id="311" idx="1"/>
          </p:cNvCxnSpPr>
          <p:nvPr/>
        </p:nvCxnSpPr>
        <p:spPr>
          <a:xfrm rot="10800000">
            <a:off x="4572000" y="2362200"/>
            <a:ext cx="1676400" cy="1333500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6" name="Google Shape;316;p10"/>
          <p:cNvSpPr/>
          <p:nvPr/>
        </p:nvSpPr>
        <p:spPr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0x120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0x128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0x130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%rip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Control Flow Example #2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0000000000400550 &lt;mult2&gt;: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400550:  mov    %rdi,%rax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400557:  retq		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0000000000400540 &lt;multstore&gt;: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400544: callq  400550 &lt;mult2&gt;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400549: mov    %rax,(%rbx)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0x400550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0x118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0x400549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2" name="Google Shape;332;p11"/>
          <p:cNvSpPr/>
          <p:nvPr/>
        </p:nvSpPr>
        <p:spPr>
          <a:xfrm flipH="1" rot="10800000">
            <a:off x="6629400" y="2438400"/>
            <a:ext cx="1676400" cy="685800"/>
          </a:xfrm>
          <a:prstGeom prst="arc">
            <a:avLst>
              <a:gd fmla="val 17108922" name="adj1"/>
              <a:gd fmla="val 4394693" name="adj2"/>
            </a:avLst>
          </a:prstGeom>
          <a:noFill/>
          <a:ln cap="flat" cmpd="sng" w="254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Gill Sans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33" name="Google Shape;333;p11"/>
          <p:cNvCxnSpPr>
            <a:stCxn id="328" idx="1"/>
          </p:cNvCxnSpPr>
          <p:nvPr/>
        </p:nvCxnSpPr>
        <p:spPr>
          <a:xfrm flipH="1">
            <a:off x="4038600" y="3695700"/>
            <a:ext cx="2209800" cy="723900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4" name="Google Shape;334;p11"/>
          <p:cNvCxnSpPr/>
          <p:nvPr/>
        </p:nvCxnSpPr>
        <p:spPr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335" name="Google Shape;335;p11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336" name="Google Shape;336;p11"/>
            <p:cNvSpPr/>
            <p:nvPr/>
          </p:nvSpPr>
          <p:spPr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0x120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0x128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0x130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0x118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%rip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Control Flow Example #3</a:t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0000000000400550 &lt;mult2&gt;: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400550:  mov    %rdi,%rax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400557:  retq		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0000000000400540 &lt;multstore&gt;: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400544: callq  400550 &lt;mult2&gt;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400549: mov    %rax,(%rbx)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0x400557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0x118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0x400549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3" name="Google Shape;353;p12"/>
          <p:cNvSpPr/>
          <p:nvPr/>
        </p:nvSpPr>
        <p:spPr>
          <a:xfrm flipH="1" rot="10800000">
            <a:off x="6629400" y="2438400"/>
            <a:ext cx="1676400" cy="685800"/>
          </a:xfrm>
          <a:prstGeom prst="arc">
            <a:avLst>
              <a:gd fmla="val 17108922" name="adj1"/>
              <a:gd fmla="val 4394693" name="adj2"/>
            </a:avLst>
          </a:prstGeom>
          <a:noFill/>
          <a:ln cap="flat" cmpd="sng" w="254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Gill Sans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54" name="Google Shape;354;p12"/>
          <p:cNvCxnSpPr>
            <a:stCxn id="349" idx="1"/>
          </p:cNvCxnSpPr>
          <p:nvPr/>
        </p:nvCxnSpPr>
        <p:spPr>
          <a:xfrm flipH="1">
            <a:off x="2362200" y="3695700"/>
            <a:ext cx="3886200" cy="1562100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5" name="Google Shape;355;p12"/>
          <p:cNvCxnSpPr/>
          <p:nvPr/>
        </p:nvCxnSpPr>
        <p:spPr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356" name="Google Shape;356;p12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357" name="Google Shape;357;p12"/>
            <p:cNvSpPr/>
            <p:nvPr/>
          </p:nvSpPr>
          <p:spPr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0x120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0x128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0x130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0x118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%rip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Control Flow Example #4</a:t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0000000000400550 &lt;mult2&gt;: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400550:  mov    %rdi,%rax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400557:  retq		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0000000000400540 &lt;multstore&gt;: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400544: callq  400550 &lt;mult2&gt;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400549: mov    %rax,(%rbx)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0x400549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0x120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3" name="Google Shape;373;p13"/>
          <p:cNvSpPr/>
          <p:nvPr/>
        </p:nvSpPr>
        <p:spPr>
          <a:xfrm flipH="1" rot="10800000">
            <a:off x="6629400" y="2133600"/>
            <a:ext cx="1676400" cy="990600"/>
          </a:xfrm>
          <a:prstGeom prst="arc">
            <a:avLst>
              <a:gd fmla="val 17108922" name="adj1"/>
              <a:gd fmla="val 4768750" name="adj2"/>
            </a:avLst>
          </a:prstGeom>
          <a:noFill/>
          <a:ln cap="flat" cmpd="sng" w="254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Gill Sans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74" name="Google Shape;374;p13"/>
          <p:cNvCxnSpPr>
            <a:stCxn id="370" idx="1"/>
          </p:cNvCxnSpPr>
          <p:nvPr/>
        </p:nvCxnSpPr>
        <p:spPr>
          <a:xfrm rot="10800000">
            <a:off x="4114800" y="2590800"/>
            <a:ext cx="2133600" cy="1104900"/>
          </a:xfrm>
          <a:prstGeom prst="straightConnector1">
            <a:avLst/>
          </a:prstGeom>
          <a:solidFill>
            <a:schemeClr val="accen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5" name="Google Shape;375;p13"/>
          <p:cNvSpPr/>
          <p:nvPr/>
        </p:nvSpPr>
        <p:spPr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0x120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0x128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0x130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%rip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6" name="Google Shape;386;p1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387" name="Google Shape;387;p14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Procedures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Stack Structure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Calling Conventions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control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/>
              <a:t>Passing data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Managing local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4" name="Google Shape;39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Procedure Data Flow</a:t>
            </a:r>
            <a:endParaRPr/>
          </a:p>
        </p:txBody>
      </p:sp>
      <p:sp>
        <p:nvSpPr>
          <p:cNvPr id="395" name="Google Shape;395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/>
              <a:t>Registers</a:t>
            </a:r>
            <a:endParaRPr/>
          </a:p>
        </p:txBody>
      </p:sp>
      <p:sp>
        <p:nvSpPr>
          <p:cNvPr id="396" name="Google Shape;396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First 6 arguments</a:t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Return value</a:t>
            </a:r>
            <a:endParaRPr/>
          </a:p>
        </p:txBody>
      </p:sp>
      <p:sp>
        <p:nvSpPr>
          <p:cNvPr id="397" name="Google Shape;397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/>
              <a:t>Stack</a:t>
            </a:r>
            <a:endParaRPr/>
          </a:p>
        </p:txBody>
      </p:sp>
      <p:sp>
        <p:nvSpPr>
          <p:cNvPr id="398" name="Google Shape;398;p15"/>
          <p:cNvSpPr txBox="1"/>
          <p:nvPr>
            <p:ph idx="4" type="body"/>
          </p:nvPr>
        </p:nvSpPr>
        <p:spPr>
          <a:xfrm>
            <a:off x="4645025" y="5791199"/>
            <a:ext cx="4041775" cy="33496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Only allocate stack space when needed</a:t>
            </a: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762000" y="28194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%rdi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762000" y="32004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%rsi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762000" y="35814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%rdx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762000" y="39624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%rcx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762000" y="43434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762000" y="47244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%r9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762000" y="5791200"/>
            <a:ext cx="13462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%rax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406" name="Google Shape;406;p15"/>
          <p:cNvGrpSpPr/>
          <p:nvPr/>
        </p:nvGrpSpPr>
        <p:grpSpPr>
          <a:xfrm>
            <a:off x="5638800" y="2438400"/>
            <a:ext cx="1346200" cy="2667000"/>
            <a:chOff x="5943600" y="2057400"/>
            <a:chExt cx="1346200" cy="2667000"/>
          </a:xfrm>
        </p:grpSpPr>
        <p:sp>
          <p:nvSpPr>
            <p:cNvPr id="407" name="Google Shape;407;p15"/>
            <p:cNvSpPr/>
            <p:nvPr/>
          </p:nvSpPr>
          <p:spPr>
            <a:xfrm>
              <a:off x="5943600" y="4343400"/>
              <a:ext cx="1346200" cy="381000"/>
            </a:xfrm>
            <a:prstGeom prst="rect">
              <a:avLst/>
            </a:prstGeom>
            <a:solidFill>
              <a:srgbClr val="D6D6F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Arg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7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5943600" y="3200400"/>
              <a:ext cx="1346200" cy="762000"/>
            </a:xfrm>
            <a:prstGeom prst="rect">
              <a:avLst/>
            </a:prstGeom>
            <a:solidFill>
              <a:srgbClr val="D6D6F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• • •</a:t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5943600" y="3962400"/>
              <a:ext cx="1346200" cy="381000"/>
            </a:xfrm>
            <a:prstGeom prst="rect">
              <a:avLst/>
            </a:prstGeom>
            <a:solidFill>
              <a:srgbClr val="D6D6F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Arg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8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5943600" y="2819400"/>
              <a:ext cx="1346200" cy="381000"/>
            </a:xfrm>
            <a:prstGeom prst="rect">
              <a:avLst/>
            </a:prstGeom>
            <a:solidFill>
              <a:srgbClr val="D6D6F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Arg </a:t>
              </a:r>
              <a:r>
                <a:rPr b="1" i="1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="1" i="1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5943600" y="2057400"/>
              <a:ext cx="1346200" cy="762000"/>
            </a:xfrm>
            <a:prstGeom prst="rect">
              <a:avLst/>
            </a:prstGeom>
            <a:solidFill>
              <a:srgbClr val="D6D6F4"/>
            </a:solidFill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• • •</a:t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Flow</a:t>
            </a:r>
            <a:br>
              <a:rPr lang="en-US"/>
            </a:br>
            <a:r>
              <a:rPr lang="en-US"/>
              <a:t>Examples</a:t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76200" y="4800600"/>
            <a:ext cx="2667000" cy="18288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mult2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(long a, long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long s = a * b;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return 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3505200" y="152400"/>
            <a:ext cx="4267200" cy="1828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multstore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(long x, long y, long *dest)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t = mult2(x, 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*dest = 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0000000000400550 &lt;mult2&gt;: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# a in %rdi, b in %rsi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400550:  mov    %rdi,%rax	# a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400553:  imul   %rsi,%rax	# a *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# s in %rax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400557:  retq					# Return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1066800" y="2362200"/>
            <a:ext cx="6781800" cy="22860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0000000000400540 &lt;multstore&gt;: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# x in %rdi, y in %rsi, dest in %rdx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 • •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400541: mov    %rdx,%rbx			# Save dest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400544: callq  400550 &lt;mult2&gt;	# mult2(x,y)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t in %rax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400549: mov    %rax,(%rbx)		# Save at dest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• • •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7759526" y="25400"/>
            <a:ext cx="1384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7" name="Google Shape;427;p1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428" name="Google Shape;428;p17"/>
          <p:cNvSpPr txBox="1"/>
          <p:nvPr>
            <p:ph idx="1" type="body"/>
          </p:nvPr>
        </p:nvSpPr>
        <p:spPr>
          <a:xfrm>
            <a:off x="363438" y="1397000"/>
            <a:ext cx="8382000" cy="54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Procedures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Stack Structure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Calling Conventions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control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data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/>
              <a:t>Managing local data</a:t>
            </a:r>
            <a:endParaRPr b="1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8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5" name="Google Shape;435;p18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Stack-Based Languages</a:t>
            </a:r>
            <a:endParaRPr/>
          </a:p>
        </p:txBody>
      </p:sp>
      <p:sp>
        <p:nvSpPr>
          <p:cNvPr id="436" name="Google Shape;436;p18"/>
          <p:cNvSpPr txBox="1"/>
          <p:nvPr>
            <p:ph idx="1" type="body"/>
          </p:nvPr>
        </p:nvSpPr>
        <p:spPr>
          <a:xfrm>
            <a:off x="381000" y="12192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Languages that support recursion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e.g., C, Pascal, Java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Code must be “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Reentrant</a:t>
            </a:r>
            <a:r>
              <a:rPr lang="en-US"/>
              <a:t>”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Multiple simultaneous instantiations of single procedure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Need some place to store state of each instantiation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Arguments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Local variables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Return pointer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Stack discipline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State for given procedure needed for limited time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From when called to when return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Callee returns before caller does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Stack allocated in </a:t>
            </a:r>
            <a:r>
              <a:rPr b="1" i="1" lang="en-US">
                <a:solidFill>
                  <a:srgbClr val="980002"/>
                </a:solidFill>
                <a:latin typeface="Calibri"/>
                <a:ea typeface="Calibri"/>
                <a:cs typeface="Calibri"/>
                <a:sym typeface="Calibri"/>
              </a:rPr>
              <a:t>Frames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state for single procedure instantiation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7770828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3" name="Google Shape;443;p19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Call Chain Example</a:t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457200" y="1447800"/>
            <a:ext cx="1536700" cy="2362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2286000" y="2362200"/>
            <a:ext cx="1612900" cy="2362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4191000" y="3276600"/>
            <a:ext cx="1536700" cy="23622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6883400" y="1676400"/>
            <a:ext cx="1549400" cy="3581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7096125" y="19050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7096125" y="25908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7085013" y="32654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7096125" y="39624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7096125" y="47244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9"/>
          <p:cNvCxnSpPr/>
          <p:nvPr/>
        </p:nvCxnSpPr>
        <p:spPr>
          <a:xfrm>
            <a:off x="7402513" y="22098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19"/>
          <p:cNvCxnSpPr/>
          <p:nvPr/>
        </p:nvCxnSpPr>
        <p:spPr>
          <a:xfrm>
            <a:off x="7402513" y="2895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19"/>
          <p:cNvCxnSpPr/>
          <p:nvPr/>
        </p:nvCxnSpPr>
        <p:spPr>
          <a:xfrm>
            <a:off x="7402513" y="35814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6" name="Google Shape;456;p19"/>
          <p:cNvCxnSpPr/>
          <p:nvPr/>
        </p:nvCxnSpPr>
        <p:spPr>
          <a:xfrm>
            <a:off x="7402513" y="43434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7" name="Google Shape;457;p19"/>
          <p:cNvSpPr/>
          <p:nvPr/>
        </p:nvSpPr>
        <p:spPr>
          <a:xfrm>
            <a:off x="6848475" y="1066800"/>
            <a:ext cx="1020763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1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Chain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7762875" y="32654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9" name="Google Shape;459;p19"/>
          <p:cNvCxnSpPr/>
          <p:nvPr/>
        </p:nvCxnSpPr>
        <p:spPr>
          <a:xfrm>
            <a:off x="7543800" y="28956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0" name="Google Shape;460;p19"/>
          <p:cNvSpPr/>
          <p:nvPr/>
        </p:nvSpPr>
        <p:spPr>
          <a:xfrm>
            <a:off x="3505200" y="5715000"/>
            <a:ext cx="29083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Procedure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amI()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recursive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0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467" name="Google Shape;467;p20"/>
          <p:cNvCxnSpPr/>
          <p:nvPr/>
        </p:nvCxnSpPr>
        <p:spPr>
          <a:xfrm>
            <a:off x="6535737" y="2271713"/>
            <a:ext cx="717550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20"/>
          <p:cNvSpPr/>
          <p:nvPr/>
        </p:nvSpPr>
        <p:spPr>
          <a:xfrm>
            <a:off x="4019550" y="2084388"/>
            <a:ext cx="24399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Pointer: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%rbp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69" name="Google Shape;469;p20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Stack Frames</a:t>
            </a:r>
            <a:endParaRPr/>
          </a:p>
        </p:txBody>
      </p:sp>
      <p:sp>
        <p:nvSpPr>
          <p:cNvPr id="470" name="Google Shape;470;p20"/>
          <p:cNvSpPr txBox="1"/>
          <p:nvPr>
            <p:ph idx="1" type="body"/>
          </p:nvPr>
        </p:nvSpPr>
        <p:spPr>
          <a:xfrm>
            <a:off x="381000" y="1397000"/>
            <a:ext cx="46482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Contents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Return information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Local storage (if needed)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Temporary space (if needed)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Management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Space allocated when enter procedure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“Set-up” code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Includes push by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US"/>
              <a:t> instruction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Deallocated when return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“Finish” code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Includes pop by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r>
              <a:rPr lang="en-US"/>
              <a:t> instruction</a:t>
            </a:r>
            <a:endParaRPr/>
          </a:p>
        </p:txBody>
      </p:sp>
      <p:cxnSp>
        <p:nvCxnSpPr>
          <p:cNvPr id="471" name="Google Shape;471;p20"/>
          <p:cNvCxnSpPr/>
          <p:nvPr/>
        </p:nvCxnSpPr>
        <p:spPr>
          <a:xfrm>
            <a:off x="6545262" y="3641725"/>
            <a:ext cx="71755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2" name="Google Shape;472;p20"/>
          <p:cNvSpPr/>
          <p:nvPr/>
        </p:nvSpPr>
        <p:spPr>
          <a:xfrm>
            <a:off x="4068762" y="3452813"/>
            <a:ext cx="24384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Pointer: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7205662" y="4279900"/>
            <a:ext cx="1557338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62699"/>
                </a:solidFill>
                <a:latin typeface="Calibri"/>
                <a:ea typeface="Calibri"/>
                <a:cs typeface="Calibri"/>
                <a:sym typeface="Calibri"/>
              </a:rPr>
              <a:t>Stack “Top”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/>
          <p:nvPr/>
        </p:nvSpPr>
        <p:spPr>
          <a:xfrm flipH="1" rot="10800000">
            <a:off x="7672387" y="3902075"/>
            <a:ext cx="609600" cy="3810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475" name="Google Shape;475;p20"/>
          <p:cNvGraphicFramePr/>
          <p:nvPr/>
        </p:nvGraphicFramePr>
        <p:xfrm>
          <a:off x="7310437" y="39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20800"/>
              </a:tblGrid>
              <a:tr h="170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Previous Frame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 for</a:t>
                      </a:r>
                      <a:b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proc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p20"/>
          <p:cNvSpPr/>
          <p:nvPr/>
        </p:nvSpPr>
        <p:spPr>
          <a:xfrm>
            <a:off x="4021137" y="2365375"/>
            <a:ext cx="24399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(Optional)	</a:t>
            </a: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1" i="0" sz="1800" u="none" cap="none" strike="noStrike">
              <a:solidFill>
                <a:schemeClr val="lt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3" name="Google Shape;483;p21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84" name="Google Shape;484;p21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21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0" name="Google Shape;490;p21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1" name="Google Shape;491;p21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21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21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21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5" name="Google Shape;495;p21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6" name="Google Shape;496;p21"/>
          <p:cNvGrpSpPr/>
          <p:nvPr/>
        </p:nvGrpSpPr>
        <p:grpSpPr>
          <a:xfrm>
            <a:off x="5397500" y="1592263"/>
            <a:ext cx="1493838" cy="928687"/>
            <a:chOff x="0" y="0"/>
            <a:chExt cx="941" cy="585"/>
          </a:xfrm>
        </p:grpSpPr>
        <p:cxnSp>
          <p:nvCxnSpPr>
            <p:cNvPr id="497" name="Google Shape;497;p21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8" name="Google Shape;498;p21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499" name="Google Shape;499;p21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0" name="Google Shape;500;p21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501" name="Google Shape;501;p21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3" name="Google Shape;503;p21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4" name="Google Shape;504;p21"/>
          <p:cNvSpPr/>
          <p:nvPr/>
        </p:nvSpPr>
        <p:spPr>
          <a:xfrm>
            <a:off x="203200" y="20320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977900" y="1524000"/>
            <a:ext cx="1536700" cy="2362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2"/>
          <p:cNvSpPr/>
          <p:nvPr/>
        </p:nvSpPr>
        <p:spPr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7770828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13" name="Google Shape;513;p22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p22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0" name="Google Shape;520;p22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1" name="Google Shape;521;p22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2" name="Google Shape;522;p22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3" name="Google Shape;523;p22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22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22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" name="Google Shape;526;p22"/>
          <p:cNvGrpSpPr/>
          <p:nvPr/>
        </p:nvGrpSpPr>
        <p:grpSpPr>
          <a:xfrm>
            <a:off x="5391150" y="2379663"/>
            <a:ext cx="1495425" cy="928687"/>
            <a:chOff x="0" y="0"/>
            <a:chExt cx="941" cy="585"/>
          </a:xfrm>
        </p:grpSpPr>
        <p:cxnSp>
          <p:nvCxnSpPr>
            <p:cNvPr id="527" name="Google Shape;527;p22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28" name="Google Shape;528;p22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529" name="Google Shape;529;p22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0" name="Google Shape;530;p22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531" name="Google Shape;531;p22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3" name="Google Shape;533;p22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4" name="Google Shape;534;p22"/>
          <p:cNvSpPr/>
          <p:nvPr/>
        </p:nvSpPr>
        <p:spPr>
          <a:xfrm>
            <a:off x="508000" y="23749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3"/>
          <p:cNvSpPr/>
          <p:nvPr/>
        </p:nvSpPr>
        <p:spPr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7770827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44" name="Google Shape;544;p23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45" name="Google Shape;545;p23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3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23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23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p23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4" name="Google Shape;554;p23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23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6" name="Google Shape;556;p23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23"/>
          <p:cNvGrpSpPr/>
          <p:nvPr/>
        </p:nvGrpSpPr>
        <p:grpSpPr>
          <a:xfrm>
            <a:off x="5397500" y="3225800"/>
            <a:ext cx="1493838" cy="928688"/>
            <a:chOff x="0" y="0"/>
            <a:chExt cx="941" cy="585"/>
          </a:xfrm>
        </p:grpSpPr>
        <p:cxnSp>
          <p:nvCxnSpPr>
            <p:cNvPr id="558" name="Google Shape;558;p23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9" name="Google Shape;559;p23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560" name="Google Shape;560;p23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1" name="Google Shape;561;p23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562" name="Google Shape;562;p23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4" name="Google Shape;564;p23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5" name="Google Shape;565;p23"/>
          <p:cNvSpPr/>
          <p:nvPr/>
        </p:nvSpPr>
        <p:spPr>
          <a:xfrm>
            <a:off x="914400" y="27305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1600200" y="21336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4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7770827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3" name="Google Shape;573;p2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74" name="Google Shape;574;p24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4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24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0" name="Google Shape;580;p24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24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24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p24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24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5" name="Google Shape;585;p24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6" name="Google Shape;586;p24"/>
          <p:cNvGrpSpPr/>
          <p:nvPr/>
        </p:nvGrpSpPr>
        <p:grpSpPr>
          <a:xfrm>
            <a:off x="5391150" y="4056063"/>
            <a:ext cx="1495425" cy="928687"/>
            <a:chOff x="0" y="0"/>
            <a:chExt cx="941" cy="585"/>
          </a:xfrm>
        </p:grpSpPr>
        <p:cxnSp>
          <p:nvCxnSpPr>
            <p:cNvPr id="587" name="Google Shape;587;p24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8" name="Google Shape;588;p24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589" name="Google Shape;589;p24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90" name="Google Shape;590;p24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591" name="Google Shape;591;p24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93" name="Google Shape;593;p24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4" name="Google Shape;594;p24"/>
          <p:cNvSpPr/>
          <p:nvPr/>
        </p:nvSpPr>
        <p:spPr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609600" y="27305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7770828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5" name="Google Shape;605;p25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606" name="Google Shape;606;p25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5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25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2" name="Google Shape;612;p25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3" name="Google Shape;613;p25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4" name="Google Shape;614;p25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5" name="Google Shape;615;p25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25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7" name="Google Shape;617;p25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25"/>
          <p:cNvGrpSpPr/>
          <p:nvPr/>
        </p:nvGrpSpPr>
        <p:grpSpPr>
          <a:xfrm>
            <a:off x="5391150" y="4919663"/>
            <a:ext cx="1495425" cy="928687"/>
            <a:chOff x="0" y="0"/>
            <a:chExt cx="941" cy="585"/>
          </a:xfrm>
        </p:grpSpPr>
        <p:cxnSp>
          <p:nvCxnSpPr>
            <p:cNvPr id="619" name="Google Shape;619;p25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20" name="Google Shape;620;p25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621" name="Google Shape;621;p25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22" name="Google Shape;622;p25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623" name="Google Shape;623;p25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4" name="Google Shape;624;p25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5" name="Google Shape;625;p25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6" name="Google Shape;626;p25"/>
          <p:cNvSpPr/>
          <p:nvPr/>
        </p:nvSpPr>
        <p:spPr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1066800" y="37338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1816100" y="30480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6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7770827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8" name="Google Shape;638;p26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639" name="Google Shape;639;p26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4" name="Google Shape;644;p26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5" name="Google Shape;645;p26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6" name="Google Shape;646;p26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7" name="Google Shape;647;p26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8" name="Google Shape;648;p26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9" name="Google Shape;649;p26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0" name="Google Shape;650;p26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1" name="Google Shape;651;p26"/>
          <p:cNvGrpSpPr/>
          <p:nvPr/>
        </p:nvGrpSpPr>
        <p:grpSpPr>
          <a:xfrm>
            <a:off x="5391150" y="4056063"/>
            <a:ext cx="1495425" cy="928687"/>
            <a:chOff x="0" y="0"/>
            <a:chExt cx="941" cy="585"/>
          </a:xfrm>
        </p:grpSpPr>
        <p:cxnSp>
          <p:nvCxnSpPr>
            <p:cNvPr id="652" name="Google Shape;652;p26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53" name="Google Shape;653;p26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654" name="Google Shape;654;p26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55" name="Google Shape;655;p26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656" name="Google Shape;656;p26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8" name="Google Shape;658;p26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9" name="Google Shape;659;p26"/>
          <p:cNvSpPr/>
          <p:nvPr/>
        </p:nvSpPr>
        <p:spPr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6"/>
          <p:cNvSpPr/>
          <p:nvPr/>
        </p:nvSpPr>
        <p:spPr>
          <a:xfrm>
            <a:off x="685800" y="34290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7770828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0" name="Google Shape;670;p2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671" name="Google Shape;671;p27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27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7" name="Google Shape;677;p27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8" name="Google Shape;678;p27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9" name="Google Shape;679;p27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0" name="Google Shape;680;p27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27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2" name="Google Shape;682;p27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3" name="Google Shape;683;p27"/>
          <p:cNvGrpSpPr/>
          <p:nvPr/>
        </p:nvGrpSpPr>
        <p:grpSpPr>
          <a:xfrm>
            <a:off x="5397500" y="3225800"/>
            <a:ext cx="1493838" cy="928688"/>
            <a:chOff x="0" y="0"/>
            <a:chExt cx="941" cy="585"/>
          </a:xfrm>
        </p:grpSpPr>
        <p:cxnSp>
          <p:nvCxnSpPr>
            <p:cNvPr id="684" name="Google Shape;684;p27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5" name="Google Shape;685;p27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686" name="Google Shape;686;p27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7" name="Google Shape;687;p27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688" name="Google Shape;688;p27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90" name="Google Shape;690;p27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1" name="Google Shape;691;p27"/>
          <p:cNvSpPr/>
          <p:nvPr/>
        </p:nvSpPr>
        <p:spPr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2" name="Google Shape;692;p27"/>
          <p:cNvSpPr/>
          <p:nvPr/>
        </p:nvSpPr>
        <p:spPr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228600" y="29718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8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7770828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02" name="Google Shape;702;p28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8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p28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8" name="Google Shape;708;p28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9" name="Google Shape;709;p28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0" name="Google Shape;710;p28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1" name="Google Shape;711;p28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p28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3" name="Google Shape;713;p28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4" name="Google Shape;714;p28"/>
          <p:cNvGrpSpPr/>
          <p:nvPr/>
        </p:nvGrpSpPr>
        <p:grpSpPr>
          <a:xfrm>
            <a:off x="5391150" y="2379663"/>
            <a:ext cx="1495425" cy="928687"/>
            <a:chOff x="0" y="0"/>
            <a:chExt cx="941" cy="585"/>
          </a:xfrm>
        </p:grpSpPr>
        <p:cxnSp>
          <p:nvCxnSpPr>
            <p:cNvPr id="715" name="Google Shape;715;p28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16" name="Google Shape;716;p28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717" name="Google Shape;717;p28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18" name="Google Shape;718;p28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719" name="Google Shape;719;p28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21" name="Google Shape;721;p28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2" name="Google Shape;722;p28"/>
          <p:cNvSpPr/>
          <p:nvPr/>
        </p:nvSpPr>
        <p:spPr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-152400" y="25146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9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0" name="Google Shape;730;p29"/>
          <p:cNvSpPr/>
          <p:nvPr/>
        </p:nvSpPr>
        <p:spPr>
          <a:xfrm>
            <a:off x="7770828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1" name="Google Shape;731;p29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32" name="Google Shape;732;p29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9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9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6A6A6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9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9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29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8" name="Google Shape;738;p29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6A6A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29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0" name="Google Shape;740;p29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1" name="Google Shape;741;p29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2" name="Google Shape;742;p29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3" name="Google Shape;743;p29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4" name="Google Shape;744;p29"/>
          <p:cNvGrpSpPr/>
          <p:nvPr/>
        </p:nvGrpSpPr>
        <p:grpSpPr>
          <a:xfrm>
            <a:off x="5397500" y="3225800"/>
            <a:ext cx="1493838" cy="928688"/>
            <a:chOff x="0" y="0"/>
            <a:chExt cx="941" cy="585"/>
          </a:xfrm>
        </p:grpSpPr>
        <p:cxnSp>
          <p:nvCxnSpPr>
            <p:cNvPr id="745" name="Google Shape;745;p29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46" name="Google Shape;746;p29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747" name="Google Shape;747;p29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48" name="Google Shape;748;p29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749" name="Google Shape;749;p29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0" name="Google Shape;750;p29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1" name="Google Shape;751;p29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amI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2" name="Google Shape;752;p29"/>
          <p:cNvSpPr/>
          <p:nvPr/>
        </p:nvSpPr>
        <p:spPr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3" name="Google Shape;753;p29"/>
          <p:cNvSpPr/>
          <p:nvPr/>
        </p:nvSpPr>
        <p:spPr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9"/>
          <p:cNvSpPr/>
          <p:nvPr/>
        </p:nvSpPr>
        <p:spPr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amI(…)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228600" y="29718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0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1" name="Google Shape;761;p30"/>
          <p:cNvSpPr/>
          <p:nvPr/>
        </p:nvSpPr>
        <p:spPr>
          <a:xfrm>
            <a:off x="7770828" y="22225"/>
            <a:ext cx="1612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2" name="Google Shape;762;p30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63" name="Google Shape;763;p30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0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0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0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0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8" name="Google Shape;768;p30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9" name="Google Shape;769;p30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0" name="Google Shape;770;p30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30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2" name="Google Shape;772;p30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3" name="Google Shape;773;p30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4" name="Google Shape;774;p30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5" name="Google Shape;775;p30"/>
          <p:cNvGrpSpPr/>
          <p:nvPr/>
        </p:nvGrpSpPr>
        <p:grpSpPr>
          <a:xfrm>
            <a:off x="5391150" y="2379663"/>
            <a:ext cx="1495425" cy="928687"/>
            <a:chOff x="0" y="0"/>
            <a:chExt cx="941" cy="585"/>
          </a:xfrm>
        </p:grpSpPr>
        <p:cxnSp>
          <p:nvCxnSpPr>
            <p:cNvPr id="776" name="Google Shape;776;p30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7" name="Google Shape;777;p30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778" name="Google Shape;778;p30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9" name="Google Shape;779;p30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780" name="Google Shape;780;p30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81" name="Google Shape;781;p30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82" name="Google Shape;782;p30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who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3" name="Google Shape;783;p30"/>
          <p:cNvSpPr/>
          <p:nvPr/>
        </p:nvSpPr>
        <p:spPr>
          <a:xfrm>
            <a:off x="431800" y="14478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4" name="Google Shape;784;p30"/>
          <p:cNvSpPr/>
          <p:nvPr/>
        </p:nvSpPr>
        <p:spPr>
          <a:xfrm>
            <a:off x="749300" y="1676400"/>
            <a:ext cx="1612900" cy="21336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amI();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 • 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0"/>
          <p:cNvSpPr/>
          <p:nvPr/>
        </p:nvSpPr>
        <p:spPr>
          <a:xfrm>
            <a:off x="139700" y="25146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2" name="Google Shape;792;p31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793" name="Google Shape;793;p31"/>
          <p:cNvSpPr/>
          <p:nvPr/>
        </p:nvSpPr>
        <p:spPr>
          <a:xfrm>
            <a:off x="3514725" y="1446213"/>
            <a:ext cx="622300" cy="3317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3514725" y="21336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who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3503613" y="28082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3514725" y="3505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3514725" y="4267200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8" name="Google Shape;798;p31"/>
          <p:cNvCxnSpPr/>
          <p:nvPr/>
        </p:nvCxnSpPr>
        <p:spPr>
          <a:xfrm>
            <a:off x="3821113" y="17526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9" name="Google Shape;799;p31"/>
          <p:cNvCxnSpPr/>
          <p:nvPr/>
        </p:nvCxnSpPr>
        <p:spPr>
          <a:xfrm>
            <a:off x="3821113" y="24384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0" name="Google Shape;800;p31"/>
          <p:cNvCxnSpPr/>
          <p:nvPr/>
        </p:nvCxnSpPr>
        <p:spPr>
          <a:xfrm>
            <a:off x="3821113" y="3124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1" name="Google Shape;801;p31"/>
          <p:cNvCxnSpPr/>
          <p:nvPr/>
        </p:nvCxnSpPr>
        <p:spPr>
          <a:xfrm>
            <a:off x="3821113" y="3886200"/>
            <a:ext cx="0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2" name="Google Shape;802;p31"/>
          <p:cNvSpPr/>
          <p:nvPr/>
        </p:nvSpPr>
        <p:spPr>
          <a:xfrm>
            <a:off x="4181475" y="2795588"/>
            <a:ext cx="622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5A5A5"/>
                </a:solidFill>
                <a:latin typeface="Courier"/>
                <a:ea typeface="Courier"/>
                <a:cs typeface="Courier"/>
                <a:sym typeface="Courier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3" name="Google Shape;803;p31"/>
          <p:cNvCxnSpPr/>
          <p:nvPr/>
        </p:nvCxnSpPr>
        <p:spPr>
          <a:xfrm>
            <a:off x="3962400" y="2438400"/>
            <a:ext cx="536575" cy="431800"/>
          </a:xfrm>
          <a:prstGeom prst="straightConnector1">
            <a:avLst/>
          </a:prstGeom>
          <a:noFill/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4" name="Google Shape;804;p31"/>
          <p:cNvSpPr/>
          <p:nvPr/>
        </p:nvSpPr>
        <p:spPr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yoo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" name="Google Shape;805;p31"/>
          <p:cNvGrpSpPr/>
          <p:nvPr/>
        </p:nvGrpSpPr>
        <p:grpSpPr>
          <a:xfrm>
            <a:off x="5397500" y="1592263"/>
            <a:ext cx="1493838" cy="928687"/>
            <a:chOff x="0" y="0"/>
            <a:chExt cx="941" cy="585"/>
          </a:xfrm>
        </p:grpSpPr>
        <p:cxnSp>
          <p:nvCxnSpPr>
            <p:cNvPr id="806" name="Google Shape;806;p31"/>
            <p:cNvCxnSpPr/>
            <p:nvPr/>
          </p:nvCxnSpPr>
          <p:spPr>
            <a:xfrm>
              <a:off x="489" y="110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07" name="Google Shape;807;p31"/>
            <p:cNvSpPr/>
            <p:nvPr/>
          </p:nvSpPr>
          <p:spPr>
            <a:xfrm>
              <a:off x="1" y="0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%rbp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  <p:cxnSp>
          <p:nvCxnSpPr>
            <p:cNvPr id="808" name="Google Shape;808;p31"/>
            <p:cNvCxnSpPr/>
            <p:nvPr/>
          </p:nvCxnSpPr>
          <p:spPr>
            <a:xfrm>
              <a:off x="488" y="499"/>
              <a:ext cx="452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09" name="Google Shape;809;p31"/>
            <p:cNvSpPr/>
            <p:nvPr/>
          </p:nvSpPr>
          <p:spPr>
            <a:xfrm>
              <a:off x="0" y="377"/>
              <a:ext cx="496" cy="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38100" spcFirstLastPara="1" rIns="38100" wrap="square" tIns="381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dk1"/>
                  </a:solidFill>
                  <a:latin typeface="Courier"/>
                  <a:ea typeface="Courier"/>
                  <a:cs typeface="Courier"/>
                  <a:sym typeface="Courier"/>
                </a:rPr>
                <a:t>%rsp</a:t>
              </a:r>
              <a:endParaRPr b="1" i="0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810" name="Google Shape;810;p31"/>
          <p:cNvSpPr/>
          <p:nvPr/>
        </p:nvSpPr>
        <p:spPr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11" name="Google Shape;811;p31"/>
          <p:cNvSpPr/>
          <p:nvPr/>
        </p:nvSpPr>
        <p:spPr>
          <a:xfrm>
            <a:off x="7194550" y="381000"/>
            <a:ext cx="760413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2" name="Google Shape;812;p31"/>
          <p:cNvGraphicFramePr/>
          <p:nvPr/>
        </p:nvGraphicFramePr>
        <p:xfrm>
          <a:off x="6934200" y="83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{3FAED31E-58DD-4CFE-AAC9-DFF6C2001F35}</a:tableStyleId>
              </a:tblPr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yoo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0000"/>
                        </a:buClr>
                        <a:buSzPts val="1200"/>
                        <a:buFont typeface="Noto Sans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3" name="Google Shape;813;p31"/>
          <p:cNvSpPr/>
          <p:nvPr/>
        </p:nvSpPr>
        <p:spPr>
          <a:xfrm>
            <a:off x="825500" y="1676400"/>
            <a:ext cx="1536700" cy="21336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who();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•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4" name="Google Shape;814;p31"/>
          <p:cNvSpPr/>
          <p:nvPr/>
        </p:nvSpPr>
        <p:spPr>
          <a:xfrm>
            <a:off x="139700" y="2514600"/>
            <a:ext cx="685800" cy="431800"/>
          </a:xfrm>
          <a:prstGeom prst="rightArrow">
            <a:avLst>
              <a:gd fmla="val 41185" name="adj1"/>
              <a:gd fmla="val 76471" name="adj2"/>
            </a:avLst>
          </a:prstGeom>
          <a:solidFill>
            <a:srgbClr val="C00000"/>
          </a:solidFill>
          <a:ln>
            <a:noFill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2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0" name="Google Shape;820;p32"/>
          <p:cNvSpPr/>
          <p:nvPr/>
        </p:nvSpPr>
        <p:spPr>
          <a:xfrm>
            <a:off x="7775628" y="25350"/>
            <a:ext cx="16404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1" name="Google Shape;821;p32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x86-64/Linux Stack Frame</a:t>
            </a:r>
            <a:endParaRPr/>
          </a:p>
        </p:txBody>
      </p:sp>
      <p:sp>
        <p:nvSpPr>
          <p:cNvPr id="822" name="Google Shape;822;p32"/>
          <p:cNvSpPr txBox="1"/>
          <p:nvPr>
            <p:ph idx="1" type="body"/>
          </p:nvPr>
        </p:nvSpPr>
        <p:spPr>
          <a:xfrm>
            <a:off x="381000" y="1397000"/>
            <a:ext cx="53721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Current Stack Frame (“Top” to Bottom)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“Argument build:”</a:t>
            </a:r>
            <a:br>
              <a:rPr lang="en-US"/>
            </a:br>
            <a:r>
              <a:rPr lang="en-US"/>
              <a:t>Parameters for function about to call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Local variables</a:t>
            </a:r>
            <a:br>
              <a:rPr lang="en-US"/>
            </a:br>
            <a:r>
              <a:rPr lang="en-US"/>
              <a:t>If can’t keep in registers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Saved register context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Old frame pointer (optional)</a:t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Caller Stack Frame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Return address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Pushed by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call</a:t>
            </a:r>
            <a:r>
              <a:rPr lang="en-US"/>
              <a:t> instruction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Arguments for this call</a:t>
            </a:r>
            <a:endParaRPr/>
          </a:p>
        </p:txBody>
      </p:sp>
      <p:sp>
        <p:nvSpPr>
          <p:cNvPr id="823" name="Google Shape;823;p32"/>
          <p:cNvSpPr/>
          <p:nvPr/>
        </p:nvSpPr>
        <p:spPr>
          <a:xfrm>
            <a:off x="7366000" y="3276600"/>
            <a:ext cx="1270000" cy="30480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2"/>
          <p:cNvSpPr/>
          <p:nvPr/>
        </p:nvSpPr>
        <p:spPr>
          <a:xfrm>
            <a:off x="7366000" y="3886200"/>
            <a:ext cx="1270000" cy="18161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2"/>
          <p:cNvSpPr/>
          <p:nvPr/>
        </p:nvSpPr>
        <p:spPr>
          <a:xfrm>
            <a:off x="7366000" y="5699124"/>
            <a:ext cx="1270000" cy="854075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(Optional)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2"/>
          <p:cNvSpPr/>
          <p:nvPr/>
        </p:nvSpPr>
        <p:spPr>
          <a:xfrm>
            <a:off x="7366000" y="1295400"/>
            <a:ext cx="1270000" cy="137160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7" name="Google Shape;827;p32"/>
          <p:cNvSpPr/>
          <p:nvPr/>
        </p:nvSpPr>
        <p:spPr>
          <a:xfrm>
            <a:off x="7366000" y="3581400"/>
            <a:ext cx="1270000" cy="304800"/>
          </a:xfrm>
          <a:prstGeom prst="rect">
            <a:avLst/>
          </a:prstGeom>
          <a:solidFill>
            <a:srgbClr val="D8D8D8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Old </a:t>
            </a:r>
            <a:r>
              <a:rPr b="1" i="0" lang="en-US" sz="1800" u="none" cap="none" strike="noStrike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%rbp</a:t>
            </a:r>
            <a:endParaRPr b="1" i="0" sz="1800" u="none" cap="none" strike="noStrike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7366000" y="2667000"/>
            <a:ext cx="1270000" cy="60960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7+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2"/>
          <p:cNvSpPr/>
          <p:nvPr/>
        </p:nvSpPr>
        <p:spPr>
          <a:xfrm>
            <a:off x="6235700" y="2125663"/>
            <a:ext cx="684213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Caller</a:t>
            </a:r>
            <a:endParaRPr b="1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6981825" y="1295400"/>
            <a:ext cx="228600" cy="22606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831" name="Google Shape;831;p32"/>
          <p:cNvCxnSpPr/>
          <p:nvPr/>
        </p:nvCxnSpPr>
        <p:spPr>
          <a:xfrm>
            <a:off x="6469063" y="3732213"/>
            <a:ext cx="717550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2" name="Google Shape;832;p32"/>
          <p:cNvSpPr/>
          <p:nvPr/>
        </p:nvSpPr>
        <p:spPr>
          <a:xfrm>
            <a:off x="4927600" y="3268663"/>
            <a:ext cx="156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pointer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%rbp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833" name="Google Shape;833;p32"/>
          <p:cNvCxnSpPr/>
          <p:nvPr/>
        </p:nvCxnSpPr>
        <p:spPr>
          <a:xfrm>
            <a:off x="6478588" y="6488112"/>
            <a:ext cx="719137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4" name="Google Shape;834;p32"/>
          <p:cNvSpPr/>
          <p:nvPr/>
        </p:nvSpPr>
        <p:spPr>
          <a:xfrm>
            <a:off x="5005388" y="6019800"/>
            <a:ext cx="148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pointer</a:t>
            </a:r>
            <a:endParaRPr b="1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4953000" y="3810000"/>
            <a:ext cx="1562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(Optional)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3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2" name="Google Shape;842;p33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incr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43" name="Google Shape;843;p33"/>
          <p:cNvSpPr/>
          <p:nvPr/>
        </p:nvSpPr>
        <p:spPr>
          <a:xfrm>
            <a:off x="381000" y="1371600"/>
            <a:ext cx="4876800" cy="1828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incr(long *p, long val)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x = *p;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y = x + 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*p =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3"/>
          <p:cNvSpPr/>
          <p:nvPr/>
        </p:nvSpPr>
        <p:spPr>
          <a:xfrm>
            <a:off x="381000" y="4038600"/>
            <a:ext cx="4279900" cy="1524000"/>
          </a:xfrm>
          <a:prstGeom prst="rect">
            <a:avLst/>
          </a:prstGeom>
          <a:solidFill>
            <a:srgbClr val="CDF1C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incr: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(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%rdi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b="1" i="0" lang="en-US" sz="1800" u="none" cap="none" strike="noStrike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%rax</a:t>
            </a:r>
            <a:endParaRPr b="1" i="0" sz="1800" u="none" cap="none" strike="noStrike">
              <a:solidFill>
                <a:srgbClr val="008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%rax, %rsi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%rsi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(%rdi)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845" name="Google Shape;845;p33"/>
          <p:cNvGraphicFramePr/>
          <p:nvPr/>
        </p:nvGraphicFramePr>
        <p:xfrm>
          <a:off x="5257800" y="411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{F6966357-860F-4ACA-96BA-B15ADBB11B70}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Use(s)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%rdi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Argument </a:t>
                      </a: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%rsi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Argument </a:t>
                      </a: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</a:t>
                      </a: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%rax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Return value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4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1" name="Google Shape;851;p34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2" name="Google Shape;852;p3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Calling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incr</a:t>
            </a:r>
            <a:r>
              <a:rPr lang="en-US"/>
              <a:t> #1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53" name="Google Shape;853;p34"/>
          <p:cNvSpPr/>
          <p:nvPr/>
        </p:nvSpPr>
        <p:spPr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call_incr: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subq    $16, %rsp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movq    $15213, 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movl    $3000, %esi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leaq    8(%rsp), %rdi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  incr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8(%rsp), %rax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4" name="Google Shape;854;p34"/>
          <p:cNvSpPr/>
          <p:nvPr/>
        </p:nvSpPr>
        <p:spPr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call_incr()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long v1 = 15213;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v2 = incr(&amp;v1,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v1+v2;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55" name="Google Shape;855;p34"/>
          <p:cNvCxnSpPr/>
          <p:nvPr/>
        </p:nvCxnSpPr>
        <p:spPr>
          <a:xfrm rot="10800000">
            <a:off x="6477000" y="27432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6" name="Google Shape;856;p34"/>
          <p:cNvSpPr/>
          <p:nvPr/>
        </p:nvSpPr>
        <p:spPr>
          <a:xfrm>
            <a:off x="6983413" y="25844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5181600" y="987000"/>
            <a:ext cx="2301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4"/>
          <p:cNvSpPr/>
          <p:nvPr/>
        </p:nvSpPr>
        <p:spPr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4"/>
          <p:cNvSpPr/>
          <p:nvPr/>
        </p:nvSpPr>
        <p:spPr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15213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61" name="Google Shape;861;p34"/>
          <p:cNvSpPr/>
          <p:nvPr/>
        </p:nvSpPr>
        <p:spPr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2" name="Google Shape;862;p34"/>
          <p:cNvCxnSpPr/>
          <p:nvPr/>
        </p:nvCxnSpPr>
        <p:spPr>
          <a:xfrm rot="10800000">
            <a:off x="6503987" y="633095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3" name="Google Shape;863;p34"/>
          <p:cNvSpPr/>
          <p:nvPr/>
        </p:nvSpPr>
        <p:spPr>
          <a:xfrm>
            <a:off x="7010400" y="61023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64" name="Google Shape;864;p34"/>
          <p:cNvSpPr/>
          <p:nvPr/>
        </p:nvSpPr>
        <p:spPr>
          <a:xfrm>
            <a:off x="5081725" y="3658963"/>
            <a:ext cx="2677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Resulting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5181600" y="44196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/>
          <p:nvPr/>
        </p:nvSpPr>
        <p:spPr>
          <a:xfrm>
            <a:off x="5181600" y="5334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34"/>
          <p:cNvCxnSpPr/>
          <p:nvPr/>
        </p:nvCxnSpPr>
        <p:spPr>
          <a:xfrm rot="10800000">
            <a:off x="6477000" y="59436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8" name="Google Shape;868;p34"/>
          <p:cNvSpPr/>
          <p:nvPr/>
        </p:nvSpPr>
        <p:spPr>
          <a:xfrm>
            <a:off x="6983413" y="5715000"/>
            <a:ext cx="908076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%rsp+8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4" name="Google Shape;874;p35"/>
          <p:cNvSpPr/>
          <p:nvPr/>
        </p:nvSpPr>
        <p:spPr>
          <a:xfrm>
            <a:off x="7791727" y="22225"/>
            <a:ext cx="1592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35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Calling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incr</a:t>
            </a:r>
            <a:r>
              <a:rPr lang="en-US"/>
              <a:t> #2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76" name="Google Shape;876;p35"/>
          <p:cNvSpPr/>
          <p:nvPr/>
        </p:nvSpPr>
        <p:spPr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call_incr: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$15213, 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movl    $3000, %esi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leaq    8(%rsp), %rdi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call    incr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8(%rsp), %rax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7" name="Google Shape;877;p35"/>
          <p:cNvSpPr/>
          <p:nvPr/>
        </p:nvSpPr>
        <p:spPr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call_incr()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v1 = 15213;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long v2 = incr(&amp;v1,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v1+v2;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8" name="Google Shape;878;p35"/>
          <p:cNvSpPr/>
          <p:nvPr/>
        </p:nvSpPr>
        <p:spPr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15213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79" name="Google Shape;879;p35"/>
          <p:cNvSpPr/>
          <p:nvPr/>
        </p:nvSpPr>
        <p:spPr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0" name="Google Shape;880;p35"/>
          <p:cNvCxnSpPr/>
          <p:nvPr/>
        </p:nvCxnSpPr>
        <p:spPr>
          <a:xfrm rot="10800000">
            <a:off x="6503987" y="358775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1" name="Google Shape;881;p35"/>
          <p:cNvSpPr/>
          <p:nvPr/>
        </p:nvSpPr>
        <p:spPr>
          <a:xfrm>
            <a:off x="7010400" y="33591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82" name="Google Shape;882;p35"/>
          <p:cNvSpPr/>
          <p:nvPr/>
        </p:nvSpPr>
        <p:spPr>
          <a:xfrm>
            <a:off x="5943600" y="1143000"/>
            <a:ext cx="166066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5"/>
          <p:cNvSpPr/>
          <p:nvPr/>
        </p:nvSpPr>
        <p:spPr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5"/>
          <p:cNvSpPr/>
          <p:nvPr/>
        </p:nvSpPr>
        <p:spPr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5" name="Google Shape;885;p35"/>
          <p:cNvCxnSpPr/>
          <p:nvPr/>
        </p:nvCxnSpPr>
        <p:spPr>
          <a:xfrm rot="10800000">
            <a:off x="6477000" y="32004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6" name="Google Shape;886;p35"/>
          <p:cNvSpPr/>
          <p:nvPr/>
        </p:nvSpPr>
        <p:spPr>
          <a:xfrm>
            <a:off x="6983413" y="2971800"/>
            <a:ext cx="908076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%rsp+8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aphicFrame>
        <p:nvGraphicFramePr>
          <p:cNvPr id="887" name="Google Shape;887;p35"/>
          <p:cNvGraphicFramePr/>
          <p:nvPr/>
        </p:nvGraphicFramePr>
        <p:xfrm>
          <a:off x="5257800" y="411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{F6966357-860F-4ACA-96BA-B15ADBB11B70}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Use(s)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%rdi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&amp;v1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%rsi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6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" name="Google Shape;893;p36"/>
          <p:cNvSpPr/>
          <p:nvPr/>
        </p:nvSpPr>
        <p:spPr>
          <a:xfrm>
            <a:off x="7791727" y="22225"/>
            <a:ext cx="1592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4" name="Google Shape;894;p36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Calling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incr</a:t>
            </a:r>
            <a:r>
              <a:rPr lang="en-US"/>
              <a:t> #3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95" name="Google Shape;895;p36"/>
          <p:cNvSpPr/>
          <p:nvPr/>
        </p:nvSpPr>
        <p:spPr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call_incr: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$15213, 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movl    $3000, %esi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leaq    8(%rsp), %rdi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call    incr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8(%rsp), %rax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6" name="Google Shape;896;p36"/>
          <p:cNvSpPr/>
          <p:nvPr/>
        </p:nvSpPr>
        <p:spPr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call_incr()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v1 = 15213;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long v2 = incr(&amp;v1,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v1+v2;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7" name="Google Shape;897;p36"/>
          <p:cNvSpPr/>
          <p:nvPr/>
        </p:nvSpPr>
        <p:spPr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18213</a:t>
            </a:r>
            <a:endParaRPr b="1" i="0" sz="1800" u="none" cap="none" strike="noStrike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898" name="Google Shape;898;p36"/>
          <p:cNvSpPr/>
          <p:nvPr/>
        </p:nvSpPr>
        <p:spPr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9" name="Google Shape;899;p36"/>
          <p:cNvCxnSpPr/>
          <p:nvPr/>
        </p:nvCxnSpPr>
        <p:spPr>
          <a:xfrm rot="10800000">
            <a:off x="6503987" y="358775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0" name="Google Shape;900;p36"/>
          <p:cNvSpPr/>
          <p:nvPr/>
        </p:nvSpPr>
        <p:spPr>
          <a:xfrm>
            <a:off x="7010400" y="33591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01" name="Google Shape;901;p36"/>
          <p:cNvSpPr/>
          <p:nvPr/>
        </p:nvSpPr>
        <p:spPr>
          <a:xfrm>
            <a:off x="5181600" y="1063075"/>
            <a:ext cx="1660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6"/>
          <p:cNvSpPr/>
          <p:nvPr/>
        </p:nvSpPr>
        <p:spPr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6"/>
          <p:cNvSpPr/>
          <p:nvPr/>
        </p:nvSpPr>
        <p:spPr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4" name="Google Shape;904;p36"/>
          <p:cNvCxnSpPr/>
          <p:nvPr/>
        </p:nvCxnSpPr>
        <p:spPr>
          <a:xfrm rot="10800000">
            <a:off x="6477000" y="32004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5" name="Google Shape;905;p36"/>
          <p:cNvSpPr/>
          <p:nvPr/>
        </p:nvSpPr>
        <p:spPr>
          <a:xfrm>
            <a:off x="6983413" y="2971800"/>
            <a:ext cx="908076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%rsp+8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aphicFrame>
        <p:nvGraphicFramePr>
          <p:cNvPr id="906" name="Google Shape;906;p36"/>
          <p:cNvGraphicFramePr/>
          <p:nvPr/>
        </p:nvGraphicFramePr>
        <p:xfrm>
          <a:off x="5257800" y="411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{F6966357-860F-4ACA-96BA-B15ADBB11B70}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Use(s)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%rdi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&amp;v1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%rsi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7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2" name="Google Shape;912;p37"/>
          <p:cNvSpPr/>
          <p:nvPr/>
        </p:nvSpPr>
        <p:spPr>
          <a:xfrm>
            <a:off x="7791727" y="22225"/>
            <a:ext cx="1592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3" name="Google Shape;913;p37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Calling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incr</a:t>
            </a:r>
            <a:r>
              <a:rPr lang="en-US"/>
              <a:t> #4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14" name="Google Shape;914;p37"/>
          <p:cNvSpPr/>
          <p:nvPr/>
        </p:nvSpPr>
        <p:spPr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call_incr: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$15213, 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movl    $3000, %esi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leaq    8(%rsp), %rdi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call    incr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addq    8(%rsp), %rax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addq    $16, %rsp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5" name="Google Shape;915;p37"/>
          <p:cNvSpPr/>
          <p:nvPr/>
        </p:nvSpPr>
        <p:spPr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call_incr()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v1 = 15213;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v2 = incr(&amp;v1,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v1+v2;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6" name="Google Shape;916;p37"/>
          <p:cNvSpPr/>
          <p:nvPr/>
        </p:nvSpPr>
        <p:spPr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18213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17" name="Google Shape;917;p37"/>
          <p:cNvSpPr/>
          <p:nvPr/>
        </p:nvSpPr>
        <p:spPr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8" name="Google Shape;918;p37"/>
          <p:cNvCxnSpPr/>
          <p:nvPr/>
        </p:nvCxnSpPr>
        <p:spPr>
          <a:xfrm rot="10800000">
            <a:off x="6503987" y="320675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9" name="Google Shape;919;p37"/>
          <p:cNvSpPr/>
          <p:nvPr/>
        </p:nvSpPr>
        <p:spPr>
          <a:xfrm>
            <a:off x="7010400" y="29781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20" name="Google Shape;920;p37"/>
          <p:cNvSpPr/>
          <p:nvPr/>
        </p:nvSpPr>
        <p:spPr>
          <a:xfrm>
            <a:off x="5181600" y="910800"/>
            <a:ext cx="1660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Structure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7"/>
          <p:cNvSpPr/>
          <p:nvPr/>
        </p:nvSpPr>
        <p:spPr>
          <a:xfrm>
            <a:off x="5181600" y="12954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7"/>
          <p:cNvSpPr/>
          <p:nvPr/>
        </p:nvSpPr>
        <p:spPr>
          <a:xfrm>
            <a:off x="5181600" y="22098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" name="Google Shape;923;p37"/>
          <p:cNvCxnSpPr/>
          <p:nvPr/>
        </p:nvCxnSpPr>
        <p:spPr>
          <a:xfrm rot="10800000">
            <a:off x="6477000" y="28194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4" name="Google Shape;924;p37"/>
          <p:cNvSpPr/>
          <p:nvPr/>
        </p:nvSpPr>
        <p:spPr>
          <a:xfrm>
            <a:off x="6983413" y="2590800"/>
            <a:ext cx="908076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%rsp+8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aphicFrame>
        <p:nvGraphicFramePr>
          <p:cNvPr id="925" name="Google Shape;925;p37"/>
          <p:cNvGraphicFramePr/>
          <p:nvPr/>
        </p:nvGraphicFramePr>
        <p:xfrm>
          <a:off x="5257800" y="3733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{F6966357-860F-4ACA-96BA-B15ADBB11B70}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Use(s)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%rax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value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26" name="Google Shape;926;p37"/>
          <p:cNvCxnSpPr/>
          <p:nvPr/>
        </p:nvCxnSpPr>
        <p:spPr>
          <a:xfrm rot="10800000">
            <a:off x="6477000" y="63246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7" name="Google Shape;927;p37"/>
          <p:cNvSpPr/>
          <p:nvPr/>
        </p:nvSpPr>
        <p:spPr>
          <a:xfrm>
            <a:off x="6983413" y="609600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28" name="Google Shape;928;p37"/>
          <p:cNvSpPr/>
          <p:nvPr/>
        </p:nvSpPr>
        <p:spPr>
          <a:xfrm>
            <a:off x="5181600" y="4797000"/>
            <a:ext cx="26238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Updated Stack Structure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7"/>
          <p:cNvSpPr/>
          <p:nvPr/>
        </p:nvSpPr>
        <p:spPr>
          <a:xfrm>
            <a:off x="5181600" y="51816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7"/>
          <p:cNvSpPr/>
          <p:nvPr/>
        </p:nvSpPr>
        <p:spPr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8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6" name="Google Shape;936;p38"/>
          <p:cNvSpPr/>
          <p:nvPr/>
        </p:nvSpPr>
        <p:spPr>
          <a:xfrm>
            <a:off x="7807825" y="22225"/>
            <a:ext cx="1575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7" name="Google Shape;937;p38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Example: Calling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incr</a:t>
            </a:r>
            <a:r>
              <a:rPr lang="en-US"/>
              <a:t> #5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38" name="Google Shape;938;p38"/>
          <p:cNvSpPr/>
          <p:nvPr/>
        </p:nvSpPr>
        <p:spPr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call_incr: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$15213, 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movl    $3000, %esi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leaq    8(%rsp), %rdi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call    incr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addq    8(%rsp), %rax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addq    $16, %rsp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ret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9" name="Google Shape;939;p38"/>
          <p:cNvSpPr/>
          <p:nvPr/>
        </p:nvSpPr>
        <p:spPr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call_incr()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v1 = 15213;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v2 = incr(&amp;v1,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return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v1+v2;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940" name="Google Shape;940;p38"/>
          <p:cNvGraphicFramePr/>
          <p:nvPr/>
        </p:nvGraphicFramePr>
        <p:xfrm>
          <a:off x="5257800" y="3733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{F6966357-860F-4ACA-96BA-B15ADBB11B70}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Use(s)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%rax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value</a:t>
                      </a:r>
                      <a:endParaRPr b="1" i="0"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41" name="Google Shape;941;p38"/>
          <p:cNvCxnSpPr/>
          <p:nvPr/>
        </p:nvCxnSpPr>
        <p:spPr>
          <a:xfrm rot="10800000">
            <a:off x="6553200" y="28956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2" name="Google Shape;942;p38"/>
          <p:cNvSpPr/>
          <p:nvPr/>
        </p:nvSpPr>
        <p:spPr>
          <a:xfrm>
            <a:off x="7059613" y="266700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43" name="Google Shape;943;p38"/>
          <p:cNvSpPr/>
          <p:nvPr/>
        </p:nvSpPr>
        <p:spPr>
          <a:xfrm>
            <a:off x="6019800" y="1219200"/>
            <a:ext cx="262384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Updated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8"/>
          <p:cNvSpPr/>
          <p:nvPr/>
        </p:nvSpPr>
        <p:spPr>
          <a:xfrm>
            <a:off x="5257800" y="17526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8"/>
          <p:cNvSpPr/>
          <p:nvPr/>
        </p:nvSpPr>
        <p:spPr>
          <a:xfrm>
            <a:off x="5257800" y="2667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6" name="Google Shape;946;p38"/>
          <p:cNvCxnSpPr/>
          <p:nvPr/>
        </p:nvCxnSpPr>
        <p:spPr>
          <a:xfrm rot="10800000">
            <a:off x="6553200" y="59436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7" name="Google Shape;947;p38"/>
          <p:cNvSpPr/>
          <p:nvPr/>
        </p:nvSpPr>
        <p:spPr>
          <a:xfrm>
            <a:off x="7059613" y="571500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48" name="Google Shape;948;p38"/>
          <p:cNvSpPr/>
          <p:nvPr/>
        </p:nvSpPr>
        <p:spPr>
          <a:xfrm>
            <a:off x="6019800" y="4648200"/>
            <a:ext cx="2211818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8"/>
          <p:cNvSpPr/>
          <p:nvPr/>
        </p:nvSpPr>
        <p:spPr>
          <a:xfrm>
            <a:off x="5257800" y="51816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9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5" name="Google Shape;955;p39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6" name="Google Shape;956;p39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Register Saving Conventions</a:t>
            </a:r>
            <a:endParaRPr/>
          </a:p>
        </p:txBody>
      </p:sp>
      <p:sp>
        <p:nvSpPr>
          <p:cNvPr id="957" name="Google Shape;957;p39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When procedure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yoo</a:t>
            </a:r>
            <a:r>
              <a:rPr lang="en-US"/>
              <a:t> calls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who</a:t>
            </a:r>
            <a:r>
              <a:rPr lang="en-US"/>
              <a:t>: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yoo</a:t>
            </a:r>
            <a:r>
              <a:rPr lang="en-US"/>
              <a:t> is the </a:t>
            </a:r>
            <a:r>
              <a:rPr b="1" i="1" lang="en-US">
                <a:solidFill>
                  <a:srgbClr val="980002"/>
                </a:solidFill>
                <a:latin typeface="Calibri"/>
                <a:ea typeface="Calibri"/>
                <a:cs typeface="Calibri"/>
                <a:sym typeface="Calibri"/>
              </a:rPr>
              <a:t>caller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who</a:t>
            </a:r>
            <a:r>
              <a:rPr lang="en-US"/>
              <a:t> is the </a:t>
            </a:r>
            <a:r>
              <a:rPr b="1" i="1" lang="en-US">
                <a:solidFill>
                  <a:srgbClr val="980002"/>
                </a:solidFill>
                <a:latin typeface="Calibri"/>
                <a:ea typeface="Calibri"/>
                <a:cs typeface="Calibri"/>
                <a:sym typeface="Calibri"/>
              </a:rPr>
              <a:t>callee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Can register be used for temporary storage?</a:t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16256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Contents of register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%rdx</a:t>
            </a:r>
            <a:r>
              <a:rPr lang="en-US"/>
              <a:t> overwritten by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who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This could be trouble ➙ something should be done!</a:t>
            </a:r>
            <a:endParaRPr sz="1800"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Need some coordination</a:t>
            </a:r>
            <a:endParaRPr/>
          </a:p>
        </p:txBody>
      </p:sp>
      <p:sp>
        <p:nvSpPr>
          <p:cNvPr id="958" name="Google Shape;958;p39"/>
          <p:cNvSpPr/>
          <p:nvPr/>
        </p:nvSpPr>
        <p:spPr>
          <a:xfrm>
            <a:off x="760413" y="3200400"/>
            <a:ext cx="3797300" cy="1976438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yoo: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• • •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movq $15213,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%rdx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call who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addq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%rdx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%rax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• • •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9" name="Google Shape;959;p39"/>
          <p:cNvSpPr/>
          <p:nvPr/>
        </p:nvSpPr>
        <p:spPr>
          <a:xfrm>
            <a:off x="4751388" y="3200400"/>
            <a:ext cx="3797300" cy="19812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who: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• • •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subq $18213, </a:t>
            </a:r>
            <a:r>
              <a:rPr b="1" i="0" lang="en-US" sz="18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%rdx</a:t>
            </a:r>
            <a:endParaRPr b="1" i="0" sz="2400" u="none" cap="none" strike="noStrike">
              <a:solidFill>
                <a:srgbClr val="C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• • •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0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5" name="Google Shape;965;p40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6" name="Google Shape;966;p40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Register Saving Conventions</a:t>
            </a:r>
            <a:endParaRPr/>
          </a:p>
        </p:txBody>
      </p:sp>
      <p:sp>
        <p:nvSpPr>
          <p:cNvPr id="967" name="Google Shape;967;p40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When procedure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yoo</a:t>
            </a:r>
            <a:r>
              <a:rPr lang="en-US"/>
              <a:t> calls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who</a:t>
            </a:r>
            <a:r>
              <a:rPr lang="en-US"/>
              <a:t>: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yoo</a:t>
            </a:r>
            <a:r>
              <a:rPr lang="en-US"/>
              <a:t> is the </a:t>
            </a:r>
            <a:r>
              <a:rPr b="1" i="1" lang="en-US">
                <a:solidFill>
                  <a:srgbClr val="980002"/>
                </a:solidFill>
                <a:latin typeface="Calibri"/>
                <a:ea typeface="Calibri"/>
                <a:cs typeface="Calibri"/>
                <a:sym typeface="Calibri"/>
              </a:rPr>
              <a:t>caller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who</a:t>
            </a:r>
            <a:r>
              <a:rPr lang="en-US"/>
              <a:t> is the </a:t>
            </a:r>
            <a:r>
              <a:rPr b="1" i="1" lang="en-US">
                <a:solidFill>
                  <a:srgbClr val="980002"/>
                </a:solidFill>
                <a:latin typeface="Calibri"/>
                <a:ea typeface="Calibri"/>
                <a:cs typeface="Calibri"/>
                <a:sym typeface="Calibri"/>
              </a:rPr>
              <a:t>callee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Can register be used for temporary storage?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Conventions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i="1" lang="en-US">
                <a:solidFill>
                  <a:srgbClr val="980002"/>
                </a:solidFill>
                <a:latin typeface="Calibri"/>
                <a:ea typeface="Calibri"/>
                <a:cs typeface="Calibri"/>
                <a:sym typeface="Calibri"/>
              </a:rPr>
              <a:t>“Caller Saved”</a:t>
            </a:r>
            <a:endParaRPr b="1" i="1">
              <a:solidFill>
                <a:srgbClr val="98000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Caller saves temporary values in its frame before the call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i="1" lang="en-US">
                <a:solidFill>
                  <a:srgbClr val="980002"/>
                </a:solidFill>
                <a:latin typeface="Calibri"/>
                <a:ea typeface="Calibri"/>
                <a:cs typeface="Calibri"/>
                <a:sym typeface="Calibri"/>
              </a:rPr>
              <a:t>“Callee Saved”</a:t>
            </a:r>
            <a:endParaRPr b="1" i="1">
              <a:solidFill>
                <a:srgbClr val="98000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Callee saves temporary values in its frame before using</a:t>
            </a:r>
            <a:endParaRPr/>
          </a:p>
          <a:p>
            <a:pPr indent="-203200" lvl="2" marL="838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Callee restores them before returning to caller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3" name="Google Shape;973;p41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4" name="Google Shape;974;p41"/>
          <p:cNvSpPr txBox="1"/>
          <p:nvPr>
            <p:ph type="title"/>
          </p:nvPr>
        </p:nvSpPr>
        <p:spPr>
          <a:xfrm>
            <a:off x="381000" y="254000"/>
            <a:ext cx="64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Linux Register Usage #1</a:t>
            </a:r>
            <a:endParaRPr/>
          </a:p>
        </p:txBody>
      </p:sp>
      <p:sp>
        <p:nvSpPr>
          <p:cNvPr id="975" name="Google Shape;975;p41"/>
          <p:cNvSpPr txBox="1"/>
          <p:nvPr>
            <p:ph idx="1" type="body"/>
          </p:nvPr>
        </p:nvSpPr>
        <p:spPr>
          <a:xfrm>
            <a:off x="381000" y="1397000"/>
            <a:ext cx="4064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%rax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Return value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Also caller-saved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be modified by procedure</a:t>
            </a:r>
            <a:endParaRPr/>
          </a:p>
          <a:p>
            <a:pPr indent="-254000" lvl="0" marL="292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%rdi</a:t>
            </a:r>
            <a:r>
              <a:rPr b="0" lang="en-US"/>
              <a:t>, ...,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%r9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Arguments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Also caller-saved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be modified by procedure</a:t>
            </a:r>
            <a:endParaRPr/>
          </a:p>
          <a:p>
            <a:pPr indent="-254000" lvl="0" marL="292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%r10</a:t>
            </a:r>
            <a:r>
              <a:rPr b="0" lang="en-US"/>
              <a:t>,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%r11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Caller-saved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be modified by procedure</a:t>
            </a:r>
            <a:endParaRPr/>
          </a:p>
          <a:p>
            <a:pPr indent="-952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952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952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976" name="Google Shape;976;p41"/>
          <p:cNvSpPr/>
          <p:nvPr/>
        </p:nvSpPr>
        <p:spPr>
          <a:xfrm>
            <a:off x="6324600" y="1600200"/>
            <a:ext cx="2540000" cy="381000"/>
          </a:xfrm>
          <a:prstGeom prst="rect">
            <a:avLst/>
          </a:prstGeom>
          <a:solidFill>
            <a:srgbClr val="FFB7B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%rax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77" name="Google Shape;977;p41"/>
          <p:cNvSpPr/>
          <p:nvPr/>
        </p:nvSpPr>
        <p:spPr>
          <a:xfrm>
            <a:off x="6324600" y="2971800"/>
            <a:ext cx="2540000" cy="381000"/>
          </a:xfrm>
          <a:prstGeom prst="rect">
            <a:avLst/>
          </a:prstGeom>
          <a:solidFill>
            <a:srgbClr val="D0D0E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%rdx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78" name="Google Shape;978;p41"/>
          <p:cNvSpPr/>
          <p:nvPr/>
        </p:nvSpPr>
        <p:spPr>
          <a:xfrm>
            <a:off x="6324600" y="3429000"/>
            <a:ext cx="2540000" cy="381000"/>
          </a:xfrm>
          <a:prstGeom prst="rect">
            <a:avLst/>
          </a:prstGeom>
          <a:solidFill>
            <a:srgbClr val="D0D0E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%rcx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79" name="Google Shape;979;p41"/>
          <p:cNvSpPr/>
          <p:nvPr/>
        </p:nvSpPr>
        <p:spPr>
          <a:xfrm>
            <a:off x="5867400" y="2057400"/>
            <a:ext cx="304800" cy="26670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0" name="Google Shape;980;p41"/>
          <p:cNvSpPr/>
          <p:nvPr/>
        </p:nvSpPr>
        <p:spPr>
          <a:xfrm>
            <a:off x="4522513" y="1600200"/>
            <a:ext cx="1273598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value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1"/>
          <p:cNvSpPr/>
          <p:nvPr/>
        </p:nvSpPr>
        <p:spPr>
          <a:xfrm>
            <a:off x="6324600" y="3886200"/>
            <a:ext cx="2540000" cy="381000"/>
          </a:xfrm>
          <a:prstGeom prst="rect">
            <a:avLst/>
          </a:prstGeom>
          <a:solidFill>
            <a:srgbClr val="D0D0E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%r8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82" name="Google Shape;982;p41"/>
          <p:cNvSpPr/>
          <p:nvPr/>
        </p:nvSpPr>
        <p:spPr>
          <a:xfrm>
            <a:off x="6324600" y="4343400"/>
            <a:ext cx="2540000" cy="381000"/>
          </a:xfrm>
          <a:prstGeom prst="rect">
            <a:avLst/>
          </a:prstGeom>
          <a:solidFill>
            <a:srgbClr val="D0D0E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%r9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83" name="Google Shape;983;p41"/>
          <p:cNvSpPr/>
          <p:nvPr/>
        </p:nvSpPr>
        <p:spPr>
          <a:xfrm>
            <a:off x="6324600" y="4800600"/>
            <a:ext cx="2540000" cy="3810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%r10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84" name="Google Shape;984;p41"/>
          <p:cNvSpPr/>
          <p:nvPr/>
        </p:nvSpPr>
        <p:spPr>
          <a:xfrm>
            <a:off x="6324600" y="5257800"/>
            <a:ext cx="2540000" cy="3810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%r11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85" name="Google Shape;985;p41"/>
          <p:cNvSpPr/>
          <p:nvPr/>
        </p:nvSpPr>
        <p:spPr>
          <a:xfrm>
            <a:off x="6324600" y="2057400"/>
            <a:ext cx="2540000" cy="381000"/>
          </a:xfrm>
          <a:prstGeom prst="rect">
            <a:avLst/>
          </a:prstGeom>
          <a:solidFill>
            <a:srgbClr val="D0D0E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%rdi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86" name="Google Shape;986;p41"/>
          <p:cNvSpPr/>
          <p:nvPr/>
        </p:nvSpPr>
        <p:spPr>
          <a:xfrm>
            <a:off x="6324600" y="2514600"/>
            <a:ext cx="2540000" cy="381000"/>
          </a:xfrm>
          <a:prstGeom prst="rect">
            <a:avLst/>
          </a:prstGeom>
          <a:solidFill>
            <a:srgbClr val="D0D0E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%rsi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87" name="Google Shape;987;p41"/>
          <p:cNvSpPr/>
          <p:nvPr/>
        </p:nvSpPr>
        <p:spPr>
          <a:xfrm>
            <a:off x="4687071" y="3200400"/>
            <a:ext cx="1109040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Arguments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1"/>
          <p:cNvSpPr/>
          <p:nvPr/>
        </p:nvSpPr>
        <p:spPr>
          <a:xfrm>
            <a:off x="4486772" y="5029200"/>
            <a:ext cx="1270468" cy="63094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Caller-saved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temporaries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41"/>
          <p:cNvSpPr/>
          <p:nvPr/>
        </p:nvSpPr>
        <p:spPr>
          <a:xfrm>
            <a:off x="5867400" y="4800600"/>
            <a:ext cx="304800" cy="8382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2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5" name="Google Shape;995;p42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6" name="Google Shape;996;p42"/>
          <p:cNvSpPr txBox="1"/>
          <p:nvPr>
            <p:ph type="title"/>
          </p:nvPr>
        </p:nvSpPr>
        <p:spPr>
          <a:xfrm>
            <a:off x="381000" y="2540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Linux Register Usage #2</a:t>
            </a:r>
            <a:endParaRPr/>
          </a:p>
        </p:txBody>
      </p:sp>
      <p:sp>
        <p:nvSpPr>
          <p:cNvPr id="997" name="Google Shape;997;p42"/>
          <p:cNvSpPr txBox="1"/>
          <p:nvPr>
            <p:ph idx="1" type="body"/>
          </p:nvPr>
        </p:nvSpPr>
        <p:spPr>
          <a:xfrm>
            <a:off x="381000" y="1397000"/>
            <a:ext cx="4064000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%rbx</a:t>
            </a:r>
            <a:r>
              <a:rPr lang="en-US"/>
              <a:t>,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%r12</a:t>
            </a:r>
            <a:r>
              <a:rPr lang="en-US"/>
              <a:t>,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%r13</a:t>
            </a:r>
            <a:r>
              <a:rPr lang="en-US"/>
              <a:t>,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%r14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Callee-saved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Callee must save &amp; restore</a:t>
            </a:r>
            <a:endParaRPr/>
          </a:p>
          <a:p>
            <a:pPr indent="-254000" lvl="0" marL="2921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%rbp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Callee-saved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Callee must save &amp; restore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May be used as frame pointer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mix &amp; match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Special form of callee save</a:t>
            </a:r>
            <a:endParaRPr/>
          </a:p>
          <a:p>
            <a:pPr indent="-234950" lvl="1" marL="5524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Restored to original value upon exit from procedure</a:t>
            </a:r>
            <a:endParaRPr/>
          </a:p>
        </p:txBody>
      </p:sp>
      <p:sp>
        <p:nvSpPr>
          <p:cNvPr id="998" name="Google Shape;998;p42"/>
          <p:cNvSpPr/>
          <p:nvPr/>
        </p:nvSpPr>
        <p:spPr>
          <a:xfrm>
            <a:off x="6400800" y="1371600"/>
            <a:ext cx="25400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%rbx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99" name="Google Shape;999;p42"/>
          <p:cNvSpPr/>
          <p:nvPr/>
        </p:nvSpPr>
        <p:spPr>
          <a:xfrm>
            <a:off x="6400800" y="3657600"/>
            <a:ext cx="2540000" cy="381000"/>
          </a:xfrm>
          <a:prstGeom prst="rect">
            <a:avLst/>
          </a:prstGeom>
          <a:solidFill>
            <a:srgbClr val="F1C7C7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00" name="Google Shape;1000;p42"/>
          <p:cNvSpPr/>
          <p:nvPr/>
        </p:nvSpPr>
        <p:spPr>
          <a:xfrm>
            <a:off x="5943600" y="1371600"/>
            <a:ext cx="304800" cy="22098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1" name="Google Shape;1001;p42"/>
          <p:cNvSpPr/>
          <p:nvPr/>
        </p:nvSpPr>
        <p:spPr>
          <a:xfrm>
            <a:off x="5715000" y="3200400"/>
            <a:ext cx="304800" cy="8382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cubicBezTo>
                  <a:pt x="15635" y="21600"/>
                  <a:pt x="10800" y="21139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2" name="Google Shape;1002;p42"/>
          <p:cNvSpPr/>
          <p:nvPr/>
        </p:nvSpPr>
        <p:spPr>
          <a:xfrm>
            <a:off x="4572000" y="1981200"/>
            <a:ext cx="126206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Callee-saved</a:t>
            </a:r>
            <a:endParaRPr b="1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Temporaries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42"/>
          <p:cNvSpPr/>
          <p:nvPr/>
        </p:nvSpPr>
        <p:spPr>
          <a:xfrm>
            <a:off x="4933950" y="3429000"/>
            <a:ext cx="75565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42"/>
          <p:cNvSpPr/>
          <p:nvPr/>
        </p:nvSpPr>
        <p:spPr>
          <a:xfrm>
            <a:off x="6400800" y="3200400"/>
            <a:ext cx="2540000" cy="381000"/>
          </a:xfrm>
          <a:prstGeom prst="rect">
            <a:avLst/>
          </a:prstGeom>
          <a:solidFill>
            <a:srgbClr val="D0D0E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%rbp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05" name="Google Shape;1005;p42"/>
          <p:cNvSpPr/>
          <p:nvPr/>
        </p:nvSpPr>
        <p:spPr>
          <a:xfrm>
            <a:off x="6400800" y="1828800"/>
            <a:ext cx="25400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%r12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06" name="Google Shape;1006;p42"/>
          <p:cNvSpPr/>
          <p:nvPr/>
        </p:nvSpPr>
        <p:spPr>
          <a:xfrm>
            <a:off x="6400800" y="2286000"/>
            <a:ext cx="25400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%r13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07" name="Google Shape;1007;p42"/>
          <p:cNvSpPr/>
          <p:nvPr/>
        </p:nvSpPr>
        <p:spPr>
          <a:xfrm>
            <a:off x="6400800" y="2743200"/>
            <a:ext cx="2540000" cy="381000"/>
          </a:xfrm>
          <a:prstGeom prst="rect">
            <a:avLst/>
          </a:prstGeom>
          <a:solidFill>
            <a:srgbClr val="D5F1CF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%r14</a:t>
            </a:r>
            <a:endParaRPr b="1" i="0" sz="24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3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3" name="Google Shape;1013;p43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4" name="Google Shape;1014;p43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Callee-Saved Example #1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15" name="Google Shape;1015;p43"/>
          <p:cNvSpPr/>
          <p:nvPr/>
        </p:nvSpPr>
        <p:spPr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call_incr2: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pushq   %rbx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subq    $16, %rsp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movq    %rdi, %rbx</a:t>
            </a:r>
            <a:endParaRPr b="1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movq    $15213, 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movl    $3000, %esi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leaq    8(%rsp), %rdi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  incr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%rbx, %rax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popq    %rbx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6" name="Google Shape;1016;p43"/>
          <p:cNvSpPr/>
          <p:nvPr/>
        </p:nvSpPr>
        <p:spPr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call_incr2(long x)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v1 = 15213;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v2 = incr(&amp;v1,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x+v2;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7" name="Google Shape;1017;p43"/>
          <p:cNvCxnSpPr/>
          <p:nvPr/>
        </p:nvCxnSpPr>
        <p:spPr>
          <a:xfrm rot="10800000">
            <a:off x="6477000" y="27432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8" name="Google Shape;1018;p43"/>
          <p:cNvSpPr/>
          <p:nvPr/>
        </p:nvSpPr>
        <p:spPr>
          <a:xfrm>
            <a:off x="6983413" y="25844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19" name="Google Shape;1019;p43"/>
          <p:cNvSpPr/>
          <p:nvPr/>
        </p:nvSpPr>
        <p:spPr>
          <a:xfrm>
            <a:off x="5943600" y="1066800"/>
            <a:ext cx="2301486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43"/>
          <p:cNvSpPr/>
          <p:nvPr/>
        </p:nvSpPr>
        <p:spPr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43"/>
          <p:cNvSpPr/>
          <p:nvPr/>
        </p:nvSpPr>
        <p:spPr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3"/>
          <p:cNvSpPr/>
          <p:nvPr/>
        </p:nvSpPr>
        <p:spPr>
          <a:xfrm>
            <a:off x="5181600" y="57912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15213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23" name="Google Shape;1023;p43"/>
          <p:cNvSpPr/>
          <p:nvPr/>
        </p:nvSpPr>
        <p:spPr>
          <a:xfrm>
            <a:off x="5181600" y="61722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4" name="Google Shape;1024;p43"/>
          <p:cNvCxnSpPr/>
          <p:nvPr/>
        </p:nvCxnSpPr>
        <p:spPr>
          <a:xfrm rot="10800000">
            <a:off x="6503987" y="640715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5" name="Google Shape;1025;p43"/>
          <p:cNvSpPr/>
          <p:nvPr/>
        </p:nvSpPr>
        <p:spPr>
          <a:xfrm>
            <a:off x="7010400" y="61785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26" name="Google Shape;1026;p43"/>
          <p:cNvSpPr/>
          <p:nvPr/>
        </p:nvSpPr>
        <p:spPr>
          <a:xfrm>
            <a:off x="5943600" y="3581400"/>
            <a:ext cx="2677816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Resulting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43"/>
          <p:cNvSpPr/>
          <p:nvPr/>
        </p:nvSpPr>
        <p:spPr>
          <a:xfrm>
            <a:off x="5181600" y="41148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3"/>
          <p:cNvSpPr/>
          <p:nvPr/>
        </p:nvSpPr>
        <p:spPr>
          <a:xfrm>
            <a:off x="5181600" y="50292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9" name="Google Shape;1029;p43"/>
          <p:cNvCxnSpPr/>
          <p:nvPr/>
        </p:nvCxnSpPr>
        <p:spPr>
          <a:xfrm rot="10800000">
            <a:off x="6477000" y="60198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0" name="Google Shape;1030;p43"/>
          <p:cNvSpPr/>
          <p:nvPr/>
        </p:nvSpPr>
        <p:spPr>
          <a:xfrm>
            <a:off x="6983413" y="5791200"/>
            <a:ext cx="908076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%rsp+8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31" name="Google Shape;1031;p43"/>
          <p:cNvSpPr/>
          <p:nvPr/>
        </p:nvSpPr>
        <p:spPr>
          <a:xfrm>
            <a:off x="5181600" y="54102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%rbx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4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7" name="Google Shape;1037;p44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8" name="Google Shape;1038;p4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Callee-Saved Example #2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39" name="Google Shape;1039;p44"/>
          <p:cNvSpPr/>
          <p:nvPr/>
        </p:nvSpPr>
        <p:spPr>
          <a:xfrm>
            <a:off x="381000" y="3200400"/>
            <a:ext cx="4419600" cy="34290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call_incr2: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pushq   %rbx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subq    $16, %rsp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%rdi, %rbx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movq    $15213, 8(%rsp)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movl    $3000, %esi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leaq    8(%rsp), %rdi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call    incr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addq    %rbx, %rax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addq    $16, %rsp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popq    %rbx</a:t>
            </a:r>
            <a:endParaRPr b="1" i="0" sz="1800" u="none" cap="none" strike="noStrike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ret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0" name="Google Shape;1040;p44"/>
          <p:cNvSpPr/>
          <p:nvPr/>
        </p:nvSpPr>
        <p:spPr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6199">
              <a:schemeClr val="lt2">
                <a:alpha val="74509"/>
              </a:schemeClr>
            </a:outerShdw>
          </a:effectLst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call_incr2(long x)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v1 = 15213;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v2 = incr(&amp;v1,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x+v2;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1" name="Google Shape;1041;p44"/>
          <p:cNvCxnSpPr/>
          <p:nvPr/>
        </p:nvCxnSpPr>
        <p:spPr>
          <a:xfrm rot="10800000">
            <a:off x="6477000" y="59436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2" name="Google Shape;1042;p44"/>
          <p:cNvSpPr/>
          <p:nvPr/>
        </p:nvSpPr>
        <p:spPr>
          <a:xfrm>
            <a:off x="6983413" y="57848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43" name="Google Shape;1043;p44"/>
          <p:cNvSpPr/>
          <p:nvPr/>
        </p:nvSpPr>
        <p:spPr>
          <a:xfrm>
            <a:off x="5943600" y="4267200"/>
            <a:ext cx="2808561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Pre-return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44"/>
          <p:cNvSpPr/>
          <p:nvPr/>
        </p:nvSpPr>
        <p:spPr>
          <a:xfrm>
            <a:off x="5181600" y="48006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44"/>
          <p:cNvSpPr/>
          <p:nvPr/>
        </p:nvSpPr>
        <p:spPr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44"/>
          <p:cNvSpPr/>
          <p:nvPr/>
        </p:nvSpPr>
        <p:spPr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15213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47" name="Google Shape;1047;p44"/>
          <p:cNvSpPr/>
          <p:nvPr/>
        </p:nvSpPr>
        <p:spPr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8" name="Google Shape;1048;p44"/>
          <p:cNvCxnSpPr/>
          <p:nvPr/>
        </p:nvCxnSpPr>
        <p:spPr>
          <a:xfrm rot="10800000">
            <a:off x="6503987" y="366395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9" name="Google Shape;1049;p44"/>
          <p:cNvSpPr/>
          <p:nvPr/>
        </p:nvSpPr>
        <p:spPr>
          <a:xfrm>
            <a:off x="7010400" y="3435350"/>
            <a:ext cx="654025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50" name="Google Shape;1050;p44"/>
          <p:cNvSpPr/>
          <p:nvPr/>
        </p:nvSpPr>
        <p:spPr>
          <a:xfrm>
            <a:off x="5943600" y="838200"/>
            <a:ext cx="2677816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Resulting Stack Structure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4"/>
          <p:cNvSpPr/>
          <p:nvPr/>
        </p:nvSpPr>
        <p:spPr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. .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4"/>
          <p:cNvSpPr/>
          <p:nvPr/>
        </p:nvSpPr>
        <p:spPr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Rtn address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3" name="Google Shape;1053;p44"/>
          <p:cNvCxnSpPr/>
          <p:nvPr/>
        </p:nvCxnSpPr>
        <p:spPr>
          <a:xfrm rot="10800000">
            <a:off x="6477000" y="3276600"/>
            <a:ext cx="457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4" name="Google Shape;1054;p44"/>
          <p:cNvSpPr/>
          <p:nvPr/>
        </p:nvSpPr>
        <p:spPr>
          <a:xfrm>
            <a:off x="6983413" y="3048000"/>
            <a:ext cx="908076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%rsp+8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055" name="Google Shape;1055;p44"/>
          <p:cNvSpPr/>
          <p:nvPr/>
        </p:nvSpPr>
        <p:spPr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%rbx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5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1" name="Google Shape;1061;p45"/>
          <p:cNvSpPr/>
          <p:nvPr/>
        </p:nvSpPr>
        <p:spPr>
          <a:xfrm>
            <a:off x="7759528" y="22225"/>
            <a:ext cx="1624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2" name="Google Shape;1062;p45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1063" name="Google Shape;1063;p45"/>
          <p:cNvSpPr txBox="1"/>
          <p:nvPr>
            <p:ph idx="1" type="body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Procedures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Stack Structure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7F7F7F"/>
                </a:solidFill>
              </a:rPr>
              <a:t>Calling Conventions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control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Passing data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b="1" lang="en-US">
                <a:solidFill>
                  <a:srgbClr val="7F7F7F"/>
                </a:solidFill>
              </a:rPr>
              <a:t>Managing local data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solidFill>
                  <a:srgbClr val="000000"/>
                </a:solidFill>
              </a:rPr>
              <a:t>Illustration of Recursion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4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9" name="Google Shape;1069;p54"/>
          <p:cNvSpPr/>
          <p:nvPr/>
        </p:nvSpPr>
        <p:spPr>
          <a:xfrm>
            <a:off x="7821628" y="22225"/>
            <a:ext cx="15621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0" name="Google Shape;1070;p54"/>
          <p:cNvSpPr txBox="1"/>
          <p:nvPr>
            <p:ph type="title"/>
          </p:nvPr>
        </p:nvSpPr>
        <p:spPr>
          <a:xfrm>
            <a:off x="381000" y="2540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x86-64 Procedure Summary</a:t>
            </a:r>
            <a:endParaRPr/>
          </a:p>
        </p:txBody>
      </p:sp>
      <p:sp>
        <p:nvSpPr>
          <p:cNvPr id="1071" name="Google Shape;1071;p54"/>
          <p:cNvSpPr txBox="1"/>
          <p:nvPr>
            <p:ph idx="1" type="body"/>
          </p:nvPr>
        </p:nvSpPr>
        <p:spPr>
          <a:xfrm>
            <a:off x="381000" y="1397000"/>
            <a:ext cx="5867400" cy="5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Important Points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Stack is the right data structure for procedure call / return</a:t>
            </a:r>
            <a:endParaRPr/>
          </a:p>
          <a:p>
            <a:pPr indent="-203200" lvl="2" marL="800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▪"/>
            </a:pPr>
            <a:r>
              <a:rPr lang="en-US"/>
              <a:t>If P calls Q, then Q returns before P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Recursion (&amp; mutual recursion) handled by normal calling conventions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Can safely store values in local stack frame and in callee-saved registers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Put function arguments at top of stack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Result return in </a:t>
            </a:r>
            <a:r>
              <a:rPr b="1" lang="en-US">
                <a:latin typeface="Courier"/>
                <a:ea typeface="Courier"/>
                <a:cs typeface="Courier"/>
                <a:sym typeface="Courier"/>
              </a:rPr>
              <a:t>%rax</a:t>
            </a:r>
            <a:endParaRPr b="1">
              <a:latin typeface="Courier"/>
              <a:ea typeface="Courier"/>
              <a:cs typeface="Courier"/>
              <a:sym typeface="Courier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⬛"/>
            </a:pPr>
            <a:r>
              <a:rPr b="0" lang="en-US"/>
              <a:t>Pointers are addresses of values</a:t>
            </a:r>
            <a:endParaRPr/>
          </a:p>
          <a:p>
            <a:pPr indent="-234950" lvl="1" marL="5143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200"/>
              <a:buChar char="▪"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On stack or global</a:t>
            </a:r>
            <a:endParaRPr/>
          </a:p>
        </p:txBody>
      </p:sp>
      <p:sp>
        <p:nvSpPr>
          <p:cNvPr id="1072" name="Google Shape;1072;p54"/>
          <p:cNvSpPr/>
          <p:nvPr/>
        </p:nvSpPr>
        <p:spPr>
          <a:xfrm>
            <a:off x="7620000" y="3276600"/>
            <a:ext cx="1270000" cy="30480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Addr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4"/>
          <p:cNvSpPr/>
          <p:nvPr/>
        </p:nvSpPr>
        <p:spPr>
          <a:xfrm>
            <a:off x="7620000" y="3886200"/>
            <a:ext cx="1270000" cy="18161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Saved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Registers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54"/>
          <p:cNvSpPr/>
          <p:nvPr/>
        </p:nvSpPr>
        <p:spPr>
          <a:xfrm>
            <a:off x="7620000" y="5699125"/>
            <a:ext cx="1270000" cy="736600"/>
          </a:xfrm>
          <a:prstGeom prst="rect">
            <a:avLst/>
          </a:prstGeom>
          <a:solidFill>
            <a:srgbClr val="D6D6F4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</a:t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4"/>
          <p:cNvSpPr/>
          <p:nvPr/>
        </p:nvSpPr>
        <p:spPr>
          <a:xfrm>
            <a:off x="7620000" y="1295400"/>
            <a:ext cx="1270000" cy="137160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6" name="Google Shape;1076;p54"/>
          <p:cNvSpPr/>
          <p:nvPr/>
        </p:nvSpPr>
        <p:spPr>
          <a:xfrm>
            <a:off x="7620000" y="3581400"/>
            <a:ext cx="1270000" cy="304800"/>
          </a:xfrm>
          <a:prstGeom prst="rect">
            <a:avLst/>
          </a:prstGeom>
          <a:solidFill>
            <a:srgbClr val="D9D9D9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Old %rbp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54"/>
          <p:cNvSpPr/>
          <p:nvPr/>
        </p:nvSpPr>
        <p:spPr>
          <a:xfrm>
            <a:off x="7620000" y="2667000"/>
            <a:ext cx="1270000" cy="609600"/>
          </a:xfrm>
          <a:prstGeom prst="rect">
            <a:avLst/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Arguments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7+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54"/>
          <p:cNvSpPr/>
          <p:nvPr/>
        </p:nvSpPr>
        <p:spPr>
          <a:xfrm>
            <a:off x="6535738" y="2125663"/>
            <a:ext cx="68421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Caller</a:t>
            </a:r>
            <a:endParaRPr b="1" i="0" sz="42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4"/>
          <p:cNvSpPr/>
          <p:nvPr/>
        </p:nvSpPr>
        <p:spPr>
          <a:xfrm>
            <a:off x="7283450" y="1295400"/>
            <a:ext cx="228600" cy="2286000"/>
          </a:xfrm>
          <a:custGeom>
            <a:rect b="b" l="l" r="r" t="t"/>
            <a:pathLst>
              <a:path extrusionOk="0" h="21600" w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80" name="Google Shape;1080;p54"/>
          <p:cNvCxnSpPr/>
          <p:nvPr/>
        </p:nvCxnSpPr>
        <p:spPr>
          <a:xfrm>
            <a:off x="7207250" y="3732213"/>
            <a:ext cx="280988" cy="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1" name="Google Shape;1081;p54"/>
          <p:cNvSpPr/>
          <p:nvPr/>
        </p:nvSpPr>
        <p:spPr>
          <a:xfrm>
            <a:off x="5646738" y="3552825"/>
            <a:ext cx="15621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%rbp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(Optional)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2" name="Google Shape;1082;p54"/>
          <p:cNvCxnSpPr/>
          <p:nvPr/>
        </p:nvCxnSpPr>
        <p:spPr>
          <a:xfrm>
            <a:off x="7207250" y="6365875"/>
            <a:ext cx="290513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3" name="Google Shape;1083;p54"/>
          <p:cNvSpPr/>
          <p:nvPr/>
        </p:nvSpPr>
        <p:spPr>
          <a:xfrm>
            <a:off x="5765800" y="6184900"/>
            <a:ext cx="14859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%rsp</a:t>
            </a:r>
            <a:endParaRPr b="1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2012-09-18T14:16:22Z</dcterms:created>
  <dc:creator>Markus Pueschel</dc:creator>
</cp:coreProperties>
</file>