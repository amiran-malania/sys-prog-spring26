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9144000"/>
  <p:notesSz cx="7302500" cy="9586900"/>
  <p:embeddedFontLst>
    <p:embeddedFont>
      <p:font typeface="Arial Narrow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1" roundtripDataSignature="AMtx7mi8zR5cVXpKKe0Y6IZxZzonCWG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Narrow-bold.fntdata"/><Relationship Id="rId47" Type="http://schemas.openxmlformats.org/officeDocument/2006/relationships/font" Target="fonts/ArialNarrow-regular.fntdata"/><Relationship Id="rId49" Type="http://schemas.openxmlformats.org/officeDocument/2006/relationships/font" Target="fonts/ArialNarrow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customschemas.google.com/relationships/presentationmetadata" Target="metadata"/><Relationship Id="rId50" Type="http://schemas.openxmlformats.org/officeDocument/2006/relationships/font" Target="fonts/ArialNarrow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14800" y="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p1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/>
        </p:nvSpPr>
        <p:spPr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/>
        </p:nvSpPr>
        <p:spPr>
          <a:xfrm>
            <a:off x="1181287" y="726135"/>
            <a:ext cx="4953350" cy="358053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974898" y="4555725"/>
            <a:ext cx="5352706" cy="4324461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16" name="Google Shape;416;p10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1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8" name="Google Shape;518;p11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9" name="Google Shape;519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2:notes"/>
          <p:cNvSpPr txBox="1"/>
          <p:nvPr/>
        </p:nvSpPr>
        <p:spPr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57" name="Google Shape;657;p12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8" name="Google Shape;658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64" name="Google Shape;664;p13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5" name="Google Shape;665;p13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10" name="Google Shape;710;p14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p14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5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17" name="Google Shape;717;p15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8" name="Google Shape;718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16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10" name="Google Shape;810;p16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1" name="Google Shape;811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17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17" name="Google Shape;817;p17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8" name="Google Shape;818;p1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18:notes"/>
          <p:cNvSpPr txBox="1"/>
          <p:nvPr/>
        </p:nvSpPr>
        <p:spPr>
          <a:xfrm>
            <a:off x="1179610" y="724518"/>
            <a:ext cx="4955028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24" name="Google Shape;824;p18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31" name="Google Shape;831;p19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2" name="Google Shape;832;p19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0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38" name="Google Shape;838;p20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21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46" name="Google Shape;846;p21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7" name="Google Shape;847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2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3" name="Google Shape;853;p22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4" name="Google Shape;854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23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0" name="Google Shape;860;p23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1" name="Google Shape;861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4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7" name="Google Shape;897;p24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2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82" name="Google Shape;982;p28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3" name="Google Shape;983;p28:notes"/>
          <p:cNvSpPr txBox="1"/>
          <p:nvPr>
            <p:ph idx="12" type="sldNum"/>
          </p:nvPr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29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9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6" name="Google Shape;996;p30:notes"/>
          <p:cNvSpPr txBox="1"/>
          <p:nvPr>
            <p:ph idx="1" type="body"/>
          </p:nvPr>
        </p:nvSpPr>
        <p:spPr>
          <a:xfrm>
            <a:off x="990600" y="4572000"/>
            <a:ext cx="53340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1:notes"/>
          <p:cNvSpPr/>
          <p:nvPr>
            <p:ph idx="2" type="sldImg"/>
          </p:nvPr>
        </p:nvSpPr>
        <p:spPr>
          <a:xfrm>
            <a:off x="1262063" y="723900"/>
            <a:ext cx="4778375" cy="3582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5" name="Google Shape;1005;p31:notes"/>
          <p:cNvSpPr txBox="1"/>
          <p:nvPr>
            <p:ph idx="1" type="body"/>
          </p:nvPr>
        </p:nvSpPr>
        <p:spPr>
          <a:xfrm>
            <a:off x="973219" y="4555725"/>
            <a:ext cx="5356062" cy="4313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2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2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2" name="Google Shape;1022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33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9" name="Google Shape;1029;p33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0" name="Google Shape;1030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34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34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8" name="Google Shape;1038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35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5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6" name="Google Shape;1046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36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6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4" name="Google Shape;1054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7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37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2" name="Google Shape;1062;p3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8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38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0" name="Google Shape;1070;p3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9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9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8" name="Google Shape;1078;p3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0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40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6" name="Google Shape;1086;p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41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41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4" name="Google Shape;1094;p4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2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42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2" name="Google Shape;1102;p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3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43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0" name="Google Shape;1110;p4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4:notes"/>
          <p:cNvSpPr txBox="1"/>
          <p:nvPr/>
        </p:nvSpPr>
        <p:spPr>
          <a:xfrm>
            <a:off x="1174575" y="724518"/>
            <a:ext cx="4955029" cy="358215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7300" lIns="94625" spcFirstLastPara="1" rIns="94625" wrap="square" tIns="47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44:notes"/>
          <p:cNvSpPr txBox="1"/>
          <p:nvPr>
            <p:ph idx="1" type="body"/>
          </p:nvPr>
        </p:nvSpPr>
        <p:spPr>
          <a:xfrm>
            <a:off x="974898" y="4555725"/>
            <a:ext cx="5352706" cy="431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8" name="Google Shape;1118;p4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ctrTitle"/>
          </p:nvPr>
        </p:nvSpPr>
        <p:spPr>
          <a:xfrm>
            <a:off x="685800" y="1708012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685800" y="3886200"/>
            <a:ext cx="7677492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b="0" sz="20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7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8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9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9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28" name="Google Shape;28;p49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⬛"/>
              <a:defRPr sz="2800">
                <a:latin typeface="Calibri"/>
                <a:ea typeface="Calibri"/>
                <a:cs typeface="Calibri"/>
                <a:sym typeface="Calibri"/>
              </a:defRPr>
            </a:lvl1pPr>
            <a:lvl2pPr indent="-3962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64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2" name="Google Shape;32;p5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33" name="Google Shape;33;p5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34" name="Google Shape;34;p5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 sz="2000"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▪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1"/>
          <p:cNvSpPr txBox="1"/>
          <p:nvPr>
            <p:ph type="title"/>
          </p:nvPr>
        </p:nvSpPr>
        <p:spPr>
          <a:xfrm>
            <a:off x="357762" y="445070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⬛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42418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080"/>
              <a:buChar char="▪"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indent="-35052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▪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3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5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1" type="body"/>
          </p:nvPr>
        </p:nvSpPr>
        <p:spPr>
          <a:xfrm rot="5400000">
            <a:off x="1858963" y="-100012"/>
            <a:ext cx="4972050" cy="789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 rot="5400000">
            <a:off x="4998244" y="2188369"/>
            <a:ext cx="6105525" cy="21859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 rot="5400000">
            <a:off x="548481" y="76994"/>
            <a:ext cx="6105525" cy="6408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,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7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7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2" type="body"/>
          </p:nvPr>
        </p:nvSpPr>
        <p:spPr>
          <a:xfrm>
            <a:off x="4662488" y="1362075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3" type="body"/>
          </p:nvPr>
        </p:nvSpPr>
        <p:spPr>
          <a:xfrm>
            <a:off x="4662488" y="3924300"/>
            <a:ext cx="3871912" cy="240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8"/>
          <p:cNvSpPr txBox="1"/>
          <p:nvPr>
            <p:ph type="title"/>
          </p:nvPr>
        </p:nvSpPr>
        <p:spPr>
          <a:xfrm>
            <a:off x="396875" y="228600"/>
            <a:ext cx="87471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1" type="body"/>
          </p:nvPr>
        </p:nvSpPr>
        <p:spPr>
          <a:xfrm>
            <a:off x="638175" y="1362075"/>
            <a:ext cx="3871913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2" type="body"/>
          </p:nvPr>
        </p:nvSpPr>
        <p:spPr>
          <a:xfrm>
            <a:off x="4662488" y="1362075"/>
            <a:ext cx="3871912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5"/>
          <p:cNvSpPr txBox="1"/>
          <p:nvPr>
            <p:ph type="title"/>
          </p:nvPr>
        </p:nvSpPr>
        <p:spPr>
          <a:xfrm>
            <a:off x="374090" y="371182"/>
            <a:ext cx="75914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/>
        </p:txBody>
      </p:sp>
      <p:sp>
        <p:nvSpPr>
          <p:cNvPr id="11" name="Google Shape;11;p45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440"/>
              <a:buFont typeface="Noto Sans Symbols"/>
              <a:buChar char="⬛"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00"/>
              </a:buClr>
              <a:buSzPts val="22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5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Google Shape;13;p45"/>
          <p:cNvSpPr txBox="1"/>
          <p:nvPr/>
        </p:nvSpPr>
        <p:spPr>
          <a:xfrm>
            <a:off x="7717300" y="-27000"/>
            <a:ext cx="1490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Ilia State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5"/>
          <p:cNvSpPr/>
          <p:nvPr/>
        </p:nvSpPr>
        <p:spPr>
          <a:xfrm>
            <a:off x="8830843" y="6611779"/>
            <a:ext cx="31315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i="0" lang="en-GB" sz="10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‹#›</a:t>
            </a:fld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" name="Google Shape;15;p45"/>
          <p:cNvSpPr txBox="1"/>
          <p:nvPr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Bryant and O’Hallaron, Computer Systems: A Programmer’s Perspective, Third Edition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>
            <p:ph type="ctrTitle"/>
          </p:nvPr>
        </p:nvSpPr>
        <p:spPr>
          <a:xfrm>
            <a:off x="685800" y="1708150"/>
            <a:ext cx="7772400" cy="1720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Dynamic Memory Allocation: </a:t>
            </a:r>
            <a:br>
              <a:rPr lang="en-GB"/>
            </a:br>
            <a:r>
              <a:rPr lang="en-GB"/>
              <a:t>Advanced Concepts</a:t>
            </a:r>
            <a:br>
              <a:rPr lang="en-GB"/>
            </a:br>
            <a:br>
              <a:rPr lang="en-GB"/>
            </a:br>
            <a:r>
              <a:rPr b="0" lang="en-GB" sz="2000"/>
              <a:t>Systems Programming	</a:t>
            </a:r>
            <a:endParaRPr/>
          </a:p>
        </p:txBody>
      </p:sp>
      <p:sp>
        <p:nvSpPr>
          <p:cNvPr id="67" name="Google Shape;67;p1"/>
          <p:cNvSpPr txBox="1"/>
          <p:nvPr>
            <p:ph idx="1" type="subTitle"/>
          </p:nvPr>
        </p:nvSpPr>
        <p:spPr>
          <a:xfrm>
            <a:off x="685800" y="3886200"/>
            <a:ext cx="767873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GB"/>
              <a:t>Instructors:</a:t>
            </a: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lang="en-GB"/>
              <a:t>Amiran Malania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Explicit free lists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Segregated free lists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Garbage collection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Memory-related perils and pitfalls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/>
          <p:nvPr/>
        </p:nvSpPr>
        <p:spPr>
          <a:xfrm>
            <a:off x="396875" y="2941520"/>
            <a:ext cx="8594725" cy="1621722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Keeping Track of Free Blocks</a:t>
            </a:r>
            <a:endParaRPr/>
          </a:p>
        </p:txBody>
      </p:sp>
      <p:sp>
        <p:nvSpPr>
          <p:cNvPr id="82" name="Google Shape;82;p3"/>
          <p:cNvSpPr txBox="1"/>
          <p:nvPr>
            <p:ph idx="1" type="body"/>
          </p:nvPr>
        </p:nvSpPr>
        <p:spPr>
          <a:xfrm>
            <a:off x="396875" y="1254210"/>
            <a:ext cx="8594725" cy="5375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1: </a:t>
            </a:r>
            <a:r>
              <a:rPr i="1" lang="en-GB">
                <a:solidFill>
                  <a:srgbClr val="C00000"/>
                </a:solidFill>
              </a:rPr>
              <a:t>Implicit free list </a:t>
            </a:r>
            <a:r>
              <a:rPr lang="en-GB"/>
              <a:t>using length—links all blocks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2: </a:t>
            </a:r>
            <a:r>
              <a:rPr i="1" lang="en-GB">
                <a:solidFill>
                  <a:srgbClr val="C00000"/>
                </a:solidFill>
              </a:rPr>
              <a:t>Explicit free list</a:t>
            </a:r>
            <a:r>
              <a:rPr lang="en-GB">
                <a:solidFill>
                  <a:srgbClr val="C00000"/>
                </a:solidFill>
              </a:rPr>
              <a:t> </a:t>
            </a:r>
            <a:r>
              <a:rPr lang="en-GB"/>
              <a:t>among the free blocks using pointers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3: </a:t>
            </a:r>
            <a:r>
              <a:rPr i="1" lang="en-GB">
                <a:solidFill>
                  <a:srgbClr val="C00000"/>
                </a:solidFill>
              </a:rPr>
              <a:t>Segregated free list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Different free lists for different size classes</a:t>
            </a:r>
            <a:endParaRPr/>
          </a:p>
          <a:p>
            <a:pPr indent="-1460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4: </a:t>
            </a:r>
            <a:r>
              <a:rPr i="1" lang="en-GB">
                <a:solidFill>
                  <a:srgbClr val="C00000"/>
                </a:solidFill>
              </a:rPr>
              <a:t>Blocks sorted by size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Can use a balanced tree (e.g. Red-Black tree) with pointers within each free block, and the length used as a key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16002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9050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2098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5146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2819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6482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9530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52578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626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5867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343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752600" y="1972962"/>
            <a:ext cx="1524000" cy="228600"/>
          </a:xfrm>
          <a:custGeom>
            <a:rect b="b" l="l" r="r" t="t"/>
            <a:pathLst>
              <a:path extrusionOk="0" h="144" w="960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3276600" y="1972962"/>
            <a:ext cx="1219200" cy="228600"/>
          </a:xfrm>
          <a:custGeom>
            <a:rect b="b" l="l" r="r" t="t"/>
            <a:pathLst>
              <a:path extrusionOk="0" h="144" w="768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495800" y="1972962"/>
            <a:ext cx="1828800" cy="228600"/>
          </a:xfrm>
          <a:custGeom>
            <a:rect b="b" l="l" r="r" t="t"/>
            <a:pathLst>
              <a:path extrusionOk="0" h="144" w="1152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16002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9050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22098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25146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8194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31242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4290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7338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40386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6482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9530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2578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5626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58674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1722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6477000" y="3962400"/>
            <a:ext cx="324968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4343400" y="3962400"/>
            <a:ext cx="324968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057400" y="3632200"/>
            <a:ext cx="2599744" cy="482600"/>
          </a:xfrm>
          <a:custGeom>
            <a:rect b="b" l="l" r="r" t="t"/>
            <a:pathLst>
              <a:path extrusionOk="0" h="304" w="1536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idx="4294967295" type="title"/>
          </p:nvPr>
        </p:nvSpPr>
        <p:spPr>
          <a:xfrm>
            <a:off x="292688" y="481601"/>
            <a:ext cx="60706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Explicit Free Lists</a:t>
            </a:r>
            <a:endParaRPr/>
          </a:p>
        </p:txBody>
      </p:sp>
      <p:sp>
        <p:nvSpPr>
          <p:cNvPr id="127" name="Google Shape;127;p4"/>
          <p:cNvSpPr txBox="1"/>
          <p:nvPr>
            <p:ph idx="1" type="body"/>
          </p:nvPr>
        </p:nvSpPr>
        <p:spPr>
          <a:xfrm>
            <a:off x="290513" y="4710113"/>
            <a:ext cx="8307387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Maintain list(s) of </a:t>
            </a:r>
            <a:r>
              <a:rPr i="1" lang="en-GB">
                <a:solidFill>
                  <a:srgbClr val="C00000"/>
                </a:solidFill>
              </a:rPr>
              <a:t>free</a:t>
            </a:r>
            <a:r>
              <a:rPr lang="en-GB"/>
              <a:t> blocks, not </a:t>
            </a:r>
            <a:r>
              <a:rPr i="1" lang="en-GB">
                <a:solidFill>
                  <a:srgbClr val="C00000"/>
                </a:solidFill>
              </a:rPr>
              <a:t>all</a:t>
            </a:r>
            <a:r>
              <a:rPr lang="en-GB"/>
              <a:t> blocks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The “next” free block could be anywhere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So we need to store forward/back pointers, not just sizes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Still need boundary tags for coalescing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Luckily we track only free blocks, so we can use payload area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600200" y="1752600"/>
            <a:ext cx="1370013" cy="381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600200" y="2133600"/>
            <a:ext cx="1676400" cy="1524000"/>
          </a:xfrm>
          <a:prstGeom prst="rect">
            <a:avLst/>
          </a:prstGeom>
          <a:solidFill>
            <a:srgbClr val="D5F1C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 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padding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971800" y="1752600"/>
            <a:ext cx="304800" cy="381000"/>
          </a:xfrm>
          <a:prstGeom prst="rect">
            <a:avLst/>
          </a:prstGeom>
          <a:solidFill>
            <a:srgbClr val="EBAFA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1598612" y="3657600"/>
            <a:ext cx="1373187" cy="381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971800" y="3657600"/>
            <a:ext cx="304800" cy="381000"/>
          </a:xfrm>
          <a:prstGeom prst="rect">
            <a:avLst/>
          </a:prstGeom>
          <a:solidFill>
            <a:srgbClr val="EBAFA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105400" y="1752600"/>
            <a:ext cx="1370013" cy="381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5105400" y="2895600"/>
            <a:ext cx="1676400" cy="762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477000" y="1752600"/>
            <a:ext cx="304800" cy="381000"/>
          </a:xfrm>
          <a:prstGeom prst="rect">
            <a:avLst/>
          </a:prstGeom>
          <a:solidFill>
            <a:srgbClr val="EBAFA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103812" y="3657600"/>
            <a:ext cx="1373187" cy="381000"/>
          </a:xfrm>
          <a:prstGeom prst="rect">
            <a:avLst/>
          </a:prstGeom>
          <a:solidFill>
            <a:srgbClr val="F1C7C7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477000" y="3657600"/>
            <a:ext cx="304800" cy="381000"/>
          </a:xfrm>
          <a:prstGeom prst="rect">
            <a:avLst/>
          </a:prstGeom>
          <a:solidFill>
            <a:srgbClr val="EBAFAF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105400" y="2133600"/>
            <a:ext cx="1676400" cy="3810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5105400" y="2514600"/>
            <a:ext cx="1676400" cy="381000"/>
          </a:xfrm>
          <a:prstGeom prst="rect">
            <a:avLst/>
          </a:prstGeom>
          <a:solidFill>
            <a:srgbClr val="D5D5F4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1371600" y="1307068"/>
            <a:ext cx="21632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Allocated (as before)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638800" y="1295400"/>
            <a:ext cx="6004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Google Shape;147;p5"/>
          <p:cNvCxnSpPr/>
          <p:nvPr/>
        </p:nvCxnSpPr>
        <p:spPr>
          <a:xfrm>
            <a:off x="3276600" y="2057399"/>
            <a:ext cx="457200" cy="0"/>
          </a:xfrm>
          <a:prstGeom prst="straightConnector1">
            <a:avLst/>
          </a:prstGeom>
          <a:noFill/>
          <a:ln cap="flat" cmpd="sng" w="25550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8" name="Google Shape;148;p5"/>
          <p:cNvCxnSpPr/>
          <p:nvPr/>
        </p:nvCxnSpPr>
        <p:spPr>
          <a:xfrm>
            <a:off x="4572000" y="2057399"/>
            <a:ext cx="381000" cy="0"/>
          </a:xfrm>
          <a:prstGeom prst="straightConnector1">
            <a:avLst/>
          </a:prstGeom>
          <a:noFill/>
          <a:ln cap="flat" cmpd="sng" w="25550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49" name="Google Shape;149;p5"/>
          <p:cNvCxnSpPr/>
          <p:nvPr/>
        </p:nvCxnSpPr>
        <p:spPr>
          <a:xfrm>
            <a:off x="6096000" y="2057399"/>
            <a:ext cx="381000" cy="0"/>
          </a:xfrm>
          <a:prstGeom prst="straightConnector1">
            <a:avLst/>
          </a:prstGeom>
          <a:noFill/>
          <a:ln cap="flat" cmpd="sng" w="25550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0" name="Google Shape;150;p5"/>
          <p:cNvSpPr txBox="1"/>
          <p:nvPr>
            <p:ph idx="4294967295" type="title"/>
          </p:nvPr>
        </p:nvSpPr>
        <p:spPr>
          <a:xfrm>
            <a:off x="292688" y="481601"/>
            <a:ext cx="60706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Explicit Free Lists</a:t>
            </a:r>
            <a:endParaRPr/>
          </a:p>
        </p:txBody>
      </p:sp>
      <p:sp>
        <p:nvSpPr>
          <p:cNvPr id="151" name="Google Shape;151;p5"/>
          <p:cNvSpPr txBox="1"/>
          <p:nvPr>
            <p:ph idx="1" type="body"/>
          </p:nvPr>
        </p:nvSpPr>
        <p:spPr>
          <a:xfrm>
            <a:off x="308681" y="1269236"/>
            <a:ext cx="8307387" cy="2436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Logically: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Physically: blocks can be in any order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438400" y="1981200"/>
            <a:ext cx="838200" cy="3048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733800" y="1981200"/>
            <a:ext cx="838200" cy="3048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953000" y="1981200"/>
            <a:ext cx="1143000" cy="304800"/>
          </a:xfrm>
          <a:prstGeom prst="rect">
            <a:avLst/>
          </a:prstGeom>
          <a:solidFill>
            <a:srgbClr val="F2F2F2"/>
          </a:solidFill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 flipH="1">
            <a:off x="4570413" y="2209800"/>
            <a:ext cx="384175" cy="1587"/>
          </a:xfrm>
          <a:prstGeom prst="straightConnector1">
            <a:avLst/>
          </a:prstGeom>
          <a:noFill/>
          <a:ln cap="flat" cmpd="sng" w="25550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6" name="Google Shape;156;p5"/>
          <p:cNvCxnSpPr/>
          <p:nvPr/>
        </p:nvCxnSpPr>
        <p:spPr>
          <a:xfrm flipH="1">
            <a:off x="3275013" y="2209800"/>
            <a:ext cx="460375" cy="1587"/>
          </a:xfrm>
          <a:prstGeom prst="straightConnector1">
            <a:avLst/>
          </a:prstGeom>
          <a:noFill/>
          <a:ln cap="flat" cmpd="sng" w="25550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7" name="Google Shape;157;p5"/>
          <p:cNvCxnSpPr/>
          <p:nvPr/>
        </p:nvCxnSpPr>
        <p:spPr>
          <a:xfrm flipH="1">
            <a:off x="2132013" y="2209800"/>
            <a:ext cx="307975" cy="1587"/>
          </a:xfrm>
          <a:prstGeom prst="straightConnector1">
            <a:avLst/>
          </a:prstGeom>
          <a:noFill/>
          <a:ln cap="flat" cmpd="sng" w="25550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8" name="Google Shape;158;p5"/>
          <p:cNvSpPr/>
          <p:nvPr/>
        </p:nvSpPr>
        <p:spPr>
          <a:xfrm>
            <a:off x="11863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4911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7959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1007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24055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7103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30151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3199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9295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2343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5391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48439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1487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57583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6247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6727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4535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0631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6367989" y="48910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9775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2823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587189" y="48910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643589" y="4484687"/>
            <a:ext cx="5181600" cy="558800"/>
          </a:xfrm>
          <a:custGeom>
            <a:rect b="b" l="l" r="r" t="t"/>
            <a:pathLst>
              <a:path extrusionOk="0" h="352" w="3264">
                <a:moveTo>
                  <a:pt x="0" y="352"/>
                </a:moveTo>
                <a:cubicBezTo>
                  <a:pt x="712" y="191"/>
                  <a:pt x="1424" y="31"/>
                  <a:pt x="1968" y="16"/>
                </a:cubicBezTo>
                <a:cubicBezTo>
                  <a:pt x="2511" y="0"/>
                  <a:pt x="2887" y="128"/>
                  <a:pt x="3264" y="256"/>
                </a:cubicBezTo>
              </a:path>
            </a:pathLst>
          </a:custGeom>
          <a:noFill/>
          <a:ln cap="flat" cmpd="sng" w="255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777189" y="4408487"/>
            <a:ext cx="3352800" cy="635000"/>
          </a:xfrm>
          <a:custGeom>
            <a:rect b="b" l="l" r="r" t="t"/>
            <a:pathLst>
              <a:path extrusionOk="0" h="400" w="2112">
                <a:moveTo>
                  <a:pt x="2112" y="400"/>
                </a:moveTo>
                <a:cubicBezTo>
                  <a:pt x="2072" y="216"/>
                  <a:pt x="2032" y="32"/>
                  <a:pt x="1680" y="16"/>
                </a:cubicBezTo>
                <a:cubicBezTo>
                  <a:pt x="1328" y="0"/>
                  <a:pt x="280" y="256"/>
                  <a:pt x="0" y="304"/>
                </a:cubicBezTo>
              </a:path>
            </a:pathLst>
          </a:custGeom>
          <a:noFill/>
          <a:ln cap="flat" cmpd="sng" w="255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338789" y="5043487"/>
            <a:ext cx="6096000" cy="671513"/>
          </a:xfrm>
          <a:custGeom>
            <a:rect b="b" l="l" r="r" t="t"/>
            <a:pathLst>
              <a:path extrusionOk="0" h="423" w="3840">
                <a:moveTo>
                  <a:pt x="3840" y="0"/>
                </a:moveTo>
                <a:cubicBezTo>
                  <a:pt x="3719" y="136"/>
                  <a:pt x="3599" y="272"/>
                  <a:pt x="3072" y="336"/>
                </a:cubicBezTo>
                <a:cubicBezTo>
                  <a:pt x="2544" y="399"/>
                  <a:pt x="1183" y="423"/>
                  <a:pt x="672" y="384"/>
                </a:cubicBezTo>
                <a:cubicBezTo>
                  <a:pt x="160" y="344"/>
                  <a:pt x="80" y="220"/>
                  <a:pt x="0" y="96"/>
                </a:cubicBezTo>
              </a:path>
            </a:pathLst>
          </a:custGeom>
          <a:noFill/>
          <a:ln cap="flat" cmpd="sng" w="255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386789" y="5043487"/>
            <a:ext cx="2438400" cy="481013"/>
          </a:xfrm>
          <a:custGeom>
            <a:rect b="b" l="l" r="r" t="t"/>
            <a:pathLst>
              <a:path extrusionOk="0" h="303" w="1536">
                <a:moveTo>
                  <a:pt x="0" y="0"/>
                </a:moveTo>
                <a:cubicBezTo>
                  <a:pt x="280" y="136"/>
                  <a:pt x="560" y="272"/>
                  <a:pt x="816" y="288"/>
                </a:cubicBezTo>
                <a:cubicBezTo>
                  <a:pt x="1071" y="303"/>
                  <a:pt x="1303" y="199"/>
                  <a:pt x="1536" y="96"/>
                </a:cubicBezTo>
              </a:path>
            </a:pathLst>
          </a:custGeom>
          <a:noFill/>
          <a:ln cap="flat" cmpd="sng" w="255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6826777" y="4205287"/>
            <a:ext cx="1876453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FF66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Forward (next) links</a:t>
            </a:r>
            <a:endParaRPr b="1" i="0" sz="1600" u="none" cap="none" strike="noStrike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7112527" y="5341937"/>
            <a:ext cx="1572908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Back (prev) links</a:t>
            </a:r>
            <a:endParaRPr b="1" i="0" sz="16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7647514" y="4960937"/>
            <a:ext cx="1841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081989" y="3986212"/>
            <a:ext cx="3495675" cy="1057275"/>
          </a:xfrm>
          <a:custGeom>
            <a:rect b="b" l="l" r="r" t="t"/>
            <a:pathLst>
              <a:path extrusionOk="0" h="666" w="2202">
                <a:moveTo>
                  <a:pt x="0" y="666"/>
                </a:moveTo>
                <a:cubicBezTo>
                  <a:pt x="70" y="585"/>
                  <a:pt x="55" y="289"/>
                  <a:pt x="422" y="178"/>
                </a:cubicBezTo>
                <a:cubicBezTo>
                  <a:pt x="789" y="67"/>
                  <a:pt x="1831" y="37"/>
                  <a:pt x="2202" y="0"/>
                </a:cubicBezTo>
              </a:path>
            </a:pathLst>
          </a:custGeom>
          <a:noFill/>
          <a:ln cap="flat" cmpd="sng" w="2555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186389" y="5043487"/>
            <a:ext cx="762000" cy="457200"/>
          </a:xfrm>
          <a:custGeom>
            <a:rect b="b" l="l" r="r" t="t"/>
            <a:pathLst>
              <a:path extrusionOk="0" h="288" w="480">
                <a:moveTo>
                  <a:pt x="480" y="0"/>
                </a:moveTo>
                <a:cubicBezTo>
                  <a:pt x="448" y="96"/>
                  <a:pt x="416" y="192"/>
                  <a:pt x="336" y="240"/>
                </a:cubicBezTo>
                <a:cubicBezTo>
                  <a:pt x="256" y="288"/>
                  <a:pt x="128" y="288"/>
                  <a:pt x="0" y="288"/>
                </a:cubicBezTo>
              </a:path>
            </a:pathLst>
          </a:custGeom>
          <a:noFill/>
          <a:ln cap="flat" cmpd="sng" w="255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624539" y="4581525"/>
            <a:ext cx="306792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7207777" y="4586287"/>
            <a:ext cx="297174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4386789" y="5197475"/>
            <a:ext cx="290762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/>
          <p:nvPr/>
        </p:nvSpPr>
        <p:spPr>
          <a:xfrm>
            <a:off x="487480" y="3649663"/>
            <a:ext cx="7607300" cy="28289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87480" y="1377950"/>
            <a:ext cx="7607300" cy="20034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9" name="Google Shape;199;p6"/>
          <p:cNvSpPr txBox="1"/>
          <p:nvPr>
            <p:ph idx="4294967295" type="title"/>
          </p:nvPr>
        </p:nvSpPr>
        <p:spPr>
          <a:xfrm>
            <a:off x="381000" y="469312"/>
            <a:ext cx="8001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Allocating From Explicit Free Lists</a:t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567105" y="5181600"/>
            <a:ext cx="7620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567104" y="3810000"/>
            <a:ext cx="761999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567105" y="2227263"/>
            <a:ext cx="36576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567103" y="1541465"/>
            <a:ext cx="762001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2567105" y="2913063"/>
            <a:ext cx="7620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2643305" y="2303463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06" name="Google Shape;206;p6"/>
          <p:cNvCxnSpPr/>
          <p:nvPr/>
        </p:nvCxnSpPr>
        <p:spPr>
          <a:xfrm>
            <a:off x="2719505" y="2379663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07" name="Google Shape;207;p6"/>
          <p:cNvSpPr/>
          <p:nvPr/>
        </p:nvSpPr>
        <p:spPr>
          <a:xfrm>
            <a:off x="2643305" y="1617663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08" name="Google Shape;208;p6"/>
          <p:cNvCxnSpPr/>
          <p:nvPr/>
        </p:nvCxnSpPr>
        <p:spPr>
          <a:xfrm>
            <a:off x="2719505" y="1693863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09" name="Google Shape;209;p6"/>
          <p:cNvSpPr/>
          <p:nvPr/>
        </p:nvSpPr>
        <p:spPr>
          <a:xfrm flipH="1" rot="10800000">
            <a:off x="2948105" y="2987675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10" name="Google Shape;210;p6"/>
          <p:cNvCxnSpPr/>
          <p:nvPr/>
        </p:nvCxnSpPr>
        <p:spPr>
          <a:xfrm flipH="1" rot="10800000">
            <a:off x="3024305" y="2528888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11" name="Google Shape;211;p6"/>
          <p:cNvSpPr/>
          <p:nvPr/>
        </p:nvSpPr>
        <p:spPr>
          <a:xfrm flipH="1" rot="10800000">
            <a:off x="2948105" y="2301875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12" name="Google Shape;212;p6"/>
          <p:cNvCxnSpPr/>
          <p:nvPr/>
        </p:nvCxnSpPr>
        <p:spPr>
          <a:xfrm flipH="1" rot="10800000">
            <a:off x="3024305" y="1843088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13" name="Google Shape;213;p6"/>
          <p:cNvSpPr/>
          <p:nvPr/>
        </p:nvSpPr>
        <p:spPr>
          <a:xfrm>
            <a:off x="1576505" y="6096000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14" name="Google Shape;214;p6"/>
          <p:cNvCxnSpPr/>
          <p:nvPr/>
        </p:nvCxnSpPr>
        <p:spPr>
          <a:xfrm flipH="1" rot="10800000">
            <a:off x="1652705" y="4799013"/>
            <a:ext cx="914400" cy="1374775"/>
          </a:xfrm>
          <a:prstGeom prst="straightConnector1">
            <a:avLst/>
          </a:prstGeom>
          <a:noFill/>
          <a:ln cap="flat" cmpd="sng" w="572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15" name="Google Shape;215;p6"/>
          <p:cNvSpPr/>
          <p:nvPr/>
        </p:nvSpPr>
        <p:spPr>
          <a:xfrm>
            <a:off x="4395905" y="4495800"/>
            <a:ext cx="1828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567105" y="4495800"/>
            <a:ext cx="1828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472105" y="45720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643305" y="38862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6"/>
          <p:cNvSpPr/>
          <p:nvPr/>
        </p:nvSpPr>
        <p:spPr>
          <a:xfrm flipH="1" rot="10800000">
            <a:off x="2948105" y="52578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2643305" y="2989263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2643305" y="52578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2" name="Google Shape;222;p6"/>
          <p:cNvSpPr/>
          <p:nvPr/>
        </p:nvSpPr>
        <p:spPr>
          <a:xfrm flipH="1" rot="10800000">
            <a:off x="2948105" y="38862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3" name="Google Shape;223;p6"/>
          <p:cNvSpPr/>
          <p:nvPr/>
        </p:nvSpPr>
        <p:spPr>
          <a:xfrm flipH="1" rot="10800000">
            <a:off x="2948105" y="1616075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552097" y="1371600"/>
            <a:ext cx="932498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552097" y="3657600"/>
            <a:ext cx="740459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 flipH="1" rot="10800000">
            <a:off x="4776905" y="45720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719505" y="3962400"/>
            <a:ext cx="1828800" cy="533400"/>
          </a:xfrm>
          <a:custGeom>
            <a:rect b="b" l="l" r="r" t="t"/>
            <a:pathLst>
              <a:path extrusionOk="0" h="336" w="1152">
                <a:moveTo>
                  <a:pt x="0" y="0"/>
                </a:moveTo>
                <a:cubicBezTo>
                  <a:pt x="50" y="33"/>
                  <a:pt x="142" y="163"/>
                  <a:pt x="303" y="197"/>
                </a:cubicBezTo>
                <a:cubicBezTo>
                  <a:pt x="464" y="231"/>
                  <a:pt x="824" y="184"/>
                  <a:pt x="965" y="207"/>
                </a:cubicBezTo>
                <a:cubicBezTo>
                  <a:pt x="1106" y="230"/>
                  <a:pt x="1113" y="309"/>
                  <a:pt x="1152" y="336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8" name="Google Shape;228;p6"/>
          <p:cNvSpPr/>
          <p:nvPr/>
        </p:nvSpPr>
        <p:spPr>
          <a:xfrm flipH="1">
            <a:off x="2719505" y="4648200"/>
            <a:ext cx="1828800" cy="533400"/>
          </a:xfrm>
          <a:custGeom>
            <a:rect b="b" l="l" r="r" t="t"/>
            <a:pathLst>
              <a:path extrusionOk="0" h="336" w="1152">
                <a:moveTo>
                  <a:pt x="0" y="0"/>
                </a:moveTo>
                <a:cubicBezTo>
                  <a:pt x="50" y="33"/>
                  <a:pt x="142" y="163"/>
                  <a:pt x="303" y="197"/>
                </a:cubicBezTo>
                <a:cubicBezTo>
                  <a:pt x="464" y="231"/>
                  <a:pt x="824" y="184"/>
                  <a:pt x="965" y="207"/>
                </a:cubicBezTo>
                <a:cubicBezTo>
                  <a:pt x="1106" y="230"/>
                  <a:pt x="1113" y="309"/>
                  <a:pt x="1152" y="336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1762243" y="5972175"/>
            <a:ext cx="212013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malloc(…)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 txBox="1"/>
          <p:nvPr/>
        </p:nvSpPr>
        <p:spPr>
          <a:xfrm>
            <a:off x="6086043" y="3657600"/>
            <a:ext cx="196746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(with splitting)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3329104" y="1465265"/>
            <a:ext cx="304800" cy="4572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3329105" y="2836863"/>
            <a:ext cx="304800" cy="457199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3329105" y="3733800"/>
            <a:ext cx="304800" cy="457201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3176704" y="4038600"/>
            <a:ext cx="1684339" cy="596900"/>
          </a:xfrm>
          <a:custGeom>
            <a:rect b="b" l="l" r="r" t="t"/>
            <a:pathLst>
              <a:path extrusionOk="0" h="424" w="965">
                <a:moveTo>
                  <a:pt x="965" y="424"/>
                </a:moveTo>
                <a:cubicBezTo>
                  <a:pt x="930" y="374"/>
                  <a:pt x="875" y="184"/>
                  <a:pt x="758" y="126"/>
                </a:cubicBezTo>
                <a:cubicBezTo>
                  <a:pt x="641" y="68"/>
                  <a:pt x="389" y="97"/>
                  <a:pt x="263" y="76"/>
                </a:cubicBezTo>
                <a:cubicBezTo>
                  <a:pt x="137" y="55"/>
                  <a:pt x="55" y="16"/>
                  <a:pt x="0" y="0"/>
                </a:cubicBezTo>
              </a:path>
            </a:pathLst>
          </a:custGeom>
          <a:noFill/>
          <a:ln cap="flat" cmpd="sng" w="57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C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329105" y="5105400"/>
            <a:ext cx="304800" cy="457201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3024305" y="4800600"/>
            <a:ext cx="1828800" cy="533400"/>
          </a:xfrm>
          <a:custGeom>
            <a:rect b="b" l="l" r="r" t="t"/>
            <a:pathLst>
              <a:path extrusionOk="0" h="336" w="1152">
                <a:moveTo>
                  <a:pt x="0" y="336"/>
                </a:moveTo>
                <a:cubicBezTo>
                  <a:pt x="53" y="311"/>
                  <a:pt x="159" y="214"/>
                  <a:pt x="318" y="184"/>
                </a:cubicBezTo>
                <a:cubicBezTo>
                  <a:pt x="477" y="154"/>
                  <a:pt x="816" y="185"/>
                  <a:pt x="955" y="154"/>
                </a:cubicBezTo>
                <a:cubicBezTo>
                  <a:pt x="1094" y="123"/>
                  <a:pt x="1111" y="32"/>
                  <a:pt x="1152" y="0"/>
                </a:cubicBezTo>
              </a:path>
            </a:pathLst>
          </a:custGeom>
          <a:noFill/>
          <a:ln cap="flat" cmpd="sng" w="57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C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6243864" y="1066800"/>
            <a:ext cx="1985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graphic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idx="4294967295" type="title"/>
          </p:nvPr>
        </p:nvSpPr>
        <p:spPr>
          <a:xfrm>
            <a:off x="381000" y="493713"/>
            <a:ext cx="74549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With Explicit Free Lists</a:t>
            </a:r>
            <a:endParaRPr/>
          </a:p>
        </p:txBody>
      </p:sp>
      <p:sp>
        <p:nvSpPr>
          <p:cNvPr id="244" name="Google Shape;244;p7"/>
          <p:cNvSpPr txBox="1"/>
          <p:nvPr>
            <p:ph idx="1" type="body"/>
          </p:nvPr>
        </p:nvSpPr>
        <p:spPr>
          <a:xfrm>
            <a:off x="329024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i="1" lang="en-GB">
                <a:solidFill>
                  <a:srgbClr val="C00000"/>
                </a:solidFill>
              </a:rPr>
              <a:t>Insertion policy</a:t>
            </a:r>
            <a:r>
              <a:rPr lang="en-GB">
                <a:solidFill>
                  <a:srgbClr val="C00000"/>
                </a:solidFill>
              </a:rPr>
              <a:t>: </a:t>
            </a:r>
            <a:r>
              <a:rPr lang="en-GB"/>
              <a:t>Where in the free list do you put a newly freed block?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b="1" lang="en-GB"/>
              <a:t>LIFO (last-in-first-out) policy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Insert freed block at the beginning of the free list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C00000"/>
                </a:solidFill>
              </a:rPr>
              <a:t>Pro:</a:t>
            </a:r>
            <a:r>
              <a:rPr lang="en-GB"/>
              <a:t> simple and constant time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C00000"/>
                </a:solidFill>
              </a:rPr>
              <a:t>Con:</a:t>
            </a:r>
            <a:r>
              <a:rPr lang="en-GB"/>
              <a:t> studies suggest fragmentation is worse than address ordered</a:t>
            </a:r>
            <a:endParaRPr/>
          </a:p>
          <a:p>
            <a:pPr indent="-1460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b="1" lang="en-GB"/>
              <a:t>Address-ordered policy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Insert freed blocks so that free list blocks are always in address order: </a:t>
            </a:r>
            <a:br>
              <a:rPr lang="en-GB"/>
            </a:br>
            <a:r>
              <a:rPr lang="en-GB"/>
              <a:t>	         </a:t>
            </a:r>
            <a:r>
              <a:rPr i="1" lang="en-GB"/>
              <a:t>addr(prev) &lt; addr(curr) &lt; addr(next)</a:t>
            </a:r>
            <a:endParaRPr i="1"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 </a:t>
            </a:r>
            <a:r>
              <a:rPr b="1" i="1" lang="en-GB">
                <a:solidFill>
                  <a:srgbClr val="C00000"/>
                </a:solidFill>
              </a:rPr>
              <a:t>Con:</a:t>
            </a:r>
            <a:r>
              <a:rPr lang="en-GB"/>
              <a:t> requires search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 </a:t>
            </a:r>
            <a:r>
              <a:rPr b="1" i="1" lang="en-GB">
                <a:solidFill>
                  <a:srgbClr val="C00000"/>
                </a:solidFill>
              </a:rPr>
              <a:t>Pro:</a:t>
            </a:r>
            <a:r>
              <a:rPr lang="en-GB"/>
              <a:t> studies suggest fragmentation is lower than LIFO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/>
          <p:nvPr/>
        </p:nvSpPr>
        <p:spPr>
          <a:xfrm>
            <a:off x="382588" y="4424363"/>
            <a:ext cx="8151812" cy="1747837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82588" y="1452563"/>
            <a:ext cx="8151812" cy="203517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3997325" y="2616201"/>
            <a:ext cx="1219200" cy="4572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474788" y="2455863"/>
            <a:ext cx="5862637" cy="388938"/>
          </a:xfrm>
          <a:custGeom>
            <a:rect b="b" l="l" r="r" t="t"/>
            <a:pathLst>
              <a:path extrusionOk="0" h="245" w="3693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4" name="Google Shape;254;p8"/>
          <p:cNvSpPr txBox="1"/>
          <p:nvPr>
            <p:ph idx="4294967295" type="title"/>
          </p:nvPr>
        </p:nvSpPr>
        <p:spPr>
          <a:xfrm>
            <a:off x="274638" y="4572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With a LIFO Policy (Case 1)</a:t>
            </a:r>
            <a:endParaRPr/>
          </a:p>
        </p:txBody>
      </p:sp>
      <p:sp>
        <p:nvSpPr>
          <p:cNvPr id="255" name="Google Shape;255;p8"/>
          <p:cNvSpPr txBox="1"/>
          <p:nvPr>
            <p:ph idx="1" type="body"/>
          </p:nvPr>
        </p:nvSpPr>
        <p:spPr>
          <a:xfrm>
            <a:off x="290513" y="3794125"/>
            <a:ext cx="8307387" cy="554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Insert the freed block at the root of the list</a:t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39973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43021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6069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49117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58261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61309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7781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30829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33877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36925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52165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521325" y="2692401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177925" y="2692401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69" name="Google Shape;269;p8"/>
          <p:cNvGrpSpPr/>
          <p:nvPr/>
        </p:nvGrpSpPr>
        <p:grpSpPr>
          <a:xfrm>
            <a:off x="7350125" y="2616201"/>
            <a:ext cx="1066801" cy="457199"/>
            <a:chOff x="4560" y="1399"/>
            <a:chExt cx="672" cy="288"/>
          </a:xfrm>
        </p:grpSpPr>
        <p:sp>
          <p:nvSpPr>
            <p:cNvPr id="270" name="Google Shape;270;p8"/>
            <p:cNvSpPr/>
            <p:nvPr/>
          </p:nvSpPr>
          <p:spPr>
            <a:xfrm>
              <a:off x="4560" y="1447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4752" y="1447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4944" y="1447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5040" y="1399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274" name="Google Shape;274;p8"/>
          <p:cNvSpPr/>
          <p:nvPr/>
        </p:nvSpPr>
        <p:spPr>
          <a:xfrm>
            <a:off x="7426325" y="2768601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75" name="Google Shape;275;p8"/>
          <p:cNvCxnSpPr/>
          <p:nvPr/>
        </p:nvCxnSpPr>
        <p:spPr>
          <a:xfrm>
            <a:off x="7502525" y="2844801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76" name="Google Shape;276;p8"/>
          <p:cNvSpPr/>
          <p:nvPr/>
        </p:nvSpPr>
        <p:spPr>
          <a:xfrm>
            <a:off x="7731125" y="2768601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3625850" y="1778001"/>
            <a:ext cx="1382751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606925" y="1930401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79" name="Google Shape;279;p8"/>
          <p:cNvCxnSpPr/>
          <p:nvPr/>
        </p:nvCxnSpPr>
        <p:spPr>
          <a:xfrm flipH="1">
            <a:off x="4148138" y="2006601"/>
            <a:ext cx="536575" cy="685800"/>
          </a:xfrm>
          <a:prstGeom prst="straightConnector1">
            <a:avLst/>
          </a:prstGeom>
          <a:noFill/>
          <a:ln cap="flat" cmpd="sng" w="572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280" name="Google Shape;280;p8"/>
          <p:cNvSpPr/>
          <p:nvPr/>
        </p:nvSpPr>
        <p:spPr>
          <a:xfrm>
            <a:off x="3997325" y="530383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302125" y="530383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606925" y="530383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4911725" y="5303838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58261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61309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7781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0829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3877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6925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073525" y="5380038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5213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1202639" y="5303838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293" name="Google Shape;293;p8"/>
          <p:cNvGrpSpPr/>
          <p:nvPr/>
        </p:nvGrpSpPr>
        <p:grpSpPr>
          <a:xfrm>
            <a:off x="7350125" y="5227638"/>
            <a:ext cx="1066801" cy="457199"/>
            <a:chOff x="4560" y="3395"/>
            <a:chExt cx="672" cy="288"/>
          </a:xfrm>
        </p:grpSpPr>
        <p:sp>
          <p:nvSpPr>
            <p:cNvPr id="294" name="Google Shape;294;p8"/>
            <p:cNvSpPr/>
            <p:nvPr/>
          </p:nvSpPr>
          <p:spPr>
            <a:xfrm>
              <a:off x="4560" y="34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4752" y="34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4944" y="34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5040" y="3395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298" name="Google Shape;298;p8"/>
          <p:cNvSpPr/>
          <p:nvPr/>
        </p:nvSpPr>
        <p:spPr>
          <a:xfrm>
            <a:off x="7426325" y="5380038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299" name="Google Shape;299;p8"/>
          <p:cNvCxnSpPr/>
          <p:nvPr/>
        </p:nvCxnSpPr>
        <p:spPr>
          <a:xfrm>
            <a:off x="7502525" y="5456238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00" name="Google Shape;300;p8"/>
          <p:cNvSpPr/>
          <p:nvPr/>
        </p:nvSpPr>
        <p:spPr>
          <a:xfrm>
            <a:off x="7731125" y="5380038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216525" y="5303838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149725" y="5151438"/>
            <a:ext cx="3200400" cy="304800"/>
          </a:xfrm>
          <a:custGeom>
            <a:rect b="b" l="l" r="r" t="t"/>
            <a:pathLst>
              <a:path extrusionOk="0" h="218" w="2784">
                <a:moveTo>
                  <a:pt x="0" y="218"/>
                </a:moveTo>
                <a:cubicBezTo>
                  <a:pt x="79" y="187"/>
                  <a:pt x="121" y="62"/>
                  <a:pt x="472" y="31"/>
                </a:cubicBezTo>
                <a:cubicBezTo>
                  <a:pt x="823" y="0"/>
                  <a:pt x="1724" y="0"/>
                  <a:pt x="2109" y="31"/>
                </a:cubicBezTo>
                <a:cubicBezTo>
                  <a:pt x="2494" y="62"/>
                  <a:pt x="2644" y="179"/>
                  <a:pt x="2784" y="218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059363" y="5464175"/>
            <a:ext cx="2752725" cy="371475"/>
          </a:xfrm>
          <a:custGeom>
            <a:rect b="b" l="l" r="r" t="t"/>
            <a:pathLst>
              <a:path extrusionOk="0" h="234" w="1734">
                <a:moveTo>
                  <a:pt x="1734" y="0"/>
                </a:moveTo>
                <a:cubicBezTo>
                  <a:pt x="1692" y="32"/>
                  <a:pt x="1719" y="156"/>
                  <a:pt x="1481" y="192"/>
                </a:cubicBezTo>
                <a:cubicBezTo>
                  <a:pt x="1243" y="228"/>
                  <a:pt x="551" y="234"/>
                  <a:pt x="304" y="217"/>
                </a:cubicBezTo>
                <a:cubicBezTo>
                  <a:pt x="57" y="200"/>
                  <a:pt x="63" y="117"/>
                  <a:pt x="0" y="91"/>
                </a:cubicBezTo>
              </a:path>
            </a:pathLst>
          </a:custGeom>
          <a:noFill/>
          <a:ln cap="flat" cmpd="sng" w="57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4" name="Google Shape;304;p8"/>
          <p:cNvSpPr txBox="1"/>
          <p:nvPr/>
        </p:nvSpPr>
        <p:spPr>
          <a:xfrm>
            <a:off x="400050" y="2640013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 txBox="1"/>
          <p:nvPr/>
        </p:nvSpPr>
        <p:spPr>
          <a:xfrm>
            <a:off x="415925" y="5253038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435624" y="1462088"/>
            <a:ext cx="937949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420688" y="4424363"/>
            <a:ext cx="744178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378325" y="5380038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482725" y="5014913"/>
            <a:ext cx="2671763" cy="441325"/>
          </a:xfrm>
          <a:custGeom>
            <a:rect b="b" l="l" r="r" t="t"/>
            <a:pathLst>
              <a:path extrusionOk="0" h="278" w="1683">
                <a:moveTo>
                  <a:pt x="0" y="278"/>
                </a:moveTo>
                <a:cubicBezTo>
                  <a:pt x="80" y="238"/>
                  <a:pt x="239" y="82"/>
                  <a:pt x="480" y="41"/>
                </a:cubicBezTo>
                <a:cubicBezTo>
                  <a:pt x="721" y="0"/>
                  <a:pt x="1245" y="7"/>
                  <a:pt x="1445" y="30"/>
                </a:cubicBezTo>
                <a:cubicBezTo>
                  <a:pt x="1645" y="53"/>
                  <a:pt x="1634" y="150"/>
                  <a:pt x="1683" y="182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6676350" y="1104515"/>
            <a:ext cx="1985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graphic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/>
          <p:nvPr/>
        </p:nvSpPr>
        <p:spPr>
          <a:xfrm>
            <a:off x="397476" y="1263650"/>
            <a:ext cx="8151812" cy="21304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012213" y="2209800"/>
            <a:ext cx="1219200" cy="4572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1489676" y="2049463"/>
            <a:ext cx="5862637" cy="388937"/>
          </a:xfrm>
          <a:custGeom>
            <a:rect b="b" l="l" r="r" t="t"/>
            <a:pathLst>
              <a:path extrusionOk="0" h="245" w="3693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19" name="Google Shape;319;p9"/>
          <p:cNvSpPr txBox="1"/>
          <p:nvPr>
            <p:ph idx="4294967295" type="title"/>
          </p:nvPr>
        </p:nvSpPr>
        <p:spPr>
          <a:xfrm>
            <a:off x="274638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With a LIFO Policy (Case 2)</a:t>
            </a:r>
            <a:endParaRPr/>
          </a:p>
        </p:txBody>
      </p:sp>
      <p:sp>
        <p:nvSpPr>
          <p:cNvPr id="320" name="Google Shape;320;p9"/>
          <p:cNvSpPr txBox="1"/>
          <p:nvPr>
            <p:ph idx="1" type="body"/>
          </p:nvPr>
        </p:nvSpPr>
        <p:spPr>
          <a:xfrm>
            <a:off x="288324" y="3692525"/>
            <a:ext cx="8307387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Splice out successor block, coalesce both memory blocks and insert the new block at the root of the list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40122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3170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6218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9266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841013" y="2286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145813" y="2286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7930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0978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34026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707413" y="22860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231413" y="2286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536213" y="2286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333" name="Google Shape;333;p9"/>
          <p:cNvGrpSpPr/>
          <p:nvPr/>
        </p:nvGrpSpPr>
        <p:grpSpPr>
          <a:xfrm>
            <a:off x="5231413" y="1524000"/>
            <a:ext cx="1066801" cy="457201"/>
            <a:chOff x="3216" y="876"/>
            <a:chExt cx="672" cy="288"/>
          </a:xfrm>
        </p:grpSpPr>
        <p:sp>
          <p:nvSpPr>
            <p:cNvPr id="334" name="Google Shape;334;p9"/>
            <p:cNvSpPr/>
            <p:nvPr/>
          </p:nvSpPr>
          <p:spPr>
            <a:xfrm>
              <a:off x="3216" y="924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35" name="Google Shape;335;p9"/>
            <p:cNvSpPr/>
            <p:nvPr/>
          </p:nvSpPr>
          <p:spPr>
            <a:xfrm>
              <a:off x="3408" y="924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36" name="Google Shape;336;p9"/>
            <p:cNvSpPr/>
            <p:nvPr/>
          </p:nvSpPr>
          <p:spPr>
            <a:xfrm>
              <a:off x="3600" y="924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37" name="Google Shape;337;p9"/>
            <p:cNvSpPr/>
            <p:nvPr/>
          </p:nvSpPr>
          <p:spPr>
            <a:xfrm>
              <a:off x="3696" y="876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338" name="Google Shape;338;p9"/>
          <p:cNvGrpSpPr/>
          <p:nvPr/>
        </p:nvGrpSpPr>
        <p:grpSpPr>
          <a:xfrm>
            <a:off x="5231413" y="2895600"/>
            <a:ext cx="1066801" cy="457201"/>
            <a:chOff x="3216" y="1740"/>
            <a:chExt cx="672" cy="288"/>
          </a:xfrm>
        </p:grpSpPr>
        <p:sp>
          <p:nvSpPr>
            <p:cNvPr id="339" name="Google Shape;339;p9"/>
            <p:cNvSpPr/>
            <p:nvPr/>
          </p:nvSpPr>
          <p:spPr>
            <a:xfrm>
              <a:off x="3216" y="178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40" name="Google Shape;340;p9"/>
            <p:cNvSpPr/>
            <p:nvPr/>
          </p:nvSpPr>
          <p:spPr>
            <a:xfrm>
              <a:off x="3408" y="178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41" name="Google Shape;341;p9"/>
            <p:cNvSpPr/>
            <p:nvPr/>
          </p:nvSpPr>
          <p:spPr>
            <a:xfrm>
              <a:off x="3600" y="178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42" name="Google Shape;342;p9"/>
            <p:cNvSpPr/>
            <p:nvPr/>
          </p:nvSpPr>
          <p:spPr>
            <a:xfrm>
              <a:off x="3696" y="1740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343" name="Google Shape;343;p9"/>
          <p:cNvSpPr/>
          <p:nvPr/>
        </p:nvSpPr>
        <p:spPr>
          <a:xfrm>
            <a:off x="5307613" y="23622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44" name="Google Shape;344;p9"/>
          <p:cNvCxnSpPr/>
          <p:nvPr/>
        </p:nvCxnSpPr>
        <p:spPr>
          <a:xfrm>
            <a:off x="5383813" y="2438400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45" name="Google Shape;345;p9"/>
          <p:cNvSpPr/>
          <p:nvPr/>
        </p:nvSpPr>
        <p:spPr>
          <a:xfrm>
            <a:off x="5307613" y="16764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46" name="Google Shape;346;p9"/>
          <p:cNvCxnSpPr/>
          <p:nvPr/>
        </p:nvCxnSpPr>
        <p:spPr>
          <a:xfrm>
            <a:off x="5383813" y="1752600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47" name="Google Shape;347;p9"/>
          <p:cNvSpPr/>
          <p:nvPr/>
        </p:nvSpPr>
        <p:spPr>
          <a:xfrm flipH="1" rot="10800000">
            <a:off x="5612413" y="30480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48" name="Google Shape;348;p9"/>
          <p:cNvCxnSpPr/>
          <p:nvPr/>
        </p:nvCxnSpPr>
        <p:spPr>
          <a:xfrm flipH="1" rot="10800000">
            <a:off x="5688613" y="2589213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49" name="Google Shape;349;p9"/>
          <p:cNvSpPr/>
          <p:nvPr/>
        </p:nvSpPr>
        <p:spPr>
          <a:xfrm flipH="1" rot="10800000">
            <a:off x="5612413" y="23622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50" name="Google Shape;350;p9"/>
          <p:cNvCxnSpPr/>
          <p:nvPr/>
        </p:nvCxnSpPr>
        <p:spPr>
          <a:xfrm flipH="1" rot="10800000">
            <a:off x="5688613" y="1903413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51" name="Google Shape;351;p9"/>
          <p:cNvSpPr/>
          <p:nvPr/>
        </p:nvSpPr>
        <p:spPr>
          <a:xfrm>
            <a:off x="1192813" y="2286000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352" name="Google Shape;352;p9"/>
          <p:cNvGrpSpPr/>
          <p:nvPr/>
        </p:nvGrpSpPr>
        <p:grpSpPr>
          <a:xfrm>
            <a:off x="7365013" y="2209800"/>
            <a:ext cx="1066801" cy="457201"/>
            <a:chOff x="4560" y="1308"/>
            <a:chExt cx="672" cy="288"/>
          </a:xfrm>
        </p:grpSpPr>
        <p:sp>
          <p:nvSpPr>
            <p:cNvPr id="353" name="Google Shape;353;p9"/>
            <p:cNvSpPr/>
            <p:nvPr/>
          </p:nvSpPr>
          <p:spPr>
            <a:xfrm>
              <a:off x="4560" y="1356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54" name="Google Shape;354;p9"/>
            <p:cNvSpPr/>
            <p:nvPr/>
          </p:nvSpPr>
          <p:spPr>
            <a:xfrm>
              <a:off x="4752" y="1356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55" name="Google Shape;355;p9"/>
            <p:cNvSpPr/>
            <p:nvPr/>
          </p:nvSpPr>
          <p:spPr>
            <a:xfrm>
              <a:off x="4944" y="1356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5040" y="1308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357" name="Google Shape;357;p9"/>
          <p:cNvSpPr/>
          <p:nvPr/>
        </p:nvSpPr>
        <p:spPr>
          <a:xfrm>
            <a:off x="7441213" y="23622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58" name="Google Shape;358;p9"/>
          <p:cNvCxnSpPr/>
          <p:nvPr/>
        </p:nvCxnSpPr>
        <p:spPr>
          <a:xfrm>
            <a:off x="7517413" y="2438400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59" name="Google Shape;359;p9"/>
          <p:cNvSpPr/>
          <p:nvPr/>
        </p:nvSpPr>
        <p:spPr>
          <a:xfrm>
            <a:off x="7746013" y="2362200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3640738" y="1371600"/>
            <a:ext cx="1382751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4621813" y="1524000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362" name="Google Shape;362;p9"/>
          <p:cNvCxnSpPr/>
          <p:nvPr/>
        </p:nvCxnSpPr>
        <p:spPr>
          <a:xfrm flipH="1">
            <a:off x="4163026" y="1600200"/>
            <a:ext cx="536575" cy="685800"/>
          </a:xfrm>
          <a:prstGeom prst="straightConnector1">
            <a:avLst/>
          </a:prstGeom>
          <a:noFill/>
          <a:ln cap="flat" cmpd="sng" w="572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363" name="Google Shape;363;p9"/>
          <p:cNvSpPr/>
          <p:nvPr/>
        </p:nvSpPr>
        <p:spPr>
          <a:xfrm>
            <a:off x="5307613" y="3048000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4" name="Google Shape;364;p9"/>
          <p:cNvSpPr/>
          <p:nvPr/>
        </p:nvSpPr>
        <p:spPr>
          <a:xfrm flipH="1" rot="10800000">
            <a:off x="5612413" y="16764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414938" y="2233613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430813" y="1276350"/>
            <a:ext cx="937949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7" name="Google Shape;367;p9"/>
          <p:cNvGrpSpPr/>
          <p:nvPr/>
        </p:nvGrpSpPr>
        <p:grpSpPr>
          <a:xfrm>
            <a:off x="397476" y="4575175"/>
            <a:ext cx="8151812" cy="2130425"/>
            <a:chOff x="397476" y="4575175"/>
            <a:chExt cx="8151812" cy="2130425"/>
          </a:xfrm>
        </p:grpSpPr>
        <p:sp>
          <p:nvSpPr>
            <p:cNvPr id="368" name="Google Shape;368;p9"/>
            <p:cNvSpPr/>
            <p:nvPr/>
          </p:nvSpPr>
          <p:spPr>
            <a:xfrm>
              <a:off x="397476" y="4575175"/>
              <a:ext cx="8151812" cy="2130425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369" name="Google Shape;369;p9"/>
            <p:cNvGrpSpPr/>
            <p:nvPr/>
          </p:nvGrpSpPr>
          <p:grpSpPr>
            <a:xfrm>
              <a:off x="5231413" y="6137275"/>
              <a:ext cx="1066801" cy="457201"/>
              <a:chOff x="3216" y="3782"/>
              <a:chExt cx="672" cy="288"/>
            </a:xfrm>
          </p:grpSpPr>
          <p:sp>
            <p:nvSpPr>
              <p:cNvPr id="370" name="Google Shape;370;p9"/>
              <p:cNvSpPr/>
              <p:nvPr/>
            </p:nvSpPr>
            <p:spPr>
              <a:xfrm>
                <a:off x="3216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3408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3600" y="3830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3696" y="3782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cxnSp>
          <p:nvCxnSpPr>
            <p:cNvPr id="374" name="Google Shape;374;p9"/>
            <p:cNvCxnSpPr/>
            <p:nvPr/>
          </p:nvCxnSpPr>
          <p:spPr>
            <a:xfrm flipH="1" rot="10800000">
              <a:off x="5688613" y="5145088"/>
              <a:ext cx="1588" cy="1222375"/>
            </a:xfrm>
            <a:prstGeom prst="straightConnector1">
              <a:avLst/>
            </a:prstGeom>
            <a:noFill/>
            <a:ln cap="flat" cmpd="sng" w="57225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375" name="Google Shape;375;p9"/>
            <p:cNvSpPr/>
            <p:nvPr/>
          </p:nvSpPr>
          <p:spPr>
            <a:xfrm>
              <a:off x="40122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43170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46218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9266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58410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61458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2793013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3097813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3402613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3707413" y="5527675"/>
              <a:ext cx="304800" cy="304800"/>
            </a:xfrm>
            <a:prstGeom prst="rect">
              <a:avLst/>
            </a:prstGeom>
            <a:solidFill>
              <a:srgbClr val="C0C0C0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4088413" y="5603875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55362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387" name="Google Shape;387;p9"/>
            <p:cNvGrpSpPr/>
            <p:nvPr/>
          </p:nvGrpSpPr>
          <p:grpSpPr>
            <a:xfrm>
              <a:off x="5231413" y="4765675"/>
              <a:ext cx="1066801" cy="457201"/>
              <a:chOff x="3216" y="2918"/>
              <a:chExt cx="672" cy="288"/>
            </a:xfrm>
          </p:grpSpPr>
          <p:sp>
            <p:nvSpPr>
              <p:cNvPr id="388" name="Google Shape;388;p9"/>
              <p:cNvSpPr/>
              <p:nvPr/>
            </p:nvSpPr>
            <p:spPr>
              <a:xfrm>
                <a:off x="3216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408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00" y="2966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696" y="2918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sp>
          <p:nvSpPr>
            <p:cNvPr id="392" name="Google Shape;392;p9"/>
            <p:cNvSpPr/>
            <p:nvPr/>
          </p:nvSpPr>
          <p:spPr>
            <a:xfrm>
              <a:off x="5307613" y="4918075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393" name="Google Shape;393;p9"/>
            <p:cNvCxnSpPr/>
            <p:nvPr/>
          </p:nvCxnSpPr>
          <p:spPr>
            <a:xfrm>
              <a:off x="5383813" y="4994275"/>
              <a:ext cx="1588" cy="1219200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394" name="Google Shape;394;p9"/>
            <p:cNvSpPr/>
            <p:nvPr/>
          </p:nvSpPr>
          <p:spPr>
            <a:xfrm flipH="1" rot="10800000">
              <a:off x="5612413" y="6288088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1192813" y="5527675"/>
              <a:ext cx="304800" cy="3048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396" name="Google Shape;396;p9"/>
            <p:cNvGrpSpPr/>
            <p:nvPr/>
          </p:nvGrpSpPr>
          <p:grpSpPr>
            <a:xfrm>
              <a:off x="7365013" y="5451475"/>
              <a:ext cx="1066801" cy="457201"/>
              <a:chOff x="4560" y="3350"/>
              <a:chExt cx="672" cy="288"/>
            </a:xfrm>
          </p:grpSpPr>
          <p:sp>
            <p:nvSpPr>
              <p:cNvPr id="397" name="Google Shape;397;p9"/>
              <p:cNvSpPr/>
              <p:nvPr/>
            </p:nvSpPr>
            <p:spPr>
              <a:xfrm>
                <a:off x="4560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4752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4944" y="3398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5040" y="3350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sp>
          <p:nvSpPr>
            <p:cNvPr id="401" name="Google Shape;401;p9"/>
            <p:cNvSpPr/>
            <p:nvPr/>
          </p:nvSpPr>
          <p:spPr>
            <a:xfrm>
              <a:off x="7441213" y="5603875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402" name="Google Shape;402;p9"/>
            <p:cNvCxnSpPr/>
            <p:nvPr/>
          </p:nvCxnSpPr>
          <p:spPr>
            <a:xfrm>
              <a:off x="7517413" y="5680075"/>
              <a:ext cx="1588" cy="533400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403" name="Google Shape;403;p9"/>
            <p:cNvSpPr/>
            <p:nvPr/>
          </p:nvSpPr>
          <p:spPr>
            <a:xfrm>
              <a:off x="7746013" y="5603875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5231413" y="5527675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4393213" y="5603875"/>
              <a:ext cx="152400" cy="152400"/>
            </a:xfrm>
            <a:prstGeom prst="ellipse">
              <a:avLst/>
            </a:prstGeom>
            <a:noFill/>
            <a:ln cap="flat" cmpd="sng" w="284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4151913" y="5326063"/>
              <a:ext cx="3213100" cy="354012"/>
            </a:xfrm>
            <a:custGeom>
              <a:rect b="b" l="l" r="r" t="t"/>
              <a:pathLst>
                <a:path extrusionOk="0" h="223" w="2024">
                  <a:moveTo>
                    <a:pt x="0" y="223"/>
                  </a:moveTo>
                  <a:cubicBezTo>
                    <a:pt x="48" y="191"/>
                    <a:pt x="63" y="62"/>
                    <a:pt x="288" y="31"/>
                  </a:cubicBezTo>
                  <a:cubicBezTo>
                    <a:pt x="513" y="0"/>
                    <a:pt x="1060" y="4"/>
                    <a:pt x="1349" y="36"/>
                  </a:cubicBezTo>
                  <a:cubicBezTo>
                    <a:pt x="1638" y="68"/>
                    <a:pt x="1884" y="184"/>
                    <a:pt x="2024" y="223"/>
                  </a:cubicBezTo>
                </a:path>
              </a:pathLst>
            </a:custGeom>
            <a:noFill/>
            <a:ln cap="flat" cmpd="sng" w="572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6450613" y="5656263"/>
              <a:ext cx="1371600" cy="365125"/>
            </a:xfrm>
            <a:custGeom>
              <a:rect b="b" l="l" r="r" t="t"/>
              <a:pathLst>
                <a:path extrusionOk="0" h="230" w="864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cap="flat" cmpd="sng" w="572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5307613" y="6289675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09" name="Google Shape;409;p9"/>
            <p:cNvSpPr/>
            <p:nvPr/>
          </p:nvSpPr>
          <p:spPr>
            <a:xfrm flipH="1" rot="10800000">
              <a:off x="5612413" y="4916488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10" name="Google Shape;410;p9"/>
            <p:cNvSpPr txBox="1"/>
            <p:nvPr/>
          </p:nvSpPr>
          <p:spPr>
            <a:xfrm>
              <a:off x="430813" y="5476875"/>
              <a:ext cx="697692" cy="426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GB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9"/>
            <p:cNvSpPr txBox="1"/>
            <p:nvPr/>
          </p:nvSpPr>
          <p:spPr>
            <a:xfrm>
              <a:off x="448635" y="4583237"/>
              <a:ext cx="744178" cy="426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Helvetica Neue"/>
                <a:buNone/>
              </a:pPr>
              <a:r>
                <a:rPr b="1" i="1" lang="en-GB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endParaRPr b="1" i="1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1481738" y="5235575"/>
              <a:ext cx="2662238" cy="436563"/>
            </a:xfrm>
            <a:custGeom>
              <a:rect b="b" l="l" r="r" t="t"/>
              <a:pathLst>
                <a:path extrusionOk="0" h="275" w="1677">
                  <a:moveTo>
                    <a:pt x="0" y="275"/>
                  </a:moveTo>
                  <a:cubicBezTo>
                    <a:pt x="86" y="236"/>
                    <a:pt x="284" y="85"/>
                    <a:pt x="515" y="43"/>
                  </a:cubicBezTo>
                  <a:cubicBezTo>
                    <a:pt x="746" y="1"/>
                    <a:pt x="1195" y="0"/>
                    <a:pt x="1389" y="22"/>
                  </a:cubicBezTo>
                  <a:cubicBezTo>
                    <a:pt x="1583" y="44"/>
                    <a:pt x="1617" y="142"/>
                    <a:pt x="1677" y="174"/>
                  </a:cubicBezTo>
                </a:path>
              </a:pathLst>
            </a:custGeom>
            <a:noFill/>
            <a:ln cap="flat" cmpd="sng" w="572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413" name="Google Shape;413;p9"/>
          <p:cNvSpPr txBox="1"/>
          <p:nvPr/>
        </p:nvSpPr>
        <p:spPr>
          <a:xfrm>
            <a:off x="6676350" y="895350"/>
            <a:ext cx="1985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graphic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"/>
          <p:cNvSpPr/>
          <p:nvPr/>
        </p:nvSpPr>
        <p:spPr>
          <a:xfrm>
            <a:off x="397476" y="4498975"/>
            <a:ext cx="8151812" cy="21304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397476" y="1295400"/>
            <a:ext cx="8151812" cy="21304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4012213" y="2206625"/>
            <a:ext cx="1219200" cy="4572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422" name="Google Shape;422;p10"/>
          <p:cNvGrpSpPr/>
          <p:nvPr/>
        </p:nvGrpSpPr>
        <p:grpSpPr>
          <a:xfrm>
            <a:off x="2793013" y="6097587"/>
            <a:ext cx="1066801" cy="457201"/>
            <a:chOff x="1680" y="3714"/>
            <a:chExt cx="672" cy="288"/>
          </a:xfrm>
        </p:grpSpPr>
        <p:sp>
          <p:nvSpPr>
            <p:cNvPr id="423" name="Google Shape;423;p10"/>
            <p:cNvSpPr/>
            <p:nvPr/>
          </p:nvSpPr>
          <p:spPr>
            <a:xfrm>
              <a:off x="1680" y="3762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24" name="Google Shape;424;p10"/>
            <p:cNvSpPr/>
            <p:nvPr/>
          </p:nvSpPr>
          <p:spPr>
            <a:xfrm>
              <a:off x="1872" y="3762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2064" y="3762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2160" y="3714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cxnSp>
        <p:nvCxnSpPr>
          <p:cNvPr id="427" name="Google Shape;427;p10"/>
          <p:cNvCxnSpPr/>
          <p:nvPr/>
        </p:nvCxnSpPr>
        <p:spPr>
          <a:xfrm flipH="1" rot="10800000">
            <a:off x="3250213" y="5105400"/>
            <a:ext cx="1588" cy="12223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grpSp>
        <p:nvGrpSpPr>
          <p:cNvPr id="428" name="Google Shape;428;p10"/>
          <p:cNvGrpSpPr/>
          <p:nvPr/>
        </p:nvGrpSpPr>
        <p:grpSpPr>
          <a:xfrm>
            <a:off x="2793013" y="4725987"/>
            <a:ext cx="1066801" cy="457201"/>
            <a:chOff x="1680" y="2850"/>
            <a:chExt cx="672" cy="288"/>
          </a:xfrm>
        </p:grpSpPr>
        <p:sp>
          <p:nvSpPr>
            <p:cNvPr id="429" name="Google Shape;429;p10"/>
            <p:cNvSpPr/>
            <p:nvPr/>
          </p:nvSpPr>
          <p:spPr>
            <a:xfrm>
              <a:off x="1680" y="289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1872" y="289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>
              <a:off x="2064" y="2898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>
              <a:off x="2160" y="2850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cxnSp>
        <p:nvCxnSpPr>
          <p:cNvPr id="433" name="Google Shape;433;p10"/>
          <p:cNvCxnSpPr/>
          <p:nvPr/>
        </p:nvCxnSpPr>
        <p:spPr>
          <a:xfrm>
            <a:off x="2945413" y="4954587"/>
            <a:ext cx="1588" cy="12192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34" name="Google Shape;434;p10"/>
          <p:cNvSpPr/>
          <p:nvPr/>
        </p:nvSpPr>
        <p:spPr>
          <a:xfrm>
            <a:off x="1489676" y="2046287"/>
            <a:ext cx="5862637" cy="388938"/>
          </a:xfrm>
          <a:custGeom>
            <a:rect b="b" l="l" r="r" t="t"/>
            <a:pathLst>
              <a:path extrusionOk="0" h="245" w="3693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5" name="Google Shape;435;p10"/>
          <p:cNvSpPr txBox="1"/>
          <p:nvPr>
            <p:ph idx="4294967295" type="title"/>
          </p:nvPr>
        </p:nvSpPr>
        <p:spPr>
          <a:xfrm>
            <a:off x="274638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With a LIFO Policy (Case 3)</a:t>
            </a:r>
            <a:endParaRPr/>
          </a:p>
        </p:txBody>
      </p:sp>
      <p:sp>
        <p:nvSpPr>
          <p:cNvPr id="436" name="Google Shape;436;p10"/>
          <p:cNvSpPr txBox="1"/>
          <p:nvPr>
            <p:ph idx="1" type="body"/>
          </p:nvPr>
        </p:nvSpPr>
        <p:spPr>
          <a:xfrm>
            <a:off x="288324" y="3657600"/>
            <a:ext cx="8307387" cy="784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Splice out predecessor block, coalesce both memory blocks, and insert the new block at the root of the list</a:t>
            </a:r>
            <a:endParaRPr/>
          </a:p>
        </p:txBody>
      </p:sp>
      <p:sp>
        <p:nvSpPr>
          <p:cNvPr id="437" name="Google Shape;437;p10"/>
          <p:cNvSpPr/>
          <p:nvPr/>
        </p:nvSpPr>
        <p:spPr>
          <a:xfrm>
            <a:off x="40122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43170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6218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9266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58410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61458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3" name="Google Shape;443;p10"/>
          <p:cNvSpPr/>
          <p:nvPr/>
        </p:nvSpPr>
        <p:spPr>
          <a:xfrm>
            <a:off x="2793013" y="22828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3097813" y="22828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3402613" y="22828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46" name="Google Shape;446;p10"/>
          <p:cNvSpPr/>
          <p:nvPr/>
        </p:nvSpPr>
        <p:spPr>
          <a:xfrm>
            <a:off x="3707413" y="228282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447" name="Google Shape;447;p10"/>
          <p:cNvGrpSpPr/>
          <p:nvPr/>
        </p:nvGrpSpPr>
        <p:grpSpPr>
          <a:xfrm>
            <a:off x="2793013" y="1520825"/>
            <a:ext cx="1066801" cy="457199"/>
            <a:chOff x="1680" y="831"/>
            <a:chExt cx="672" cy="288"/>
          </a:xfrm>
        </p:grpSpPr>
        <p:sp>
          <p:nvSpPr>
            <p:cNvPr id="448" name="Google Shape;448;p10"/>
            <p:cNvSpPr/>
            <p:nvPr/>
          </p:nvSpPr>
          <p:spPr>
            <a:xfrm>
              <a:off x="1680" y="879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872" y="879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2064" y="879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2160" y="831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452" name="Google Shape;452;p10"/>
          <p:cNvGrpSpPr/>
          <p:nvPr/>
        </p:nvGrpSpPr>
        <p:grpSpPr>
          <a:xfrm>
            <a:off x="2793013" y="2892425"/>
            <a:ext cx="1066801" cy="457199"/>
            <a:chOff x="1680" y="1695"/>
            <a:chExt cx="672" cy="288"/>
          </a:xfrm>
        </p:grpSpPr>
        <p:sp>
          <p:nvSpPr>
            <p:cNvPr id="453" name="Google Shape;453;p10"/>
            <p:cNvSpPr/>
            <p:nvPr/>
          </p:nvSpPr>
          <p:spPr>
            <a:xfrm>
              <a:off x="1680" y="17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1872" y="17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2064" y="174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56" name="Google Shape;456;p10"/>
            <p:cNvSpPr/>
            <p:nvPr/>
          </p:nvSpPr>
          <p:spPr>
            <a:xfrm>
              <a:off x="2160" y="1695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457" name="Google Shape;457;p10"/>
          <p:cNvSpPr/>
          <p:nvPr/>
        </p:nvSpPr>
        <p:spPr>
          <a:xfrm>
            <a:off x="2869213" y="2359025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58" name="Google Shape;458;p10"/>
          <p:cNvCxnSpPr/>
          <p:nvPr/>
        </p:nvCxnSpPr>
        <p:spPr>
          <a:xfrm>
            <a:off x="2945413" y="2435225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59" name="Google Shape;459;p10"/>
          <p:cNvSpPr/>
          <p:nvPr/>
        </p:nvSpPr>
        <p:spPr>
          <a:xfrm>
            <a:off x="2869213" y="1673225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60" name="Google Shape;460;p10"/>
          <p:cNvCxnSpPr/>
          <p:nvPr/>
        </p:nvCxnSpPr>
        <p:spPr>
          <a:xfrm>
            <a:off x="2945413" y="1749425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1" name="Google Shape;461;p10"/>
          <p:cNvSpPr/>
          <p:nvPr/>
        </p:nvSpPr>
        <p:spPr>
          <a:xfrm flipH="1" rot="10800000">
            <a:off x="3174013" y="304323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62" name="Google Shape;462;p10"/>
          <p:cNvCxnSpPr/>
          <p:nvPr/>
        </p:nvCxnSpPr>
        <p:spPr>
          <a:xfrm flipH="1" rot="10800000">
            <a:off x="3250213" y="2584450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3" name="Google Shape;463;p10"/>
          <p:cNvSpPr/>
          <p:nvPr/>
        </p:nvSpPr>
        <p:spPr>
          <a:xfrm flipH="1" rot="10800000">
            <a:off x="3174013" y="235743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64" name="Google Shape;464;p10"/>
          <p:cNvCxnSpPr/>
          <p:nvPr/>
        </p:nvCxnSpPr>
        <p:spPr>
          <a:xfrm flipH="1" rot="10800000">
            <a:off x="3250213" y="1898650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65" name="Google Shape;465;p10"/>
          <p:cNvSpPr/>
          <p:nvPr/>
        </p:nvSpPr>
        <p:spPr>
          <a:xfrm>
            <a:off x="52314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5536213" y="2282825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67" name="Google Shape;467;p10"/>
          <p:cNvSpPr/>
          <p:nvPr/>
        </p:nvSpPr>
        <p:spPr>
          <a:xfrm>
            <a:off x="1192813" y="2282825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468" name="Google Shape;468;p10"/>
          <p:cNvGrpSpPr/>
          <p:nvPr/>
        </p:nvGrpSpPr>
        <p:grpSpPr>
          <a:xfrm>
            <a:off x="7365013" y="2206625"/>
            <a:ext cx="1066801" cy="457199"/>
            <a:chOff x="4560" y="1263"/>
            <a:chExt cx="672" cy="288"/>
          </a:xfrm>
        </p:grpSpPr>
        <p:sp>
          <p:nvSpPr>
            <p:cNvPr id="469" name="Google Shape;469;p10"/>
            <p:cNvSpPr/>
            <p:nvPr/>
          </p:nvSpPr>
          <p:spPr>
            <a:xfrm>
              <a:off x="4560" y="131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70" name="Google Shape;470;p10"/>
            <p:cNvSpPr/>
            <p:nvPr/>
          </p:nvSpPr>
          <p:spPr>
            <a:xfrm>
              <a:off x="4752" y="131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71" name="Google Shape;471;p10"/>
            <p:cNvSpPr/>
            <p:nvPr/>
          </p:nvSpPr>
          <p:spPr>
            <a:xfrm>
              <a:off x="4944" y="131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72" name="Google Shape;472;p10"/>
            <p:cNvSpPr/>
            <p:nvPr/>
          </p:nvSpPr>
          <p:spPr>
            <a:xfrm>
              <a:off x="5040" y="1263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473" name="Google Shape;473;p10"/>
          <p:cNvSpPr/>
          <p:nvPr/>
        </p:nvSpPr>
        <p:spPr>
          <a:xfrm>
            <a:off x="7441213" y="2359025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74" name="Google Shape;474;p10"/>
          <p:cNvCxnSpPr/>
          <p:nvPr/>
        </p:nvCxnSpPr>
        <p:spPr>
          <a:xfrm>
            <a:off x="7517413" y="2435225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75" name="Google Shape;475;p10"/>
          <p:cNvSpPr/>
          <p:nvPr/>
        </p:nvSpPr>
        <p:spPr>
          <a:xfrm>
            <a:off x="7746013" y="2359025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76" name="Google Shape;476;p10"/>
          <p:cNvSpPr txBox="1"/>
          <p:nvPr/>
        </p:nvSpPr>
        <p:spPr>
          <a:xfrm>
            <a:off x="3640738" y="1368425"/>
            <a:ext cx="1382751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0"/>
          <p:cNvSpPr/>
          <p:nvPr/>
        </p:nvSpPr>
        <p:spPr>
          <a:xfrm>
            <a:off x="4621813" y="1520825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478" name="Google Shape;478;p10"/>
          <p:cNvCxnSpPr/>
          <p:nvPr/>
        </p:nvCxnSpPr>
        <p:spPr>
          <a:xfrm flipH="1">
            <a:off x="4163026" y="1597025"/>
            <a:ext cx="536575" cy="685800"/>
          </a:xfrm>
          <a:prstGeom prst="straightConnector1">
            <a:avLst/>
          </a:prstGeom>
          <a:noFill/>
          <a:ln cap="flat" cmpd="sng" w="572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479" name="Google Shape;479;p10"/>
          <p:cNvSpPr/>
          <p:nvPr/>
        </p:nvSpPr>
        <p:spPr>
          <a:xfrm>
            <a:off x="40122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43170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46218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49266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5841013" y="54879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6145813" y="54879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27930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30978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34026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3707413" y="54879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2869213" y="55641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2869213" y="48783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91" name="Google Shape;491;p10"/>
          <p:cNvSpPr/>
          <p:nvPr/>
        </p:nvSpPr>
        <p:spPr>
          <a:xfrm flipH="1" rot="10800000">
            <a:off x="3174013" y="62484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5536213" y="54879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192813" y="5487987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494" name="Google Shape;494;p10"/>
          <p:cNvGrpSpPr/>
          <p:nvPr/>
        </p:nvGrpSpPr>
        <p:grpSpPr>
          <a:xfrm>
            <a:off x="7365013" y="5411787"/>
            <a:ext cx="1066801" cy="457201"/>
            <a:chOff x="4560" y="3282"/>
            <a:chExt cx="672" cy="288"/>
          </a:xfrm>
        </p:grpSpPr>
        <p:sp>
          <p:nvSpPr>
            <p:cNvPr id="495" name="Google Shape;495;p10"/>
            <p:cNvSpPr/>
            <p:nvPr/>
          </p:nvSpPr>
          <p:spPr>
            <a:xfrm>
              <a:off x="4560" y="3330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96" name="Google Shape;496;p10"/>
            <p:cNvSpPr/>
            <p:nvPr/>
          </p:nvSpPr>
          <p:spPr>
            <a:xfrm>
              <a:off x="4752" y="3330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97" name="Google Shape;497;p10"/>
            <p:cNvSpPr/>
            <p:nvPr/>
          </p:nvSpPr>
          <p:spPr>
            <a:xfrm>
              <a:off x="4944" y="3330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498" name="Google Shape;498;p10"/>
            <p:cNvSpPr/>
            <p:nvPr/>
          </p:nvSpPr>
          <p:spPr>
            <a:xfrm>
              <a:off x="5040" y="3282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499" name="Google Shape;499;p10"/>
          <p:cNvSpPr/>
          <p:nvPr/>
        </p:nvSpPr>
        <p:spPr>
          <a:xfrm>
            <a:off x="7441213" y="55641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00" name="Google Shape;500;p10"/>
          <p:cNvCxnSpPr/>
          <p:nvPr/>
        </p:nvCxnSpPr>
        <p:spPr>
          <a:xfrm>
            <a:off x="7517413" y="56403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1" name="Google Shape;501;p10"/>
          <p:cNvSpPr/>
          <p:nvPr/>
        </p:nvSpPr>
        <p:spPr>
          <a:xfrm>
            <a:off x="7746013" y="55641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02" name="Google Shape;502;p10"/>
          <p:cNvCxnSpPr/>
          <p:nvPr/>
        </p:nvCxnSpPr>
        <p:spPr>
          <a:xfrm>
            <a:off x="1421413" y="5640387"/>
            <a:ext cx="1371600" cy="1588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03" name="Google Shape;503;p10"/>
          <p:cNvSpPr/>
          <p:nvPr/>
        </p:nvSpPr>
        <p:spPr>
          <a:xfrm>
            <a:off x="5231413" y="54879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3174013" y="5564187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2945413" y="5294312"/>
            <a:ext cx="4419600" cy="346075"/>
          </a:xfrm>
          <a:custGeom>
            <a:rect b="b" l="l" r="r" t="t"/>
            <a:pathLst>
              <a:path extrusionOk="0" h="218" w="2784">
                <a:moveTo>
                  <a:pt x="0" y="218"/>
                </a:moveTo>
                <a:cubicBezTo>
                  <a:pt x="79" y="187"/>
                  <a:pt x="121" y="62"/>
                  <a:pt x="472" y="31"/>
                </a:cubicBezTo>
                <a:cubicBezTo>
                  <a:pt x="823" y="0"/>
                  <a:pt x="1724" y="0"/>
                  <a:pt x="2109" y="31"/>
                </a:cubicBezTo>
                <a:cubicBezTo>
                  <a:pt x="2494" y="62"/>
                  <a:pt x="2644" y="179"/>
                  <a:pt x="2784" y="218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5091713" y="5640387"/>
            <a:ext cx="2730500" cy="395288"/>
          </a:xfrm>
          <a:custGeom>
            <a:rect b="b" l="l" r="r" t="t"/>
            <a:pathLst>
              <a:path extrusionOk="0" h="249" w="1720">
                <a:moveTo>
                  <a:pt x="1720" y="0"/>
                </a:moveTo>
                <a:cubicBezTo>
                  <a:pt x="1665" y="35"/>
                  <a:pt x="1632" y="175"/>
                  <a:pt x="1389" y="212"/>
                </a:cubicBezTo>
                <a:cubicBezTo>
                  <a:pt x="1146" y="249"/>
                  <a:pt x="493" y="240"/>
                  <a:pt x="262" y="222"/>
                </a:cubicBezTo>
                <a:cubicBezTo>
                  <a:pt x="31" y="204"/>
                  <a:pt x="55" y="126"/>
                  <a:pt x="0" y="101"/>
                </a:cubicBezTo>
              </a:path>
            </a:pathLst>
          </a:custGeom>
          <a:noFill/>
          <a:ln cap="flat" cmpd="sng" w="572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2869213" y="3044825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2869213" y="62499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09" name="Google Shape;509;p10"/>
          <p:cNvSpPr/>
          <p:nvPr/>
        </p:nvSpPr>
        <p:spPr>
          <a:xfrm flipH="1" rot="10800000">
            <a:off x="3174013" y="4876800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0" name="Google Shape;510;p10"/>
          <p:cNvSpPr/>
          <p:nvPr/>
        </p:nvSpPr>
        <p:spPr>
          <a:xfrm flipH="1" rot="10800000">
            <a:off x="3174013" y="167163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11" name="Google Shape;511;p10"/>
          <p:cNvSpPr txBox="1"/>
          <p:nvPr/>
        </p:nvSpPr>
        <p:spPr>
          <a:xfrm>
            <a:off x="414938" y="2230437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0"/>
          <p:cNvSpPr txBox="1"/>
          <p:nvPr/>
        </p:nvSpPr>
        <p:spPr>
          <a:xfrm>
            <a:off x="430813" y="5437187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0"/>
          <p:cNvSpPr txBox="1"/>
          <p:nvPr/>
        </p:nvSpPr>
        <p:spPr>
          <a:xfrm>
            <a:off x="430813" y="1298699"/>
            <a:ext cx="937949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0"/>
          <p:cNvSpPr txBox="1"/>
          <p:nvPr/>
        </p:nvSpPr>
        <p:spPr>
          <a:xfrm>
            <a:off x="435576" y="4499099"/>
            <a:ext cx="744178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0"/>
          <p:cNvSpPr txBox="1"/>
          <p:nvPr/>
        </p:nvSpPr>
        <p:spPr>
          <a:xfrm>
            <a:off x="6676350" y="949410"/>
            <a:ext cx="1985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graphic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1"/>
          <p:cNvSpPr/>
          <p:nvPr/>
        </p:nvSpPr>
        <p:spPr>
          <a:xfrm>
            <a:off x="405329" y="1277937"/>
            <a:ext cx="8151812" cy="2130425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2" name="Google Shape;522;p11"/>
          <p:cNvSpPr/>
          <p:nvPr/>
        </p:nvSpPr>
        <p:spPr>
          <a:xfrm>
            <a:off x="4020066" y="2224087"/>
            <a:ext cx="1219200" cy="45720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3" name="Google Shape;523;p11"/>
          <p:cNvSpPr/>
          <p:nvPr/>
        </p:nvSpPr>
        <p:spPr>
          <a:xfrm>
            <a:off x="1497529" y="2063749"/>
            <a:ext cx="5862637" cy="388938"/>
          </a:xfrm>
          <a:custGeom>
            <a:rect b="b" l="l" r="r" t="t"/>
            <a:pathLst>
              <a:path extrusionOk="0" h="245" w="3693">
                <a:moveTo>
                  <a:pt x="0" y="245"/>
                </a:moveTo>
                <a:cubicBezTo>
                  <a:pt x="113" y="210"/>
                  <a:pt x="168" y="66"/>
                  <a:pt x="677" y="33"/>
                </a:cubicBezTo>
                <a:cubicBezTo>
                  <a:pt x="1186" y="0"/>
                  <a:pt x="2554" y="13"/>
                  <a:pt x="3057" y="48"/>
                </a:cubicBezTo>
                <a:cubicBezTo>
                  <a:pt x="3560" y="83"/>
                  <a:pt x="3560" y="204"/>
                  <a:pt x="3693" y="245"/>
                </a:cubicBezTo>
              </a:path>
            </a:pathLst>
          </a:custGeom>
          <a:noFill/>
          <a:ln cap="flat" cmpd="sng" w="572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4" name="Google Shape;524;p11"/>
          <p:cNvSpPr txBox="1"/>
          <p:nvPr>
            <p:ph idx="4294967295" type="title"/>
          </p:nvPr>
        </p:nvSpPr>
        <p:spPr>
          <a:xfrm>
            <a:off x="304800" y="3603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With a LIFO Policy (Case 4)</a:t>
            </a:r>
            <a:endParaRPr/>
          </a:p>
        </p:txBody>
      </p:sp>
      <p:sp>
        <p:nvSpPr>
          <p:cNvPr id="525" name="Google Shape;525;p11"/>
          <p:cNvSpPr txBox="1"/>
          <p:nvPr>
            <p:ph idx="1" type="body"/>
          </p:nvPr>
        </p:nvSpPr>
        <p:spPr>
          <a:xfrm>
            <a:off x="304800" y="3613149"/>
            <a:ext cx="8472487" cy="1131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Splice out predecessor and successor blocks, coalesce all 3 memory blocks and insert the new block at the root of the list</a:t>
            </a:r>
            <a:endParaRPr/>
          </a:p>
        </p:txBody>
      </p:sp>
      <p:sp>
        <p:nvSpPr>
          <p:cNvPr id="526" name="Google Shape;526;p11"/>
          <p:cNvSpPr/>
          <p:nvPr/>
        </p:nvSpPr>
        <p:spPr>
          <a:xfrm>
            <a:off x="4020066" y="23002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7" name="Google Shape;527;p11"/>
          <p:cNvSpPr/>
          <p:nvPr/>
        </p:nvSpPr>
        <p:spPr>
          <a:xfrm>
            <a:off x="4324866" y="23002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8" name="Google Shape;528;p11"/>
          <p:cNvSpPr/>
          <p:nvPr/>
        </p:nvSpPr>
        <p:spPr>
          <a:xfrm>
            <a:off x="4629666" y="23002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9" name="Google Shape;529;p11"/>
          <p:cNvSpPr/>
          <p:nvPr/>
        </p:nvSpPr>
        <p:spPr>
          <a:xfrm>
            <a:off x="4934466" y="2300287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0" name="Google Shape;530;p11"/>
          <p:cNvSpPr/>
          <p:nvPr/>
        </p:nvSpPr>
        <p:spPr>
          <a:xfrm>
            <a:off x="58488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1" name="Google Shape;531;p11"/>
          <p:cNvSpPr/>
          <p:nvPr/>
        </p:nvSpPr>
        <p:spPr>
          <a:xfrm>
            <a:off x="61536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2" name="Google Shape;532;p11"/>
          <p:cNvSpPr/>
          <p:nvPr/>
        </p:nvSpPr>
        <p:spPr>
          <a:xfrm>
            <a:off x="28008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3" name="Google Shape;533;p11"/>
          <p:cNvSpPr/>
          <p:nvPr/>
        </p:nvSpPr>
        <p:spPr>
          <a:xfrm>
            <a:off x="31056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4" name="Google Shape;534;p11"/>
          <p:cNvSpPr/>
          <p:nvPr/>
        </p:nvSpPr>
        <p:spPr>
          <a:xfrm>
            <a:off x="34104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37152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536" name="Google Shape;536;p11"/>
          <p:cNvGrpSpPr/>
          <p:nvPr/>
        </p:nvGrpSpPr>
        <p:grpSpPr>
          <a:xfrm>
            <a:off x="2800866" y="1538287"/>
            <a:ext cx="1066801" cy="457199"/>
            <a:chOff x="1680" y="853"/>
            <a:chExt cx="672" cy="288"/>
          </a:xfrm>
        </p:grpSpPr>
        <p:sp>
          <p:nvSpPr>
            <p:cNvPr id="537" name="Google Shape;537;p11"/>
            <p:cNvSpPr/>
            <p:nvPr/>
          </p:nvSpPr>
          <p:spPr>
            <a:xfrm>
              <a:off x="1680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38" name="Google Shape;538;p11"/>
            <p:cNvSpPr/>
            <p:nvPr/>
          </p:nvSpPr>
          <p:spPr>
            <a:xfrm>
              <a:off x="1872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39" name="Google Shape;539;p11"/>
            <p:cNvSpPr/>
            <p:nvPr/>
          </p:nvSpPr>
          <p:spPr>
            <a:xfrm>
              <a:off x="2064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40" name="Google Shape;540;p11"/>
            <p:cNvSpPr/>
            <p:nvPr/>
          </p:nvSpPr>
          <p:spPr>
            <a:xfrm>
              <a:off x="2160" y="853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541" name="Google Shape;541;p11"/>
          <p:cNvGrpSpPr/>
          <p:nvPr/>
        </p:nvGrpSpPr>
        <p:grpSpPr>
          <a:xfrm>
            <a:off x="2800866" y="2909887"/>
            <a:ext cx="1066801" cy="457199"/>
            <a:chOff x="1680" y="1717"/>
            <a:chExt cx="672" cy="288"/>
          </a:xfrm>
        </p:grpSpPr>
        <p:sp>
          <p:nvSpPr>
            <p:cNvPr id="542" name="Google Shape;542;p11"/>
            <p:cNvSpPr/>
            <p:nvPr/>
          </p:nvSpPr>
          <p:spPr>
            <a:xfrm>
              <a:off x="1680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43" name="Google Shape;543;p11"/>
            <p:cNvSpPr/>
            <p:nvPr/>
          </p:nvSpPr>
          <p:spPr>
            <a:xfrm>
              <a:off x="1872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2064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45" name="Google Shape;545;p11"/>
            <p:cNvSpPr/>
            <p:nvPr/>
          </p:nvSpPr>
          <p:spPr>
            <a:xfrm>
              <a:off x="2160" y="1717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546" name="Google Shape;546;p11"/>
          <p:cNvSpPr/>
          <p:nvPr/>
        </p:nvSpPr>
        <p:spPr>
          <a:xfrm>
            <a:off x="2877066" y="23764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47" name="Google Shape;547;p11"/>
          <p:cNvCxnSpPr/>
          <p:nvPr/>
        </p:nvCxnSpPr>
        <p:spPr>
          <a:xfrm>
            <a:off x="2953266" y="24526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48" name="Google Shape;548;p11"/>
          <p:cNvSpPr/>
          <p:nvPr/>
        </p:nvSpPr>
        <p:spPr>
          <a:xfrm>
            <a:off x="2877066" y="16906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49" name="Google Shape;549;p11"/>
          <p:cNvCxnSpPr/>
          <p:nvPr/>
        </p:nvCxnSpPr>
        <p:spPr>
          <a:xfrm>
            <a:off x="2953266" y="17668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0" name="Google Shape;550;p11"/>
          <p:cNvSpPr/>
          <p:nvPr/>
        </p:nvSpPr>
        <p:spPr>
          <a:xfrm flipH="1" rot="10800000">
            <a:off x="3181866" y="30622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51" name="Google Shape;551;p11"/>
          <p:cNvCxnSpPr/>
          <p:nvPr/>
        </p:nvCxnSpPr>
        <p:spPr>
          <a:xfrm flipH="1" rot="10800000">
            <a:off x="3258066" y="2603499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2" name="Google Shape;552;p11"/>
          <p:cNvSpPr/>
          <p:nvPr/>
        </p:nvSpPr>
        <p:spPr>
          <a:xfrm flipH="1" rot="10800000">
            <a:off x="3181866" y="23764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53" name="Google Shape;553;p11"/>
          <p:cNvCxnSpPr/>
          <p:nvPr/>
        </p:nvCxnSpPr>
        <p:spPr>
          <a:xfrm flipH="1" rot="10800000">
            <a:off x="3258066" y="1917699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54" name="Google Shape;554;p11"/>
          <p:cNvSpPr/>
          <p:nvPr/>
        </p:nvSpPr>
        <p:spPr>
          <a:xfrm>
            <a:off x="52392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5544066" y="230028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556" name="Google Shape;556;p11"/>
          <p:cNvGrpSpPr/>
          <p:nvPr/>
        </p:nvGrpSpPr>
        <p:grpSpPr>
          <a:xfrm>
            <a:off x="5239266" y="1538287"/>
            <a:ext cx="1066801" cy="457199"/>
            <a:chOff x="3216" y="853"/>
            <a:chExt cx="672" cy="288"/>
          </a:xfrm>
        </p:grpSpPr>
        <p:sp>
          <p:nvSpPr>
            <p:cNvPr id="557" name="Google Shape;557;p11"/>
            <p:cNvSpPr/>
            <p:nvPr/>
          </p:nvSpPr>
          <p:spPr>
            <a:xfrm>
              <a:off x="3216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3408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3600" y="901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3696" y="853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grpSp>
        <p:nvGrpSpPr>
          <p:cNvPr id="561" name="Google Shape;561;p11"/>
          <p:cNvGrpSpPr/>
          <p:nvPr/>
        </p:nvGrpSpPr>
        <p:grpSpPr>
          <a:xfrm>
            <a:off x="5239266" y="2909887"/>
            <a:ext cx="1066801" cy="457199"/>
            <a:chOff x="3216" y="1717"/>
            <a:chExt cx="672" cy="288"/>
          </a:xfrm>
        </p:grpSpPr>
        <p:sp>
          <p:nvSpPr>
            <p:cNvPr id="562" name="Google Shape;562;p11"/>
            <p:cNvSpPr/>
            <p:nvPr/>
          </p:nvSpPr>
          <p:spPr>
            <a:xfrm>
              <a:off x="3216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63" name="Google Shape;563;p11"/>
            <p:cNvSpPr/>
            <p:nvPr/>
          </p:nvSpPr>
          <p:spPr>
            <a:xfrm>
              <a:off x="3408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3600" y="1765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3696" y="1717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566" name="Google Shape;566;p11"/>
          <p:cNvSpPr/>
          <p:nvPr/>
        </p:nvSpPr>
        <p:spPr>
          <a:xfrm>
            <a:off x="5315466" y="23764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67" name="Google Shape;567;p11"/>
          <p:cNvCxnSpPr/>
          <p:nvPr/>
        </p:nvCxnSpPr>
        <p:spPr>
          <a:xfrm>
            <a:off x="5391666" y="24526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68" name="Google Shape;568;p11"/>
          <p:cNvSpPr/>
          <p:nvPr/>
        </p:nvSpPr>
        <p:spPr>
          <a:xfrm>
            <a:off x="5315466" y="16906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69" name="Google Shape;569;p11"/>
          <p:cNvCxnSpPr/>
          <p:nvPr/>
        </p:nvCxnSpPr>
        <p:spPr>
          <a:xfrm>
            <a:off x="5391666" y="17668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70" name="Google Shape;570;p11"/>
          <p:cNvSpPr/>
          <p:nvPr/>
        </p:nvSpPr>
        <p:spPr>
          <a:xfrm flipH="1" rot="10800000">
            <a:off x="5620266" y="30622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71" name="Google Shape;571;p11"/>
          <p:cNvCxnSpPr/>
          <p:nvPr/>
        </p:nvCxnSpPr>
        <p:spPr>
          <a:xfrm flipH="1" rot="10800000">
            <a:off x="5696466" y="2603499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72" name="Google Shape;572;p11"/>
          <p:cNvSpPr/>
          <p:nvPr/>
        </p:nvSpPr>
        <p:spPr>
          <a:xfrm flipH="1" rot="10800000">
            <a:off x="5620266" y="23764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73" name="Google Shape;573;p11"/>
          <p:cNvCxnSpPr/>
          <p:nvPr/>
        </p:nvCxnSpPr>
        <p:spPr>
          <a:xfrm flipH="1" rot="10800000">
            <a:off x="5696466" y="1917699"/>
            <a:ext cx="1588" cy="536575"/>
          </a:xfrm>
          <a:prstGeom prst="straightConnector1">
            <a:avLst/>
          </a:prstGeom>
          <a:noFill/>
          <a:ln cap="flat" cmpd="sng" w="57225">
            <a:solidFill>
              <a:srgbClr val="C0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74" name="Google Shape;574;p11"/>
          <p:cNvSpPr/>
          <p:nvPr/>
        </p:nvSpPr>
        <p:spPr>
          <a:xfrm>
            <a:off x="1200666" y="2300287"/>
            <a:ext cx="304800" cy="3048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pSp>
        <p:nvGrpSpPr>
          <p:cNvPr id="575" name="Google Shape;575;p11"/>
          <p:cNvGrpSpPr/>
          <p:nvPr/>
        </p:nvGrpSpPr>
        <p:grpSpPr>
          <a:xfrm>
            <a:off x="7372866" y="2224087"/>
            <a:ext cx="1066801" cy="457199"/>
            <a:chOff x="4560" y="1285"/>
            <a:chExt cx="672" cy="288"/>
          </a:xfrm>
        </p:grpSpPr>
        <p:sp>
          <p:nvSpPr>
            <p:cNvPr id="576" name="Google Shape;576;p11"/>
            <p:cNvSpPr/>
            <p:nvPr/>
          </p:nvSpPr>
          <p:spPr>
            <a:xfrm>
              <a:off x="4560" y="133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4752" y="133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78" name="Google Shape;578;p11"/>
            <p:cNvSpPr/>
            <p:nvPr/>
          </p:nvSpPr>
          <p:spPr>
            <a:xfrm>
              <a:off x="4944" y="1333"/>
              <a:ext cx="192" cy="19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579" name="Google Shape;579;p11"/>
            <p:cNvSpPr/>
            <p:nvPr/>
          </p:nvSpPr>
          <p:spPr>
            <a:xfrm>
              <a:off x="5040" y="1285"/>
              <a:ext cx="192" cy="288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</p:grpSp>
      <p:sp>
        <p:nvSpPr>
          <p:cNvPr id="580" name="Google Shape;580;p11"/>
          <p:cNvSpPr/>
          <p:nvPr/>
        </p:nvSpPr>
        <p:spPr>
          <a:xfrm>
            <a:off x="7449066" y="23764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81" name="Google Shape;581;p11"/>
          <p:cNvCxnSpPr/>
          <p:nvPr/>
        </p:nvCxnSpPr>
        <p:spPr>
          <a:xfrm>
            <a:off x="7525266" y="2452687"/>
            <a:ext cx="1588" cy="533400"/>
          </a:xfrm>
          <a:prstGeom prst="straightConnector1">
            <a:avLst/>
          </a:prstGeom>
          <a:noFill/>
          <a:ln cap="flat" cmpd="sng" w="57225">
            <a:solidFill>
              <a:srgbClr val="00B05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82" name="Google Shape;582;p11"/>
          <p:cNvSpPr/>
          <p:nvPr/>
        </p:nvSpPr>
        <p:spPr>
          <a:xfrm>
            <a:off x="7753866" y="2376487"/>
            <a:ext cx="152400" cy="152400"/>
          </a:xfrm>
          <a:prstGeom prst="ellipse">
            <a:avLst/>
          </a:prstGeom>
          <a:noFill/>
          <a:ln cap="flat" cmpd="sng" w="28425">
            <a:solidFill>
              <a:srgbClr val="C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3" name="Google Shape;583;p11"/>
          <p:cNvSpPr txBox="1"/>
          <p:nvPr/>
        </p:nvSpPr>
        <p:spPr>
          <a:xfrm>
            <a:off x="3648591" y="1385887"/>
            <a:ext cx="1382751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4629666" y="1538287"/>
            <a:ext cx="152400" cy="15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585" name="Google Shape;585;p11"/>
          <p:cNvCxnSpPr/>
          <p:nvPr/>
        </p:nvCxnSpPr>
        <p:spPr>
          <a:xfrm flipH="1">
            <a:off x="4170879" y="1614487"/>
            <a:ext cx="536575" cy="685800"/>
          </a:xfrm>
          <a:prstGeom prst="straightConnector1">
            <a:avLst/>
          </a:prstGeom>
          <a:noFill/>
          <a:ln cap="flat" cmpd="sng" w="57225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586" name="Google Shape;586;p11"/>
          <p:cNvSpPr/>
          <p:nvPr/>
        </p:nvSpPr>
        <p:spPr>
          <a:xfrm>
            <a:off x="5315466" y="30622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2877066" y="3062287"/>
            <a:ext cx="152400" cy="1524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8" name="Google Shape;588;p11"/>
          <p:cNvSpPr/>
          <p:nvPr/>
        </p:nvSpPr>
        <p:spPr>
          <a:xfrm flipH="1" rot="10800000">
            <a:off x="5620266" y="16906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89" name="Google Shape;589;p11"/>
          <p:cNvSpPr/>
          <p:nvPr/>
        </p:nvSpPr>
        <p:spPr>
          <a:xfrm flipH="1" rot="10800000">
            <a:off x="3181866" y="1690687"/>
            <a:ext cx="152400" cy="1524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90" name="Google Shape;590;p11"/>
          <p:cNvSpPr txBox="1"/>
          <p:nvPr/>
        </p:nvSpPr>
        <p:spPr>
          <a:xfrm>
            <a:off x="422791" y="2247899"/>
            <a:ext cx="697692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b="1" i="0" lang="en-GB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1"/>
          <p:cNvSpPr txBox="1"/>
          <p:nvPr/>
        </p:nvSpPr>
        <p:spPr>
          <a:xfrm>
            <a:off x="438666" y="1290637"/>
            <a:ext cx="937949" cy="42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5700" spcFirstLastPara="1" rIns="45700" wrap="square" tIns="468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Helvetica Neue"/>
              <a:buNone/>
            </a:pPr>
            <a:r>
              <a:rPr b="1" i="1" lang="en-GB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1" i="1" sz="2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2" name="Google Shape;592;p11"/>
          <p:cNvGrpSpPr/>
          <p:nvPr/>
        </p:nvGrpSpPr>
        <p:grpSpPr>
          <a:xfrm>
            <a:off x="405329" y="4498975"/>
            <a:ext cx="8151812" cy="2130425"/>
            <a:chOff x="405329" y="4498975"/>
            <a:chExt cx="8151812" cy="2130425"/>
          </a:xfrm>
        </p:grpSpPr>
        <p:sp>
          <p:nvSpPr>
            <p:cNvPr id="593" name="Google Shape;593;p11"/>
            <p:cNvSpPr/>
            <p:nvPr/>
          </p:nvSpPr>
          <p:spPr>
            <a:xfrm>
              <a:off x="405329" y="4498975"/>
              <a:ext cx="8151812" cy="2130425"/>
            </a:xfrm>
            <a:prstGeom prst="rect">
              <a:avLst/>
            </a:prstGeom>
            <a:solidFill>
              <a:srgbClr val="E5E5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594" name="Google Shape;594;p11"/>
            <p:cNvGrpSpPr/>
            <p:nvPr/>
          </p:nvGrpSpPr>
          <p:grpSpPr>
            <a:xfrm>
              <a:off x="2800866" y="6096000"/>
              <a:ext cx="1066801" cy="457199"/>
              <a:chOff x="1680" y="3827"/>
              <a:chExt cx="672" cy="288"/>
            </a:xfrm>
          </p:grpSpPr>
          <p:sp>
            <p:nvSpPr>
              <p:cNvPr id="595" name="Google Shape;595;p11"/>
              <p:cNvSpPr/>
              <p:nvPr/>
            </p:nvSpPr>
            <p:spPr>
              <a:xfrm>
                <a:off x="168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96" name="Google Shape;596;p11"/>
              <p:cNvSpPr/>
              <p:nvPr/>
            </p:nvSpPr>
            <p:spPr>
              <a:xfrm>
                <a:off x="1872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97" name="Google Shape;597;p11"/>
              <p:cNvSpPr/>
              <p:nvPr/>
            </p:nvSpPr>
            <p:spPr>
              <a:xfrm>
                <a:off x="2064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598" name="Google Shape;598;p11"/>
              <p:cNvSpPr/>
              <p:nvPr/>
            </p:nvSpPr>
            <p:spPr>
              <a:xfrm>
                <a:off x="2160" y="3827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cxnSp>
          <p:nvCxnSpPr>
            <p:cNvPr id="599" name="Google Shape;599;p11"/>
            <p:cNvCxnSpPr/>
            <p:nvPr/>
          </p:nvCxnSpPr>
          <p:spPr>
            <a:xfrm flipH="1" rot="10800000">
              <a:off x="3258066" y="5103812"/>
              <a:ext cx="1588" cy="1222375"/>
            </a:xfrm>
            <a:prstGeom prst="straightConnector1">
              <a:avLst/>
            </a:prstGeom>
            <a:noFill/>
            <a:ln cap="flat" cmpd="sng" w="57225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grpSp>
          <p:nvGrpSpPr>
            <p:cNvPr id="600" name="Google Shape;600;p11"/>
            <p:cNvGrpSpPr/>
            <p:nvPr/>
          </p:nvGrpSpPr>
          <p:grpSpPr>
            <a:xfrm>
              <a:off x="2800866" y="4724400"/>
              <a:ext cx="1066801" cy="457199"/>
              <a:chOff x="1680" y="2963"/>
              <a:chExt cx="672" cy="288"/>
            </a:xfrm>
          </p:grpSpPr>
          <p:sp>
            <p:nvSpPr>
              <p:cNvPr id="601" name="Google Shape;601;p11"/>
              <p:cNvSpPr/>
              <p:nvPr/>
            </p:nvSpPr>
            <p:spPr>
              <a:xfrm>
                <a:off x="168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02" name="Google Shape;602;p11"/>
              <p:cNvSpPr/>
              <p:nvPr/>
            </p:nvSpPr>
            <p:spPr>
              <a:xfrm>
                <a:off x="1872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03" name="Google Shape;603;p11"/>
              <p:cNvSpPr/>
              <p:nvPr/>
            </p:nvSpPr>
            <p:spPr>
              <a:xfrm>
                <a:off x="2064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04" name="Google Shape;604;p11"/>
              <p:cNvSpPr/>
              <p:nvPr/>
            </p:nvSpPr>
            <p:spPr>
              <a:xfrm>
                <a:off x="2160" y="2963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cxnSp>
          <p:nvCxnSpPr>
            <p:cNvPr id="605" name="Google Shape;605;p11"/>
            <p:cNvCxnSpPr/>
            <p:nvPr/>
          </p:nvCxnSpPr>
          <p:spPr>
            <a:xfrm>
              <a:off x="2953266" y="4953000"/>
              <a:ext cx="1588" cy="1219200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grpSp>
          <p:nvGrpSpPr>
            <p:cNvPr id="606" name="Google Shape;606;p11"/>
            <p:cNvGrpSpPr/>
            <p:nvPr/>
          </p:nvGrpSpPr>
          <p:grpSpPr>
            <a:xfrm>
              <a:off x="5239266" y="6096000"/>
              <a:ext cx="1066801" cy="457199"/>
              <a:chOff x="3216" y="3827"/>
              <a:chExt cx="672" cy="288"/>
            </a:xfrm>
          </p:grpSpPr>
          <p:sp>
            <p:nvSpPr>
              <p:cNvPr id="607" name="Google Shape;607;p11"/>
              <p:cNvSpPr/>
              <p:nvPr/>
            </p:nvSpPr>
            <p:spPr>
              <a:xfrm>
                <a:off x="3216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08" name="Google Shape;608;p11"/>
              <p:cNvSpPr/>
              <p:nvPr/>
            </p:nvSpPr>
            <p:spPr>
              <a:xfrm>
                <a:off x="3408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09" name="Google Shape;609;p11"/>
              <p:cNvSpPr/>
              <p:nvPr/>
            </p:nvSpPr>
            <p:spPr>
              <a:xfrm>
                <a:off x="3600" y="3875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10" name="Google Shape;610;p11"/>
              <p:cNvSpPr/>
              <p:nvPr/>
            </p:nvSpPr>
            <p:spPr>
              <a:xfrm>
                <a:off x="3696" y="3827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cxnSp>
          <p:nvCxnSpPr>
            <p:cNvPr id="611" name="Google Shape;611;p11"/>
            <p:cNvCxnSpPr/>
            <p:nvPr/>
          </p:nvCxnSpPr>
          <p:spPr>
            <a:xfrm flipH="1" rot="10800000">
              <a:off x="5696466" y="5103812"/>
              <a:ext cx="1588" cy="1222375"/>
            </a:xfrm>
            <a:prstGeom prst="straightConnector1">
              <a:avLst/>
            </a:prstGeom>
            <a:noFill/>
            <a:ln cap="flat" cmpd="sng" w="57225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612" name="Google Shape;612;p11"/>
            <p:cNvSpPr/>
            <p:nvPr/>
          </p:nvSpPr>
          <p:spPr>
            <a:xfrm>
              <a:off x="4020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3" name="Google Shape;613;p11"/>
            <p:cNvSpPr/>
            <p:nvPr/>
          </p:nvSpPr>
          <p:spPr>
            <a:xfrm>
              <a:off x="4324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4" name="Google Shape;614;p11"/>
            <p:cNvSpPr/>
            <p:nvPr/>
          </p:nvSpPr>
          <p:spPr>
            <a:xfrm>
              <a:off x="4629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4934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48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7" name="Google Shape;617;p11"/>
            <p:cNvSpPr/>
            <p:nvPr/>
          </p:nvSpPr>
          <p:spPr>
            <a:xfrm>
              <a:off x="6153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8" name="Google Shape;618;p11"/>
            <p:cNvSpPr/>
            <p:nvPr/>
          </p:nvSpPr>
          <p:spPr>
            <a:xfrm>
              <a:off x="28008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31056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34104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1" name="Google Shape;621;p11"/>
            <p:cNvSpPr/>
            <p:nvPr/>
          </p:nvSpPr>
          <p:spPr>
            <a:xfrm>
              <a:off x="3715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2" name="Google Shape;622;p11"/>
            <p:cNvSpPr/>
            <p:nvPr/>
          </p:nvSpPr>
          <p:spPr>
            <a:xfrm>
              <a:off x="2877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3" name="Google Shape;623;p11"/>
            <p:cNvSpPr/>
            <p:nvPr/>
          </p:nvSpPr>
          <p:spPr>
            <a:xfrm>
              <a:off x="28770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4" name="Google Shape;624;p11"/>
            <p:cNvSpPr/>
            <p:nvPr/>
          </p:nvSpPr>
          <p:spPr>
            <a:xfrm flipH="1" rot="10800000">
              <a:off x="31818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25" name="Google Shape;625;p11"/>
            <p:cNvSpPr/>
            <p:nvPr/>
          </p:nvSpPr>
          <p:spPr>
            <a:xfrm>
              <a:off x="55440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626" name="Google Shape;626;p11"/>
            <p:cNvGrpSpPr/>
            <p:nvPr/>
          </p:nvGrpSpPr>
          <p:grpSpPr>
            <a:xfrm>
              <a:off x="5239266" y="4724400"/>
              <a:ext cx="1066801" cy="457199"/>
              <a:chOff x="3216" y="2963"/>
              <a:chExt cx="672" cy="288"/>
            </a:xfrm>
          </p:grpSpPr>
          <p:sp>
            <p:nvSpPr>
              <p:cNvPr id="627" name="Google Shape;627;p11"/>
              <p:cNvSpPr/>
              <p:nvPr/>
            </p:nvSpPr>
            <p:spPr>
              <a:xfrm>
                <a:off x="3216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28" name="Google Shape;628;p11"/>
              <p:cNvSpPr/>
              <p:nvPr/>
            </p:nvSpPr>
            <p:spPr>
              <a:xfrm>
                <a:off x="3408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29" name="Google Shape;629;p11"/>
              <p:cNvSpPr/>
              <p:nvPr/>
            </p:nvSpPr>
            <p:spPr>
              <a:xfrm>
                <a:off x="3600" y="3011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30" name="Google Shape;630;p11"/>
              <p:cNvSpPr/>
              <p:nvPr/>
            </p:nvSpPr>
            <p:spPr>
              <a:xfrm>
                <a:off x="3696" y="2963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sp>
          <p:nvSpPr>
            <p:cNvPr id="631" name="Google Shape;631;p11"/>
            <p:cNvSpPr/>
            <p:nvPr/>
          </p:nvSpPr>
          <p:spPr>
            <a:xfrm>
              <a:off x="5315466" y="48768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632" name="Google Shape;632;p11"/>
            <p:cNvCxnSpPr/>
            <p:nvPr/>
          </p:nvCxnSpPr>
          <p:spPr>
            <a:xfrm>
              <a:off x="5391666" y="4953000"/>
              <a:ext cx="1588" cy="1219200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633" name="Google Shape;633;p11"/>
            <p:cNvSpPr/>
            <p:nvPr/>
          </p:nvSpPr>
          <p:spPr>
            <a:xfrm flipH="1" rot="10800000">
              <a:off x="5620266" y="62484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34" name="Google Shape;634;p11"/>
            <p:cNvSpPr/>
            <p:nvPr/>
          </p:nvSpPr>
          <p:spPr>
            <a:xfrm>
              <a:off x="1200666" y="5486400"/>
              <a:ext cx="304800" cy="3048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635" name="Google Shape;635;p11"/>
            <p:cNvGrpSpPr/>
            <p:nvPr/>
          </p:nvGrpSpPr>
          <p:grpSpPr>
            <a:xfrm>
              <a:off x="7372866" y="5410200"/>
              <a:ext cx="1066801" cy="457199"/>
              <a:chOff x="4560" y="3395"/>
              <a:chExt cx="672" cy="288"/>
            </a:xfrm>
          </p:grpSpPr>
          <p:sp>
            <p:nvSpPr>
              <p:cNvPr id="636" name="Google Shape;636;p11"/>
              <p:cNvSpPr/>
              <p:nvPr/>
            </p:nvSpPr>
            <p:spPr>
              <a:xfrm>
                <a:off x="4560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37" name="Google Shape;637;p11"/>
              <p:cNvSpPr/>
              <p:nvPr/>
            </p:nvSpPr>
            <p:spPr>
              <a:xfrm>
                <a:off x="4752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38" name="Google Shape;638;p11"/>
              <p:cNvSpPr/>
              <p:nvPr/>
            </p:nvSpPr>
            <p:spPr>
              <a:xfrm>
                <a:off x="4944" y="3443"/>
                <a:ext cx="192" cy="192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000066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639" name="Google Shape;639;p11"/>
              <p:cNvSpPr/>
              <p:nvPr/>
            </p:nvSpPr>
            <p:spPr>
              <a:xfrm>
                <a:off x="5040" y="3395"/>
                <a:ext cx="192" cy="288"/>
              </a:xfrm>
              <a:prstGeom prst="rect">
                <a:avLst/>
              </a:pr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</p:grpSp>
        <p:sp>
          <p:nvSpPr>
            <p:cNvPr id="640" name="Google Shape;640;p11"/>
            <p:cNvSpPr/>
            <p:nvPr/>
          </p:nvSpPr>
          <p:spPr>
            <a:xfrm>
              <a:off x="7449066" y="55626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641" name="Google Shape;641;p11"/>
            <p:cNvCxnSpPr/>
            <p:nvPr/>
          </p:nvCxnSpPr>
          <p:spPr>
            <a:xfrm>
              <a:off x="7525266" y="5638800"/>
              <a:ext cx="1588" cy="533400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642" name="Google Shape;642;p11"/>
            <p:cNvSpPr/>
            <p:nvPr/>
          </p:nvSpPr>
          <p:spPr>
            <a:xfrm>
              <a:off x="7753866" y="55626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643" name="Google Shape;643;p11"/>
            <p:cNvCxnSpPr/>
            <p:nvPr/>
          </p:nvCxnSpPr>
          <p:spPr>
            <a:xfrm>
              <a:off x="1429266" y="5638800"/>
              <a:ext cx="1371600" cy="1587"/>
            </a:xfrm>
            <a:prstGeom prst="straightConnector1">
              <a:avLst/>
            </a:prstGeom>
            <a:noFill/>
            <a:ln cap="flat" cmpd="sng" w="57225">
              <a:solidFill>
                <a:srgbClr val="00B05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644" name="Google Shape;644;p11"/>
            <p:cNvSpPr/>
            <p:nvPr/>
          </p:nvSpPr>
          <p:spPr>
            <a:xfrm>
              <a:off x="5239266" y="5486400"/>
              <a:ext cx="304800" cy="3048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6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45" name="Google Shape;645;p11"/>
            <p:cNvSpPr/>
            <p:nvPr/>
          </p:nvSpPr>
          <p:spPr>
            <a:xfrm>
              <a:off x="3181866" y="5562600"/>
              <a:ext cx="152400" cy="152400"/>
            </a:xfrm>
            <a:prstGeom prst="ellipse">
              <a:avLst/>
            </a:prstGeom>
            <a:noFill/>
            <a:ln cap="flat" cmpd="sng" w="28425">
              <a:solidFill>
                <a:srgbClr val="C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46" name="Google Shape;646;p11"/>
            <p:cNvSpPr/>
            <p:nvPr/>
          </p:nvSpPr>
          <p:spPr>
            <a:xfrm>
              <a:off x="2953266" y="5292725"/>
              <a:ext cx="4419600" cy="346075"/>
            </a:xfrm>
            <a:custGeom>
              <a:rect b="b" l="l" r="r" t="t"/>
              <a:pathLst>
                <a:path extrusionOk="0" h="218" w="2784">
                  <a:moveTo>
                    <a:pt x="0" y="218"/>
                  </a:moveTo>
                  <a:cubicBezTo>
                    <a:pt x="79" y="187"/>
                    <a:pt x="121" y="62"/>
                    <a:pt x="472" y="31"/>
                  </a:cubicBezTo>
                  <a:cubicBezTo>
                    <a:pt x="823" y="0"/>
                    <a:pt x="1724" y="0"/>
                    <a:pt x="2109" y="31"/>
                  </a:cubicBezTo>
                  <a:cubicBezTo>
                    <a:pt x="2494" y="62"/>
                    <a:pt x="2644" y="179"/>
                    <a:pt x="2784" y="218"/>
                  </a:cubicBezTo>
                </a:path>
              </a:pathLst>
            </a:custGeom>
            <a:noFill/>
            <a:ln cap="flat" cmpd="sng" w="57225">
              <a:solidFill>
                <a:srgbClr val="00B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47" name="Google Shape;647;p11"/>
            <p:cNvSpPr/>
            <p:nvPr/>
          </p:nvSpPr>
          <p:spPr>
            <a:xfrm>
              <a:off x="6458466" y="5614987"/>
              <a:ext cx="1371600" cy="365125"/>
            </a:xfrm>
            <a:custGeom>
              <a:rect b="b" l="l" r="r" t="t"/>
              <a:pathLst>
                <a:path extrusionOk="0" h="230" w="864">
                  <a:moveTo>
                    <a:pt x="864" y="15"/>
                  </a:moveTo>
                  <a:cubicBezTo>
                    <a:pt x="844" y="50"/>
                    <a:pt x="854" y="224"/>
                    <a:pt x="745" y="227"/>
                  </a:cubicBezTo>
                  <a:cubicBezTo>
                    <a:pt x="636" y="230"/>
                    <a:pt x="334" y="70"/>
                    <a:pt x="210" y="35"/>
                  </a:cubicBezTo>
                  <a:cubicBezTo>
                    <a:pt x="86" y="0"/>
                    <a:pt x="44" y="19"/>
                    <a:pt x="0" y="15"/>
                  </a:cubicBezTo>
                </a:path>
              </a:pathLst>
            </a:custGeom>
            <a:noFill/>
            <a:ln cap="flat" cmpd="sng" w="572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48" name="Google Shape;648;p11"/>
            <p:cNvSpPr/>
            <p:nvPr/>
          </p:nvSpPr>
          <p:spPr>
            <a:xfrm>
              <a:off x="28770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49" name="Google Shape;649;p11"/>
            <p:cNvSpPr/>
            <p:nvPr/>
          </p:nvSpPr>
          <p:spPr>
            <a:xfrm>
              <a:off x="5315466" y="6248400"/>
              <a:ext cx="152400" cy="1524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50" name="Google Shape;650;p11"/>
            <p:cNvSpPr/>
            <p:nvPr/>
          </p:nvSpPr>
          <p:spPr>
            <a:xfrm flipH="1" rot="10800000">
              <a:off x="56202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51" name="Google Shape;651;p11"/>
            <p:cNvSpPr/>
            <p:nvPr/>
          </p:nvSpPr>
          <p:spPr>
            <a:xfrm flipH="1" rot="10800000">
              <a:off x="3181866" y="4876800"/>
              <a:ext cx="152400" cy="1524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652" name="Google Shape;652;p11"/>
            <p:cNvSpPr txBox="1"/>
            <p:nvPr/>
          </p:nvSpPr>
          <p:spPr>
            <a:xfrm>
              <a:off x="438666" y="5435600"/>
              <a:ext cx="697692" cy="426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r>
                <a:rPr b="1" i="0" lang="en-GB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1"/>
            <p:cNvSpPr txBox="1"/>
            <p:nvPr/>
          </p:nvSpPr>
          <p:spPr>
            <a:xfrm>
              <a:off x="443429" y="4516437"/>
              <a:ext cx="744178" cy="426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45700" spcFirstLastPara="1" rIns="45700" wrap="square" tIns="468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Helvetica Neue"/>
                <a:buNone/>
              </a:pPr>
              <a:r>
                <a:rPr b="1" i="1" lang="en-GB" sz="2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After</a:t>
              </a:r>
              <a:endParaRPr b="1" i="1" sz="2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4" name="Google Shape;654;p11"/>
          <p:cNvSpPr txBox="1"/>
          <p:nvPr/>
        </p:nvSpPr>
        <p:spPr>
          <a:xfrm>
            <a:off x="6701064" y="939114"/>
            <a:ext cx="19857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conceptual graphic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2"/>
          <p:cNvSpPr txBox="1"/>
          <p:nvPr>
            <p:ph idx="4294967295" type="title"/>
          </p:nvPr>
        </p:nvSpPr>
        <p:spPr>
          <a:xfrm>
            <a:off x="317500" y="493713"/>
            <a:ext cx="65405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Explicit List Summary</a:t>
            </a:r>
            <a:endParaRPr/>
          </a:p>
        </p:txBody>
      </p:sp>
      <p:sp>
        <p:nvSpPr>
          <p:cNvPr id="661" name="Google Shape;661;p12"/>
          <p:cNvSpPr txBox="1"/>
          <p:nvPr>
            <p:ph idx="1" type="body"/>
          </p:nvPr>
        </p:nvSpPr>
        <p:spPr>
          <a:xfrm>
            <a:off x="335080" y="1220788"/>
            <a:ext cx="8307387" cy="5475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Comparison to implicit list: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Allocate is linear time in number of </a:t>
            </a:r>
            <a:r>
              <a:rPr b="1" i="1" lang="en-GB">
                <a:solidFill>
                  <a:srgbClr val="C00000"/>
                </a:solidFill>
              </a:rPr>
              <a:t>free</a:t>
            </a:r>
            <a:r>
              <a:rPr lang="en-GB"/>
              <a:t> blocks instead of </a:t>
            </a:r>
            <a:r>
              <a:rPr b="1" i="1" lang="en-GB">
                <a:solidFill>
                  <a:srgbClr val="C00000"/>
                </a:solidFill>
              </a:rPr>
              <a:t>all</a:t>
            </a:r>
            <a:r>
              <a:rPr lang="en-GB"/>
              <a:t> blocks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1600"/>
              <a:buChar char="▪"/>
            </a:pPr>
            <a:r>
              <a:rPr b="1" i="1" lang="en-GB">
                <a:solidFill>
                  <a:srgbClr val="C00000"/>
                </a:solidFill>
              </a:rPr>
              <a:t>Much faster </a:t>
            </a:r>
            <a:r>
              <a:rPr lang="en-GB"/>
              <a:t>when most of the memory is full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Slightly more complicated allocate and free since needs to splice blocks in and out of the list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Some extra space for the links (2 extra  words needed for each block)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Does this increase internal fragmentation?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Most common use of linked lists is in conjunction with segregated free lists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Keep multiple linked lists of different size classes, or possibly for different types of objects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3"/>
          <p:cNvSpPr/>
          <p:nvPr/>
        </p:nvSpPr>
        <p:spPr>
          <a:xfrm>
            <a:off x="396875" y="4535664"/>
            <a:ext cx="8061325" cy="10668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3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Keeping Track of Free Blocks</a:t>
            </a:r>
            <a:endParaRPr/>
          </a:p>
        </p:txBody>
      </p:sp>
      <p:sp>
        <p:nvSpPr>
          <p:cNvPr id="669" name="Google Shape;669;p13"/>
          <p:cNvSpPr txBox="1"/>
          <p:nvPr>
            <p:ph idx="1" type="body"/>
          </p:nvPr>
        </p:nvSpPr>
        <p:spPr>
          <a:xfrm>
            <a:off x="396875" y="1254210"/>
            <a:ext cx="8289925" cy="53751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1: </a:t>
            </a:r>
            <a:r>
              <a:rPr i="1" lang="en-GB">
                <a:solidFill>
                  <a:srgbClr val="C00000"/>
                </a:solidFill>
              </a:rPr>
              <a:t>Implicit list </a:t>
            </a:r>
            <a:r>
              <a:rPr lang="en-GB"/>
              <a:t>using length—links all blocks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2: </a:t>
            </a:r>
            <a:r>
              <a:rPr i="1" lang="en-GB">
                <a:solidFill>
                  <a:srgbClr val="C00000"/>
                </a:solidFill>
              </a:rPr>
              <a:t>Explicit list</a:t>
            </a:r>
            <a:r>
              <a:rPr lang="en-GB">
                <a:solidFill>
                  <a:srgbClr val="C00000"/>
                </a:solidFill>
              </a:rPr>
              <a:t> </a:t>
            </a:r>
            <a:r>
              <a:rPr lang="en-GB"/>
              <a:t>among the free blocks using pointers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3: </a:t>
            </a:r>
            <a:r>
              <a:rPr i="1" lang="en-GB">
                <a:solidFill>
                  <a:srgbClr val="C00000"/>
                </a:solidFill>
              </a:rPr>
              <a:t>Segregated free list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Different free lists for different size classes</a:t>
            </a:r>
            <a:endParaRPr/>
          </a:p>
          <a:p>
            <a:pPr indent="-1460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3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Method 4: </a:t>
            </a:r>
            <a:r>
              <a:rPr i="1" lang="en-GB">
                <a:solidFill>
                  <a:srgbClr val="C00000"/>
                </a:solidFill>
              </a:rPr>
              <a:t>Blocks sorted by size</a:t>
            </a:r>
            <a:endParaRPr/>
          </a:p>
          <a:p>
            <a:pPr indent="-285750" lvl="1" marL="742950" rtl="0" algn="l">
              <a:lnSpc>
                <a:spcPct val="88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Can use a balanced tree (e.g. Red-Black tree) with pointers within each free block, and the length used as a key</a:t>
            </a:r>
            <a:endParaRPr/>
          </a:p>
        </p:txBody>
      </p:sp>
      <p:sp>
        <p:nvSpPr>
          <p:cNvPr id="670" name="Google Shape;670;p13"/>
          <p:cNvSpPr/>
          <p:nvPr/>
        </p:nvSpPr>
        <p:spPr>
          <a:xfrm>
            <a:off x="16002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13"/>
          <p:cNvSpPr/>
          <p:nvPr/>
        </p:nvSpPr>
        <p:spPr>
          <a:xfrm>
            <a:off x="19050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2" name="Google Shape;672;p13"/>
          <p:cNvSpPr/>
          <p:nvPr/>
        </p:nvSpPr>
        <p:spPr>
          <a:xfrm>
            <a:off x="22098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3" name="Google Shape;673;p13"/>
          <p:cNvSpPr/>
          <p:nvPr/>
        </p:nvSpPr>
        <p:spPr>
          <a:xfrm>
            <a:off x="25146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4" name="Google Shape;674;p13"/>
          <p:cNvSpPr/>
          <p:nvPr/>
        </p:nvSpPr>
        <p:spPr>
          <a:xfrm>
            <a:off x="2819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5" name="Google Shape;675;p13"/>
          <p:cNvSpPr/>
          <p:nvPr/>
        </p:nvSpPr>
        <p:spPr>
          <a:xfrm>
            <a:off x="31242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3"/>
          <p:cNvSpPr/>
          <p:nvPr/>
        </p:nvSpPr>
        <p:spPr>
          <a:xfrm>
            <a:off x="34290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7" name="Google Shape;677;p13"/>
          <p:cNvSpPr/>
          <p:nvPr/>
        </p:nvSpPr>
        <p:spPr>
          <a:xfrm>
            <a:off x="37338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8" name="Google Shape;678;p13"/>
          <p:cNvSpPr/>
          <p:nvPr/>
        </p:nvSpPr>
        <p:spPr>
          <a:xfrm>
            <a:off x="40386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79" name="Google Shape;679;p13"/>
          <p:cNvSpPr/>
          <p:nvPr/>
        </p:nvSpPr>
        <p:spPr>
          <a:xfrm>
            <a:off x="46482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0" name="Google Shape;680;p13"/>
          <p:cNvSpPr/>
          <p:nvPr/>
        </p:nvSpPr>
        <p:spPr>
          <a:xfrm>
            <a:off x="49530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1" name="Google Shape;681;p13"/>
          <p:cNvSpPr/>
          <p:nvPr/>
        </p:nvSpPr>
        <p:spPr>
          <a:xfrm>
            <a:off x="52578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2" name="Google Shape;682;p13"/>
          <p:cNvSpPr/>
          <p:nvPr/>
        </p:nvSpPr>
        <p:spPr>
          <a:xfrm>
            <a:off x="55626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3" name="Google Shape;683;p13"/>
          <p:cNvSpPr/>
          <p:nvPr/>
        </p:nvSpPr>
        <p:spPr>
          <a:xfrm>
            <a:off x="5867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4" name="Google Shape;684;p13"/>
          <p:cNvSpPr/>
          <p:nvPr/>
        </p:nvSpPr>
        <p:spPr>
          <a:xfrm>
            <a:off x="61722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3"/>
          <p:cNvSpPr/>
          <p:nvPr/>
        </p:nvSpPr>
        <p:spPr>
          <a:xfrm>
            <a:off x="6477000" y="22098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6" name="Google Shape;686;p13"/>
          <p:cNvSpPr/>
          <p:nvPr/>
        </p:nvSpPr>
        <p:spPr>
          <a:xfrm>
            <a:off x="4343400" y="2209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3"/>
          <p:cNvSpPr/>
          <p:nvPr/>
        </p:nvSpPr>
        <p:spPr>
          <a:xfrm>
            <a:off x="1752600" y="1972962"/>
            <a:ext cx="1524000" cy="228600"/>
          </a:xfrm>
          <a:custGeom>
            <a:rect b="b" l="l" r="r" t="t"/>
            <a:pathLst>
              <a:path extrusionOk="0" h="144" w="960">
                <a:moveTo>
                  <a:pt x="0" y="144"/>
                </a:moveTo>
                <a:cubicBezTo>
                  <a:pt x="184" y="72"/>
                  <a:pt x="368" y="0"/>
                  <a:pt x="528" y="0"/>
                </a:cubicBezTo>
                <a:cubicBezTo>
                  <a:pt x="688" y="0"/>
                  <a:pt x="824" y="72"/>
                  <a:pt x="960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8" name="Google Shape;688;p13"/>
          <p:cNvSpPr/>
          <p:nvPr/>
        </p:nvSpPr>
        <p:spPr>
          <a:xfrm>
            <a:off x="3276600" y="1972962"/>
            <a:ext cx="1219200" cy="228600"/>
          </a:xfrm>
          <a:custGeom>
            <a:rect b="b" l="l" r="r" t="t"/>
            <a:pathLst>
              <a:path extrusionOk="0" h="144" w="768">
                <a:moveTo>
                  <a:pt x="0" y="144"/>
                </a:moveTo>
                <a:cubicBezTo>
                  <a:pt x="128" y="72"/>
                  <a:pt x="256" y="0"/>
                  <a:pt x="384" y="0"/>
                </a:cubicBezTo>
                <a:cubicBezTo>
                  <a:pt x="512" y="0"/>
                  <a:pt x="640" y="72"/>
                  <a:pt x="768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89" name="Google Shape;689;p13"/>
          <p:cNvSpPr/>
          <p:nvPr/>
        </p:nvSpPr>
        <p:spPr>
          <a:xfrm>
            <a:off x="4495800" y="1972962"/>
            <a:ext cx="1828800" cy="228600"/>
          </a:xfrm>
          <a:custGeom>
            <a:rect b="b" l="l" r="r" t="t"/>
            <a:pathLst>
              <a:path extrusionOk="0" h="144" w="1152">
                <a:moveTo>
                  <a:pt x="0" y="144"/>
                </a:moveTo>
                <a:cubicBezTo>
                  <a:pt x="192" y="72"/>
                  <a:pt x="384" y="0"/>
                  <a:pt x="576" y="0"/>
                </a:cubicBezTo>
                <a:cubicBezTo>
                  <a:pt x="768" y="0"/>
                  <a:pt x="960" y="72"/>
                  <a:pt x="1152" y="144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0" name="Google Shape;690;p13"/>
          <p:cNvSpPr/>
          <p:nvPr/>
        </p:nvSpPr>
        <p:spPr>
          <a:xfrm>
            <a:off x="16002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3"/>
          <p:cNvSpPr/>
          <p:nvPr/>
        </p:nvSpPr>
        <p:spPr>
          <a:xfrm>
            <a:off x="19050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2" name="Google Shape;692;p13"/>
          <p:cNvSpPr/>
          <p:nvPr/>
        </p:nvSpPr>
        <p:spPr>
          <a:xfrm>
            <a:off x="22098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3" name="Google Shape;693;p13"/>
          <p:cNvSpPr/>
          <p:nvPr/>
        </p:nvSpPr>
        <p:spPr>
          <a:xfrm>
            <a:off x="25146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4" name="Google Shape;694;p13"/>
          <p:cNvSpPr/>
          <p:nvPr/>
        </p:nvSpPr>
        <p:spPr>
          <a:xfrm>
            <a:off x="28194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5" name="Google Shape;695;p13"/>
          <p:cNvSpPr/>
          <p:nvPr/>
        </p:nvSpPr>
        <p:spPr>
          <a:xfrm>
            <a:off x="31242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3"/>
          <p:cNvSpPr/>
          <p:nvPr/>
        </p:nvSpPr>
        <p:spPr>
          <a:xfrm>
            <a:off x="34290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7" name="Google Shape;697;p13"/>
          <p:cNvSpPr/>
          <p:nvPr/>
        </p:nvSpPr>
        <p:spPr>
          <a:xfrm>
            <a:off x="37338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8" name="Google Shape;698;p13"/>
          <p:cNvSpPr/>
          <p:nvPr/>
        </p:nvSpPr>
        <p:spPr>
          <a:xfrm>
            <a:off x="40386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699" name="Google Shape;699;p13"/>
          <p:cNvSpPr/>
          <p:nvPr/>
        </p:nvSpPr>
        <p:spPr>
          <a:xfrm>
            <a:off x="46482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0" name="Google Shape;700;p13"/>
          <p:cNvSpPr/>
          <p:nvPr/>
        </p:nvSpPr>
        <p:spPr>
          <a:xfrm>
            <a:off x="49530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52578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55626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58674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61722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6477000" y="3962400"/>
            <a:ext cx="304800" cy="304800"/>
          </a:xfrm>
          <a:prstGeom prst="rect">
            <a:avLst/>
          </a:prstGeom>
          <a:solidFill>
            <a:srgbClr val="C0C0C0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4343400" y="39624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2057400" y="3632200"/>
            <a:ext cx="2438400" cy="482600"/>
          </a:xfrm>
          <a:custGeom>
            <a:rect b="b" l="l" r="r" t="t"/>
            <a:pathLst>
              <a:path extrusionOk="0" h="304" w="1536">
                <a:moveTo>
                  <a:pt x="0" y="304"/>
                </a:moveTo>
                <a:cubicBezTo>
                  <a:pt x="328" y="167"/>
                  <a:pt x="656" y="31"/>
                  <a:pt x="912" y="16"/>
                </a:cubicBezTo>
                <a:cubicBezTo>
                  <a:pt x="1167" y="0"/>
                  <a:pt x="1351" y="104"/>
                  <a:pt x="1536" y="208"/>
                </a:cubicBezTo>
              </a:path>
            </a:pathLst>
          </a:custGeom>
          <a:noFill/>
          <a:ln cap="flat" cmpd="sng" w="255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4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</a:t>
            </a:r>
            <a:endParaRPr/>
          </a:p>
        </p:txBody>
      </p:sp>
      <p:sp>
        <p:nvSpPr>
          <p:cNvPr id="714" name="Google Shape;714;p14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Explicit free lists</a:t>
            </a:r>
            <a:r>
              <a:rPr lang="en-GB"/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Segregated free lists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Garbage collection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Memory-related perils and pitfalls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5"/>
          <p:cNvSpPr txBox="1"/>
          <p:nvPr>
            <p:ph idx="4294967295" type="title"/>
          </p:nvPr>
        </p:nvSpPr>
        <p:spPr>
          <a:xfrm>
            <a:off x="304800" y="493713"/>
            <a:ext cx="82296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Segregated List (Seglist) Allocators</a:t>
            </a:r>
            <a:endParaRPr/>
          </a:p>
        </p:txBody>
      </p:sp>
      <p:sp>
        <p:nvSpPr>
          <p:cNvPr id="721" name="Google Shape;721;p15"/>
          <p:cNvSpPr txBox="1"/>
          <p:nvPr>
            <p:ph idx="1" type="body"/>
          </p:nvPr>
        </p:nvSpPr>
        <p:spPr>
          <a:xfrm>
            <a:off x="302625" y="1220788"/>
            <a:ext cx="8307387" cy="5256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Each </a:t>
            </a:r>
            <a:r>
              <a:rPr i="1" lang="en-GB">
                <a:solidFill>
                  <a:srgbClr val="C00000"/>
                </a:solidFill>
              </a:rPr>
              <a:t>size class</a:t>
            </a:r>
            <a:r>
              <a:rPr lang="en-GB">
                <a:solidFill>
                  <a:srgbClr val="C00000"/>
                </a:solidFill>
              </a:rPr>
              <a:t> </a:t>
            </a:r>
            <a:r>
              <a:rPr lang="en-GB"/>
              <a:t>of blocks has its own free list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Often have separate classes for each small size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For larger sizes: One class for each two-power size</a:t>
            </a:r>
            <a:endParaRPr/>
          </a:p>
        </p:txBody>
      </p:sp>
      <p:sp>
        <p:nvSpPr>
          <p:cNvPr id="722" name="Google Shape;722;p15"/>
          <p:cNvSpPr/>
          <p:nvPr/>
        </p:nvSpPr>
        <p:spPr>
          <a:xfrm>
            <a:off x="14478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3" name="Google Shape;723;p15"/>
          <p:cNvSpPr/>
          <p:nvPr/>
        </p:nvSpPr>
        <p:spPr>
          <a:xfrm>
            <a:off x="17526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4" name="Google Shape;724;p15"/>
          <p:cNvSpPr/>
          <p:nvPr/>
        </p:nvSpPr>
        <p:spPr>
          <a:xfrm>
            <a:off x="23622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5" name="Google Shape;725;p15"/>
          <p:cNvSpPr/>
          <p:nvPr/>
        </p:nvSpPr>
        <p:spPr>
          <a:xfrm>
            <a:off x="26670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6" name="Google Shape;726;p15"/>
          <p:cNvSpPr/>
          <p:nvPr/>
        </p:nvSpPr>
        <p:spPr>
          <a:xfrm>
            <a:off x="32766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7" name="Google Shape;727;p15"/>
          <p:cNvSpPr/>
          <p:nvPr/>
        </p:nvSpPr>
        <p:spPr>
          <a:xfrm>
            <a:off x="35814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8" name="Google Shape;728;p15"/>
          <p:cNvSpPr/>
          <p:nvPr/>
        </p:nvSpPr>
        <p:spPr>
          <a:xfrm>
            <a:off x="41910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29" name="Google Shape;729;p15"/>
          <p:cNvSpPr/>
          <p:nvPr/>
        </p:nvSpPr>
        <p:spPr>
          <a:xfrm>
            <a:off x="4495800" y="19494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0" name="Google Shape;730;p15"/>
          <p:cNvSpPr/>
          <p:nvPr/>
        </p:nvSpPr>
        <p:spPr>
          <a:xfrm>
            <a:off x="14478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1" name="Google Shape;731;p15"/>
          <p:cNvSpPr/>
          <p:nvPr/>
        </p:nvSpPr>
        <p:spPr>
          <a:xfrm>
            <a:off x="17526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2" name="Google Shape;732;p15"/>
          <p:cNvSpPr/>
          <p:nvPr/>
        </p:nvSpPr>
        <p:spPr>
          <a:xfrm>
            <a:off x="20574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3" name="Google Shape;733;p15"/>
          <p:cNvSpPr/>
          <p:nvPr/>
        </p:nvSpPr>
        <p:spPr>
          <a:xfrm>
            <a:off x="26670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4" name="Google Shape;734;p15"/>
          <p:cNvSpPr/>
          <p:nvPr/>
        </p:nvSpPr>
        <p:spPr>
          <a:xfrm>
            <a:off x="29718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5" name="Google Shape;735;p15"/>
          <p:cNvSpPr/>
          <p:nvPr/>
        </p:nvSpPr>
        <p:spPr>
          <a:xfrm>
            <a:off x="32766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6" name="Google Shape;736;p15"/>
          <p:cNvSpPr/>
          <p:nvPr/>
        </p:nvSpPr>
        <p:spPr>
          <a:xfrm>
            <a:off x="38862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7" name="Google Shape;737;p15"/>
          <p:cNvSpPr/>
          <p:nvPr/>
        </p:nvSpPr>
        <p:spPr>
          <a:xfrm>
            <a:off x="41910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8" name="Google Shape;738;p15"/>
          <p:cNvSpPr/>
          <p:nvPr/>
        </p:nvSpPr>
        <p:spPr>
          <a:xfrm>
            <a:off x="44958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39" name="Google Shape;739;p15"/>
          <p:cNvSpPr/>
          <p:nvPr/>
        </p:nvSpPr>
        <p:spPr>
          <a:xfrm>
            <a:off x="51054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0" name="Google Shape;740;p15"/>
          <p:cNvSpPr/>
          <p:nvPr/>
        </p:nvSpPr>
        <p:spPr>
          <a:xfrm>
            <a:off x="54102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1" name="Google Shape;741;p15"/>
          <p:cNvSpPr/>
          <p:nvPr/>
        </p:nvSpPr>
        <p:spPr>
          <a:xfrm>
            <a:off x="57150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2" name="Google Shape;742;p15"/>
          <p:cNvSpPr/>
          <p:nvPr/>
        </p:nvSpPr>
        <p:spPr>
          <a:xfrm>
            <a:off x="14478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3" name="Google Shape;743;p15"/>
          <p:cNvSpPr/>
          <p:nvPr/>
        </p:nvSpPr>
        <p:spPr>
          <a:xfrm>
            <a:off x="17526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4" name="Google Shape;744;p15"/>
          <p:cNvSpPr/>
          <p:nvPr/>
        </p:nvSpPr>
        <p:spPr>
          <a:xfrm>
            <a:off x="20574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5" name="Google Shape;745;p15"/>
          <p:cNvSpPr/>
          <p:nvPr/>
        </p:nvSpPr>
        <p:spPr>
          <a:xfrm>
            <a:off x="23622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6" name="Google Shape;746;p15"/>
          <p:cNvSpPr/>
          <p:nvPr/>
        </p:nvSpPr>
        <p:spPr>
          <a:xfrm>
            <a:off x="29718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7" name="Google Shape;747;p15"/>
          <p:cNvSpPr/>
          <p:nvPr/>
        </p:nvSpPr>
        <p:spPr>
          <a:xfrm>
            <a:off x="32766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8" name="Google Shape;748;p15"/>
          <p:cNvSpPr/>
          <p:nvPr/>
        </p:nvSpPr>
        <p:spPr>
          <a:xfrm>
            <a:off x="35814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49" name="Google Shape;749;p15"/>
          <p:cNvSpPr/>
          <p:nvPr/>
        </p:nvSpPr>
        <p:spPr>
          <a:xfrm>
            <a:off x="38862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0" name="Google Shape;750;p15"/>
          <p:cNvSpPr/>
          <p:nvPr/>
        </p:nvSpPr>
        <p:spPr>
          <a:xfrm>
            <a:off x="44958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1" name="Google Shape;751;p15"/>
          <p:cNvSpPr/>
          <p:nvPr/>
        </p:nvSpPr>
        <p:spPr>
          <a:xfrm>
            <a:off x="48006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2" name="Google Shape;752;p15"/>
          <p:cNvSpPr/>
          <p:nvPr/>
        </p:nvSpPr>
        <p:spPr>
          <a:xfrm>
            <a:off x="51054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3" name="Google Shape;753;p15"/>
          <p:cNvSpPr/>
          <p:nvPr/>
        </p:nvSpPr>
        <p:spPr>
          <a:xfrm>
            <a:off x="5410200" y="33210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4" name="Google Shape;754;p15"/>
          <p:cNvSpPr/>
          <p:nvPr/>
        </p:nvSpPr>
        <p:spPr>
          <a:xfrm>
            <a:off x="14478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5" name="Google Shape;755;p15"/>
          <p:cNvSpPr/>
          <p:nvPr/>
        </p:nvSpPr>
        <p:spPr>
          <a:xfrm>
            <a:off x="17526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6" name="Google Shape;756;p15"/>
          <p:cNvSpPr/>
          <p:nvPr/>
        </p:nvSpPr>
        <p:spPr>
          <a:xfrm>
            <a:off x="20574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7" name="Google Shape;757;p15"/>
          <p:cNvSpPr/>
          <p:nvPr/>
        </p:nvSpPr>
        <p:spPr>
          <a:xfrm>
            <a:off x="23622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8" name="Google Shape;758;p15"/>
          <p:cNvSpPr/>
          <p:nvPr/>
        </p:nvSpPr>
        <p:spPr>
          <a:xfrm>
            <a:off x="26670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59" name="Google Shape;759;p15"/>
          <p:cNvSpPr/>
          <p:nvPr/>
        </p:nvSpPr>
        <p:spPr>
          <a:xfrm>
            <a:off x="29718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0" name="Google Shape;760;p15"/>
          <p:cNvSpPr/>
          <p:nvPr/>
        </p:nvSpPr>
        <p:spPr>
          <a:xfrm>
            <a:off x="32766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1" name="Google Shape;761;p15"/>
          <p:cNvSpPr/>
          <p:nvPr/>
        </p:nvSpPr>
        <p:spPr>
          <a:xfrm>
            <a:off x="35814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2" name="Google Shape;762;p15"/>
          <p:cNvSpPr/>
          <p:nvPr/>
        </p:nvSpPr>
        <p:spPr>
          <a:xfrm>
            <a:off x="41910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3" name="Google Shape;763;p15"/>
          <p:cNvSpPr/>
          <p:nvPr/>
        </p:nvSpPr>
        <p:spPr>
          <a:xfrm>
            <a:off x="44958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4" name="Google Shape;764;p15"/>
          <p:cNvSpPr/>
          <p:nvPr/>
        </p:nvSpPr>
        <p:spPr>
          <a:xfrm>
            <a:off x="48006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5" name="Google Shape;765;p15"/>
          <p:cNvSpPr/>
          <p:nvPr/>
        </p:nvSpPr>
        <p:spPr>
          <a:xfrm>
            <a:off x="51054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6" name="Google Shape;766;p15"/>
          <p:cNvSpPr/>
          <p:nvPr/>
        </p:nvSpPr>
        <p:spPr>
          <a:xfrm>
            <a:off x="54102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7" name="Google Shape;767;p15"/>
          <p:cNvSpPr/>
          <p:nvPr/>
        </p:nvSpPr>
        <p:spPr>
          <a:xfrm>
            <a:off x="5715000" y="40068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8" name="Google Shape;768;p15"/>
          <p:cNvSpPr/>
          <p:nvPr/>
        </p:nvSpPr>
        <p:spPr>
          <a:xfrm>
            <a:off x="63246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69" name="Google Shape;769;p15"/>
          <p:cNvSpPr/>
          <p:nvPr/>
        </p:nvSpPr>
        <p:spPr>
          <a:xfrm>
            <a:off x="66294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0" name="Google Shape;770;p15"/>
          <p:cNvSpPr/>
          <p:nvPr/>
        </p:nvSpPr>
        <p:spPr>
          <a:xfrm>
            <a:off x="6934200" y="26352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1" name="Google Shape;771;p15"/>
          <p:cNvSpPr/>
          <p:nvPr/>
        </p:nvSpPr>
        <p:spPr>
          <a:xfrm>
            <a:off x="14478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2" name="Google Shape;772;p15"/>
          <p:cNvSpPr/>
          <p:nvPr/>
        </p:nvSpPr>
        <p:spPr>
          <a:xfrm>
            <a:off x="17526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3" name="Google Shape;773;p15"/>
          <p:cNvSpPr/>
          <p:nvPr/>
        </p:nvSpPr>
        <p:spPr>
          <a:xfrm>
            <a:off x="20574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4" name="Google Shape;774;p15"/>
          <p:cNvSpPr/>
          <p:nvPr/>
        </p:nvSpPr>
        <p:spPr>
          <a:xfrm>
            <a:off x="23622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5" name="Google Shape;775;p15"/>
          <p:cNvSpPr/>
          <p:nvPr/>
        </p:nvSpPr>
        <p:spPr>
          <a:xfrm>
            <a:off x="26670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6" name="Google Shape;776;p15"/>
          <p:cNvSpPr/>
          <p:nvPr/>
        </p:nvSpPr>
        <p:spPr>
          <a:xfrm>
            <a:off x="29718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7" name="Google Shape;777;p15"/>
          <p:cNvSpPr/>
          <p:nvPr/>
        </p:nvSpPr>
        <p:spPr>
          <a:xfrm>
            <a:off x="32766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8" name="Google Shape;778;p15"/>
          <p:cNvSpPr/>
          <p:nvPr/>
        </p:nvSpPr>
        <p:spPr>
          <a:xfrm>
            <a:off x="35814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79" name="Google Shape;779;p15"/>
          <p:cNvSpPr/>
          <p:nvPr/>
        </p:nvSpPr>
        <p:spPr>
          <a:xfrm>
            <a:off x="38862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0" name="Google Shape;780;p15"/>
          <p:cNvSpPr/>
          <p:nvPr/>
        </p:nvSpPr>
        <p:spPr>
          <a:xfrm>
            <a:off x="41910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1" name="Google Shape;781;p15"/>
          <p:cNvSpPr/>
          <p:nvPr/>
        </p:nvSpPr>
        <p:spPr>
          <a:xfrm>
            <a:off x="44958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2" name="Google Shape;782;p15"/>
          <p:cNvSpPr/>
          <p:nvPr/>
        </p:nvSpPr>
        <p:spPr>
          <a:xfrm>
            <a:off x="48006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3" name="Google Shape;783;p15"/>
          <p:cNvSpPr/>
          <p:nvPr/>
        </p:nvSpPr>
        <p:spPr>
          <a:xfrm>
            <a:off x="51054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4" name="Google Shape;784;p15"/>
          <p:cNvSpPr/>
          <p:nvPr/>
        </p:nvSpPr>
        <p:spPr>
          <a:xfrm>
            <a:off x="54102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5" name="Google Shape;785;p15"/>
          <p:cNvSpPr/>
          <p:nvPr/>
        </p:nvSpPr>
        <p:spPr>
          <a:xfrm>
            <a:off x="57150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6" name="Google Shape;786;p15"/>
          <p:cNvSpPr/>
          <p:nvPr/>
        </p:nvSpPr>
        <p:spPr>
          <a:xfrm>
            <a:off x="6019800" y="4692650"/>
            <a:ext cx="304800" cy="304800"/>
          </a:xfrm>
          <a:prstGeom prst="rect">
            <a:avLst/>
          </a:prstGeom>
          <a:solidFill>
            <a:srgbClr val="F2F2F2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787" name="Google Shape;787;p15"/>
          <p:cNvSpPr txBox="1"/>
          <p:nvPr/>
        </p:nvSpPr>
        <p:spPr>
          <a:xfrm>
            <a:off x="915988" y="1949450"/>
            <a:ext cx="452666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15"/>
          <p:cNvSpPr txBox="1"/>
          <p:nvPr/>
        </p:nvSpPr>
        <p:spPr>
          <a:xfrm>
            <a:off x="1068388" y="2635250"/>
            <a:ext cx="293687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15"/>
          <p:cNvSpPr txBox="1"/>
          <p:nvPr/>
        </p:nvSpPr>
        <p:spPr>
          <a:xfrm>
            <a:off x="1050925" y="3305175"/>
            <a:ext cx="295275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15"/>
          <p:cNvSpPr txBox="1"/>
          <p:nvPr/>
        </p:nvSpPr>
        <p:spPr>
          <a:xfrm>
            <a:off x="915988" y="4006850"/>
            <a:ext cx="452666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5-8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5"/>
          <p:cNvSpPr txBox="1"/>
          <p:nvPr/>
        </p:nvSpPr>
        <p:spPr>
          <a:xfrm>
            <a:off x="763588" y="4692650"/>
            <a:ext cx="573403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9-inf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15"/>
          <p:cNvCxnSpPr/>
          <p:nvPr/>
        </p:nvCxnSpPr>
        <p:spPr>
          <a:xfrm>
            <a:off x="2057400" y="21018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3" name="Google Shape;793;p15"/>
          <p:cNvCxnSpPr/>
          <p:nvPr/>
        </p:nvCxnSpPr>
        <p:spPr>
          <a:xfrm>
            <a:off x="2971800" y="21018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4" name="Google Shape;794;p15"/>
          <p:cNvCxnSpPr/>
          <p:nvPr/>
        </p:nvCxnSpPr>
        <p:spPr>
          <a:xfrm>
            <a:off x="3886200" y="41592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5" name="Google Shape;795;p15"/>
          <p:cNvCxnSpPr/>
          <p:nvPr/>
        </p:nvCxnSpPr>
        <p:spPr>
          <a:xfrm>
            <a:off x="3886200" y="21018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6" name="Google Shape;796;p15"/>
          <p:cNvCxnSpPr/>
          <p:nvPr/>
        </p:nvCxnSpPr>
        <p:spPr>
          <a:xfrm>
            <a:off x="2362200" y="27876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7" name="Google Shape;797;p15"/>
          <p:cNvCxnSpPr/>
          <p:nvPr/>
        </p:nvCxnSpPr>
        <p:spPr>
          <a:xfrm>
            <a:off x="4800600" y="27876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8" name="Google Shape;798;p15"/>
          <p:cNvCxnSpPr/>
          <p:nvPr/>
        </p:nvCxnSpPr>
        <p:spPr>
          <a:xfrm>
            <a:off x="3581400" y="27876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99" name="Google Shape;799;p15"/>
          <p:cNvCxnSpPr/>
          <p:nvPr/>
        </p:nvCxnSpPr>
        <p:spPr>
          <a:xfrm>
            <a:off x="2667000" y="34734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0" name="Google Shape;800;p15"/>
          <p:cNvCxnSpPr/>
          <p:nvPr/>
        </p:nvCxnSpPr>
        <p:spPr>
          <a:xfrm>
            <a:off x="6019800" y="27876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1" name="Google Shape;801;p15"/>
          <p:cNvCxnSpPr/>
          <p:nvPr/>
        </p:nvCxnSpPr>
        <p:spPr>
          <a:xfrm>
            <a:off x="4191000" y="34734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2" name="Google Shape;802;p15"/>
          <p:cNvCxnSpPr/>
          <p:nvPr/>
        </p:nvCxnSpPr>
        <p:spPr>
          <a:xfrm>
            <a:off x="4800600" y="21018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3" name="Google Shape;803;p15"/>
          <p:cNvCxnSpPr/>
          <p:nvPr/>
        </p:nvCxnSpPr>
        <p:spPr>
          <a:xfrm>
            <a:off x="7239000" y="27876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4" name="Google Shape;804;p15"/>
          <p:cNvCxnSpPr/>
          <p:nvPr/>
        </p:nvCxnSpPr>
        <p:spPr>
          <a:xfrm>
            <a:off x="6019800" y="41592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5" name="Google Shape;805;p15"/>
          <p:cNvCxnSpPr/>
          <p:nvPr/>
        </p:nvCxnSpPr>
        <p:spPr>
          <a:xfrm>
            <a:off x="5715000" y="34734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06" name="Google Shape;806;p15"/>
          <p:cNvCxnSpPr/>
          <p:nvPr/>
        </p:nvCxnSpPr>
        <p:spPr>
          <a:xfrm>
            <a:off x="6324600" y="4845050"/>
            <a:ext cx="304800" cy="158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07" name="Google Shape;807;p15"/>
          <p:cNvSpPr/>
          <p:nvPr/>
        </p:nvSpPr>
        <p:spPr>
          <a:xfrm>
            <a:off x="457200" y="5410200"/>
            <a:ext cx="8534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-246062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500"/>
              <a:buFont typeface="Noto Sans Symbols"/>
              <a:buNone/>
            </a:pPr>
            <a:r>
              <a:t/>
            </a:r>
            <a:endParaRPr b="1" i="0" sz="2000" u="none" cap="none" strike="noStrike">
              <a:solidFill>
                <a:srgbClr val="0000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6"/>
          <p:cNvSpPr txBox="1"/>
          <p:nvPr>
            <p:ph idx="4294967295" type="title"/>
          </p:nvPr>
        </p:nvSpPr>
        <p:spPr>
          <a:xfrm>
            <a:off x="350838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Seglist Allocator</a:t>
            </a:r>
            <a:endParaRPr/>
          </a:p>
        </p:txBody>
      </p:sp>
      <p:sp>
        <p:nvSpPr>
          <p:cNvPr id="814" name="Google Shape;814;p16"/>
          <p:cNvSpPr txBox="1"/>
          <p:nvPr>
            <p:ph idx="1" type="body"/>
          </p:nvPr>
        </p:nvSpPr>
        <p:spPr>
          <a:xfrm>
            <a:off x="337021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Given an array of free lists, each one for some size class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To allocate a block of size </a:t>
            </a:r>
            <a:r>
              <a:rPr i="1" lang="en-GB"/>
              <a:t>n</a:t>
            </a:r>
            <a:r>
              <a:rPr lang="en-GB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Search appropriate free list for block of size </a:t>
            </a:r>
            <a:r>
              <a:rPr i="1" lang="en-GB"/>
              <a:t>m &gt; 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If an appropriate block is found:</a:t>
            </a:r>
            <a:endParaRPr/>
          </a:p>
          <a:p>
            <a:pPr indent="-228600" lvl="2" marL="1143000" rtl="0" algn="l">
              <a:lnSpc>
                <a:spcPct val="9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Split block and place fragment on appropriate list (optional)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If no block is found, try next larger class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Repeat until block is found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If no block is found: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Request additional heap memory from OS (using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sbrk()</a:t>
            </a:r>
            <a:r>
              <a:rPr lang="en-GB"/>
              <a:t>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Allocate block of </a:t>
            </a:r>
            <a:r>
              <a:rPr i="1" lang="en-GB"/>
              <a:t>n</a:t>
            </a:r>
            <a:r>
              <a:rPr lang="en-GB"/>
              <a:t> bytes from this new memory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Place remainder as a single free block in largest size class.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7"/>
          <p:cNvSpPr txBox="1"/>
          <p:nvPr>
            <p:ph idx="4294967295" type="title"/>
          </p:nvPr>
        </p:nvSpPr>
        <p:spPr>
          <a:xfrm>
            <a:off x="350838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Seglist Allocator (cont.)</a:t>
            </a:r>
            <a:endParaRPr/>
          </a:p>
        </p:txBody>
      </p:sp>
      <p:sp>
        <p:nvSpPr>
          <p:cNvPr id="821" name="Google Shape;821;p17"/>
          <p:cNvSpPr txBox="1"/>
          <p:nvPr>
            <p:ph idx="1" type="body"/>
          </p:nvPr>
        </p:nvSpPr>
        <p:spPr>
          <a:xfrm>
            <a:off x="355189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To free a block: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Coalesce and place on appropriate list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Advantages of seglist allocators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Higher throughput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 log time for power-of-two size classes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Better memory utilization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First-fit search of segregated free list approximates a best-fit search of entire heap.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Extreme case: Giving each block its own size class is equivalent to best-fit.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8"/>
          <p:cNvSpPr txBox="1"/>
          <p:nvPr>
            <p:ph idx="4294967295" type="title"/>
          </p:nvPr>
        </p:nvSpPr>
        <p:spPr>
          <a:xfrm>
            <a:off x="330200" y="304800"/>
            <a:ext cx="7899400" cy="109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More Info on Allocators</a:t>
            </a:r>
            <a:endParaRPr/>
          </a:p>
        </p:txBody>
      </p:sp>
      <p:sp>
        <p:nvSpPr>
          <p:cNvPr id="828" name="Google Shape;828;p18"/>
          <p:cNvSpPr txBox="1"/>
          <p:nvPr>
            <p:ph idx="1" type="body"/>
          </p:nvPr>
        </p:nvSpPr>
        <p:spPr>
          <a:xfrm>
            <a:off x="347192" y="1447800"/>
            <a:ext cx="8535987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D. Knuth, “</a:t>
            </a:r>
            <a:r>
              <a:rPr i="1" lang="en-GB"/>
              <a:t>The Art of Computer Programming</a:t>
            </a:r>
            <a:r>
              <a:rPr lang="en-GB"/>
              <a:t>”, 2</a:t>
            </a:r>
            <a:r>
              <a:rPr baseline="30000" lang="en-GB"/>
              <a:t>nd</a:t>
            </a:r>
            <a:r>
              <a:rPr lang="en-GB"/>
              <a:t> edition, Addison Wesley, 1973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The classic reference on dynamic storage allocation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Wilson et al, “</a:t>
            </a:r>
            <a:r>
              <a:rPr i="1" lang="en-GB"/>
              <a:t>Dynamic Storage Allocation: A Survey and Critical Review</a:t>
            </a:r>
            <a:r>
              <a:rPr lang="en-GB"/>
              <a:t>”, Proc. 1995 Int’l Workshop on Memory Management, Kinross, Scotland, Sept, 1995.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Comprehensive survey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Available from CS:APP student site (csapp.cs.cmu.edu)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9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</a:t>
            </a:r>
            <a:endParaRPr/>
          </a:p>
        </p:txBody>
      </p:sp>
      <p:sp>
        <p:nvSpPr>
          <p:cNvPr id="835" name="Google Shape;835;p19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Explicit free lists</a:t>
            </a:r>
            <a:r>
              <a:rPr lang="en-GB"/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Segregated free lists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Garbage collection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Memory-related perils and pitfalls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0"/>
          <p:cNvSpPr txBox="1"/>
          <p:nvPr>
            <p:ph idx="4294967295" type="title"/>
          </p:nvPr>
        </p:nvSpPr>
        <p:spPr>
          <a:xfrm>
            <a:off x="381000" y="457200"/>
            <a:ext cx="7302500" cy="1096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Implicit Memory Management:</a:t>
            </a:r>
            <a:br>
              <a:rPr lang="en-GB"/>
            </a:br>
            <a:r>
              <a:rPr lang="en-GB"/>
              <a:t>Garbage Collection</a:t>
            </a:r>
            <a:endParaRPr/>
          </a:p>
        </p:txBody>
      </p:sp>
      <p:sp>
        <p:nvSpPr>
          <p:cNvPr id="842" name="Google Shape;842;p20"/>
          <p:cNvSpPr txBox="1"/>
          <p:nvPr>
            <p:ph idx="1" type="body"/>
          </p:nvPr>
        </p:nvSpPr>
        <p:spPr>
          <a:xfrm>
            <a:off x="381000" y="1676400"/>
            <a:ext cx="85344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i="1" lang="en-GB">
                <a:solidFill>
                  <a:srgbClr val="C00000"/>
                </a:solidFill>
              </a:rPr>
              <a:t>Garbage collection: </a:t>
            </a:r>
            <a:r>
              <a:rPr lang="en-GB"/>
              <a:t>automatic reclamation of heap-allocated storage—application never has to free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Common in many dynamic languages: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Python, Ruby, Java, Perl, ML, Lisp, Mathematica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Variants (“conservative” garbage collectors) exist for C and C++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However, cannot necessarily collect all garbage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003300"/>
              </a:solidFill>
            </a:endParaRPr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solidFill>
                <a:srgbClr val="003300"/>
              </a:solidFill>
            </a:endParaRPr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843" name="Google Shape;843;p20"/>
          <p:cNvSpPr txBox="1"/>
          <p:nvPr/>
        </p:nvSpPr>
        <p:spPr>
          <a:xfrm>
            <a:off x="838200" y="2667000"/>
            <a:ext cx="4995576" cy="1079399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rgbClr val="00006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foo()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*p = malloc(128);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return; </a:t>
            </a:r>
            <a:r>
              <a:rPr b="1" i="0" lang="en-GB" sz="16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p block is now garbage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1"/>
          <p:cNvSpPr txBox="1"/>
          <p:nvPr>
            <p:ph idx="4294967295" type="title"/>
          </p:nvPr>
        </p:nvSpPr>
        <p:spPr>
          <a:xfrm>
            <a:off x="349544" y="533400"/>
            <a:ext cx="6350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Garbage Collection</a:t>
            </a:r>
            <a:endParaRPr/>
          </a:p>
        </p:txBody>
      </p:sp>
      <p:sp>
        <p:nvSpPr>
          <p:cNvPr id="850" name="Google Shape;850;p21"/>
          <p:cNvSpPr txBox="1"/>
          <p:nvPr>
            <p:ph idx="1" type="body"/>
          </p:nvPr>
        </p:nvSpPr>
        <p:spPr>
          <a:xfrm>
            <a:off x="355600" y="1371600"/>
            <a:ext cx="8483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How does the memory manager know when memory can be freed?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In general we cannot know what is going to be used in the future since it depends on conditionals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But we can tell that certain blocks cannot be used if there are no pointers to them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Must make certain assumptions about pointers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GB"/>
              <a:t>Memory manager can distinguish pointers from non-pointers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GB"/>
              <a:t>All pointers point to the start of a block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Char char="▪"/>
            </a:pPr>
            <a:r>
              <a:rPr lang="en-GB"/>
              <a:t>Cannot hide pointers </a:t>
            </a:r>
            <a:br>
              <a:rPr lang="en-GB"/>
            </a:br>
            <a:r>
              <a:rPr lang="en-GB"/>
              <a:t>(e.g., by coercing them to an </a:t>
            </a: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/>
              <a:t>, and then back again)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22"/>
          <p:cNvSpPr txBox="1"/>
          <p:nvPr>
            <p:ph idx="4294967295" type="title"/>
          </p:nvPr>
        </p:nvSpPr>
        <p:spPr>
          <a:xfrm>
            <a:off x="381000" y="457200"/>
            <a:ext cx="68834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Classical GC Algorithms</a:t>
            </a:r>
            <a:endParaRPr/>
          </a:p>
        </p:txBody>
      </p:sp>
      <p:sp>
        <p:nvSpPr>
          <p:cNvPr id="857" name="Google Shape;857;p22"/>
          <p:cNvSpPr txBox="1"/>
          <p:nvPr>
            <p:ph idx="1" type="body"/>
          </p:nvPr>
        </p:nvSpPr>
        <p:spPr>
          <a:xfrm>
            <a:off x="381000" y="1166812"/>
            <a:ext cx="8318500" cy="5462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Mark-and-sweep collection (McCarthy, 1960)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Does not move blocks (unless you also “compact”)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Reference counting (Collins, 1960)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Does not move blocks (not discussed)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Copying collection (Minsky, 1963)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Moves blocks (not discussed)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Generational Collectors (Lieberman and Hewitt, 1983)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Collection based on lifetimes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Most allocations become garbage very soon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So focus reclamation work on zones of memory recently allocated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For more information: </a:t>
            </a:r>
            <a:br>
              <a:rPr lang="en-GB"/>
            </a:br>
            <a:r>
              <a:rPr lang="en-GB"/>
              <a:t>Jones and Lin, “</a:t>
            </a:r>
            <a:r>
              <a:rPr i="1" lang="en-GB"/>
              <a:t>Garbage Collection: Algorithms for Automatic Dynamic Memory</a:t>
            </a:r>
            <a:r>
              <a:rPr lang="en-GB"/>
              <a:t>”, John Wiley &amp; Sons, 1996.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23"/>
          <p:cNvSpPr/>
          <p:nvPr/>
        </p:nvSpPr>
        <p:spPr>
          <a:xfrm>
            <a:off x="932851" y="3803944"/>
            <a:ext cx="5984875" cy="2057400"/>
          </a:xfrm>
          <a:prstGeom prst="rect">
            <a:avLst/>
          </a:prstGeom>
          <a:solidFill>
            <a:srgbClr val="E5E5E5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4" name="Google Shape;864;p23"/>
          <p:cNvSpPr txBox="1"/>
          <p:nvPr>
            <p:ph idx="4294967295" type="title"/>
          </p:nvPr>
        </p:nvSpPr>
        <p:spPr>
          <a:xfrm>
            <a:off x="368300" y="457200"/>
            <a:ext cx="63373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Memory as a Graph</a:t>
            </a:r>
            <a:endParaRPr/>
          </a:p>
        </p:txBody>
      </p:sp>
      <p:sp>
        <p:nvSpPr>
          <p:cNvPr id="865" name="Google Shape;865;p23"/>
          <p:cNvSpPr txBox="1"/>
          <p:nvPr>
            <p:ph idx="1" type="body"/>
          </p:nvPr>
        </p:nvSpPr>
        <p:spPr>
          <a:xfrm>
            <a:off x="381000" y="1143000"/>
            <a:ext cx="8470900" cy="1547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We view memory as a directed graph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Each block is a node in the graph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Each pointer is an edge in the graph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Locations not in the heap that contain pointers into the heap are called </a:t>
            </a:r>
            <a:r>
              <a:rPr b="1" i="1" lang="en-GB">
                <a:solidFill>
                  <a:srgbClr val="C00000"/>
                </a:solidFill>
              </a:rPr>
              <a:t>root</a:t>
            </a:r>
            <a:r>
              <a:rPr lang="en-GB"/>
              <a:t>  nodes  (e.g. registers, locations on the stack, global variables)</a:t>
            </a:r>
            <a:endParaRPr/>
          </a:p>
        </p:txBody>
      </p:sp>
      <p:sp>
        <p:nvSpPr>
          <p:cNvPr id="866" name="Google Shape;866;p23"/>
          <p:cNvSpPr/>
          <p:nvPr/>
        </p:nvSpPr>
        <p:spPr>
          <a:xfrm>
            <a:off x="2644176" y="31181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7" name="Google Shape;867;p23"/>
          <p:cNvSpPr/>
          <p:nvPr/>
        </p:nvSpPr>
        <p:spPr>
          <a:xfrm>
            <a:off x="3710976" y="31181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68" name="Google Shape;868;p23"/>
          <p:cNvSpPr/>
          <p:nvPr/>
        </p:nvSpPr>
        <p:spPr>
          <a:xfrm>
            <a:off x="4853976" y="31181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69" name="Google Shape;869;p23"/>
          <p:cNvCxnSpPr/>
          <p:nvPr/>
        </p:nvCxnSpPr>
        <p:spPr>
          <a:xfrm flipH="1">
            <a:off x="2337789" y="3422944"/>
            <a:ext cx="384175" cy="9144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70" name="Google Shape;870;p23"/>
          <p:cNvSpPr txBox="1"/>
          <p:nvPr/>
        </p:nvSpPr>
        <p:spPr>
          <a:xfrm>
            <a:off x="932851" y="3082209"/>
            <a:ext cx="1147984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Helvetica Neue"/>
              <a:buNone/>
            </a:pPr>
            <a:r>
              <a:rPr b="1" i="1" lang="en-GB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Root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3"/>
          <p:cNvSpPr txBox="1"/>
          <p:nvPr/>
        </p:nvSpPr>
        <p:spPr>
          <a:xfrm>
            <a:off x="939383" y="3803944"/>
            <a:ext cx="1188444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Helvetica Neue"/>
              <a:buNone/>
            </a:pPr>
            <a:r>
              <a:rPr b="1" i="1" lang="en-GB" sz="16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Heap nodes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23"/>
          <p:cNvCxnSpPr/>
          <p:nvPr/>
        </p:nvCxnSpPr>
        <p:spPr>
          <a:xfrm>
            <a:off x="3863376" y="3422944"/>
            <a:ext cx="1588" cy="9144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73" name="Google Shape;873;p23"/>
          <p:cNvCxnSpPr/>
          <p:nvPr/>
        </p:nvCxnSpPr>
        <p:spPr>
          <a:xfrm>
            <a:off x="5082576" y="3422944"/>
            <a:ext cx="533400" cy="9652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74" name="Google Shape;874;p23"/>
          <p:cNvSpPr/>
          <p:nvPr/>
        </p:nvSpPr>
        <p:spPr>
          <a:xfrm>
            <a:off x="2186976" y="43373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5" name="Google Shape;875;p23"/>
          <p:cNvSpPr/>
          <p:nvPr/>
        </p:nvSpPr>
        <p:spPr>
          <a:xfrm>
            <a:off x="3710976" y="43373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76" name="Google Shape;876;p23"/>
          <p:cNvSpPr/>
          <p:nvPr/>
        </p:nvSpPr>
        <p:spPr>
          <a:xfrm>
            <a:off x="5539776" y="43373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77" name="Google Shape;877;p23"/>
          <p:cNvCxnSpPr/>
          <p:nvPr/>
        </p:nvCxnSpPr>
        <p:spPr>
          <a:xfrm flipH="1">
            <a:off x="1651989" y="4565944"/>
            <a:ext cx="536575" cy="6858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78" name="Google Shape;878;p23"/>
          <p:cNvSpPr/>
          <p:nvPr/>
        </p:nvSpPr>
        <p:spPr>
          <a:xfrm>
            <a:off x="1501176" y="52517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79" name="Google Shape;879;p23"/>
          <p:cNvCxnSpPr/>
          <p:nvPr/>
        </p:nvCxnSpPr>
        <p:spPr>
          <a:xfrm>
            <a:off x="2491776" y="4565944"/>
            <a:ext cx="533400" cy="6858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80" name="Google Shape;880;p23"/>
          <p:cNvSpPr/>
          <p:nvPr/>
        </p:nvSpPr>
        <p:spPr>
          <a:xfrm>
            <a:off x="2872776" y="52517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81" name="Google Shape;881;p23"/>
          <p:cNvCxnSpPr/>
          <p:nvPr/>
        </p:nvCxnSpPr>
        <p:spPr>
          <a:xfrm>
            <a:off x="5692176" y="4642144"/>
            <a:ext cx="1588" cy="6096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82" name="Google Shape;882;p23"/>
          <p:cNvSpPr/>
          <p:nvPr/>
        </p:nvSpPr>
        <p:spPr>
          <a:xfrm>
            <a:off x="5539776" y="52517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3" name="Google Shape;883;p23"/>
          <p:cNvSpPr/>
          <p:nvPr/>
        </p:nvSpPr>
        <p:spPr>
          <a:xfrm>
            <a:off x="4590451" y="4642144"/>
            <a:ext cx="304800" cy="304800"/>
          </a:xfrm>
          <a:prstGeom prst="ellipse">
            <a:avLst/>
          </a:prstGeom>
          <a:solidFill>
            <a:srgbClr val="EBAFA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84" name="Google Shape;884;p23"/>
          <p:cNvSpPr/>
          <p:nvPr/>
        </p:nvSpPr>
        <p:spPr>
          <a:xfrm>
            <a:off x="4590451" y="5404144"/>
            <a:ext cx="304800" cy="304800"/>
          </a:xfrm>
          <a:prstGeom prst="ellipse">
            <a:avLst/>
          </a:prstGeom>
          <a:solidFill>
            <a:srgbClr val="EBAFA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85" name="Google Shape;885;p23"/>
          <p:cNvCxnSpPr/>
          <p:nvPr/>
        </p:nvCxnSpPr>
        <p:spPr>
          <a:xfrm>
            <a:off x="4742851" y="4946944"/>
            <a:ext cx="1588" cy="457200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86" name="Google Shape;886;p23"/>
          <p:cNvSpPr/>
          <p:nvPr/>
        </p:nvSpPr>
        <p:spPr>
          <a:xfrm>
            <a:off x="3828451" y="5099344"/>
            <a:ext cx="304800" cy="304800"/>
          </a:xfrm>
          <a:prstGeom prst="ellipse">
            <a:avLst/>
          </a:prstGeom>
          <a:solidFill>
            <a:srgbClr val="EBAFA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cxnSp>
        <p:nvCxnSpPr>
          <p:cNvPr id="887" name="Google Shape;887;p23"/>
          <p:cNvCxnSpPr/>
          <p:nvPr/>
        </p:nvCxnSpPr>
        <p:spPr>
          <a:xfrm rot="10800000">
            <a:off x="4131664" y="5326357"/>
            <a:ext cx="460375" cy="155575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888" name="Google Shape;888;p23"/>
          <p:cNvCxnSpPr/>
          <p:nvPr/>
        </p:nvCxnSpPr>
        <p:spPr>
          <a:xfrm flipH="1" rot="10800000">
            <a:off x="4145432" y="4901024"/>
            <a:ext cx="460376" cy="254418"/>
          </a:xfrm>
          <a:prstGeom prst="straightConnector1">
            <a:avLst/>
          </a:prstGeom>
          <a:noFill/>
          <a:ln cap="flat" cmpd="sng" w="25550">
            <a:solidFill>
              <a:schemeClr val="dk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889" name="Google Shape;889;p23"/>
          <p:cNvSpPr/>
          <p:nvPr/>
        </p:nvSpPr>
        <p:spPr>
          <a:xfrm>
            <a:off x="6266851" y="4794544"/>
            <a:ext cx="304800" cy="304800"/>
          </a:xfrm>
          <a:prstGeom prst="ellipse">
            <a:avLst/>
          </a:prstGeom>
          <a:solidFill>
            <a:srgbClr val="EBAFA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0" name="Google Shape;890;p23"/>
          <p:cNvSpPr/>
          <p:nvPr/>
        </p:nvSpPr>
        <p:spPr>
          <a:xfrm>
            <a:off x="7170139" y="3930944"/>
            <a:ext cx="304800" cy="304800"/>
          </a:xfrm>
          <a:prstGeom prst="ellipse">
            <a:avLst/>
          </a:prstGeom>
          <a:solidFill>
            <a:srgbClr val="ACE3A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1" name="Google Shape;891;p23"/>
          <p:cNvSpPr/>
          <p:nvPr/>
        </p:nvSpPr>
        <p:spPr>
          <a:xfrm>
            <a:off x="7170139" y="4388144"/>
            <a:ext cx="304800" cy="304800"/>
          </a:xfrm>
          <a:prstGeom prst="ellipse">
            <a:avLst/>
          </a:prstGeom>
          <a:solidFill>
            <a:srgbClr val="EBAFAF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2" name="Google Shape;892;p23"/>
          <p:cNvSpPr txBox="1"/>
          <p:nvPr/>
        </p:nvSpPr>
        <p:spPr>
          <a:xfrm>
            <a:off x="7549551" y="4337344"/>
            <a:ext cx="1396129" cy="58695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Not-reachable</a:t>
            </a:r>
            <a:b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(garbage)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3"/>
          <p:cNvSpPr txBox="1"/>
          <p:nvPr/>
        </p:nvSpPr>
        <p:spPr>
          <a:xfrm>
            <a:off x="7560664" y="3880144"/>
            <a:ext cx="1017821" cy="34073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reachable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23"/>
          <p:cNvSpPr/>
          <p:nvPr/>
        </p:nvSpPr>
        <p:spPr>
          <a:xfrm>
            <a:off x="843951" y="5943600"/>
            <a:ext cx="7404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275" lIns="90350" spcFirstLastPara="1" rIns="90350" wrap="square" tIns="44275">
            <a:noAutofit/>
          </a:bodyPr>
          <a:lstStyle/>
          <a:p>
            <a:pPr indent="-384175" lvl="0" marL="384175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60033"/>
              </a:buClr>
              <a:buSzPts val="1800"/>
              <a:buFont typeface="Noto Sans Symbols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node (block) is </a:t>
            </a:r>
            <a:r>
              <a:rPr b="1" i="1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reachable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if there is a path from any root to that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4175" lvl="0" marL="384175" marR="0" rtl="0" algn="l">
              <a:lnSpc>
                <a:spcPct val="95000"/>
              </a:lnSpc>
              <a:spcBef>
                <a:spcPts val="1125"/>
              </a:spcBef>
              <a:spcAft>
                <a:spcPts val="0"/>
              </a:spcAft>
              <a:buClr>
                <a:srgbClr val="660033"/>
              </a:buClr>
              <a:buSzPts val="1800"/>
              <a:buFont typeface="Noto Sans Symbols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Non-reachable nodes are </a:t>
            </a:r>
            <a:r>
              <a:rPr b="1" i="1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garbage</a:t>
            </a:r>
            <a:r>
              <a:rPr b="1" i="1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(cannot be needed by the application)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24"/>
          <p:cNvSpPr txBox="1"/>
          <p:nvPr>
            <p:ph idx="4294967295" type="title"/>
          </p:nvPr>
        </p:nvSpPr>
        <p:spPr>
          <a:xfrm>
            <a:off x="381000" y="457200"/>
            <a:ext cx="71501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Mark and Sweep Collecting</a:t>
            </a:r>
            <a:endParaRPr/>
          </a:p>
        </p:txBody>
      </p:sp>
      <p:sp>
        <p:nvSpPr>
          <p:cNvPr id="901" name="Google Shape;901;p24"/>
          <p:cNvSpPr txBox="1"/>
          <p:nvPr>
            <p:ph idx="1" type="body"/>
          </p:nvPr>
        </p:nvSpPr>
        <p:spPr>
          <a:xfrm>
            <a:off x="379413" y="1174750"/>
            <a:ext cx="8307387" cy="2406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Can build on top of malloc/free package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0" lang="en-GB"/>
              <a:t>Allocate using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malloc</a:t>
            </a:r>
            <a:r>
              <a:rPr b="0" lang="en-GB"/>
              <a:t> until you “run out of space”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When out of space: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0" lang="en-GB"/>
              <a:t>Use extra </a:t>
            </a:r>
            <a:r>
              <a:rPr b="1" i="1" lang="en-GB">
                <a:solidFill>
                  <a:srgbClr val="C00000"/>
                </a:solidFill>
              </a:rPr>
              <a:t>mark bit</a:t>
            </a:r>
            <a:r>
              <a:rPr b="1" lang="en-GB">
                <a:solidFill>
                  <a:srgbClr val="C00000"/>
                </a:solidFill>
              </a:rPr>
              <a:t> </a:t>
            </a:r>
            <a:r>
              <a:rPr b="0" lang="en-GB"/>
              <a:t>in the head of each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C00000"/>
                </a:solidFill>
              </a:rPr>
              <a:t>Mark:</a:t>
            </a:r>
            <a:r>
              <a:rPr lang="en-GB"/>
              <a:t> </a:t>
            </a:r>
            <a:r>
              <a:rPr b="0" lang="en-GB"/>
              <a:t>Start at roots and set </a:t>
            </a:r>
            <a:r>
              <a:rPr lang="en-GB"/>
              <a:t>mark bit</a:t>
            </a:r>
            <a:r>
              <a:rPr b="0" lang="en-GB"/>
              <a:t> on each reachable block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i="1" lang="en-GB">
                <a:solidFill>
                  <a:srgbClr val="C00000"/>
                </a:solidFill>
              </a:rPr>
              <a:t>Sweep:</a:t>
            </a:r>
            <a:r>
              <a:rPr lang="en-GB"/>
              <a:t> </a:t>
            </a:r>
            <a:r>
              <a:rPr b="0" lang="en-GB"/>
              <a:t>Scan all blocks and </a:t>
            </a:r>
            <a:r>
              <a:rPr lang="en-GB"/>
              <a:t>free</a:t>
            </a:r>
            <a:r>
              <a:rPr b="0" lang="en-GB"/>
              <a:t> blocks that are </a:t>
            </a:r>
            <a:r>
              <a:rPr lang="en-GB"/>
              <a:t>not marked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grpSp>
        <p:nvGrpSpPr>
          <p:cNvPr id="902" name="Google Shape;902;p24"/>
          <p:cNvGrpSpPr/>
          <p:nvPr/>
        </p:nvGrpSpPr>
        <p:grpSpPr>
          <a:xfrm>
            <a:off x="377825" y="4724400"/>
            <a:ext cx="8551679" cy="939800"/>
            <a:chOff x="377825" y="4724400"/>
            <a:chExt cx="8551679" cy="939800"/>
          </a:xfrm>
        </p:grpSpPr>
        <p:sp>
          <p:nvSpPr>
            <p:cNvPr id="903" name="Google Shape;903;p24"/>
            <p:cNvSpPr/>
            <p:nvPr/>
          </p:nvSpPr>
          <p:spPr>
            <a:xfrm>
              <a:off x="60198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38862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32766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3657600" y="4749800"/>
              <a:ext cx="685800" cy="482600"/>
            </a:xfrm>
            <a:custGeom>
              <a:rect b="b" l="l" r="r" t="t"/>
              <a:pathLst>
                <a:path extrusionOk="0" h="304" w="768">
                  <a:moveTo>
                    <a:pt x="768" y="304"/>
                  </a:moveTo>
                  <a:cubicBezTo>
                    <a:pt x="640" y="168"/>
                    <a:pt x="512" y="32"/>
                    <a:pt x="384" y="16"/>
                  </a:cubicBezTo>
                  <a:cubicBezTo>
                    <a:pt x="256" y="0"/>
                    <a:pt x="128" y="104"/>
                    <a:pt x="0" y="208"/>
                  </a:cubicBezTo>
                </a:path>
              </a:pathLst>
            </a:custGeom>
            <a:noFill/>
            <a:ln cap="flat" cmpd="sng" w="255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4648200" y="4724400"/>
              <a:ext cx="1752600" cy="558800"/>
            </a:xfrm>
            <a:custGeom>
              <a:rect b="b" l="l" r="r" t="t"/>
              <a:pathLst>
                <a:path extrusionOk="0" h="352" w="960">
                  <a:moveTo>
                    <a:pt x="0" y="352"/>
                  </a:moveTo>
                  <a:cubicBezTo>
                    <a:pt x="136" y="192"/>
                    <a:pt x="272" y="32"/>
                    <a:pt x="432" y="16"/>
                  </a:cubicBezTo>
                  <a:cubicBezTo>
                    <a:pt x="592" y="0"/>
                    <a:pt x="776" y="128"/>
                    <a:pt x="960" y="256"/>
                  </a:cubicBezTo>
                </a:path>
              </a:pathLst>
            </a:custGeom>
            <a:noFill/>
            <a:ln cap="flat" cmpd="sng" w="255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2514600" y="5283200"/>
              <a:ext cx="1219200" cy="381000"/>
            </a:xfrm>
            <a:custGeom>
              <a:rect b="b" l="l" r="r" t="t"/>
              <a:pathLst>
                <a:path extrusionOk="0" h="256" w="768">
                  <a:moveTo>
                    <a:pt x="768" y="0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</a:pathLst>
            </a:custGeom>
            <a:noFill/>
            <a:ln cap="flat" cmpd="sng" w="255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09" name="Google Shape;909;p24"/>
            <p:cNvSpPr txBox="1"/>
            <p:nvPr/>
          </p:nvSpPr>
          <p:spPr>
            <a:xfrm>
              <a:off x="377825" y="5086866"/>
              <a:ext cx="1332779" cy="402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000"/>
                <a:buFont typeface="Helvetica Neue"/>
                <a:buNone/>
              </a:pPr>
              <a:r>
                <a:rPr b="1" i="1" lang="en-GB" sz="2000" u="none" cap="none" strike="noStrike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After mark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10" name="Google Shape;910;p24"/>
            <p:cNvCxnSpPr/>
            <p:nvPr/>
          </p:nvCxnSpPr>
          <p:spPr>
            <a:xfrm>
              <a:off x="4343400" y="4876800"/>
              <a:ext cx="1588" cy="228600"/>
            </a:xfrm>
            <a:prstGeom prst="straightConnector1">
              <a:avLst/>
            </a:prstGeom>
            <a:noFill/>
            <a:ln cap="flat" cmpd="sng" w="57150">
              <a:solidFill>
                <a:srgbClr val="C00000"/>
              </a:solidFill>
              <a:prstDash val="solid"/>
              <a:miter lim="8000"/>
              <a:headEnd len="sm" w="sm" type="none"/>
              <a:tailEnd len="med" w="med" type="triangle"/>
            </a:ln>
          </p:spPr>
        </p:cxnSp>
        <p:sp>
          <p:nvSpPr>
            <p:cNvPr id="911" name="Google Shape;911;p24"/>
            <p:cNvSpPr/>
            <p:nvPr/>
          </p:nvSpPr>
          <p:spPr>
            <a:xfrm>
              <a:off x="2057400" y="5130800"/>
              <a:ext cx="6096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2667000" y="5130800"/>
              <a:ext cx="6096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13" name="Google Shape;913;p24"/>
            <p:cNvSpPr/>
            <p:nvPr/>
          </p:nvSpPr>
          <p:spPr>
            <a:xfrm>
              <a:off x="3276600" y="5130800"/>
              <a:ext cx="6096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14" name="Google Shape;914;p24"/>
            <p:cNvSpPr/>
            <p:nvPr/>
          </p:nvSpPr>
          <p:spPr>
            <a:xfrm>
              <a:off x="3886200" y="5130800"/>
              <a:ext cx="9144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15" name="Google Shape;915;p24"/>
            <p:cNvSpPr/>
            <p:nvPr/>
          </p:nvSpPr>
          <p:spPr>
            <a:xfrm>
              <a:off x="4800600" y="5130800"/>
              <a:ext cx="12192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16" name="Google Shape;916;p24"/>
            <p:cNvSpPr/>
            <p:nvPr/>
          </p:nvSpPr>
          <p:spPr>
            <a:xfrm>
              <a:off x="6019800" y="5130800"/>
              <a:ext cx="914400" cy="304800"/>
            </a:xfrm>
            <a:prstGeom prst="rect">
              <a:avLst/>
            </a:prstGeom>
            <a:noFill/>
            <a:ln cap="flat" cmpd="sng" w="381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cxnSp>
          <p:nvCxnSpPr>
            <p:cNvPr id="917" name="Google Shape;917;p24"/>
            <p:cNvCxnSpPr/>
            <p:nvPr/>
          </p:nvCxnSpPr>
          <p:spPr>
            <a:xfrm>
              <a:off x="29718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8" name="Google Shape;918;p24"/>
            <p:cNvCxnSpPr/>
            <p:nvPr/>
          </p:nvCxnSpPr>
          <p:spPr>
            <a:xfrm>
              <a:off x="2362200" y="5130800"/>
              <a:ext cx="1588" cy="304800"/>
            </a:xfrm>
            <a:prstGeom prst="straightConnector1">
              <a:avLst/>
            </a:prstGeom>
            <a:noFill/>
            <a:ln cap="flat" cmpd="sng" w="126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9" name="Google Shape;919;p24"/>
            <p:cNvCxnSpPr/>
            <p:nvPr/>
          </p:nvCxnSpPr>
          <p:spPr>
            <a:xfrm>
              <a:off x="3581400" y="5130800"/>
              <a:ext cx="1588" cy="304800"/>
            </a:xfrm>
            <a:prstGeom prst="straightConnector1">
              <a:avLst/>
            </a:prstGeom>
            <a:noFill/>
            <a:ln cap="flat" cmpd="sng" w="126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0" name="Google Shape;920;p24"/>
            <p:cNvCxnSpPr/>
            <p:nvPr/>
          </p:nvCxnSpPr>
          <p:spPr>
            <a:xfrm>
              <a:off x="4191000" y="5130800"/>
              <a:ext cx="1588" cy="304800"/>
            </a:xfrm>
            <a:prstGeom prst="straightConnector1">
              <a:avLst/>
            </a:prstGeom>
            <a:noFill/>
            <a:ln cap="flat" cmpd="sng" w="126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1" name="Google Shape;921;p24"/>
            <p:cNvCxnSpPr/>
            <p:nvPr/>
          </p:nvCxnSpPr>
          <p:spPr>
            <a:xfrm>
              <a:off x="44958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2" name="Google Shape;922;p24"/>
            <p:cNvCxnSpPr/>
            <p:nvPr/>
          </p:nvCxnSpPr>
          <p:spPr>
            <a:xfrm>
              <a:off x="51054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3" name="Google Shape;923;p24"/>
            <p:cNvCxnSpPr/>
            <p:nvPr/>
          </p:nvCxnSpPr>
          <p:spPr>
            <a:xfrm>
              <a:off x="54102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4" name="Google Shape;924;p24"/>
            <p:cNvCxnSpPr/>
            <p:nvPr/>
          </p:nvCxnSpPr>
          <p:spPr>
            <a:xfrm>
              <a:off x="57150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5" name="Google Shape;925;p24"/>
            <p:cNvCxnSpPr/>
            <p:nvPr/>
          </p:nvCxnSpPr>
          <p:spPr>
            <a:xfrm>
              <a:off x="6324600" y="5130800"/>
              <a:ext cx="1588" cy="304800"/>
            </a:xfrm>
            <a:prstGeom prst="straightConnector1">
              <a:avLst/>
            </a:prstGeom>
            <a:noFill/>
            <a:ln cap="flat" cmpd="sng" w="1260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6" name="Google Shape;926;p24"/>
            <p:cNvCxnSpPr/>
            <p:nvPr/>
          </p:nvCxnSpPr>
          <p:spPr>
            <a:xfrm>
              <a:off x="6629400" y="5130800"/>
              <a:ext cx="1588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927" name="Google Shape;927;p24"/>
            <p:cNvSpPr/>
            <p:nvPr/>
          </p:nvSpPr>
          <p:spPr>
            <a:xfrm>
              <a:off x="2057400" y="5130800"/>
              <a:ext cx="304800" cy="304800"/>
            </a:xfrm>
            <a:prstGeom prst="rect">
              <a:avLst/>
            </a:prstGeom>
            <a:solidFill>
              <a:srgbClr val="EBAFA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28" name="Google Shape;928;p24"/>
            <p:cNvSpPr/>
            <p:nvPr/>
          </p:nvSpPr>
          <p:spPr>
            <a:xfrm>
              <a:off x="7391400" y="5111341"/>
              <a:ext cx="304800" cy="304800"/>
            </a:xfrm>
            <a:prstGeom prst="rect">
              <a:avLst/>
            </a:prstGeom>
            <a:solidFill>
              <a:srgbClr val="EBAFAF"/>
            </a:solidFill>
            <a:ln cap="flat" cmpd="sng" w="25550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929" name="Google Shape;929;p24"/>
            <p:cNvSpPr txBox="1"/>
            <p:nvPr/>
          </p:nvSpPr>
          <p:spPr>
            <a:xfrm>
              <a:off x="7718425" y="5111341"/>
              <a:ext cx="1211079" cy="3407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Helvetica Neue"/>
                <a:buNone/>
              </a:pPr>
              <a:r>
                <a:rPr b="1" i="0" lang="en-GB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 bit set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24"/>
          <p:cNvGrpSpPr/>
          <p:nvPr/>
        </p:nvGrpSpPr>
        <p:grpSpPr>
          <a:xfrm>
            <a:off x="382588" y="5842000"/>
            <a:ext cx="6551612" cy="939800"/>
            <a:chOff x="382588" y="5842000"/>
            <a:chExt cx="6551612" cy="939800"/>
          </a:xfrm>
        </p:grpSpPr>
        <p:sp>
          <p:nvSpPr>
            <p:cNvPr id="931" name="Google Shape;931;p24"/>
            <p:cNvSpPr/>
            <p:nvPr/>
          </p:nvSpPr>
          <p:spPr>
            <a:xfrm>
              <a:off x="2514600" y="6400800"/>
              <a:ext cx="1219200" cy="381000"/>
            </a:xfrm>
            <a:custGeom>
              <a:rect b="b" l="l" r="r" t="t"/>
              <a:pathLst>
                <a:path extrusionOk="0" h="256" w="768">
                  <a:moveTo>
                    <a:pt x="768" y="0"/>
                  </a:moveTo>
                  <a:cubicBezTo>
                    <a:pt x="640" y="112"/>
                    <a:pt x="512" y="224"/>
                    <a:pt x="384" y="240"/>
                  </a:cubicBezTo>
                  <a:cubicBezTo>
                    <a:pt x="256" y="256"/>
                    <a:pt x="128" y="176"/>
                    <a:pt x="0" y="96"/>
                  </a:cubicBezTo>
                </a:path>
              </a:pathLst>
            </a:custGeom>
            <a:noFill/>
            <a:ln cap="flat" cmpd="sng" w="255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1" i="0" sz="2400" u="none" cap="none" strike="noStrik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grpSp>
          <p:nvGrpSpPr>
            <p:cNvPr id="932" name="Google Shape;932;p24"/>
            <p:cNvGrpSpPr/>
            <p:nvPr/>
          </p:nvGrpSpPr>
          <p:grpSpPr>
            <a:xfrm>
              <a:off x="382588" y="5842000"/>
              <a:ext cx="6551612" cy="762686"/>
              <a:chOff x="382588" y="5842000"/>
              <a:chExt cx="6551612" cy="762686"/>
            </a:xfrm>
          </p:grpSpPr>
          <p:sp>
            <p:nvSpPr>
              <p:cNvPr id="933" name="Google Shape;933;p24"/>
              <p:cNvSpPr/>
              <p:nvPr/>
            </p:nvSpPr>
            <p:spPr>
              <a:xfrm>
                <a:off x="3657600" y="5867400"/>
                <a:ext cx="685800" cy="482600"/>
              </a:xfrm>
              <a:custGeom>
                <a:rect b="b" l="l" r="r" t="t"/>
                <a:pathLst>
                  <a:path extrusionOk="0" h="304" w="768">
                    <a:moveTo>
                      <a:pt x="768" y="304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</a:pathLst>
              </a:custGeom>
              <a:noFill/>
              <a:ln cap="flat" cmpd="sng" w="255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34" name="Google Shape;934;p24"/>
              <p:cNvSpPr/>
              <p:nvPr/>
            </p:nvSpPr>
            <p:spPr>
              <a:xfrm>
                <a:off x="4648200" y="5842000"/>
                <a:ext cx="1752600" cy="558800"/>
              </a:xfrm>
              <a:custGeom>
                <a:rect b="b" l="l" r="r" t="t"/>
                <a:pathLst>
                  <a:path extrusionOk="0" h="352" w="960">
                    <a:moveTo>
                      <a:pt x="0" y="35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</a:pathLst>
              </a:custGeom>
              <a:noFill/>
              <a:ln cap="flat" cmpd="sng" w="255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35" name="Google Shape;935;p24"/>
              <p:cNvSpPr txBox="1"/>
              <p:nvPr/>
            </p:nvSpPr>
            <p:spPr>
              <a:xfrm>
                <a:off x="382588" y="6202395"/>
                <a:ext cx="1470572" cy="402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2000"/>
                  <a:buFont typeface="Helvetica Neue"/>
                  <a:buNone/>
                </a:pPr>
                <a:r>
                  <a:rPr b="1" i="1" lang="en-GB" sz="2000" u="none" cap="none" strike="noStrike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After sweep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36" name="Google Shape;936;p24"/>
              <p:cNvCxnSpPr/>
              <p:nvPr/>
            </p:nvCxnSpPr>
            <p:spPr>
              <a:xfrm>
                <a:off x="4343400" y="5994400"/>
                <a:ext cx="1588" cy="22860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sp>
            <p:nvSpPr>
              <p:cNvPr id="937" name="Google Shape;937;p24"/>
              <p:cNvSpPr/>
              <p:nvPr/>
            </p:nvSpPr>
            <p:spPr>
              <a:xfrm>
                <a:off x="2057400" y="624840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38" name="Google Shape;938;p24"/>
              <p:cNvSpPr/>
              <p:nvPr/>
            </p:nvSpPr>
            <p:spPr>
              <a:xfrm>
                <a:off x="2667000" y="624840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39" name="Google Shape;939;p24"/>
              <p:cNvSpPr/>
              <p:nvPr/>
            </p:nvSpPr>
            <p:spPr>
              <a:xfrm>
                <a:off x="3276600" y="624840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40" name="Google Shape;940;p24"/>
              <p:cNvSpPr/>
              <p:nvPr/>
            </p:nvSpPr>
            <p:spPr>
              <a:xfrm>
                <a:off x="3886200" y="6248400"/>
                <a:ext cx="9144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41" name="Google Shape;941;p24"/>
              <p:cNvSpPr/>
              <p:nvPr/>
            </p:nvSpPr>
            <p:spPr>
              <a:xfrm>
                <a:off x="4800600" y="6248400"/>
                <a:ext cx="12192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42" name="Google Shape;942;p24"/>
              <p:cNvSpPr/>
              <p:nvPr/>
            </p:nvSpPr>
            <p:spPr>
              <a:xfrm>
                <a:off x="6019800" y="6248400"/>
                <a:ext cx="9144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cxnSp>
            <p:nvCxnSpPr>
              <p:cNvPr id="943" name="Google Shape;943;p24"/>
              <p:cNvCxnSpPr/>
              <p:nvPr/>
            </p:nvCxnSpPr>
            <p:spPr>
              <a:xfrm>
                <a:off x="2971800" y="6248400"/>
                <a:ext cx="1588" cy="304800"/>
              </a:xfrm>
              <a:prstGeom prst="straightConnector1">
                <a:avLst/>
              </a:prstGeom>
              <a:noFill/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4" name="Google Shape;944;p24"/>
              <p:cNvCxnSpPr/>
              <p:nvPr/>
            </p:nvCxnSpPr>
            <p:spPr>
              <a:xfrm>
                <a:off x="23622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5" name="Google Shape;945;p24"/>
              <p:cNvCxnSpPr/>
              <p:nvPr/>
            </p:nvCxnSpPr>
            <p:spPr>
              <a:xfrm>
                <a:off x="35814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6" name="Google Shape;946;p24"/>
              <p:cNvCxnSpPr/>
              <p:nvPr/>
            </p:nvCxnSpPr>
            <p:spPr>
              <a:xfrm>
                <a:off x="41910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7" name="Google Shape;947;p24"/>
              <p:cNvCxnSpPr/>
              <p:nvPr/>
            </p:nvCxnSpPr>
            <p:spPr>
              <a:xfrm>
                <a:off x="44958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8" name="Google Shape;948;p24"/>
              <p:cNvCxnSpPr/>
              <p:nvPr/>
            </p:nvCxnSpPr>
            <p:spPr>
              <a:xfrm>
                <a:off x="5105400" y="6248400"/>
                <a:ext cx="1588" cy="304800"/>
              </a:xfrm>
              <a:prstGeom prst="straightConnector1">
                <a:avLst/>
              </a:prstGeom>
              <a:noFill/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49" name="Google Shape;949;p24"/>
              <p:cNvCxnSpPr/>
              <p:nvPr/>
            </p:nvCxnSpPr>
            <p:spPr>
              <a:xfrm>
                <a:off x="5410200" y="6248400"/>
                <a:ext cx="1588" cy="304800"/>
              </a:xfrm>
              <a:prstGeom prst="straightConnector1">
                <a:avLst/>
              </a:prstGeom>
              <a:noFill/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50" name="Google Shape;950;p24"/>
              <p:cNvCxnSpPr/>
              <p:nvPr/>
            </p:nvCxnSpPr>
            <p:spPr>
              <a:xfrm>
                <a:off x="5715000" y="6248400"/>
                <a:ext cx="1588" cy="304800"/>
              </a:xfrm>
              <a:prstGeom prst="straightConnector1">
                <a:avLst/>
              </a:prstGeom>
              <a:noFill/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51" name="Google Shape;951;p24"/>
              <p:cNvCxnSpPr/>
              <p:nvPr/>
            </p:nvCxnSpPr>
            <p:spPr>
              <a:xfrm>
                <a:off x="63246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52" name="Google Shape;952;p24"/>
              <p:cNvCxnSpPr/>
              <p:nvPr/>
            </p:nvCxnSpPr>
            <p:spPr>
              <a:xfrm>
                <a:off x="6629400" y="624840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953" name="Google Shape;953;p24"/>
              <p:cNvSpPr/>
              <p:nvPr/>
            </p:nvSpPr>
            <p:spPr>
              <a:xfrm>
                <a:off x="4800600" y="6248400"/>
                <a:ext cx="1219200" cy="304800"/>
              </a:xfrm>
              <a:prstGeom prst="rect">
                <a:avLst/>
              </a:prstGeom>
              <a:solidFill>
                <a:srgbClr val="F6F5BD"/>
              </a:solidFill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lvetica Neue"/>
                  <a:buNone/>
                </a:pPr>
                <a:r>
                  <a:rPr b="1" i="0" lang="en-GB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4"/>
              <p:cNvSpPr/>
              <p:nvPr/>
            </p:nvSpPr>
            <p:spPr>
              <a:xfrm>
                <a:off x="2667000" y="6248400"/>
                <a:ext cx="609600" cy="304800"/>
              </a:xfrm>
              <a:prstGeom prst="rect">
                <a:avLst/>
              </a:prstGeom>
              <a:solidFill>
                <a:srgbClr val="F6F5BD"/>
              </a:solidFill>
              <a:ln cap="flat" cmpd="sng" w="255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6800" lIns="90000" spcFirstLastPara="1" rIns="90000" wrap="square" tIns="468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Helvetica Neue"/>
                  <a:buNone/>
                </a:pPr>
                <a:r>
                  <a:rPr b="1" i="0" lang="en-GB" sz="16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free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55" name="Google Shape;955;p24"/>
          <p:cNvGrpSpPr/>
          <p:nvPr/>
        </p:nvGrpSpPr>
        <p:grpSpPr>
          <a:xfrm>
            <a:off x="379413" y="3461952"/>
            <a:ext cx="8764587" cy="1141798"/>
            <a:chOff x="379413" y="3461952"/>
            <a:chExt cx="8764587" cy="1141798"/>
          </a:xfrm>
        </p:grpSpPr>
        <p:sp>
          <p:nvSpPr>
            <p:cNvPr id="956" name="Google Shape;956;p24"/>
            <p:cNvSpPr txBox="1"/>
            <p:nvPr/>
          </p:nvSpPr>
          <p:spPr>
            <a:xfrm>
              <a:off x="4030807" y="3461952"/>
              <a:ext cx="633869" cy="402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000"/>
                <a:buFont typeface="Helvetica Neue"/>
                <a:buNone/>
              </a:pPr>
              <a:r>
                <a:rPr b="1" i="0" lang="en-GB" sz="20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root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7" name="Google Shape;957;p24"/>
            <p:cNvGrpSpPr/>
            <p:nvPr/>
          </p:nvGrpSpPr>
          <p:grpSpPr>
            <a:xfrm>
              <a:off x="379413" y="3617893"/>
              <a:ext cx="8764587" cy="985857"/>
              <a:chOff x="379413" y="3617893"/>
              <a:chExt cx="8764587" cy="985857"/>
            </a:xfrm>
          </p:grpSpPr>
          <p:sp>
            <p:nvSpPr>
              <p:cNvPr id="958" name="Google Shape;958;p24"/>
              <p:cNvSpPr/>
              <p:nvPr/>
            </p:nvSpPr>
            <p:spPr>
              <a:xfrm>
                <a:off x="3657600" y="3689350"/>
                <a:ext cx="685800" cy="482600"/>
              </a:xfrm>
              <a:custGeom>
                <a:rect b="b" l="l" r="r" t="t"/>
                <a:pathLst>
                  <a:path extrusionOk="0" h="304" w="768">
                    <a:moveTo>
                      <a:pt x="768" y="304"/>
                    </a:moveTo>
                    <a:cubicBezTo>
                      <a:pt x="640" y="168"/>
                      <a:pt x="512" y="32"/>
                      <a:pt x="384" y="16"/>
                    </a:cubicBezTo>
                    <a:cubicBezTo>
                      <a:pt x="256" y="0"/>
                      <a:pt x="128" y="104"/>
                      <a:pt x="0" y="208"/>
                    </a:cubicBezTo>
                  </a:path>
                </a:pathLst>
              </a:custGeom>
              <a:noFill/>
              <a:ln cap="flat" cmpd="sng" w="255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59" name="Google Shape;959;p24"/>
              <p:cNvSpPr/>
              <p:nvPr/>
            </p:nvSpPr>
            <p:spPr>
              <a:xfrm>
                <a:off x="4648200" y="3663950"/>
                <a:ext cx="1752600" cy="558800"/>
              </a:xfrm>
              <a:custGeom>
                <a:rect b="b" l="l" r="r" t="t"/>
                <a:pathLst>
                  <a:path extrusionOk="0" h="352" w="960">
                    <a:moveTo>
                      <a:pt x="0" y="352"/>
                    </a:moveTo>
                    <a:cubicBezTo>
                      <a:pt x="136" y="192"/>
                      <a:pt x="272" y="32"/>
                      <a:pt x="432" y="16"/>
                    </a:cubicBezTo>
                    <a:cubicBezTo>
                      <a:pt x="592" y="0"/>
                      <a:pt x="776" y="128"/>
                      <a:pt x="960" y="256"/>
                    </a:cubicBezTo>
                  </a:path>
                </a:pathLst>
              </a:custGeom>
              <a:noFill/>
              <a:ln cap="flat" cmpd="sng" w="255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0" name="Google Shape;960;p24"/>
              <p:cNvSpPr/>
              <p:nvPr/>
            </p:nvSpPr>
            <p:spPr>
              <a:xfrm>
                <a:off x="2362200" y="4222750"/>
                <a:ext cx="1371600" cy="381000"/>
              </a:xfrm>
              <a:custGeom>
                <a:rect b="b" l="l" r="r" t="t"/>
                <a:pathLst>
                  <a:path extrusionOk="0" h="256" w="768">
                    <a:moveTo>
                      <a:pt x="768" y="0"/>
                    </a:moveTo>
                    <a:cubicBezTo>
                      <a:pt x="640" y="112"/>
                      <a:pt x="512" y="224"/>
                      <a:pt x="384" y="240"/>
                    </a:cubicBezTo>
                    <a:cubicBezTo>
                      <a:pt x="256" y="256"/>
                      <a:pt x="128" y="176"/>
                      <a:pt x="0" y="96"/>
                    </a:cubicBezTo>
                  </a:path>
                </a:pathLst>
              </a:custGeom>
              <a:noFill/>
              <a:ln cap="flat" cmpd="sng" w="255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1" name="Google Shape;961;p24"/>
              <p:cNvSpPr txBox="1"/>
              <p:nvPr/>
            </p:nvSpPr>
            <p:spPr>
              <a:xfrm>
                <a:off x="379413" y="4035340"/>
                <a:ext cx="1495579" cy="402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6800" lIns="90000" spcFirstLastPara="1" rIns="90000" wrap="square" tIns="468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95959"/>
                  </a:buClr>
                  <a:buSzPts val="2000"/>
                  <a:buFont typeface="Helvetica Neue"/>
                  <a:buNone/>
                </a:pPr>
                <a:r>
                  <a:rPr b="1" i="1" lang="en-GB" sz="2000" u="none" cap="none" strike="noStrike">
                    <a:solidFill>
                      <a:srgbClr val="59595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Before mark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62" name="Google Shape;962;p24"/>
              <p:cNvCxnSpPr/>
              <p:nvPr/>
            </p:nvCxnSpPr>
            <p:spPr>
              <a:xfrm>
                <a:off x="4343400" y="3816350"/>
                <a:ext cx="1588" cy="228600"/>
              </a:xfrm>
              <a:prstGeom prst="straightConnector1">
                <a:avLst/>
              </a:prstGeom>
              <a:noFill/>
              <a:ln cap="flat" cmpd="sng" w="57150">
                <a:solidFill>
                  <a:srgbClr val="C00000"/>
                </a:solidFill>
                <a:prstDash val="solid"/>
                <a:miter lim="8000"/>
                <a:headEnd len="sm" w="sm" type="none"/>
                <a:tailEnd len="med" w="med" type="triangle"/>
              </a:ln>
            </p:spPr>
          </p:cxnSp>
          <p:sp>
            <p:nvSpPr>
              <p:cNvPr id="963" name="Google Shape;963;p24"/>
              <p:cNvSpPr/>
              <p:nvPr/>
            </p:nvSpPr>
            <p:spPr>
              <a:xfrm>
                <a:off x="2057400" y="407035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4" name="Google Shape;964;p24"/>
              <p:cNvSpPr/>
              <p:nvPr/>
            </p:nvSpPr>
            <p:spPr>
              <a:xfrm>
                <a:off x="2667000" y="407035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5" name="Google Shape;965;p24"/>
              <p:cNvSpPr/>
              <p:nvPr/>
            </p:nvSpPr>
            <p:spPr>
              <a:xfrm>
                <a:off x="3276600" y="4070350"/>
                <a:ext cx="6096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6" name="Google Shape;966;p24"/>
              <p:cNvSpPr/>
              <p:nvPr/>
            </p:nvSpPr>
            <p:spPr>
              <a:xfrm>
                <a:off x="3886200" y="4070350"/>
                <a:ext cx="9144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7" name="Google Shape;967;p24"/>
              <p:cNvSpPr/>
              <p:nvPr/>
            </p:nvSpPr>
            <p:spPr>
              <a:xfrm>
                <a:off x="4800600" y="4070350"/>
                <a:ext cx="12192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sp>
            <p:nvSpPr>
              <p:cNvPr id="968" name="Google Shape;968;p24"/>
              <p:cNvSpPr/>
              <p:nvPr/>
            </p:nvSpPr>
            <p:spPr>
              <a:xfrm>
                <a:off x="6019800" y="4070350"/>
                <a:ext cx="914400" cy="304800"/>
              </a:xfrm>
              <a:prstGeom prst="rect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1" i="0" sz="2400" u="none" cap="none" strike="noStrike">
                  <a:solidFill>
                    <a:schemeClr val="dk1"/>
                  </a:solidFill>
                  <a:latin typeface="Arial Narrow"/>
                  <a:ea typeface="Arial Narrow"/>
                  <a:cs typeface="Arial Narrow"/>
                  <a:sym typeface="Arial Narrow"/>
                </a:endParaRPr>
              </a:p>
            </p:txBody>
          </p:sp>
          <p:cxnSp>
            <p:nvCxnSpPr>
              <p:cNvPr id="969" name="Google Shape;969;p24"/>
              <p:cNvCxnSpPr/>
              <p:nvPr/>
            </p:nvCxnSpPr>
            <p:spPr>
              <a:xfrm>
                <a:off x="29718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0" name="Google Shape;970;p24"/>
              <p:cNvCxnSpPr/>
              <p:nvPr/>
            </p:nvCxnSpPr>
            <p:spPr>
              <a:xfrm>
                <a:off x="23622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1" name="Google Shape;971;p24"/>
              <p:cNvCxnSpPr/>
              <p:nvPr/>
            </p:nvCxnSpPr>
            <p:spPr>
              <a:xfrm>
                <a:off x="35814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2" name="Google Shape;972;p24"/>
              <p:cNvCxnSpPr/>
              <p:nvPr/>
            </p:nvCxnSpPr>
            <p:spPr>
              <a:xfrm>
                <a:off x="41910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3" name="Google Shape;973;p24"/>
              <p:cNvCxnSpPr/>
              <p:nvPr/>
            </p:nvCxnSpPr>
            <p:spPr>
              <a:xfrm>
                <a:off x="44958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4" name="Google Shape;974;p24"/>
              <p:cNvCxnSpPr/>
              <p:nvPr/>
            </p:nvCxnSpPr>
            <p:spPr>
              <a:xfrm>
                <a:off x="51054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5" name="Google Shape;975;p24"/>
              <p:cNvCxnSpPr/>
              <p:nvPr/>
            </p:nvCxnSpPr>
            <p:spPr>
              <a:xfrm>
                <a:off x="54102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6" name="Google Shape;976;p24"/>
              <p:cNvCxnSpPr/>
              <p:nvPr/>
            </p:nvCxnSpPr>
            <p:spPr>
              <a:xfrm>
                <a:off x="57150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7" name="Google Shape;977;p24"/>
              <p:cNvCxnSpPr/>
              <p:nvPr/>
            </p:nvCxnSpPr>
            <p:spPr>
              <a:xfrm>
                <a:off x="63246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78" name="Google Shape;978;p24"/>
              <p:cNvCxnSpPr/>
              <p:nvPr/>
            </p:nvCxnSpPr>
            <p:spPr>
              <a:xfrm>
                <a:off x="6629400" y="4070350"/>
                <a:ext cx="1588" cy="304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979" name="Google Shape;979;p24"/>
              <p:cNvSpPr txBox="1"/>
              <p:nvPr/>
            </p:nvSpPr>
            <p:spPr>
              <a:xfrm>
                <a:off x="7696200" y="3617893"/>
                <a:ext cx="1447800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1" lang="en-GB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Note: arrows here denote memory refs, not free list ptrs.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8"/>
          <p:cNvSpPr txBox="1"/>
          <p:nvPr>
            <p:ph type="title"/>
          </p:nvPr>
        </p:nvSpPr>
        <p:spPr>
          <a:xfrm>
            <a:off x="357018" y="435678"/>
            <a:ext cx="7592093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Today</a:t>
            </a:r>
            <a:endParaRPr/>
          </a:p>
        </p:txBody>
      </p:sp>
      <p:sp>
        <p:nvSpPr>
          <p:cNvPr id="986" name="Google Shape;986;p28"/>
          <p:cNvSpPr txBox="1"/>
          <p:nvPr>
            <p:ph idx="1" type="body"/>
          </p:nvPr>
        </p:nvSpPr>
        <p:spPr>
          <a:xfrm>
            <a:off x="396875" y="1362075"/>
            <a:ext cx="789622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Explicit free lists</a:t>
            </a:r>
            <a:r>
              <a:rPr lang="en-GB"/>
              <a:t>	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Segregated free lists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7F7F7F"/>
                </a:solidFill>
              </a:rPr>
              <a:t>Garbage collection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>
                <a:solidFill>
                  <a:srgbClr val="000000"/>
                </a:solidFill>
              </a:rPr>
              <a:t>Memory-related perils and pitfalls</a:t>
            </a:r>
            <a:endParaRPr/>
          </a:p>
          <a:p>
            <a:pPr indent="-1460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29"/>
          <p:cNvSpPr txBox="1"/>
          <p:nvPr>
            <p:ph idx="4294967295" type="title"/>
          </p:nvPr>
        </p:nvSpPr>
        <p:spPr>
          <a:xfrm>
            <a:off x="356286" y="493713"/>
            <a:ext cx="80010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Memory-Related Perils and Pitfalls</a:t>
            </a:r>
            <a:endParaRPr/>
          </a:p>
        </p:txBody>
      </p:sp>
      <p:sp>
        <p:nvSpPr>
          <p:cNvPr id="993" name="Google Shape;993;p29"/>
          <p:cNvSpPr txBox="1"/>
          <p:nvPr>
            <p:ph idx="1" type="body"/>
          </p:nvPr>
        </p:nvSpPr>
        <p:spPr>
          <a:xfrm>
            <a:off x="381000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Dereferencing bad pointers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Reading uninitialized memory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Overwriting memory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Referencing nonexistent variables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Freeing blocks multiple times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Referencing freed blocks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Failing to free blocks</a:t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30"/>
          <p:cNvSpPr/>
          <p:nvPr/>
        </p:nvSpPr>
        <p:spPr>
          <a:xfrm>
            <a:off x="533400" y="1295400"/>
            <a:ext cx="6705600" cy="411480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0"/>
          <p:cNvSpPr txBox="1"/>
          <p:nvPr>
            <p:ph type="title"/>
          </p:nvPr>
        </p:nvSpPr>
        <p:spPr>
          <a:xfrm>
            <a:off x="431799" y="341312"/>
            <a:ext cx="5080000" cy="573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 operators</a:t>
            </a:r>
            <a:endParaRPr/>
          </a:p>
        </p:txBody>
      </p:sp>
      <p:sp>
        <p:nvSpPr>
          <p:cNvPr id="1000" name="Google Shape;1000;p30"/>
          <p:cNvSpPr txBox="1"/>
          <p:nvPr/>
        </p:nvSpPr>
        <p:spPr>
          <a:xfrm>
            <a:off x="466619" y="962085"/>
            <a:ext cx="692478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Operators					Associativity</a:t>
            </a:r>
            <a:endParaRPr b="1" i="1" sz="18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()  []  -&gt;  </a:t>
            </a: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!  ~  ++  --  +  -  </a:t>
            </a:r>
            <a:r>
              <a:rPr b="1" i="0" lang="en-GB" sz="18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*  &amp;</a:t>
            </a: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(type) sizeof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  /  %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 -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&lt;&lt;  &gt;&gt;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  &lt;=  &gt;  &gt;=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  !=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^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&amp;&amp;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||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?: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+= -= *= /= %= &amp;= ^= != &lt;&lt;= &gt;&gt;=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to left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						</a:t>
            </a: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to right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0"/>
          <p:cNvSpPr txBox="1"/>
          <p:nvPr>
            <p:ph idx="1" type="body"/>
          </p:nvPr>
        </p:nvSpPr>
        <p:spPr>
          <a:xfrm>
            <a:off x="457200" y="5638800"/>
            <a:ext cx="716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7620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⬛"/>
            </a:pPr>
            <a:r>
              <a:rPr lang="en-GB" sz="2000"/>
              <a:t>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-&gt;</a:t>
            </a:r>
            <a:r>
              <a:rPr lang="en-GB" sz="2000"/>
              <a:t>,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GB" sz="2000"/>
              <a:t>, and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[]</a:t>
            </a:r>
            <a:r>
              <a:rPr lang="en-GB" sz="2000"/>
              <a:t> have high precedence, with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2000"/>
              <a:t> and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&amp;</a:t>
            </a:r>
            <a:r>
              <a:rPr lang="en-GB" sz="2000"/>
              <a:t> just below</a:t>
            </a:r>
            <a:endParaRPr/>
          </a:p>
          <a:p>
            <a:pPr indent="-76200" lvl="0" marL="635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Char char="⬛"/>
            </a:pPr>
            <a:r>
              <a:rPr lang="en-GB" sz="2000"/>
              <a:t>Unary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-GB" sz="2000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 -</a:t>
            </a:r>
            <a:r>
              <a:rPr lang="en-GB" sz="2000"/>
              <a:t>, and </a:t>
            </a:r>
            <a:r>
              <a:rPr lang="en-GB" sz="2000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GB" sz="2000"/>
              <a:t> have higher precedence than binary forms</a:t>
            </a:r>
            <a:endParaRPr sz="2000"/>
          </a:p>
        </p:txBody>
      </p:sp>
      <p:sp>
        <p:nvSpPr>
          <p:cNvPr id="1002" name="Google Shape;1002;p30"/>
          <p:cNvSpPr txBox="1"/>
          <p:nvPr/>
        </p:nvSpPr>
        <p:spPr>
          <a:xfrm>
            <a:off x="6671832" y="6477000"/>
            <a:ext cx="21673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Source: K&amp;R page 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1"/>
          <p:cNvSpPr txBox="1"/>
          <p:nvPr>
            <p:ph type="title"/>
          </p:nvPr>
        </p:nvSpPr>
        <p:spPr>
          <a:xfrm>
            <a:off x="609600" y="417513"/>
            <a:ext cx="7924800" cy="573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C Pointer Declarations: Test Yourself!</a:t>
            </a:r>
            <a:endParaRPr/>
          </a:p>
        </p:txBody>
      </p:sp>
      <p:sp>
        <p:nvSpPr>
          <p:cNvPr id="1008" name="Google Shape;1008;p31"/>
          <p:cNvSpPr txBox="1"/>
          <p:nvPr/>
        </p:nvSpPr>
        <p:spPr>
          <a:xfrm>
            <a:off x="381000" y="1143000"/>
            <a:ext cx="2971800" cy="5310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*p[13]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*(p[13])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**p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(*p)[13]		</a:t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*f()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(*f)()	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(*(*f())[13])()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(*(*x[3])())[5]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09" name="Google Shape;1009;p31"/>
          <p:cNvSpPr txBox="1"/>
          <p:nvPr/>
        </p:nvSpPr>
        <p:spPr>
          <a:xfrm>
            <a:off x="3733800" y="1143000"/>
            <a:ext cx="19020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is a pointer to 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31"/>
          <p:cNvSpPr txBox="1"/>
          <p:nvPr/>
        </p:nvSpPr>
        <p:spPr>
          <a:xfrm>
            <a:off x="3733800" y="1676400"/>
            <a:ext cx="32033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is an array[13] of pointer to 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31"/>
          <p:cNvSpPr txBox="1"/>
          <p:nvPr/>
        </p:nvSpPr>
        <p:spPr>
          <a:xfrm>
            <a:off x="3733800" y="2224088"/>
            <a:ext cx="32033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is an array[13] of pointer to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1"/>
          <p:cNvSpPr txBox="1"/>
          <p:nvPr/>
        </p:nvSpPr>
        <p:spPr>
          <a:xfrm>
            <a:off x="3733800" y="2757488"/>
            <a:ext cx="33662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is a pointer to a pointer to an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1"/>
          <p:cNvSpPr txBox="1"/>
          <p:nvPr/>
        </p:nvSpPr>
        <p:spPr>
          <a:xfrm>
            <a:off x="3733800" y="3352800"/>
            <a:ext cx="33695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is a pointer to an array[13] of 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1"/>
          <p:cNvSpPr txBox="1"/>
          <p:nvPr/>
        </p:nvSpPr>
        <p:spPr>
          <a:xfrm>
            <a:off x="3733800" y="3844925"/>
            <a:ext cx="3816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is a function returning a pointer to 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1"/>
          <p:cNvSpPr txBox="1"/>
          <p:nvPr/>
        </p:nvSpPr>
        <p:spPr>
          <a:xfrm>
            <a:off x="3733800" y="4419600"/>
            <a:ext cx="3816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is a pointer to a function returning 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1"/>
          <p:cNvSpPr txBox="1"/>
          <p:nvPr/>
        </p:nvSpPr>
        <p:spPr>
          <a:xfrm>
            <a:off x="3733800" y="4921250"/>
            <a:ext cx="414069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is a function returning ptr to an array[13]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pointers to functions returning 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1"/>
          <p:cNvSpPr txBox="1"/>
          <p:nvPr/>
        </p:nvSpPr>
        <p:spPr>
          <a:xfrm>
            <a:off x="3733800" y="5715000"/>
            <a:ext cx="384414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is an array[3] of pointers  to functions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returning pointers to array[5] of ints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1"/>
          <p:cNvSpPr txBox="1"/>
          <p:nvPr/>
        </p:nvSpPr>
        <p:spPr>
          <a:xfrm>
            <a:off x="6400800" y="6444734"/>
            <a:ext cx="22108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Source: K&amp;R Sec 5.12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2"/>
          <p:cNvSpPr txBox="1"/>
          <p:nvPr>
            <p:ph idx="4294967295" type="title"/>
          </p:nvPr>
        </p:nvSpPr>
        <p:spPr>
          <a:xfrm>
            <a:off x="2746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Dereferencing Bad Pointers</a:t>
            </a:r>
            <a:endParaRPr/>
          </a:p>
        </p:txBody>
      </p:sp>
      <p:sp>
        <p:nvSpPr>
          <p:cNvPr id="1025" name="Google Shape;1025;p32"/>
          <p:cNvSpPr txBox="1"/>
          <p:nvPr>
            <p:ph idx="1" type="body"/>
          </p:nvPr>
        </p:nvSpPr>
        <p:spPr>
          <a:xfrm>
            <a:off x="290513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The classic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scanf</a:t>
            </a:r>
            <a:r>
              <a:rPr lang="en-GB"/>
              <a:t> bug</a:t>
            </a:r>
            <a:endParaRPr/>
          </a:p>
        </p:txBody>
      </p:sp>
      <p:sp>
        <p:nvSpPr>
          <p:cNvPr id="1026" name="Google Shape;1026;p32"/>
          <p:cNvSpPr txBox="1"/>
          <p:nvPr/>
        </p:nvSpPr>
        <p:spPr>
          <a:xfrm>
            <a:off x="762000" y="1948003"/>
            <a:ext cx="2797859" cy="1633397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scanf(“%d”, val);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33"/>
          <p:cNvSpPr txBox="1"/>
          <p:nvPr>
            <p:ph idx="4294967295" type="title"/>
          </p:nvPr>
        </p:nvSpPr>
        <p:spPr>
          <a:xfrm>
            <a:off x="350838" y="3810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Reading Uninitialized Memory</a:t>
            </a:r>
            <a:endParaRPr/>
          </a:p>
        </p:txBody>
      </p:sp>
      <p:sp>
        <p:nvSpPr>
          <p:cNvPr id="1033" name="Google Shape;1033;p33"/>
          <p:cNvSpPr txBox="1"/>
          <p:nvPr>
            <p:ph idx="1" type="body"/>
          </p:nvPr>
        </p:nvSpPr>
        <p:spPr>
          <a:xfrm>
            <a:off x="379413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Assuming that heap data is initialized to zero</a:t>
            </a:r>
            <a:endParaRPr/>
          </a:p>
        </p:txBody>
      </p:sp>
      <p:sp>
        <p:nvSpPr>
          <p:cNvPr id="1034" name="Google Shape;1034;p33"/>
          <p:cNvSpPr txBox="1"/>
          <p:nvPr/>
        </p:nvSpPr>
        <p:spPr>
          <a:xfrm>
            <a:off x="809727" y="1930144"/>
            <a:ext cx="5413959" cy="3480056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return y = Ax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*matvec(int **A, int *x) 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*y = malloc(N*sizeof(int));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i, j;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(i=0; i&lt;N;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for (j=0; j&lt;N; j++)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y[i] += A[i][j]*x[j];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y;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4"/>
          <p:cNvSpPr txBox="1"/>
          <p:nvPr>
            <p:ph idx="4294967295" type="title"/>
          </p:nvPr>
        </p:nvSpPr>
        <p:spPr>
          <a:xfrm>
            <a:off x="3508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Overwriting Memory</a:t>
            </a:r>
            <a:endParaRPr/>
          </a:p>
        </p:txBody>
      </p:sp>
      <p:sp>
        <p:nvSpPr>
          <p:cNvPr id="1041" name="Google Shape;1041;p34"/>
          <p:cNvSpPr txBox="1"/>
          <p:nvPr>
            <p:ph idx="1" type="body"/>
          </p:nvPr>
        </p:nvSpPr>
        <p:spPr>
          <a:xfrm>
            <a:off x="379413" y="1295400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Allocating the (possibly) wrong sized object</a:t>
            </a:r>
            <a:endParaRPr/>
          </a:p>
        </p:txBody>
      </p:sp>
      <p:sp>
        <p:nvSpPr>
          <p:cNvPr id="1042" name="Google Shape;1042;p34"/>
          <p:cNvSpPr txBox="1"/>
          <p:nvPr/>
        </p:nvSpPr>
        <p:spPr>
          <a:xfrm>
            <a:off x="812703" y="2133600"/>
            <a:ext cx="5106183" cy="22489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**p;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 = malloc(N*sizeof(int));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p[i] = malloc(M*sizeof(int));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35"/>
          <p:cNvSpPr txBox="1"/>
          <p:nvPr>
            <p:ph idx="4294967295" type="title"/>
          </p:nvPr>
        </p:nvSpPr>
        <p:spPr>
          <a:xfrm>
            <a:off x="350838" y="4572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Overwriting Memory</a:t>
            </a:r>
            <a:endParaRPr/>
          </a:p>
        </p:txBody>
      </p:sp>
      <p:sp>
        <p:nvSpPr>
          <p:cNvPr id="1049" name="Google Shape;1049;p35"/>
          <p:cNvSpPr txBox="1"/>
          <p:nvPr>
            <p:ph idx="1" type="body"/>
          </p:nvPr>
        </p:nvSpPr>
        <p:spPr>
          <a:xfrm>
            <a:off x="379413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Off-by-one error</a:t>
            </a:r>
            <a:endParaRPr/>
          </a:p>
        </p:txBody>
      </p:sp>
      <p:sp>
        <p:nvSpPr>
          <p:cNvPr id="1050" name="Google Shape;1050;p35"/>
          <p:cNvSpPr txBox="1"/>
          <p:nvPr/>
        </p:nvSpPr>
        <p:spPr>
          <a:xfrm>
            <a:off x="838200" y="1981200"/>
            <a:ext cx="5106183" cy="22489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**p;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 = malloc(N*sizeof(int *));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i&lt;=N; i++)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p[i] = malloc(M*sizeof(int));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36"/>
          <p:cNvSpPr txBox="1"/>
          <p:nvPr>
            <p:ph idx="4294967295" type="title"/>
          </p:nvPr>
        </p:nvSpPr>
        <p:spPr>
          <a:xfrm>
            <a:off x="3508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Overwriting Memory</a:t>
            </a:r>
            <a:endParaRPr/>
          </a:p>
        </p:txBody>
      </p:sp>
      <p:sp>
        <p:nvSpPr>
          <p:cNvPr id="1057" name="Google Shape;1057;p36"/>
          <p:cNvSpPr txBox="1"/>
          <p:nvPr>
            <p:ph idx="1" type="body"/>
          </p:nvPr>
        </p:nvSpPr>
        <p:spPr>
          <a:xfrm>
            <a:off x="371175" y="1220788"/>
            <a:ext cx="8307387" cy="44942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Not checking the max string size</a:t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Basis for classic buffer overflow attacks</a:t>
            </a:r>
            <a:endParaRPr/>
          </a:p>
        </p:txBody>
      </p:sp>
      <p:sp>
        <p:nvSpPr>
          <p:cNvPr id="1058" name="Google Shape;1058;p36"/>
          <p:cNvSpPr txBox="1"/>
          <p:nvPr/>
        </p:nvSpPr>
        <p:spPr>
          <a:xfrm>
            <a:off x="821724" y="1871803"/>
            <a:ext cx="7106730" cy="1633397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 s[8];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gets(s);  </a:t>
            </a: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/* reads “123456789” from stdin */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7"/>
          <p:cNvSpPr txBox="1"/>
          <p:nvPr>
            <p:ph idx="4294967295" type="title"/>
          </p:nvPr>
        </p:nvSpPr>
        <p:spPr>
          <a:xfrm>
            <a:off x="350838" y="4572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Overwriting Memory</a:t>
            </a:r>
            <a:endParaRPr/>
          </a:p>
        </p:txBody>
      </p:sp>
      <p:sp>
        <p:nvSpPr>
          <p:cNvPr id="1065" name="Google Shape;1065;p37"/>
          <p:cNvSpPr txBox="1"/>
          <p:nvPr>
            <p:ph idx="1" type="body"/>
          </p:nvPr>
        </p:nvSpPr>
        <p:spPr>
          <a:xfrm>
            <a:off x="371175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Misunderstanding pointer arithmetic</a:t>
            </a:r>
            <a:endParaRPr/>
          </a:p>
        </p:txBody>
      </p:sp>
      <p:sp>
        <p:nvSpPr>
          <p:cNvPr id="1066" name="Google Shape;1066;p37"/>
          <p:cNvSpPr txBox="1"/>
          <p:nvPr/>
        </p:nvSpPr>
        <p:spPr>
          <a:xfrm>
            <a:off x="823918" y="2018250"/>
            <a:ext cx="4798406" cy="22489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*search(int *p, int val)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while (*p &amp;&amp; *p != val)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 += sizeof(int);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38"/>
          <p:cNvSpPr txBox="1"/>
          <p:nvPr>
            <p:ph idx="4294967295" type="title"/>
          </p:nvPr>
        </p:nvSpPr>
        <p:spPr>
          <a:xfrm>
            <a:off x="3508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Overwriting Memory</a:t>
            </a:r>
            <a:endParaRPr/>
          </a:p>
        </p:txBody>
      </p:sp>
      <p:sp>
        <p:nvSpPr>
          <p:cNvPr id="1073" name="Google Shape;1073;p38"/>
          <p:cNvSpPr txBox="1"/>
          <p:nvPr>
            <p:ph idx="1" type="body"/>
          </p:nvPr>
        </p:nvSpPr>
        <p:spPr>
          <a:xfrm>
            <a:off x="379413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Referencing a pointer instead of the object it points to</a:t>
            </a:r>
            <a:endParaRPr/>
          </a:p>
        </p:txBody>
      </p:sp>
      <p:sp>
        <p:nvSpPr>
          <p:cNvPr id="1074" name="Google Shape;1074;p38"/>
          <p:cNvSpPr txBox="1"/>
          <p:nvPr/>
        </p:nvSpPr>
        <p:spPr>
          <a:xfrm>
            <a:off x="838200" y="2015273"/>
            <a:ext cx="7260619" cy="2556727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*BinheapDelete(int **binheap, int *size)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*packet;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packet = binheap[0];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binheap[0] = binheap[*size - 1];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*size--;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Heapify(binheap, *size, 0);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return(packet);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39"/>
          <p:cNvSpPr txBox="1"/>
          <p:nvPr>
            <p:ph idx="4294967295" type="title"/>
          </p:nvPr>
        </p:nvSpPr>
        <p:spPr>
          <a:xfrm>
            <a:off x="4270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Referencing Nonexistent Variables</a:t>
            </a:r>
            <a:endParaRPr/>
          </a:p>
        </p:txBody>
      </p:sp>
      <p:sp>
        <p:nvSpPr>
          <p:cNvPr id="1081" name="Google Shape;1081;p39"/>
          <p:cNvSpPr txBox="1"/>
          <p:nvPr>
            <p:ph idx="1" type="body"/>
          </p:nvPr>
        </p:nvSpPr>
        <p:spPr>
          <a:xfrm>
            <a:off x="447375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Forgetting that local variables disappear when a function returns</a:t>
            </a:r>
            <a:endParaRPr/>
          </a:p>
        </p:txBody>
      </p:sp>
      <p:sp>
        <p:nvSpPr>
          <p:cNvPr id="1082" name="Google Shape;1082;p39"/>
          <p:cNvSpPr txBox="1"/>
          <p:nvPr/>
        </p:nvSpPr>
        <p:spPr>
          <a:xfrm>
            <a:off x="914400" y="2310714"/>
            <a:ext cx="2490082" cy="1633397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*foo 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 &amp;val;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40"/>
          <p:cNvSpPr txBox="1"/>
          <p:nvPr>
            <p:ph idx="4294967295" type="title"/>
          </p:nvPr>
        </p:nvSpPr>
        <p:spPr>
          <a:xfrm>
            <a:off x="350838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Freeing Blocks Multiple Times</a:t>
            </a:r>
            <a:endParaRPr/>
          </a:p>
        </p:txBody>
      </p:sp>
      <p:sp>
        <p:nvSpPr>
          <p:cNvPr id="1089" name="Google Shape;1089;p40"/>
          <p:cNvSpPr txBox="1"/>
          <p:nvPr>
            <p:ph idx="1" type="body"/>
          </p:nvPr>
        </p:nvSpPr>
        <p:spPr>
          <a:xfrm>
            <a:off x="362937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Nasty!</a:t>
            </a:r>
            <a:endParaRPr/>
          </a:p>
        </p:txBody>
      </p:sp>
      <p:sp>
        <p:nvSpPr>
          <p:cNvPr id="1090" name="Google Shape;1090;p40"/>
          <p:cNvSpPr txBox="1"/>
          <p:nvPr/>
        </p:nvSpPr>
        <p:spPr>
          <a:xfrm>
            <a:off x="805248" y="1981200"/>
            <a:ext cx="4343400" cy="22288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malloc(N*sizeof(int));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&lt;manipulate x&gt;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= malloc(M*sizeof(int));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&lt;manipulate 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1"/>
          <p:cNvSpPr txBox="1"/>
          <p:nvPr>
            <p:ph idx="4294967295" type="title"/>
          </p:nvPr>
        </p:nvSpPr>
        <p:spPr>
          <a:xfrm>
            <a:off x="381000" y="457200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Referencing Freed Blocks</a:t>
            </a:r>
            <a:endParaRPr/>
          </a:p>
        </p:txBody>
      </p:sp>
      <p:sp>
        <p:nvSpPr>
          <p:cNvPr id="1097" name="Google Shape;1097;p41"/>
          <p:cNvSpPr txBox="1"/>
          <p:nvPr>
            <p:ph idx="1" type="body"/>
          </p:nvPr>
        </p:nvSpPr>
        <p:spPr>
          <a:xfrm>
            <a:off x="387651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Evil! </a:t>
            </a:r>
            <a:endParaRPr/>
          </a:p>
        </p:txBody>
      </p:sp>
      <p:sp>
        <p:nvSpPr>
          <p:cNvPr id="1098" name="Google Shape;1098;p41"/>
          <p:cNvSpPr txBox="1"/>
          <p:nvPr/>
        </p:nvSpPr>
        <p:spPr>
          <a:xfrm>
            <a:off x="838200" y="1905000"/>
            <a:ext cx="4343400" cy="22288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x = malloc(N*sizeof(int));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&lt;manipulate x&gt;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free(x);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= malloc(M*sizeof(int));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(i=0; i&lt;M; i++)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y[i] = x[i]++;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42"/>
          <p:cNvSpPr txBox="1"/>
          <p:nvPr>
            <p:ph idx="4294967295" type="title"/>
          </p:nvPr>
        </p:nvSpPr>
        <p:spPr>
          <a:xfrm>
            <a:off x="350838" y="287338"/>
            <a:ext cx="8716962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Failing to Free Blocks (Memory Leaks)</a:t>
            </a:r>
            <a:endParaRPr/>
          </a:p>
        </p:txBody>
      </p:sp>
      <p:sp>
        <p:nvSpPr>
          <p:cNvPr id="1105" name="Google Shape;1105;p42"/>
          <p:cNvSpPr txBox="1"/>
          <p:nvPr>
            <p:ph idx="1" type="body"/>
          </p:nvPr>
        </p:nvSpPr>
        <p:spPr>
          <a:xfrm>
            <a:off x="350838" y="125253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Slow, long-term killer! </a:t>
            </a:r>
            <a:endParaRPr/>
          </a:p>
        </p:txBody>
      </p:sp>
      <p:sp>
        <p:nvSpPr>
          <p:cNvPr id="1106" name="Google Shape;1106;p42"/>
          <p:cNvSpPr txBox="1"/>
          <p:nvPr/>
        </p:nvSpPr>
        <p:spPr>
          <a:xfrm>
            <a:off x="786714" y="2009775"/>
            <a:ext cx="5486400" cy="16192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*x = malloc(N*sizeof(int));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43"/>
          <p:cNvSpPr txBox="1"/>
          <p:nvPr>
            <p:ph idx="4294967295" type="title"/>
          </p:nvPr>
        </p:nvSpPr>
        <p:spPr>
          <a:xfrm>
            <a:off x="350838" y="287338"/>
            <a:ext cx="8716962" cy="1008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Failing to Free Blocks (Memory Leaks)</a:t>
            </a:r>
            <a:endParaRPr/>
          </a:p>
        </p:txBody>
      </p:sp>
      <p:sp>
        <p:nvSpPr>
          <p:cNvPr id="1113" name="Google Shape;1113;p43"/>
          <p:cNvSpPr txBox="1"/>
          <p:nvPr>
            <p:ph idx="1" type="body"/>
          </p:nvPr>
        </p:nvSpPr>
        <p:spPr>
          <a:xfrm>
            <a:off x="362937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Freeing only part of a data structure</a:t>
            </a:r>
            <a:endParaRPr/>
          </a:p>
        </p:txBody>
      </p:sp>
      <p:sp>
        <p:nvSpPr>
          <p:cNvPr id="1114" name="Google Shape;1114;p43"/>
          <p:cNvSpPr txBox="1"/>
          <p:nvPr/>
        </p:nvSpPr>
        <p:spPr>
          <a:xfrm>
            <a:off x="457200" y="1885950"/>
            <a:ext cx="8077200" cy="4362450"/>
          </a:xfrm>
          <a:prstGeom prst="rect">
            <a:avLst/>
          </a:prstGeom>
          <a:solidFill>
            <a:srgbClr val="F6F5BD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list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int val;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struct list *next;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foo()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struct list *head = malloc(sizeof(struct list));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head-&gt;val = 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head-&gt;next = NULL;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0" lang="en-GB" sz="2000" u="none" cap="none" strike="noStrike">
                <a:solidFill>
                  <a:srgbClr val="990000"/>
                </a:solidFill>
                <a:latin typeface="Courier New"/>
                <a:ea typeface="Courier New"/>
                <a:cs typeface="Courier New"/>
                <a:sym typeface="Courier New"/>
              </a:rPr>
              <a:t>&lt;create and manipulate the rest of the list&gt;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free(head);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return;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4"/>
          <p:cNvSpPr txBox="1"/>
          <p:nvPr>
            <p:ph idx="4294967295" type="title"/>
          </p:nvPr>
        </p:nvSpPr>
        <p:spPr>
          <a:xfrm>
            <a:off x="381000" y="436562"/>
            <a:ext cx="8716962" cy="7826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9063" lvl="0" marL="119063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Dealing With Memory Bugs</a:t>
            </a:r>
            <a:endParaRPr/>
          </a:p>
        </p:txBody>
      </p:sp>
      <p:sp>
        <p:nvSpPr>
          <p:cNvPr id="1121" name="Google Shape;1121;p44"/>
          <p:cNvSpPr txBox="1"/>
          <p:nvPr>
            <p:ph idx="1" type="body"/>
          </p:nvPr>
        </p:nvSpPr>
        <p:spPr>
          <a:xfrm>
            <a:off x="379413" y="1220788"/>
            <a:ext cx="8307387" cy="5224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Debugger: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gdb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Good for finding  bad pointer dereferences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Hard to detect the other memory bugs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Data structure consistency checker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 Runs silently, prints message only on error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Use as a probe to zero in on error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Binary translator:  </a:t>
            </a:r>
            <a:r>
              <a:rPr lang="en-GB">
                <a:latin typeface="Courier New"/>
                <a:ea typeface="Courier New"/>
                <a:cs typeface="Courier New"/>
                <a:sym typeface="Courier New"/>
              </a:rPr>
              <a:t>valgrind</a:t>
            </a:r>
            <a:r>
              <a:rPr lang="en-GB"/>
              <a:t> </a:t>
            </a:r>
            <a:endParaRPr/>
          </a:p>
          <a:p>
            <a:pPr indent="-285750" lvl="1" marL="74295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Powerful debugging and analysis technique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Rewrites text section of executable object file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lang="en-GB"/>
              <a:t>Checks each individual reference at runtime</a:t>
            </a:r>
            <a:endParaRPr/>
          </a:p>
          <a:p>
            <a:pPr indent="-2286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</a:pPr>
            <a:r>
              <a:rPr lang="en-GB"/>
              <a:t>Bad pointers, overwrites, refs outside of allocated block</a:t>
            </a:r>
            <a:endParaRPr/>
          </a:p>
          <a:p>
            <a:pPr indent="-342900" lvl="0" marL="342900" rtl="0" algn="l">
              <a:lnSpc>
                <a:spcPct val="95000"/>
              </a:lnSpc>
              <a:spcBef>
                <a:spcPts val="480"/>
              </a:spcBef>
              <a:spcAft>
                <a:spcPts val="0"/>
              </a:spcAft>
              <a:buSzPts val="1440"/>
              <a:buChar char="⬛"/>
            </a:pPr>
            <a:r>
              <a:rPr lang="en-GB"/>
              <a:t>glibc malloc contains checking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00"/>
              <a:buChar char="▪"/>
            </a:pPr>
            <a:r>
              <a:rPr b="1" lang="en-GB">
                <a:latin typeface="Courier New"/>
                <a:ea typeface="Courier New"/>
                <a:cs typeface="Courier New"/>
                <a:sym typeface="Courier New"/>
              </a:rPr>
              <a:t>setenv MALLOC_CHECK_ 3 </a:t>
            </a:r>
            <a:endParaRPr/>
          </a:p>
          <a:p>
            <a:pPr indent="-127000" lvl="2" marL="11430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2012-11-01T14:52:42Z</dcterms:created>
  <dc:creator>Markus Pueschel</dc:creator>
</cp:coreProperties>
</file>