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</p:sldIdLst>
  <p:sldSz cy="6858000" cx="9144000"/>
  <p:notesSz cx="7302500" cy="9586900"/>
  <p:embeddedFontLst>
    <p:embeddedFont>
      <p:font typeface="Arial Narrow"/>
      <p:regular r:id="rId42"/>
      <p:bold r:id="rId43"/>
      <p:italic r:id="rId44"/>
      <p:boldItalic r:id="rId4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46" roundtripDataSignature="AMtx7mip1hGXEddR3UEHwYZ9qhpkAGy37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20" Type="http://schemas.openxmlformats.org/officeDocument/2006/relationships/slide" Target="slides/slide15.xml"/><Relationship Id="rId42" Type="http://schemas.openxmlformats.org/officeDocument/2006/relationships/font" Target="fonts/ArialNarrow-regular.fntdata"/><Relationship Id="rId41" Type="http://schemas.openxmlformats.org/officeDocument/2006/relationships/slide" Target="slides/slide36.xml"/><Relationship Id="rId22" Type="http://schemas.openxmlformats.org/officeDocument/2006/relationships/slide" Target="slides/slide17.xml"/><Relationship Id="rId44" Type="http://schemas.openxmlformats.org/officeDocument/2006/relationships/font" Target="fonts/ArialNarrow-italic.fntdata"/><Relationship Id="rId21" Type="http://schemas.openxmlformats.org/officeDocument/2006/relationships/slide" Target="slides/slide16.xml"/><Relationship Id="rId43" Type="http://schemas.openxmlformats.org/officeDocument/2006/relationships/font" Target="fonts/ArialNarrow-bold.fntdata"/><Relationship Id="rId24" Type="http://schemas.openxmlformats.org/officeDocument/2006/relationships/slide" Target="slides/slide19.xml"/><Relationship Id="rId46" Type="http://customschemas.google.com/relationships/presentationmetadata" Target="metadata"/><Relationship Id="rId23" Type="http://schemas.openxmlformats.org/officeDocument/2006/relationships/slide" Target="slides/slide18.xml"/><Relationship Id="rId45" Type="http://schemas.openxmlformats.org/officeDocument/2006/relationships/font" Target="fonts/ArialNarrow-bold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slide" Target="slides/slide28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35" Type="http://schemas.openxmlformats.org/officeDocument/2006/relationships/slide" Target="slides/slide30.xml"/><Relationship Id="rId12" Type="http://schemas.openxmlformats.org/officeDocument/2006/relationships/slide" Target="slides/slide7.xml"/><Relationship Id="rId34" Type="http://schemas.openxmlformats.org/officeDocument/2006/relationships/slide" Target="slides/slide29.xml"/><Relationship Id="rId15" Type="http://schemas.openxmlformats.org/officeDocument/2006/relationships/slide" Target="slides/slide10.xml"/><Relationship Id="rId37" Type="http://schemas.openxmlformats.org/officeDocument/2006/relationships/slide" Target="slides/slide32.xml"/><Relationship Id="rId14" Type="http://schemas.openxmlformats.org/officeDocument/2006/relationships/slide" Target="slides/slide9.xml"/><Relationship Id="rId36" Type="http://schemas.openxmlformats.org/officeDocument/2006/relationships/slide" Target="slides/slide31.xml"/><Relationship Id="rId17" Type="http://schemas.openxmlformats.org/officeDocument/2006/relationships/slide" Target="slides/slide12.xml"/><Relationship Id="rId39" Type="http://schemas.openxmlformats.org/officeDocument/2006/relationships/slide" Target="slides/slide34.xml"/><Relationship Id="rId16" Type="http://schemas.openxmlformats.org/officeDocument/2006/relationships/slide" Target="slides/slide11.xml"/><Relationship Id="rId38" Type="http://schemas.openxmlformats.org/officeDocument/2006/relationships/slide" Target="slides/slide33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3200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400" u="none" cap="none" strike="noStrik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400" u="none" cap="none" strike="noStrik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400" u="none" cap="none" strike="noStrik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400" u="none" cap="none" strike="noStrik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400" u="none" cap="none" strike="noStrik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400" u="none" cap="none" strike="noStrik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400" u="none" cap="none" strike="noStrik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400" u="none" cap="none" strike="noStrik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4114800" y="0"/>
            <a:ext cx="3200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400" u="none" cap="none" strike="noStrik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400" u="none" cap="none" strike="noStrik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400" u="none" cap="none" strike="noStrik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400" u="none" cap="none" strike="noStrik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400" u="none" cap="none" strike="noStrik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400" u="none" cap="none" strike="noStrik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400" u="none" cap="none" strike="noStrik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400" u="none" cap="none" strike="noStrik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219200" y="685800"/>
            <a:ext cx="4876800" cy="3657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990600" y="4572000"/>
            <a:ext cx="5334000" cy="42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9144000"/>
            <a:ext cx="3200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400" u="none" cap="none" strike="noStrik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400" u="none" cap="none" strike="noStrik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400" u="none" cap="none" strike="noStrik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400" u="none" cap="none" strike="noStrik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400" u="none" cap="none" strike="noStrik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400" u="none" cap="none" strike="noStrik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400" u="none" cap="none" strike="noStrik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400" u="none" cap="none" strike="noStrik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4114800" y="9144000"/>
            <a:ext cx="3200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:notes"/>
          <p:cNvSpPr/>
          <p:nvPr>
            <p:ph idx="2" type="sldImg"/>
          </p:nvPr>
        </p:nvSpPr>
        <p:spPr>
          <a:xfrm>
            <a:off x="1219200" y="685800"/>
            <a:ext cx="4876800" cy="3657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3" name="Google Shape;63;p1:notes"/>
          <p:cNvSpPr txBox="1"/>
          <p:nvPr>
            <p:ph idx="1" type="body"/>
          </p:nvPr>
        </p:nvSpPr>
        <p:spPr>
          <a:xfrm>
            <a:off x="990600" y="4572000"/>
            <a:ext cx="5334000" cy="42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4" name="Google Shape;64;p1:notes"/>
          <p:cNvSpPr txBox="1"/>
          <p:nvPr>
            <p:ph idx="12" type="sldNum"/>
          </p:nvPr>
        </p:nvSpPr>
        <p:spPr>
          <a:xfrm>
            <a:off x="4114800" y="9144000"/>
            <a:ext cx="3200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:notes"/>
          <p:cNvSpPr/>
          <p:nvPr>
            <p:ph idx="2" type="sldImg"/>
          </p:nvPr>
        </p:nvSpPr>
        <p:spPr>
          <a:xfrm>
            <a:off x="1219200" y="685800"/>
            <a:ext cx="4876800" cy="3657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70" name="Google Shape;70;p2:notes"/>
          <p:cNvSpPr txBox="1"/>
          <p:nvPr>
            <p:ph idx="1" type="body"/>
          </p:nvPr>
        </p:nvSpPr>
        <p:spPr>
          <a:xfrm>
            <a:off x="990600" y="4572000"/>
            <a:ext cx="5334000" cy="42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1" name="Google Shape;71;p2:notes"/>
          <p:cNvSpPr txBox="1"/>
          <p:nvPr>
            <p:ph idx="12" type="sldNum"/>
          </p:nvPr>
        </p:nvSpPr>
        <p:spPr>
          <a:xfrm>
            <a:off x="4114800" y="9144000"/>
            <a:ext cx="3200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3:notes"/>
          <p:cNvSpPr/>
          <p:nvPr>
            <p:ph idx="2" type="sldImg"/>
          </p:nvPr>
        </p:nvSpPr>
        <p:spPr>
          <a:xfrm>
            <a:off x="1263650" y="725488"/>
            <a:ext cx="4775200" cy="3581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7" name="Google Shape;77;p3:notes"/>
          <p:cNvSpPr txBox="1"/>
          <p:nvPr>
            <p:ph idx="1" type="body"/>
          </p:nvPr>
        </p:nvSpPr>
        <p:spPr>
          <a:xfrm>
            <a:off x="990600" y="4572000"/>
            <a:ext cx="5334000" cy="42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4:notes"/>
          <p:cNvSpPr/>
          <p:nvPr>
            <p:ph idx="2" type="sldImg"/>
          </p:nvPr>
        </p:nvSpPr>
        <p:spPr>
          <a:xfrm>
            <a:off x="1263650" y="725488"/>
            <a:ext cx="4775200" cy="3581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6" name="Google Shape;86;p4:notes"/>
          <p:cNvSpPr txBox="1"/>
          <p:nvPr>
            <p:ph idx="1" type="body"/>
          </p:nvPr>
        </p:nvSpPr>
        <p:spPr>
          <a:xfrm>
            <a:off x="990600" y="4572000"/>
            <a:ext cx="5334000" cy="42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5:notes"/>
          <p:cNvSpPr/>
          <p:nvPr>
            <p:ph idx="2" type="sldImg"/>
          </p:nvPr>
        </p:nvSpPr>
        <p:spPr>
          <a:xfrm>
            <a:off x="1263650" y="725488"/>
            <a:ext cx="4775200" cy="3581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10" name="Google Shape;110;p5:notes"/>
          <p:cNvSpPr txBox="1"/>
          <p:nvPr>
            <p:ph idx="1" type="body"/>
          </p:nvPr>
        </p:nvSpPr>
        <p:spPr>
          <a:xfrm>
            <a:off x="990600" y="4572000"/>
            <a:ext cx="5334000" cy="42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6:notes"/>
          <p:cNvSpPr/>
          <p:nvPr>
            <p:ph idx="2" type="sldImg"/>
          </p:nvPr>
        </p:nvSpPr>
        <p:spPr>
          <a:xfrm>
            <a:off x="1263650" y="725488"/>
            <a:ext cx="4775200" cy="3581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16" name="Google Shape;116;p6:notes"/>
          <p:cNvSpPr txBox="1"/>
          <p:nvPr>
            <p:ph idx="1" type="body"/>
          </p:nvPr>
        </p:nvSpPr>
        <p:spPr>
          <a:xfrm>
            <a:off x="990600" y="4572000"/>
            <a:ext cx="5334000" cy="42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7:notes"/>
          <p:cNvSpPr/>
          <p:nvPr>
            <p:ph idx="2" type="sldImg"/>
          </p:nvPr>
        </p:nvSpPr>
        <p:spPr>
          <a:xfrm>
            <a:off x="1263650" y="725488"/>
            <a:ext cx="4775200" cy="3581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22" name="Google Shape;122;p7:notes"/>
          <p:cNvSpPr txBox="1"/>
          <p:nvPr>
            <p:ph idx="1" type="body"/>
          </p:nvPr>
        </p:nvSpPr>
        <p:spPr>
          <a:xfrm>
            <a:off x="990600" y="4572000"/>
            <a:ext cx="5334000" cy="42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8:notes"/>
          <p:cNvSpPr/>
          <p:nvPr>
            <p:ph idx="2" type="sldImg"/>
          </p:nvPr>
        </p:nvSpPr>
        <p:spPr>
          <a:xfrm>
            <a:off x="1263650" y="725488"/>
            <a:ext cx="4775200" cy="3581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28" name="Google Shape;128;p8:notes"/>
          <p:cNvSpPr txBox="1"/>
          <p:nvPr>
            <p:ph idx="1" type="body"/>
          </p:nvPr>
        </p:nvSpPr>
        <p:spPr>
          <a:xfrm>
            <a:off x="990600" y="4572000"/>
            <a:ext cx="5334000" cy="42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9:notes"/>
          <p:cNvSpPr/>
          <p:nvPr>
            <p:ph idx="2" type="sldImg"/>
          </p:nvPr>
        </p:nvSpPr>
        <p:spPr>
          <a:xfrm>
            <a:off x="1263650" y="725488"/>
            <a:ext cx="4775200" cy="3581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35" name="Google Shape;135;p9:notes"/>
          <p:cNvSpPr txBox="1"/>
          <p:nvPr>
            <p:ph idx="1" type="body"/>
          </p:nvPr>
        </p:nvSpPr>
        <p:spPr>
          <a:xfrm>
            <a:off x="990600" y="4572000"/>
            <a:ext cx="5334000" cy="42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0:notes"/>
          <p:cNvSpPr/>
          <p:nvPr>
            <p:ph idx="2" type="sldImg"/>
          </p:nvPr>
        </p:nvSpPr>
        <p:spPr>
          <a:xfrm>
            <a:off x="1263650" y="725488"/>
            <a:ext cx="4775200" cy="3581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41" name="Google Shape;141;p10:notes"/>
          <p:cNvSpPr txBox="1"/>
          <p:nvPr>
            <p:ph idx="1" type="body"/>
          </p:nvPr>
        </p:nvSpPr>
        <p:spPr>
          <a:xfrm>
            <a:off x="990600" y="4572000"/>
            <a:ext cx="5334000" cy="42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1:notes"/>
          <p:cNvSpPr txBox="1"/>
          <p:nvPr/>
        </p:nvSpPr>
        <p:spPr>
          <a:xfrm>
            <a:off x="2265128" y="726094"/>
            <a:ext cx="2772245" cy="358052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147" name="Google Shape;147;p11:notes"/>
          <p:cNvSpPr txBox="1"/>
          <p:nvPr>
            <p:ph idx="1" type="body"/>
          </p:nvPr>
        </p:nvSpPr>
        <p:spPr>
          <a:xfrm>
            <a:off x="973184" y="4554201"/>
            <a:ext cx="5356133" cy="431494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8" name="Google Shape;148;p11:notes"/>
          <p:cNvSpPr/>
          <p:nvPr>
            <p:ph idx="2" type="sldImg"/>
          </p:nvPr>
        </p:nvSpPr>
        <p:spPr>
          <a:xfrm>
            <a:off x="1219200" y="685800"/>
            <a:ext cx="4876800" cy="3657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12:notes"/>
          <p:cNvSpPr txBox="1"/>
          <p:nvPr/>
        </p:nvSpPr>
        <p:spPr>
          <a:xfrm>
            <a:off x="2265128" y="726094"/>
            <a:ext cx="2772245" cy="358052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166" name="Google Shape;166;p12:notes"/>
          <p:cNvSpPr txBox="1"/>
          <p:nvPr>
            <p:ph idx="1" type="body"/>
          </p:nvPr>
        </p:nvSpPr>
        <p:spPr>
          <a:xfrm>
            <a:off x="973184" y="4554201"/>
            <a:ext cx="5356133" cy="431494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7" name="Google Shape;167;p12:notes"/>
          <p:cNvSpPr/>
          <p:nvPr>
            <p:ph idx="2" type="sldImg"/>
          </p:nvPr>
        </p:nvSpPr>
        <p:spPr>
          <a:xfrm>
            <a:off x="1219200" y="685800"/>
            <a:ext cx="4876800" cy="3657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13:notes"/>
          <p:cNvSpPr txBox="1"/>
          <p:nvPr/>
        </p:nvSpPr>
        <p:spPr>
          <a:xfrm>
            <a:off x="2265128" y="726094"/>
            <a:ext cx="2772245" cy="358052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185" name="Google Shape;185;p13:notes"/>
          <p:cNvSpPr txBox="1"/>
          <p:nvPr>
            <p:ph idx="1" type="body"/>
          </p:nvPr>
        </p:nvSpPr>
        <p:spPr>
          <a:xfrm>
            <a:off x="973184" y="4554201"/>
            <a:ext cx="5356133" cy="431494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6" name="Google Shape;186;p13:notes"/>
          <p:cNvSpPr/>
          <p:nvPr>
            <p:ph idx="2" type="sldImg"/>
          </p:nvPr>
        </p:nvSpPr>
        <p:spPr>
          <a:xfrm>
            <a:off x="1219200" y="685800"/>
            <a:ext cx="4876800" cy="3657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14:notes"/>
          <p:cNvSpPr txBox="1"/>
          <p:nvPr/>
        </p:nvSpPr>
        <p:spPr>
          <a:xfrm>
            <a:off x="2265128" y="726094"/>
            <a:ext cx="2772245" cy="358052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192" name="Google Shape;192;p14:notes"/>
          <p:cNvSpPr txBox="1"/>
          <p:nvPr>
            <p:ph idx="1" type="body"/>
          </p:nvPr>
        </p:nvSpPr>
        <p:spPr>
          <a:xfrm>
            <a:off x="973184" y="4554201"/>
            <a:ext cx="5356133" cy="431494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3" name="Google Shape;193;p14:notes"/>
          <p:cNvSpPr/>
          <p:nvPr>
            <p:ph idx="2" type="sldImg"/>
          </p:nvPr>
        </p:nvSpPr>
        <p:spPr>
          <a:xfrm>
            <a:off x="1219200" y="685800"/>
            <a:ext cx="4876800" cy="3657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15:notes"/>
          <p:cNvSpPr txBox="1"/>
          <p:nvPr>
            <p:ph idx="1" type="body"/>
          </p:nvPr>
        </p:nvSpPr>
        <p:spPr>
          <a:xfrm>
            <a:off x="990600" y="4572000"/>
            <a:ext cx="5334000" cy="42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23" name="Google Shape;223;p15:notes"/>
          <p:cNvSpPr/>
          <p:nvPr>
            <p:ph idx="2" type="sldImg"/>
          </p:nvPr>
        </p:nvSpPr>
        <p:spPr>
          <a:xfrm>
            <a:off x="1219200" y="685800"/>
            <a:ext cx="4876800" cy="3657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16:notes"/>
          <p:cNvSpPr txBox="1"/>
          <p:nvPr/>
        </p:nvSpPr>
        <p:spPr>
          <a:xfrm>
            <a:off x="2265128" y="726094"/>
            <a:ext cx="2772245" cy="358052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231" name="Google Shape;231;p16:notes"/>
          <p:cNvSpPr txBox="1"/>
          <p:nvPr>
            <p:ph idx="1" type="body"/>
          </p:nvPr>
        </p:nvSpPr>
        <p:spPr>
          <a:xfrm>
            <a:off x="973184" y="4554201"/>
            <a:ext cx="5356133" cy="431494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32" name="Google Shape;232;p16:notes"/>
          <p:cNvSpPr/>
          <p:nvPr>
            <p:ph idx="2" type="sldImg"/>
          </p:nvPr>
        </p:nvSpPr>
        <p:spPr>
          <a:xfrm>
            <a:off x="1219200" y="685800"/>
            <a:ext cx="4876800" cy="3657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17:notes"/>
          <p:cNvSpPr txBox="1"/>
          <p:nvPr/>
        </p:nvSpPr>
        <p:spPr>
          <a:xfrm>
            <a:off x="2265128" y="726094"/>
            <a:ext cx="2772245" cy="358052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250" name="Google Shape;250;p17:notes"/>
          <p:cNvSpPr txBox="1"/>
          <p:nvPr>
            <p:ph idx="1" type="body"/>
          </p:nvPr>
        </p:nvSpPr>
        <p:spPr>
          <a:xfrm>
            <a:off x="973184" y="4554201"/>
            <a:ext cx="5356133" cy="431494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51" name="Google Shape;251;p17:notes"/>
          <p:cNvSpPr/>
          <p:nvPr>
            <p:ph idx="2" type="sldImg"/>
          </p:nvPr>
        </p:nvSpPr>
        <p:spPr>
          <a:xfrm>
            <a:off x="1219200" y="685800"/>
            <a:ext cx="4876800" cy="3657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18:notes"/>
          <p:cNvSpPr txBox="1"/>
          <p:nvPr/>
        </p:nvSpPr>
        <p:spPr>
          <a:xfrm>
            <a:off x="2265128" y="726094"/>
            <a:ext cx="2772245" cy="358052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257" name="Google Shape;257;p18:notes"/>
          <p:cNvSpPr txBox="1"/>
          <p:nvPr>
            <p:ph idx="1" type="body"/>
          </p:nvPr>
        </p:nvSpPr>
        <p:spPr>
          <a:xfrm>
            <a:off x="973184" y="4554201"/>
            <a:ext cx="5356133" cy="431494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58" name="Google Shape;258;p18:notes"/>
          <p:cNvSpPr/>
          <p:nvPr>
            <p:ph idx="2" type="sldImg"/>
          </p:nvPr>
        </p:nvSpPr>
        <p:spPr>
          <a:xfrm>
            <a:off x="1219200" y="685800"/>
            <a:ext cx="4876800" cy="3657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19:notes"/>
          <p:cNvSpPr txBox="1"/>
          <p:nvPr>
            <p:ph idx="1" type="body"/>
          </p:nvPr>
        </p:nvSpPr>
        <p:spPr>
          <a:xfrm>
            <a:off x="990600" y="4572000"/>
            <a:ext cx="5334000" cy="42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81" name="Google Shape;281;p19:notes"/>
          <p:cNvSpPr/>
          <p:nvPr>
            <p:ph idx="2" type="sldImg"/>
          </p:nvPr>
        </p:nvSpPr>
        <p:spPr>
          <a:xfrm>
            <a:off x="1219200" y="685800"/>
            <a:ext cx="4876800" cy="3657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20:notes"/>
          <p:cNvSpPr txBox="1"/>
          <p:nvPr/>
        </p:nvSpPr>
        <p:spPr>
          <a:xfrm>
            <a:off x="2265128" y="726094"/>
            <a:ext cx="2772245" cy="358052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287" name="Google Shape;287;p20:notes"/>
          <p:cNvSpPr txBox="1"/>
          <p:nvPr>
            <p:ph idx="1" type="body"/>
          </p:nvPr>
        </p:nvSpPr>
        <p:spPr>
          <a:xfrm>
            <a:off x="973184" y="4554201"/>
            <a:ext cx="5356133" cy="431494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88" name="Google Shape;288;p20:notes"/>
          <p:cNvSpPr/>
          <p:nvPr>
            <p:ph idx="2" type="sldImg"/>
          </p:nvPr>
        </p:nvSpPr>
        <p:spPr>
          <a:xfrm>
            <a:off x="1219200" y="685800"/>
            <a:ext cx="4876800" cy="3657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21:notes"/>
          <p:cNvSpPr txBox="1"/>
          <p:nvPr/>
        </p:nvSpPr>
        <p:spPr>
          <a:xfrm>
            <a:off x="2265128" y="726094"/>
            <a:ext cx="2772245" cy="358052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324" name="Google Shape;324;p21:notes"/>
          <p:cNvSpPr txBox="1"/>
          <p:nvPr>
            <p:ph idx="1" type="body"/>
          </p:nvPr>
        </p:nvSpPr>
        <p:spPr>
          <a:xfrm>
            <a:off x="973184" y="4554201"/>
            <a:ext cx="5356133" cy="431494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25" name="Google Shape;325;p21:notes"/>
          <p:cNvSpPr/>
          <p:nvPr>
            <p:ph idx="2" type="sldImg"/>
          </p:nvPr>
        </p:nvSpPr>
        <p:spPr>
          <a:xfrm>
            <a:off x="1219200" y="685800"/>
            <a:ext cx="4876800" cy="3657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22:notes"/>
          <p:cNvSpPr txBox="1"/>
          <p:nvPr/>
        </p:nvSpPr>
        <p:spPr>
          <a:xfrm>
            <a:off x="2265128" y="726094"/>
            <a:ext cx="2772245" cy="358052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335" name="Google Shape;335;p22:notes"/>
          <p:cNvSpPr txBox="1"/>
          <p:nvPr>
            <p:ph idx="1" type="body"/>
          </p:nvPr>
        </p:nvSpPr>
        <p:spPr>
          <a:xfrm>
            <a:off x="973184" y="4554201"/>
            <a:ext cx="5356133" cy="431494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36" name="Google Shape;336;p22:notes"/>
          <p:cNvSpPr/>
          <p:nvPr>
            <p:ph idx="2" type="sldImg"/>
          </p:nvPr>
        </p:nvSpPr>
        <p:spPr>
          <a:xfrm>
            <a:off x="1219200" y="685800"/>
            <a:ext cx="4876800" cy="3657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23:notes"/>
          <p:cNvSpPr txBox="1"/>
          <p:nvPr/>
        </p:nvSpPr>
        <p:spPr>
          <a:xfrm>
            <a:off x="2265128" y="726094"/>
            <a:ext cx="2772245" cy="358052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345" name="Google Shape;345;p23:notes"/>
          <p:cNvSpPr txBox="1"/>
          <p:nvPr>
            <p:ph idx="1" type="body"/>
          </p:nvPr>
        </p:nvSpPr>
        <p:spPr>
          <a:xfrm>
            <a:off x="973184" y="4554201"/>
            <a:ext cx="5356133" cy="431494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46" name="Google Shape;346;p23:notes"/>
          <p:cNvSpPr/>
          <p:nvPr>
            <p:ph idx="2" type="sldImg"/>
          </p:nvPr>
        </p:nvSpPr>
        <p:spPr>
          <a:xfrm>
            <a:off x="1219200" y="685800"/>
            <a:ext cx="4876800" cy="3657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p24:notes"/>
          <p:cNvSpPr txBox="1"/>
          <p:nvPr/>
        </p:nvSpPr>
        <p:spPr>
          <a:xfrm>
            <a:off x="2265128" y="726094"/>
            <a:ext cx="2772245" cy="358052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386" name="Google Shape;386;p24:notes"/>
          <p:cNvSpPr txBox="1"/>
          <p:nvPr>
            <p:ph idx="1" type="body"/>
          </p:nvPr>
        </p:nvSpPr>
        <p:spPr>
          <a:xfrm>
            <a:off x="973184" y="4554201"/>
            <a:ext cx="5356133" cy="431494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87" name="Google Shape;387;p24:notes"/>
          <p:cNvSpPr/>
          <p:nvPr>
            <p:ph idx="2" type="sldImg"/>
          </p:nvPr>
        </p:nvSpPr>
        <p:spPr>
          <a:xfrm>
            <a:off x="1219200" y="685800"/>
            <a:ext cx="4876800" cy="3657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p25:notes"/>
          <p:cNvSpPr txBox="1"/>
          <p:nvPr/>
        </p:nvSpPr>
        <p:spPr>
          <a:xfrm>
            <a:off x="2265128" y="726094"/>
            <a:ext cx="2772245" cy="358052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393" name="Google Shape;393;p25:notes"/>
          <p:cNvSpPr txBox="1"/>
          <p:nvPr>
            <p:ph idx="1" type="body"/>
          </p:nvPr>
        </p:nvSpPr>
        <p:spPr>
          <a:xfrm>
            <a:off x="973184" y="4554201"/>
            <a:ext cx="5356133" cy="431494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94" name="Google Shape;394;p25:notes"/>
          <p:cNvSpPr/>
          <p:nvPr>
            <p:ph idx="2" type="sldImg"/>
          </p:nvPr>
        </p:nvSpPr>
        <p:spPr>
          <a:xfrm>
            <a:off x="1219200" y="685800"/>
            <a:ext cx="4876800" cy="3657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8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p26:notes"/>
          <p:cNvSpPr txBox="1"/>
          <p:nvPr/>
        </p:nvSpPr>
        <p:spPr>
          <a:xfrm>
            <a:off x="2265128" y="726094"/>
            <a:ext cx="2772245" cy="358052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400" name="Google Shape;400;p26:notes"/>
          <p:cNvSpPr txBox="1"/>
          <p:nvPr>
            <p:ph idx="1" type="body"/>
          </p:nvPr>
        </p:nvSpPr>
        <p:spPr>
          <a:xfrm>
            <a:off x="973184" y="4554201"/>
            <a:ext cx="5356133" cy="431494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01" name="Google Shape;401;p26:notes"/>
          <p:cNvSpPr/>
          <p:nvPr>
            <p:ph idx="2" type="sldImg"/>
          </p:nvPr>
        </p:nvSpPr>
        <p:spPr>
          <a:xfrm>
            <a:off x="1219200" y="685800"/>
            <a:ext cx="4876800" cy="3657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9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p27:notes"/>
          <p:cNvSpPr txBox="1"/>
          <p:nvPr/>
        </p:nvSpPr>
        <p:spPr>
          <a:xfrm>
            <a:off x="2265128" y="726094"/>
            <a:ext cx="2772245" cy="358052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431" name="Google Shape;431;p27:notes"/>
          <p:cNvSpPr txBox="1"/>
          <p:nvPr>
            <p:ph idx="1" type="body"/>
          </p:nvPr>
        </p:nvSpPr>
        <p:spPr>
          <a:xfrm>
            <a:off x="973184" y="4554201"/>
            <a:ext cx="5356133" cy="431494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32" name="Google Shape;432;p27:notes"/>
          <p:cNvSpPr/>
          <p:nvPr>
            <p:ph idx="2" type="sldImg"/>
          </p:nvPr>
        </p:nvSpPr>
        <p:spPr>
          <a:xfrm>
            <a:off x="1219200" y="685800"/>
            <a:ext cx="4876800" cy="3657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8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p28:notes"/>
          <p:cNvSpPr txBox="1"/>
          <p:nvPr>
            <p:ph idx="1" type="body"/>
          </p:nvPr>
        </p:nvSpPr>
        <p:spPr>
          <a:xfrm>
            <a:off x="990600" y="4572000"/>
            <a:ext cx="5334000" cy="42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40" name="Google Shape;440;p28:notes"/>
          <p:cNvSpPr/>
          <p:nvPr>
            <p:ph idx="2" type="sldImg"/>
          </p:nvPr>
        </p:nvSpPr>
        <p:spPr>
          <a:xfrm>
            <a:off x="1219200" y="685800"/>
            <a:ext cx="4876800" cy="3657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p29:notes"/>
          <p:cNvSpPr txBox="1"/>
          <p:nvPr/>
        </p:nvSpPr>
        <p:spPr>
          <a:xfrm>
            <a:off x="2265128" y="726094"/>
            <a:ext cx="2772245" cy="358052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453" name="Google Shape;453;p29:notes"/>
          <p:cNvSpPr txBox="1"/>
          <p:nvPr>
            <p:ph idx="1" type="body"/>
          </p:nvPr>
        </p:nvSpPr>
        <p:spPr>
          <a:xfrm>
            <a:off x="973184" y="4554201"/>
            <a:ext cx="5356133" cy="431494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54" name="Google Shape;454;p29:notes"/>
          <p:cNvSpPr/>
          <p:nvPr>
            <p:ph idx="2" type="sldImg"/>
          </p:nvPr>
        </p:nvSpPr>
        <p:spPr>
          <a:xfrm>
            <a:off x="1219200" y="685800"/>
            <a:ext cx="4876800" cy="3657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4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Google Shape;485;p30:notes"/>
          <p:cNvSpPr txBox="1"/>
          <p:nvPr/>
        </p:nvSpPr>
        <p:spPr>
          <a:xfrm>
            <a:off x="2265128" y="726094"/>
            <a:ext cx="2772245" cy="358052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486" name="Google Shape;486;p30:notes"/>
          <p:cNvSpPr txBox="1"/>
          <p:nvPr>
            <p:ph idx="1" type="body"/>
          </p:nvPr>
        </p:nvSpPr>
        <p:spPr>
          <a:xfrm>
            <a:off x="973184" y="4554201"/>
            <a:ext cx="5356133" cy="431494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87" name="Google Shape;487;p30:notes"/>
          <p:cNvSpPr/>
          <p:nvPr>
            <p:ph idx="2" type="sldImg"/>
          </p:nvPr>
        </p:nvSpPr>
        <p:spPr>
          <a:xfrm>
            <a:off x="1219200" y="685800"/>
            <a:ext cx="4876800" cy="3657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2" name="Shape 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" name="Google Shape;493;p31:notes"/>
          <p:cNvSpPr txBox="1"/>
          <p:nvPr/>
        </p:nvSpPr>
        <p:spPr>
          <a:xfrm>
            <a:off x="2265128" y="726094"/>
            <a:ext cx="2772245" cy="358052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494" name="Google Shape;494;p31:notes"/>
          <p:cNvSpPr txBox="1"/>
          <p:nvPr>
            <p:ph idx="1" type="body"/>
          </p:nvPr>
        </p:nvSpPr>
        <p:spPr>
          <a:xfrm>
            <a:off x="973184" y="4554201"/>
            <a:ext cx="5356133" cy="431494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95" name="Google Shape;495;p31:notes"/>
          <p:cNvSpPr/>
          <p:nvPr>
            <p:ph idx="2" type="sldImg"/>
          </p:nvPr>
        </p:nvSpPr>
        <p:spPr>
          <a:xfrm>
            <a:off x="1219200" y="685800"/>
            <a:ext cx="4876800" cy="3657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9" name="Shape 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Google Shape;500;p32:notes"/>
          <p:cNvSpPr txBox="1"/>
          <p:nvPr/>
        </p:nvSpPr>
        <p:spPr>
          <a:xfrm>
            <a:off x="2265128" y="726094"/>
            <a:ext cx="2772245" cy="358052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501" name="Google Shape;501;p32:notes"/>
          <p:cNvSpPr txBox="1"/>
          <p:nvPr>
            <p:ph idx="1" type="body"/>
          </p:nvPr>
        </p:nvSpPr>
        <p:spPr>
          <a:xfrm>
            <a:off x="973184" y="4554201"/>
            <a:ext cx="5356133" cy="431494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02" name="Google Shape;502;p32:notes"/>
          <p:cNvSpPr/>
          <p:nvPr>
            <p:ph idx="2" type="sldImg"/>
          </p:nvPr>
        </p:nvSpPr>
        <p:spPr>
          <a:xfrm>
            <a:off x="1219200" y="685800"/>
            <a:ext cx="4876800" cy="3657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6" name="Shape 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" name="Google Shape;507;p33:notes"/>
          <p:cNvSpPr txBox="1"/>
          <p:nvPr/>
        </p:nvSpPr>
        <p:spPr>
          <a:xfrm>
            <a:off x="2265128" y="726094"/>
            <a:ext cx="2772245" cy="358052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508" name="Google Shape;508;p33:notes"/>
          <p:cNvSpPr txBox="1"/>
          <p:nvPr>
            <p:ph idx="1" type="body"/>
          </p:nvPr>
        </p:nvSpPr>
        <p:spPr>
          <a:xfrm>
            <a:off x="973184" y="4554201"/>
            <a:ext cx="5356133" cy="431494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09" name="Google Shape;509;p33:notes"/>
          <p:cNvSpPr/>
          <p:nvPr>
            <p:ph idx="2" type="sldImg"/>
          </p:nvPr>
        </p:nvSpPr>
        <p:spPr>
          <a:xfrm>
            <a:off x="1219200" y="685800"/>
            <a:ext cx="4876800" cy="3657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8" name="Shape 5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9" name="Google Shape;539;p34:notes"/>
          <p:cNvSpPr txBox="1"/>
          <p:nvPr/>
        </p:nvSpPr>
        <p:spPr>
          <a:xfrm>
            <a:off x="2265128" y="726094"/>
            <a:ext cx="2772245" cy="358052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540" name="Google Shape;540;p34:notes"/>
          <p:cNvSpPr txBox="1"/>
          <p:nvPr>
            <p:ph idx="1" type="body"/>
          </p:nvPr>
        </p:nvSpPr>
        <p:spPr>
          <a:xfrm>
            <a:off x="973184" y="4554201"/>
            <a:ext cx="5356133" cy="431494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41" name="Google Shape;541;p34:notes"/>
          <p:cNvSpPr/>
          <p:nvPr>
            <p:ph idx="2" type="sldImg"/>
          </p:nvPr>
        </p:nvSpPr>
        <p:spPr>
          <a:xfrm>
            <a:off x="1219200" y="685800"/>
            <a:ext cx="4876800" cy="3657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6" name="Shape 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7" name="Google Shape;547;p35:notes"/>
          <p:cNvSpPr txBox="1"/>
          <p:nvPr/>
        </p:nvSpPr>
        <p:spPr>
          <a:xfrm>
            <a:off x="2265128" y="726094"/>
            <a:ext cx="2772245" cy="358052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548" name="Google Shape;548;p35:notes"/>
          <p:cNvSpPr txBox="1"/>
          <p:nvPr>
            <p:ph idx="1" type="body"/>
          </p:nvPr>
        </p:nvSpPr>
        <p:spPr>
          <a:xfrm>
            <a:off x="973184" y="4554201"/>
            <a:ext cx="5356133" cy="431494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49" name="Google Shape;549;p35:notes"/>
          <p:cNvSpPr/>
          <p:nvPr>
            <p:ph idx="2" type="sldImg"/>
          </p:nvPr>
        </p:nvSpPr>
        <p:spPr>
          <a:xfrm>
            <a:off x="1219200" y="685800"/>
            <a:ext cx="4876800" cy="3657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4" name="Shape 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" name="Google Shape;555;p36:notes"/>
          <p:cNvSpPr txBox="1"/>
          <p:nvPr>
            <p:ph idx="1" type="body"/>
          </p:nvPr>
        </p:nvSpPr>
        <p:spPr>
          <a:xfrm>
            <a:off x="990600" y="4572000"/>
            <a:ext cx="5334000" cy="42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56" name="Google Shape;556;p36:notes"/>
          <p:cNvSpPr/>
          <p:nvPr>
            <p:ph idx="2" type="sldImg"/>
          </p:nvPr>
        </p:nvSpPr>
        <p:spPr>
          <a:xfrm>
            <a:off x="1219200" y="685800"/>
            <a:ext cx="4876800" cy="3657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51"/>
          <p:cNvSpPr txBox="1"/>
          <p:nvPr>
            <p:ph type="ctrTitle"/>
          </p:nvPr>
        </p:nvSpPr>
        <p:spPr>
          <a:xfrm>
            <a:off x="685800" y="1708012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51"/>
          <p:cNvSpPr txBox="1"/>
          <p:nvPr>
            <p:ph idx="1" type="subTitle"/>
          </p:nvPr>
        </p:nvSpPr>
        <p:spPr>
          <a:xfrm>
            <a:off x="685800" y="3886200"/>
            <a:ext cx="7677492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b="0" sz="2000">
                <a:latin typeface="Calibri"/>
                <a:ea typeface="Calibri"/>
                <a:cs typeface="Calibri"/>
                <a:sym typeface="Calibri"/>
              </a:defRPr>
            </a:lvl1pPr>
            <a:lvl2pPr lvl="1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200"/>
              <a:buNone/>
              <a:defRPr/>
            </a:lvl2pPr>
            <a:lvl3pPr lvl="2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/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/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/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/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/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52"/>
          <p:cNvSpPr txBox="1"/>
          <p:nvPr>
            <p:ph type="title"/>
          </p:nvPr>
        </p:nvSpPr>
        <p:spPr>
          <a:xfrm>
            <a:off x="357018" y="435678"/>
            <a:ext cx="7592093" cy="7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52"/>
          <p:cNvSpPr txBox="1"/>
          <p:nvPr>
            <p:ph idx="1" type="body"/>
          </p:nvPr>
        </p:nvSpPr>
        <p:spPr>
          <a:xfrm>
            <a:off x="396875" y="1362075"/>
            <a:ext cx="7896225" cy="4972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2004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440"/>
              <a:buChar char="⬛"/>
              <a:defRPr>
                <a:latin typeface="Calibri"/>
                <a:ea typeface="Calibri"/>
                <a:cs typeface="Calibri"/>
                <a:sym typeface="Calibri"/>
              </a:defRPr>
            </a:lvl1pPr>
            <a:lvl2pPr indent="-3683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200"/>
              <a:buChar char="▪"/>
              <a:defRPr>
                <a:latin typeface="Calibri"/>
                <a:ea typeface="Calibri"/>
                <a:cs typeface="Calibri"/>
                <a:sym typeface="Calibri"/>
              </a:defRPr>
            </a:lvl2pPr>
            <a:lvl3pPr indent="-3302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▪"/>
              <a:defRPr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–"/>
              <a:defRPr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»"/>
              <a:defRPr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53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4000" cap="none"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53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2000"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980"/>
              <a:buNone/>
              <a:defRPr sz="1800"/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280"/>
              <a:buNone/>
              <a:defRPr sz="1600"/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400"/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400"/>
            </a:lvl5pPr>
            <a:lvl6pPr indent="-228600" lvl="5" marL="2743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6pPr>
            <a:lvl7pPr indent="-228600" lvl="6" marL="3200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7pPr>
            <a:lvl8pPr indent="-228600" lvl="7" marL="3657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8pPr>
            <a:lvl9pPr indent="-228600" lvl="8" marL="4114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54"/>
          <p:cNvSpPr txBox="1"/>
          <p:nvPr>
            <p:ph type="title"/>
          </p:nvPr>
        </p:nvSpPr>
        <p:spPr>
          <a:xfrm>
            <a:off x="374090" y="371182"/>
            <a:ext cx="7591425" cy="7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54"/>
          <p:cNvSpPr txBox="1"/>
          <p:nvPr>
            <p:ph idx="1" type="body"/>
          </p:nvPr>
        </p:nvSpPr>
        <p:spPr>
          <a:xfrm>
            <a:off x="638175" y="1362075"/>
            <a:ext cx="3871913" cy="4972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3528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1680"/>
              <a:buChar char="⬛"/>
              <a:defRPr sz="2800">
                <a:latin typeface="Calibri"/>
                <a:ea typeface="Calibri"/>
                <a:cs typeface="Calibri"/>
                <a:sym typeface="Calibri"/>
              </a:defRPr>
            </a:lvl1pPr>
            <a:lvl2pPr indent="-39624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640"/>
              <a:buChar char="▪"/>
              <a:defRPr sz="2400">
                <a:latin typeface="Calibri"/>
                <a:ea typeface="Calibri"/>
                <a:cs typeface="Calibri"/>
                <a:sym typeface="Calibri"/>
              </a:defRPr>
            </a:lvl2pPr>
            <a:lvl3pPr indent="-3302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▪"/>
              <a:defRPr sz="2000"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–"/>
              <a:defRPr sz="1800"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»"/>
              <a:defRPr sz="1800"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9pPr>
          </a:lstStyle>
          <a:p/>
        </p:txBody>
      </p:sp>
      <p:sp>
        <p:nvSpPr>
          <p:cNvPr id="28" name="Google Shape;28;p54"/>
          <p:cNvSpPr txBox="1"/>
          <p:nvPr>
            <p:ph idx="2" type="body"/>
          </p:nvPr>
        </p:nvSpPr>
        <p:spPr>
          <a:xfrm>
            <a:off x="4662488" y="1362075"/>
            <a:ext cx="3871912" cy="4972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3528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1680"/>
              <a:buChar char="⬛"/>
              <a:defRPr sz="2800">
                <a:latin typeface="Calibri"/>
                <a:ea typeface="Calibri"/>
                <a:cs typeface="Calibri"/>
                <a:sym typeface="Calibri"/>
              </a:defRPr>
            </a:lvl1pPr>
            <a:lvl2pPr indent="-39624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640"/>
              <a:buChar char="▪"/>
              <a:defRPr sz="2400">
                <a:latin typeface="Calibri"/>
                <a:ea typeface="Calibri"/>
                <a:cs typeface="Calibri"/>
                <a:sym typeface="Calibri"/>
              </a:defRPr>
            </a:lvl2pPr>
            <a:lvl3pPr indent="-3302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▪"/>
              <a:defRPr sz="2000"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–"/>
              <a:defRPr sz="1800"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»"/>
              <a:defRPr sz="1800"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5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5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440"/>
              <a:buNone/>
              <a:defRPr b="1" sz="2400"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2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9pPr>
          </a:lstStyle>
          <a:p/>
        </p:txBody>
      </p:sp>
      <p:sp>
        <p:nvSpPr>
          <p:cNvPr id="32" name="Google Shape;32;p55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2004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440"/>
              <a:buChar char="⬛"/>
              <a:defRPr sz="2400">
                <a:latin typeface="Calibri"/>
                <a:ea typeface="Calibri"/>
                <a:cs typeface="Calibri"/>
                <a:sym typeface="Calibri"/>
              </a:defRPr>
            </a:lvl1pPr>
            <a:lvl2pPr indent="-3683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200"/>
              <a:buChar char="▪"/>
              <a:defRPr sz="2000">
                <a:latin typeface="Calibri"/>
                <a:ea typeface="Calibri"/>
                <a:cs typeface="Calibri"/>
                <a:sym typeface="Calibri"/>
              </a:defRPr>
            </a:lvl2pPr>
            <a:lvl3pPr indent="-32004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▪"/>
              <a:defRPr sz="1800">
                <a:latin typeface="Calibri"/>
                <a:ea typeface="Calibri"/>
                <a:cs typeface="Calibri"/>
                <a:sym typeface="Calibri"/>
              </a:defRPr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Char char="–"/>
              <a:defRPr sz="1600">
                <a:latin typeface="Calibri"/>
                <a:ea typeface="Calibri"/>
                <a:cs typeface="Calibri"/>
                <a:sym typeface="Calibri"/>
              </a:defRPr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Char char="»"/>
              <a:defRPr sz="1600">
                <a:latin typeface="Calibri"/>
                <a:ea typeface="Calibri"/>
                <a:cs typeface="Calibri"/>
                <a:sym typeface="Calibri"/>
              </a:defRPr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9pPr>
          </a:lstStyle>
          <a:p/>
        </p:txBody>
      </p:sp>
      <p:sp>
        <p:nvSpPr>
          <p:cNvPr id="33" name="Google Shape;33;p55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440"/>
              <a:buNone/>
              <a:defRPr b="1" sz="2400"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2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9pPr>
          </a:lstStyle>
          <a:p/>
        </p:txBody>
      </p:sp>
      <p:sp>
        <p:nvSpPr>
          <p:cNvPr id="34" name="Google Shape;34;p55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2004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440"/>
              <a:buChar char="⬛"/>
              <a:defRPr sz="2400">
                <a:latin typeface="Calibri"/>
                <a:ea typeface="Calibri"/>
                <a:cs typeface="Calibri"/>
                <a:sym typeface="Calibri"/>
              </a:defRPr>
            </a:lvl1pPr>
            <a:lvl2pPr indent="-3683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200"/>
              <a:buChar char="▪"/>
              <a:defRPr sz="2000">
                <a:latin typeface="Calibri"/>
                <a:ea typeface="Calibri"/>
                <a:cs typeface="Calibri"/>
                <a:sym typeface="Calibri"/>
              </a:defRPr>
            </a:lvl2pPr>
            <a:lvl3pPr indent="-32004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▪"/>
              <a:defRPr sz="1800">
                <a:latin typeface="Calibri"/>
                <a:ea typeface="Calibri"/>
                <a:cs typeface="Calibri"/>
                <a:sym typeface="Calibri"/>
              </a:defRPr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Char char="–"/>
              <a:defRPr sz="1600">
                <a:latin typeface="Calibri"/>
                <a:ea typeface="Calibri"/>
                <a:cs typeface="Calibri"/>
                <a:sym typeface="Calibri"/>
              </a:defRPr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Char char="»"/>
              <a:defRPr sz="1600">
                <a:latin typeface="Calibri"/>
                <a:ea typeface="Calibri"/>
                <a:cs typeface="Calibri"/>
                <a:sym typeface="Calibri"/>
              </a:defRPr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56"/>
          <p:cNvSpPr txBox="1"/>
          <p:nvPr>
            <p:ph type="title"/>
          </p:nvPr>
        </p:nvSpPr>
        <p:spPr>
          <a:xfrm>
            <a:off x="357762" y="445070"/>
            <a:ext cx="7591425" cy="7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58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2000"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58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5052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1920"/>
              <a:buChar char="⬛"/>
              <a:defRPr sz="3200">
                <a:latin typeface="Calibri"/>
                <a:ea typeface="Calibri"/>
                <a:cs typeface="Calibri"/>
                <a:sym typeface="Calibri"/>
              </a:defRPr>
            </a:lvl1pPr>
            <a:lvl2pPr indent="-42418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3080"/>
              <a:buChar char="▪"/>
              <a:defRPr sz="2800">
                <a:latin typeface="Calibri"/>
                <a:ea typeface="Calibri"/>
                <a:cs typeface="Calibri"/>
                <a:sym typeface="Calibri"/>
              </a:defRPr>
            </a:lvl2pPr>
            <a:lvl3pPr indent="-35052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920"/>
              <a:buChar char="▪"/>
              <a:defRPr sz="2400"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–"/>
              <a:defRPr sz="2000"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»"/>
              <a:defRPr sz="2000"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/>
            </a:lvl9pPr>
          </a:lstStyle>
          <a:p/>
        </p:txBody>
      </p:sp>
      <p:sp>
        <p:nvSpPr>
          <p:cNvPr id="41" name="Google Shape;41;p58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840"/>
              <a:buNone/>
              <a:defRPr sz="1400"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SzPts val="132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59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2000"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59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45" name="Google Shape;45;p59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840"/>
              <a:buNone/>
              <a:defRPr sz="1400"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SzPts val="132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60"/>
          <p:cNvSpPr txBox="1"/>
          <p:nvPr>
            <p:ph type="title"/>
          </p:nvPr>
        </p:nvSpPr>
        <p:spPr>
          <a:xfrm>
            <a:off x="374090" y="371182"/>
            <a:ext cx="7591425" cy="7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0"/>
          <p:cNvSpPr txBox="1"/>
          <p:nvPr>
            <p:ph idx="1" type="body"/>
          </p:nvPr>
        </p:nvSpPr>
        <p:spPr>
          <a:xfrm rot="5400000">
            <a:off x="1858963" y="-100012"/>
            <a:ext cx="4972050" cy="78962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2004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440"/>
              <a:buChar char="⬛"/>
              <a:defRPr>
                <a:latin typeface="Calibri"/>
                <a:ea typeface="Calibri"/>
                <a:cs typeface="Calibri"/>
                <a:sym typeface="Calibri"/>
              </a:defRPr>
            </a:lvl1pPr>
            <a:lvl2pPr indent="-3683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200"/>
              <a:buChar char="▪"/>
              <a:defRPr>
                <a:latin typeface="Calibri"/>
                <a:ea typeface="Calibri"/>
                <a:cs typeface="Calibri"/>
                <a:sym typeface="Calibri"/>
              </a:defRPr>
            </a:lvl2pPr>
            <a:lvl3pPr indent="-3302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▪"/>
              <a:defRPr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–"/>
              <a:defRPr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»"/>
              <a:defRPr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61"/>
          <p:cNvSpPr txBox="1"/>
          <p:nvPr>
            <p:ph type="title"/>
          </p:nvPr>
        </p:nvSpPr>
        <p:spPr>
          <a:xfrm rot="5400000">
            <a:off x="4998244" y="2188369"/>
            <a:ext cx="6105525" cy="21859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61"/>
          <p:cNvSpPr txBox="1"/>
          <p:nvPr>
            <p:ph idx="1" type="body"/>
          </p:nvPr>
        </p:nvSpPr>
        <p:spPr>
          <a:xfrm rot="5400000">
            <a:off x="548481" y="76994"/>
            <a:ext cx="6105525" cy="64087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2004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440"/>
              <a:buChar char="⬛"/>
              <a:defRPr>
                <a:latin typeface="Calibri"/>
                <a:ea typeface="Calibri"/>
                <a:cs typeface="Calibri"/>
                <a:sym typeface="Calibri"/>
              </a:defRPr>
            </a:lvl1pPr>
            <a:lvl2pPr indent="-3683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200"/>
              <a:buChar char="▪"/>
              <a:defRPr>
                <a:latin typeface="Calibri"/>
                <a:ea typeface="Calibri"/>
                <a:cs typeface="Calibri"/>
                <a:sym typeface="Calibri"/>
              </a:defRPr>
            </a:lvl2pPr>
            <a:lvl3pPr indent="-3302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▪"/>
              <a:defRPr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–"/>
              <a:defRPr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»"/>
              <a:defRPr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, and 2 Content" type="objAndTwoObj">
  <p:cSld name="OBJECT_AND_TWO_OBJECTS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62"/>
          <p:cNvSpPr txBox="1"/>
          <p:nvPr>
            <p:ph type="title"/>
          </p:nvPr>
        </p:nvSpPr>
        <p:spPr>
          <a:xfrm>
            <a:off x="396875" y="228600"/>
            <a:ext cx="8747125" cy="7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62"/>
          <p:cNvSpPr txBox="1"/>
          <p:nvPr>
            <p:ph idx="1" type="body"/>
          </p:nvPr>
        </p:nvSpPr>
        <p:spPr>
          <a:xfrm>
            <a:off x="638175" y="1362075"/>
            <a:ext cx="3871913" cy="4972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2004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440"/>
              <a:buChar char="⬛"/>
              <a:defRPr>
                <a:latin typeface="Calibri"/>
                <a:ea typeface="Calibri"/>
                <a:cs typeface="Calibri"/>
                <a:sym typeface="Calibri"/>
              </a:defRPr>
            </a:lvl1pPr>
            <a:lvl2pPr indent="-3683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200"/>
              <a:buChar char="▪"/>
              <a:defRPr>
                <a:latin typeface="Calibri"/>
                <a:ea typeface="Calibri"/>
                <a:cs typeface="Calibri"/>
                <a:sym typeface="Calibri"/>
              </a:defRPr>
            </a:lvl2pPr>
            <a:lvl3pPr indent="-3302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▪"/>
              <a:defRPr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–"/>
              <a:defRPr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»"/>
              <a:defRPr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/>
        </p:txBody>
      </p:sp>
      <p:sp>
        <p:nvSpPr>
          <p:cNvPr id="55" name="Google Shape;55;p62"/>
          <p:cNvSpPr txBox="1"/>
          <p:nvPr>
            <p:ph idx="2" type="body"/>
          </p:nvPr>
        </p:nvSpPr>
        <p:spPr>
          <a:xfrm>
            <a:off x="4662488" y="1362075"/>
            <a:ext cx="3871912" cy="24098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2004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440"/>
              <a:buChar char="⬛"/>
              <a:defRPr>
                <a:latin typeface="Calibri"/>
                <a:ea typeface="Calibri"/>
                <a:cs typeface="Calibri"/>
                <a:sym typeface="Calibri"/>
              </a:defRPr>
            </a:lvl1pPr>
            <a:lvl2pPr indent="-3683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200"/>
              <a:buChar char="▪"/>
              <a:defRPr>
                <a:latin typeface="Calibri"/>
                <a:ea typeface="Calibri"/>
                <a:cs typeface="Calibri"/>
                <a:sym typeface="Calibri"/>
              </a:defRPr>
            </a:lvl2pPr>
            <a:lvl3pPr indent="-3302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▪"/>
              <a:defRPr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–"/>
              <a:defRPr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»"/>
              <a:defRPr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/>
        </p:txBody>
      </p:sp>
      <p:sp>
        <p:nvSpPr>
          <p:cNvPr id="56" name="Google Shape;56;p62"/>
          <p:cNvSpPr txBox="1"/>
          <p:nvPr>
            <p:ph idx="3" type="body"/>
          </p:nvPr>
        </p:nvSpPr>
        <p:spPr>
          <a:xfrm>
            <a:off x="4662488" y="3924300"/>
            <a:ext cx="3871912" cy="24098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2004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440"/>
              <a:buChar char="⬛"/>
              <a:defRPr>
                <a:latin typeface="Calibri"/>
                <a:ea typeface="Calibri"/>
                <a:cs typeface="Calibri"/>
                <a:sym typeface="Calibri"/>
              </a:defRPr>
            </a:lvl1pPr>
            <a:lvl2pPr indent="-3683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200"/>
              <a:buChar char="▪"/>
              <a:defRPr>
                <a:latin typeface="Calibri"/>
                <a:ea typeface="Calibri"/>
                <a:cs typeface="Calibri"/>
                <a:sym typeface="Calibri"/>
              </a:defRPr>
            </a:lvl2pPr>
            <a:lvl3pPr indent="-3302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▪"/>
              <a:defRPr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–"/>
              <a:defRPr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»"/>
              <a:defRPr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Text, and Content" type="txAndObj">
  <p:cSld name="TEXT_AND_OBJECT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63"/>
          <p:cNvSpPr txBox="1"/>
          <p:nvPr>
            <p:ph type="title"/>
          </p:nvPr>
        </p:nvSpPr>
        <p:spPr>
          <a:xfrm>
            <a:off x="396875" y="228600"/>
            <a:ext cx="8747125" cy="7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63"/>
          <p:cNvSpPr txBox="1"/>
          <p:nvPr>
            <p:ph idx="1" type="body"/>
          </p:nvPr>
        </p:nvSpPr>
        <p:spPr>
          <a:xfrm>
            <a:off x="638175" y="1362075"/>
            <a:ext cx="3871913" cy="4972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2004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440"/>
              <a:buChar char="⬛"/>
              <a:defRPr>
                <a:latin typeface="Calibri"/>
                <a:ea typeface="Calibri"/>
                <a:cs typeface="Calibri"/>
                <a:sym typeface="Calibri"/>
              </a:defRPr>
            </a:lvl1pPr>
            <a:lvl2pPr indent="-3683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200"/>
              <a:buChar char="▪"/>
              <a:defRPr>
                <a:latin typeface="Calibri"/>
                <a:ea typeface="Calibri"/>
                <a:cs typeface="Calibri"/>
                <a:sym typeface="Calibri"/>
              </a:defRPr>
            </a:lvl2pPr>
            <a:lvl3pPr indent="-3302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▪"/>
              <a:defRPr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–"/>
              <a:defRPr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»"/>
              <a:defRPr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/>
        </p:txBody>
      </p:sp>
      <p:sp>
        <p:nvSpPr>
          <p:cNvPr id="60" name="Google Shape;60;p63"/>
          <p:cNvSpPr txBox="1"/>
          <p:nvPr>
            <p:ph idx="2" type="body"/>
          </p:nvPr>
        </p:nvSpPr>
        <p:spPr>
          <a:xfrm>
            <a:off x="4662488" y="1362075"/>
            <a:ext cx="3871912" cy="4972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2004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440"/>
              <a:buChar char="⬛"/>
              <a:defRPr>
                <a:latin typeface="Calibri"/>
                <a:ea typeface="Calibri"/>
                <a:cs typeface="Calibri"/>
                <a:sym typeface="Calibri"/>
              </a:defRPr>
            </a:lvl1pPr>
            <a:lvl2pPr indent="-3683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200"/>
              <a:buChar char="▪"/>
              <a:defRPr>
                <a:latin typeface="Calibri"/>
                <a:ea typeface="Calibri"/>
                <a:cs typeface="Calibri"/>
                <a:sym typeface="Calibri"/>
              </a:defRPr>
            </a:lvl2pPr>
            <a:lvl3pPr indent="-3302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▪"/>
              <a:defRPr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–"/>
              <a:defRPr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»"/>
              <a:defRPr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50"/>
          <p:cNvSpPr txBox="1"/>
          <p:nvPr>
            <p:ph type="title"/>
          </p:nvPr>
        </p:nvSpPr>
        <p:spPr>
          <a:xfrm>
            <a:off x="374090" y="371182"/>
            <a:ext cx="7591425" cy="7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3600" u="none" cap="none" strike="noStrik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3600" u="none" cap="none" strike="noStrik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3600" u="none" cap="none" strike="noStrik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3600" u="none" cap="none" strike="noStrik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3600" u="none" cap="none" strike="noStrik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3600" u="none" cap="none" strike="noStrik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3600" u="none" cap="none" strike="noStrik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3600" u="none" cap="none" strike="noStrik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9pPr>
          </a:lstStyle>
          <a:p/>
        </p:txBody>
      </p:sp>
      <p:sp>
        <p:nvSpPr>
          <p:cNvPr id="11" name="Google Shape;11;p50"/>
          <p:cNvSpPr txBox="1"/>
          <p:nvPr>
            <p:ph idx="1" type="body"/>
          </p:nvPr>
        </p:nvSpPr>
        <p:spPr>
          <a:xfrm>
            <a:off x="396875" y="1362075"/>
            <a:ext cx="7896225" cy="4972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20040" lvl="0" marL="4572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990000"/>
              </a:buClr>
              <a:buSzPts val="1440"/>
              <a:buFont typeface="Noto Sans"/>
              <a:buChar char="⬛"/>
              <a:defRPr b="1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68300" lvl="1" marL="914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990000"/>
              </a:buClr>
              <a:buSzPts val="2200"/>
              <a:buFont typeface="Noto Sans"/>
              <a:buChar char="▪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30200" lvl="2" marL="1371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"/>
              <a:buChar char="▪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" name="Google Shape;12;p50"/>
          <p:cNvSpPr/>
          <p:nvPr/>
        </p:nvSpPr>
        <p:spPr>
          <a:xfrm>
            <a:off x="0" y="0"/>
            <a:ext cx="9144000" cy="228600"/>
          </a:xfrm>
          <a:prstGeom prst="rect">
            <a:avLst/>
          </a:prstGeom>
          <a:solidFill>
            <a:srgbClr val="99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" name="Google Shape;13;p50"/>
          <p:cNvSpPr txBox="1"/>
          <p:nvPr/>
        </p:nvSpPr>
        <p:spPr>
          <a:xfrm>
            <a:off x="7286631" y="-27000"/>
            <a:ext cx="19209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Ilia State University</a:t>
            </a:r>
            <a:endParaRPr b="1" i="0" sz="12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" name="Google Shape;14;p50"/>
          <p:cNvSpPr/>
          <p:nvPr/>
        </p:nvSpPr>
        <p:spPr>
          <a:xfrm>
            <a:off x="8830843" y="6611779"/>
            <a:ext cx="313157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b="1" i="0" lang="en-US" sz="1000" u="none" cap="none" strike="noStrike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rPr>
              <a:t>‹#›</a:t>
            </a:fld>
            <a:endParaRPr b="1" i="0" sz="1000" u="none" cap="none" strike="noStrike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15" name="Google Shape;15;p50"/>
          <p:cNvSpPr txBox="1"/>
          <p:nvPr/>
        </p:nvSpPr>
        <p:spPr>
          <a:xfrm>
            <a:off x="-16031" y="6629400"/>
            <a:ext cx="4649342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Bryant and O’Hallaron, Computer Systems: A Programmer’s Perspective, Third Edition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"/>
          <p:cNvSpPr txBox="1"/>
          <p:nvPr>
            <p:ph type="ctrTitle"/>
          </p:nvPr>
        </p:nvSpPr>
        <p:spPr>
          <a:xfrm>
            <a:off x="685800" y="1708150"/>
            <a:ext cx="7772400" cy="17208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Linking</a:t>
            </a:r>
            <a:br>
              <a:rPr lang="en-US"/>
            </a:br>
            <a:endParaRPr/>
          </a:p>
        </p:txBody>
      </p:sp>
      <p:sp>
        <p:nvSpPr>
          <p:cNvPr id="67" name="Google Shape;67;p1"/>
          <p:cNvSpPr txBox="1"/>
          <p:nvPr>
            <p:ph idx="1" type="subTitle"/>
          </p:nvPr>
        </p:nvSpPr>
        <p:spPr>
          <a:xfrm>
            <a:off x="685800" y="3886200"/>
            <a:ext cx="7678738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b="1" lang="en-US"/>
              <a:t>Instructors:</a:t>
            </a:r>
            <a:r>
              <a:rPr lang="en-US"/>
              <a:t>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</a:pPr>
            <a:r>
              <a:rPr lang="en-US"/>
              <a:t>Amiran Malania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"/>
          <p:cNvSpPr txBox="1"/>
          <p:nvPr>
            <p:ph type="title"/>
          </p:nvPr>
        </p:nvSpPr>
        <p:spPr>
          <a:xfrm>
            <a:off x="357018" y="435678"/>
            <a:ext cx="7592093" cy="7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119063" lvl="0" marL="11906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Today</a:t>
            </a:r>
            <a:endParaRPr/>
          </a:p>
        </p:txBody>
      </p:sp>
      <p:sp>
        <p:nvSpPr>
          <p:cNvPr id="74" name="Google Shape;74;p2"/>
          <p:cNvSpPr txBox="1"/>
          <p:nvPr>
            <p:ph idx="1" type="body"/>
          </p:nvPr>
        </p:nvSpPr>
        <p:spPr>
          <a:xfrm>
            <a:off x="396875" y="1362075"/>
            <a:ext cx="7896225" cy="4972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40"/>
              <a:buChar char="⬛"/>
            </a:pPr>
            <a:r>
              <a:rPr lang="en-US"/>
              <a:t>Linking</a:t>
            </a:r>
            <a:endParaRPr>
              <a:solidFill>
                <a:srgbClr val="BFBFBF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3"/>
          <p:cNvSpPr txBox="1"/>
          <p:nvPr>
            <p:ph type="title"/>
          </p:nvPr>
        </p:nvSpPr>
        <p:spPr>
          <a:xfrm>
            <a:off x="357018" y="435678"/>
            <a:ext cx="7592093" cy="7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119063" lvl="0" marL="11906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Example C Program</a:t>
            </a:r>
            <a:endParaRPr/>
          </a:p>
        </p:txBody>
      </p:sp>
      <p:sp>
        <p:nvSpPr>
          <p:cNvPr id="80" name="Google Shape;80;p3"/>
          <p:cNvSpPr/>
          <p:nvPr/>
        </p:nvSpPr>
        <p:spPr>
          <a:xfrm>
            <a:off x="139700" y="1928813"/>
            <a:ext cx="4075906" cy="2862323"/>
          </a:xfrm>
          <a:prstGeom prst="rect">
            <a:avLst/>
          </a:prstGeom>
          <a:solidFill>
            <a:srgbClr val="F7F5CD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2D961E"/>
                </a:solidFill>
                <a:latin typeface="Arial"/>
                <a:ea typeface="Arial"/>
                <a:cs typeface="Arial"/>
                <a:sym typeface="Arial"/>
              </a:rPr>
              <a:t>int</a:t>
            </a:r>
            <a:r>
              <a:rPr b="1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en-US" sz="1800" u="none" cap="none" strike="noStrike">
                <a:solidFill>
                  <a:srgbClr val="4A00FF"/>
                </a:solidFill>
                <a:latin typeface="Arial"/>
                <a:ea typeface="Arial"/>
                <a:cs typeface="Arial"/>
                <a:sym typeface="Arial"/>
              </a:rPr>
              <a:t>sum</a:t>
            </a:r>
            <a:r>
              <a:rPr b="1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b="1" i="0" lang="en-US" sz="1800" u="none" cap="none" strike="noStrike">
                <a:solidFill>
                  <a:srgbClr val="2D961E"/>
                </a:solidFill>
                <a:latin typeface="Arial"/>
                <a:ea typeface="Arial"/>
                <a:cs typeface="Arial"/>
                <a:sym typeface="Arial"/>
              </a:rPr>
              <a:t>int</a:t>
            </a:r>
            <a:r>
              <a:rPr b="1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*</a:t>
            </a:r>
            <a:r>
              <a:rPr b="1" i="0" lang="en-US" sz="1800" u="none" cap="none" strike="noStrike">
                <a:solidFill>
                  <a:srgbClr val="C1651C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r>
              <a:rPr b="1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1" i="0" lang="en-US" sz="1800" u="none" cap="none" strike="noStrike">
                <a:solidFill>
                  <a:srgbClr val="2D961E"/>
                </a:solidFill>
                <a:latin typeface="Arial"/>
                <a:ea typeface="Arial"/>
                <a:cs typeface="Arial"/>
                <a:sym typeface="Arial"/>
              </a:rPr>
              <a:t>int</a:t>
            </a:r>
            <a:r>
              <a:rPr b="1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en-US" sz="1800" u="none" cap="none" strike="noStrike">
                <a:solidFill>
                  <a:srgbClr val="C1651C"/>
                </a:solidFill>
                <a:latin typeface="Arial"/>
                <a:ea typeface="Arial"/>
                <a:cs typeface="Arial"/>
                <a:sym typeface="Arial"/>
              </a:rPr>
              <a:t>n</a:t>
            </a:r>
            <a:r>
              <a:rPr b="1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2D961E"/>
                </a:solidFill>
                <a:latin typeface="Arial"/>
                <a:ea typeface="Arial"/>
                <a:cs typeface="Arial"/>
                <a:sym typeface="Arial"/>
              </a:rPr>
              <a:t>int</a:t>
            </a:r>
            <a:r>
              <a:rPr b="1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en-US" sz="1800" u="none" cap="none" strike="noStrike">
                <a:solidFill>
                  <a:srgbClr val="C1651C"/>
                </a:solidFill>
                <a:latin typeface="Arial"/>
                <a:ea typeface="Arial"/>
                <a:cs typeface="Arial"/>
                <a:sym typeface="Arial"/>
              </a:rPr>
              <a:t>array</a:t>
            </a:r>
            <a:r>
              <a:rPr b="1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[2] = {1, 2};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2D961E"/>
                </a:solidFill>
                <a:latin typeface="Arial"/>
                <a:ea typeface="Arial"/>
                <a:cs typeface="Arial"/>
                <a:sym typeface="Arial"/>
              </a:rPr>
              <a:t>int</a:t>
            </a:r>
            <a:r>
              <a:rPr b="1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en-US" sz="1800" u="none" cap="none" strike="noStrike">
                <a:solidFill>
                  <a:srgbClr val="4A00FF"/>
                </a:solidFill>
                <a:latin typeface="Arial"/>
                <a:ea typeface="Arial"/>
                <a:cs typeface="Arial"/>
                <a:sym typeface="Arial"/>
              </a:rPr>
              <a:t>main</a:t>
            </a:r>
            <a:r>
              <a:rPr b="1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</a:t>
            </a:r>
            <a:r>
              <a:rPr b="1" i="0" lang="en-US" sz="1800" u="none" cap="none" strike="noStrike">
                <a:solidFill>
                  <a:srgbClr val="2D961E"/>
                </a:solidFill>
                <a:latin typeface="Arial"/>
                <a:ea typeface="Arial"/>
                <a:cs typeface="Arial"/>
                <a:sym typeface="Arial"/>
              </a:rPr>
              <a:t>int</a:t>
            </a:r>
            <a:r>
              <a:rPr b="1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en-US" sz="1800" u="none" cap="none" strike="noStrike">
                <a:solidFill>
                  <a:srgbClr val="C1651C"/>
                </a:solidFill>
                <a:latin typeface="Arial"/>
                <a:ea typeface="Arial"/>
                <a:cs typeface="Arial"/>
                <a:sym typeface="Arial"/>
              </a:rPr>
              <a:t>val</a:t>
            </a:r>
            <a:r>
              <a:rPr b="1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= sum(array, 2);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</a:t>
            </a:r>
            <a:r>
              <a:rPr b="1" i="0" lang="en-US" sz="1800" u="none" cap="none" strike="noStrike">
                <a:solidFill>
                  <a:srgbClr val="C200FF"/>
                </a:solidFill>
                <a:latin typeface="Arial"/>
                <a:ea typeface="Arial"/>
                <a:cs typeface="Arial"/>
                <a:sym typeface="Arial"/>
              </a:rPr>
              <a:t>return</a:t>
            </a:r>
            <a:r>
              <a:rPr b="1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val;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81" name="Google Shape;81;p3"/>
          <p:cNvSpPr/>
          <p:nvPr/>
        </p:nvSpPr>
        <p:spPr>
          <a:xfrm>
            <a:off x="4724400" y="1928813"/>
            <a:ext cx="4214878" cy="2862323"/>
          </a:xfrm>
          <a:prstGeom prst="rect">
            <a:avLst/>
          </a:prstGeom>
          <a:solidFill>
            <a:srgbClr val="DBF2DA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2D961E"/>
                </a:solidFill>
                <a:latin typeface="Arial"/>
                <a:ea typeface="Arial"/>
                <a:cs typeface="Arial"/>
                <a:sym typeface="Arial"/>
              </a:rPr>
              <a:t>int</a:t>
            </a:r>
            <a:r>
              <a:rPr b="1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en-US" sz="1800" u="none" cap="none" strike="noStrike">
                <a:solidFill>
                  <a:srgbClr val="4A00FF"/>
                </a:solidFill>
                <a:latin typeface="Arial"/>
                <a:ea typeface="Arial"/>
                <a:cs typeface="Arial"/>
                <a:sym typeface="Arial"/>
              </a:rPr>
              <a:t>sum</a:t>
            </a:r>
            <a:r>
              <a:rPr b="1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b="1" i="0" lang="en-US" sz="1800" u="none" cap="none" strike="noStrike">
                <a:solidFill>
                  <a:srgbClr val="2D961E"/>
                </a:solidFill>
                <a:latin typeface="Arial"/>
                <a:ea typeface="Arial"/>
                <a:cs typeface="Arial"/>
                <a:sym typeface="Arial"/>
              </a:rPr>
              <a:t>int</a:t>
            </a:r>
            <a:r>
              <a:rPr b="1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*</a:t>
            </a:r>
            <a:r>
              <a:rPr b="1" i="0" lang="en-US" sz="1800" u="none" cap="none" strike="noStrike">
                <a:solidFill>
                  <a:srgbClr val="C1651C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r>
              <a:rPr b="1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1" i="0" lang="en-US" sz="1800" u="none" cap="none" strike="noStrike">
                <a:solidFill>
                  <a:srgbClr val="2D961E"/>
                </a:solidFill>
                <a:latin typeface="Arial"/>
                <a:ea typeface="Arial"/>
                <a:cs typeface="Arial"/>
                <a:sym typeface="Arial"/>
              </a:rPr>
              <a:t>int</a:t>
            </a:r>
            <a:r>
              <a:rPr b="1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en-US" sz="1800" u="none" cap="none" strike="noStrike">
                <a:solidFill>
                  <a:srgbClr val="C1651C"/>
                </a:solidFill>
                <a:latin typeface="Arial"/>
                <a:ea typeface="Arial"/>
                <a:cs typeface="Arial"/>
                <a:sym typeface="Arial"/>
              </a:rPr>
              <a:t>n</a:t>
            </a:r>
            <a:r>
              <a:rPr b="1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</a:t>
            </a:r>
            <a:r>
              <a:rPr b="1" i="0" lang="en-US" sz="1800" u="none" cap="none" strike="noStrike">
                <a:solidFill>
                  <a:srgbClr val="2D961E"/>
                </a:solidFill>
                <a:latin typeface="Arial"/>
                <a:ea typeface="Arial"/>
                <a:cs typeface="Arial"/>
                <a:sym typeface="Arial"/>
              </a:rPr>
              <a:t>int</a:t>
            </a:r>
            <a:r>
              <a:rPr b="1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en-US" sz="1800" u="none" cap="none" strike="noStrike">
                <a:solidFill>
                  <a:srgbClr val="C1651C"/>
                </a:solidFill>
                <a:latin typeface="Arial"/>
                <a:ea typeface="Arial"/>
                <a:cs typeface="Arial"/>
                <a:sym typeface="Arial"/>
              </a:rPr>
              <a:t>i</a:t>
            </a:r>
            <a:r>
              <a:rPr b="1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1" i="0" lang="en-US" sz="1800" u="none" cap="none" strike="noStrike">
                <a:solidFill>
                  <a:srgbClr val="C1651C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r>
              <a:rPr b="1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= 0;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</a:t>
            </a:r>
            <a:r>
              <a:rPr b="1" i="0" lang="en-US" sz="1800" u="none" cap="none" strike="noStrike">
                <a:solidFill>
                  <a:srgbClr val="C200FF"/>
                </a:solidFill>
                <a:latin typeface="Arial"/>
                <a:ea typeface="Arial"/>
                <a:cs typeface="Arial"/>
                <a:sym typeface="Arial"/>
              </a:rPr>
              <a:t>for</a:t>
            </a:r>
            <a:r>
              <a:rPr b="1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(i = 0; i &lt; n; i++) 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s += a[i];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</a:t>
            </a:r>
            <a:r>
              <a:rPr b="1" i="0" lang="en-US" sz="1800" u="none" cap="none" strike="noStrike">
                <a:solidFill>
                  <a:srgbClr val="C200FF"/>
                </a:solidFill>
                <a:latin typeface="Arial"/>
                <a:ea typeface="Arial"/>
                <a:cs typeface="Arial"/>
                <a:sym typeface="Arial"/>
              </a:rPr>
              <a:t>return</a:t>
            </a:r>
            <a:r>
              <a:rPr b="1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s;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" name="Google Shape;82;p3"/>
          <p:cNvSpPr/>
          <p:nvPr/>
        </p:nvSpPr>
        <p:spPr>
          <a:xfrm>
            <a:off x="3199906" y="4442937"/>
            <a:ext cx="1067294" cy="357663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spAutoFit/>
          </a:bodyPr>
          <a:lstStyle/>
          <a:p>
            <a:pPr indent="0" lvl="0" marL="0" marR="0" rtl="0"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1" lang="en-US" sz="1800" u="none" cap="none" strike="noStrike">
                <a:solidFill>
                  <a:srgbClr val="7F7F7F"/>
                </a:solidFill>
                <a:latin typeface="Courier New"/>
                <a:ea typeface="Courier New"/>
                <a:cs typeface="Courier New"/>
                <a:sym typeface="Courier New"/>
              </a:rPr>
              <a:t>main.c</a:t>
            </a:r>
            <a:endParaRPr b="1" i="1" sz="1800" u="none" cap="none" strike="noStrike">
              <a:solidFill>
                <a:srgbClr val="7F7F7F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83" name="Google Shape;83;p3"/>
          <p:cNvSpPr/>
          <p:nvPr/>
        </p:nvSpPr>
        <p:spPr>
          <a:xfrm>
            <a:off x="7871984" y="4433473"/>
            <a:ext cx="928772" cy="357663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spAutoFit/>
          </a:bodyPr>
          <a:lstStyle/>
          <a:p>
            <a:pPr indent="0" lvl="0" marL="0" marR="0" rtl="0"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1" lang="en-US" sz="1800" u="none" cap="none" strike="noStrike">
                <a:solidFill>
                  <a:srgbClr val="7F7F7F"/>
                </a:solidFill>
                <a:latin typeface="Courier New"/>
                <a:ea typeface="Courier New"/>
                <a:cs typeface="Courier New"/>
                <a:sym typeface="Courier New"/>
              </a:rPr>
              <a:t>sum.c</a:t>
            </a:r>
            <a:endParaRPr b="1" i="1" sz="1800" u="none" cap="none" strike="noStrike">
              <a:solidFill>
                <a:srgbClr val="7F7F7F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4"/>
          <p:cNvSpPr txBox="1"/>
          <p:nvPr>
            <p:ph type="title"/>
          </p:nvPr>
        </p:nvSpPr>
        <p:spPr>
          <a:xfrm>
            <a:off x="357018" y="435678"/>
            <a:ext cx="7592093" cy="7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119063" lvl="0" marL="11906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Static Linking</a:t>
            </a:r>
            <a:endParaRPr/>
          </a:p>
        </p:txBody>
      </p:sp>
      <p:sp>
        <p:nvSpPr>
          <p:cNvPr id="89" name="Google Shape;89;p4"/>
          <p:cNvSpPr txBox="1"/>
          <p:nvPr>
            <p:ph idx="1" type="body"/>
          </p:nvPr>
        </p:nvSpPr>
        <p:spPr>
          <a:xfrm>
            <a:off x="404813" y="1219200"/>
            <a:ext cx="7772400" cy="1143000"/>
          </a:xfrm>
          <a:prstGeom prst="rect">
            <a:avLst/>
          </a:prstGeom>
          <a:solidFill>
            <a:srgbClr val="E0E0E0"/>
          </a:solidFill>
          <a:ln cap="flat" cmpd="sng" w="9525">
            <a:solidFill>
              <a:srgbClr val="00000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⬛"/>
            </a:pPr>
            <a:r>
              <a:rPr lang="en-US" sz="2000">
                <a:latin typeface="Calibri"/>
                <a:ea typeface="Calibri"/>
                <a:cs typeface="Calibri"/>
                <a:sym typeface="Calibri"/>
              </a:rPr>
              <a:t>Programs are translated and linked using a </a:t>
            </a:r>
            <a:r>
              <a:rPr i="1" lang="en-US" sz="2000">
                <a:latin typeface="Calibri"/>
                <a:ea typeface="Calibri"/>
                <a:cs typeface="Calibri"/>
                <a:sym typeface="Calibri"/>
              </a:rPr>
              <a:t>compiler driver</a:t>
            </a:r>
            <a:r>
              <a:rPr lang="en-US" sz="2000">
                <a:latin typeface="Calibri"/>
                <a:ea typeface="Calibri"/>
                <a:cs typeface="Calibri"/>
                <a:sym typeface="Calibri"/>
              </a:rPr>
              <a:t>: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980"/>
              <a:buChar char="▪"/>
            </a:pPr>
            <a:r>
              <a:rPr lang="en-US" sz="1800">
                <a:latin typeface="Courier New"/>
                <a:ea typeface="Courier New"/>
                <a:cs typeface="Courier New"/>
                <a:sym typeface="Courier New"/>
              </a:rPr>
              <a:t>linux&gt; </a:t>
            </a:r>
            <a:r>
              <a:rPr i="1" lang="en-US" sz="1800">
                <a:latin typeface="Courier New"/>
                <a:ea typeface="Courier New"/>
                <a:cs typeface="Courier New"/>
                <a:sym typeface="Courier New"/>
              </a:rPr>
              <a:t>gcc -Og -o prog main.c sum.c</a:t>
            </a:r>
            <a:endParaRPr i="1" sz="1800">
              <a:latin typeface="Courier New"/>
              <a:ea typeface="Courier New"/>
              <a:cs typeface="Courier New"/>
              <a:sym typeface="Courier New"/>
            </a:endParaRPr>
          </a:p>
          <a:p>
            <a:pPr indent="-285750" lvl="1" marL="74295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980"/>
              <a:buChar char="▪"/>
            </a:pPr>
            <a:r>
              <a:rPr lang="en-US" sz="1800">
                <a:latin typeface="Courier New"/>
                <a:ea typeface="Courier New"/>
                <a:cs typeface="Courier New"/>
                <a:sym typeface="Courier New"/>
              </a:rPr>
              <a:t>linux&gt; </a:t>
            </a:r>
            <a:r>
              <a:rPr i="1" lang="en-US" sz="1800">
                <a:latin typeface="Courier New"/>
                <a:ea typeface="Courier New"/>
                <a:cs typeface="Courier New"/>
                <a:sym typeface="Courier New"/>
              </a:rPr>
              <a:t>./prog</a:t>
            </a:r>
            <a:endParaRPr i="1" sz="1800">
              <a:latin typeface="Courier New"/>
              <a:ea typeface="Courier New"/>
              <a:cs typeface="Courier New"/>
              <a:sym typeface="Courier New"/>
            </a:endParaRPr>
          </a:p>
        </p:txBody>
      </p:sp>
      <p:cxnSp>
        <p:nvCxnSpPr>
          <p:cNvPr id="90" name="Google Shape;90;p4"/>
          <p:cNvCxnSpPr/>
          <p:nvPr/>
        </p:nvCxnSpPr>
        <p:spPr>
          <a:xfrm>
            <a:off x="2667000" y="3040063"/>
            <a:ext cx="0" cy="3810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91" name="Google Shape;91;p4"/>
          <p:cNvSpPr/>
          <p:nvPr/>
        </p:nvSpPr>
        <p:spPr>
          <a:xfrm>
            <a:off x="2057400" y="5097463"/>
            <a:ext cx="2971800" cy="366767"/>
          </a:xfrm>
          <a:prstGeom prst="rect">
            <a:avLst/>
          </a:prstGeom>
          <a:solidFill>
            <a:srgbClr val="DEDFF5"/>
          </a:solidFill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4450" lIns="90475" spcFirstLastPara="1" rIns="90475" wrap="square" tIns="4445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Linker (ld)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" name="Google Shape;92;p4"/>
          <p:cNvSpPr/>
          <p:nvPr/>
        </p:nvSpPr>
        <p:spPr>
          <a:xfrm>
            <a:off x="1828800" y="3409950"/>
            <a:ext cx="1752600" cy="666750"/>
          </a:xfrm>
          <a:prstGeom prst="rect">
            <a:avLst/>
          </a:prstGeom>
          <a:solidFill>
            <a:srgbClr val="DEDFF5"/>
          </a:solidFill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4450" lIns="90475" spcFirstLastPara="1" rIns="90475" wrap="square" tIns="4445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Translators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(cpp, cc1, as)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" name="Google Shape;93;p4"/>
          <p:cNvSpPr txBox="1"/>
          <p:nvPr/>
        </p:nvSpPr>
        <p:spPr>
          <a:xfrm>
            <a:off x="2133600" y="2667000"/>
            <a:ext cx="101579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main.c</a:t>
            </a:r>
            <a:endParaRPr b="1" i="0" sz="18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94" name="Google Shape;94;p4"/>
          <p:cNvSpPr txBox="1"/>
          <p:nvPr/>
        </p:nvSpPr>
        <p:spPr>
          <a:xfrm>
            <a:off x="2268538" y="4343400"/>
            <a:ext cx="101579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main.o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" name="Google Shape;95;p4"/>
          <p:cNvSpPr/>
          <p:nvPr/>
        </p:nvSpPr>
        <p:spPr>
          <a:xfrm>
            <a:off x="3733800" y="3409950"/>
            <a:ext cx="1797050" cy="666750"/>
          </a:xfrm>
          <a:prstGeom prst="rect">
            <a:avLst/>
          </a:prstGeom>
          <a:solidFill>
            <a:srgbClr val="DEDFF5"/>
          </a:solidFill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4450" lIns="90475" spcFirstLastPara="1" rIns="90475" wrap="square" tIns="4445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Translators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(cpp, cc1, as)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p4"/>
          <p:cNvSpPr txBox="1"/>
          <p:nvPr/>
        </p:nvSpPr>
        <p:spPr>
          <a:xfrm>
            <a:off x="4191000" y="2667000"/>
            <a:ext cx="87727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sum.c</a:t>
            </a:r>
            <a:endParaRPr b="1" i="0" sz="18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97" name="Google Shape;97;p4"/>
          <p:cNvSpPr txBox="1"/>
          <p:nvPr/>
        </p:nvSpPr>
        <p:spPr>
          <a:xfrm>
            <a:off x="4268300" y="4343400"/>
            <a:ext cx="87727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sum.o</a:t>
            </a:r>
            <a:endParaRPr b="1" i="0" sz="18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98" name="Google Shape;98;p4"/>
          <p:cNvSpPr txBox="1"/>
          <p:nvPr/>
        </p:nvSpPr>
        <p:spPr>
          <a:xfrm>
            <a:off x="3200400" y="5789613"/>
            <a:ext cx="738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prog</a:t>
            </a:r>
            <a:endParaRPr b="1" i="0" sz="18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cxnSp>
        <p:nvCxnSpPr>
          <p:cNvPr id="99" name="Google Shape;99;p4"/>
          <p:cNvCxnSpPr/>
          <p:nvPr/>
        </p:nvCxnSpPr>
        <p:spPr>
          <a:xfrm>
            <a:off x="4659313" y="3040063"/>
            <a:ext cx="0" cy="3810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00" name="Google Shape;100;p4"/>
          <p:cNvCxnSpPr/>
          <p:nvPr/>
        </p:nvCxnSpPr>
        <p:spPr>
          <a:xfrm>
            <a:off x="2667000" y="4106863"/>
            <a:ext cx="0" cy="3810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01" name="Google Shape;101;p4"/>
          <p:cNvCxnSpPr/>
          <p:nvPr/>
        </p:nvCxnSpPr>
        <p:spPr>
          <a:xfrm>
            <a:off x="4659313" y="4106863"/>
            <a:ext cx="0" cy="3810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02" name="Google Shape;102;p4"/>
          <p:cNvCxnSpPr/>
          <p:nvPr/>
        </p:nvCxnSpPr>
        <p:spPr>
          <a:xfrm>
            <a:off x="4659313" y="4716463"/>
            <a:ext cx="0" cy="3810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03" name="Google Shape;103;p4"/>
          <p:cNvCxnSpPr/>
          <p:nvPr/>
        </p:nvCxnSpPr>
        <p:spPr>
          <a:xfrm>
            <a:off x="3559175" y="5489575"/>
            <a:ext cx="0" cy="3810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04" name="Google Shape;104;p4"/>
          <p:cNvCxnSpPr/>
          <p:nvPr/>
        </p:nvCxnSpPr>
        <p:spPr>
          <a:xfrm>
            <a:off x="2667000" y="4716463"/>
            <a:ext cx="0" cy="3810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05" name="Google Shape;105;p4"/>
          <p:cNvSpPr txBox="1"/>
          <p:nvPr/>
        </p:nvSpPr>
        <p:spPr>
          <a:xfrm>
            <a:off x="5683250" y="2719388"/>
            <a:ext cx="132114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1" lang="en-US" sz="18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Source files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4"/>
          <p:cNvSpPr txBox="1"/>
          <p:nvPr/>
        </p:nvSpPr>
        <p:spPr>
          <a:xfrm>
            <a:off x="5619750" y="4264025"/>
            <a:ext cx="2404637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1" lang="en-US" sz="18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Separately compiled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1" lang="en-US" sz="1800" u="sng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relocatable</a:t>
            </a:r>
            <a:r>
              <a:rPr b="1" i="1" lang="en-US" sz="18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 object files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" name="Google Shape;107;p4"/>
          <p:cNvSpPr txBox="1"/>
          <p:nvPr/>
        </p:nvSpPr>
        <p:spPr>
          <a:xfrm>
            <a:off x="3999592" y="5607050"/>
            <a:ext cx="4077608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1" lang="en-US" sz="18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Fully linked </a:t>
            </a:r>
            <a:r>
              <a:rPr b="1" i="1" lang="en-US" sz="1800" u="sng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executable</a:t>
            </a:r>
            <a:r>
              <a:rPr b="1" i="1" lang="en-US" sz="18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 object file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1" lang="en-US" sz="18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(contains code and data for all functions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1" lang="en-US" sz="18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defined in </a:t>
            </a:r>
            <a:r>
              <a:rPr b="1" i="1" lang="en-US" sz="1800" u="none" cap="none" strike="noStrike">
                <a:solidFill>
                  <a:srgbClr val="C00000"/>
                </a:solidFill>
                <a:latin typeface="Courier New"/>
                <a:ea typeface="Courier New"/>
                <a:cs typeface="Courier New"/>
                <a:sym typeface="Courier New"/>
              </a:rPr>
              <a:t>main.c </a:t>
            </a:r>
            <a:r>
              <a:rPr b="1" i="1" lang="en-US" sz="18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and</a:t>
            </a:r>
            <a:r>
              <a:rPr b="1" i="1" lang="en-US" sz="1800" u="none" cap="none" strike="noStrike">
                <a:solidFill>
                  <a:srgbClr val="C00000"/>
                </a:solidFill>
                <a:latin typeface="Courier New"/>
                <a:ea typeface="Courier New"/>
                <a:cs typeface="Courier New"/>
                <a:sym typeface="Courier New"/>
              </a:rPr>
              <a:t> sum.c</a:t>
            </a:r>
            <a:r>
              <a:rPr b="1" i="1" lang="en-US" sz="18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endParaRPr b="1" i="1" sz="1800" u="none" cap="none" strike="noStrike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5"/>
          <p:cNvSpPr txBox="1"/>
          <p:nvPr>
            <p:ph type="title"/>
          </p:nvPr>
        </p:nvSpPr>
        <p:spPr>
          <a:xfrm>
            <a:off x="357018" y="435678"/>
            <a:ext cx="7592093" cy="7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119063" lvl="0" marL="11906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Why Linkers?</a:t>
            </a:r>
            <a:endParaRPr/>
          </a:p>
        </p:txBody>
      </p:sp>
      <p:sp>
        <p:nvSpPr>
          <p:cNvPr id="113" name="Google Shape;113;p5"/>
          <p:cNvSpPr txBox="1"/>
          <p:nvPr>
            <p:ph idx="1" type="body"/>
          </p:nvPr>
        </p:nvSpPr>
        <p:spPr>
          <a:xfrm>
            <a:off x="396875" y="1362075"/>
            <a:ext cx="7896225" cy="4972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40"/>
              <a:buChar char="⬛"/>
            </a:pPr>
            <a:r>
              <a:rPr lang="en-US"/>
              <a:t>Reason 1: Modularity</a:t>
            </a:r>
            <a:endParaRPr/>
          </a:p>
          <a:p>
            <a:pPr indent="-251459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440"/>
              <a:buNone/>
            </a:pPr>
            <a:r>
              <a:t/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200"/>
              <a:buChar char="▪"/>
            </a:pPr>
            <a:r>
              <a:rPr lang="en-US"/>
              <a:t>Program can be written as a collection of smaller source files, rather than one monolithic mass.</a:t>
            </a:r>
            <a:endParaRPr/>
          </a:p>
          <a:p>
            <a:pPr indent="-1460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200"/>
              <a:buNone/>
            </a:pPr>
            <a:r>
              <a:t/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200"/>
              <a:buChar char="▪"/>
            </a:pPr>
            <a:r>
              <a:rPr lang="en-US"/>
              <a:t>Can build libraries of common functions (more on this later)</a:t>
            </a:r>
            <a:endParaRPr/>
          </a:p>
          <a:p>
            <a:pPr indent="-228600" lvl="2" marL="11430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▪"/>
            </a:pPr>
            <a:r>
              <a:rPr lang="en-US"/>
              <a:t>e.g., Math library, standard C library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6"/>
          <p:cNvSpPr txBox="1"/>
          <p:nvPr>
            <p:ph type="title"/>
          </p:nvPr>
        </p:nvSpPr>
        <p:spPr>
          <a:xfrm>
            <a:off x="357018" y="435678"/>
            <a:ext cx="7592093" cy="7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119063" lvl="0" marL="11906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Why Linkers? (cont)</a:t>
            </a:r>
            <a:endParaRPr/>
          </a:p>
        </p:txBody>
      </p:sp>
      <p:sp>
        <p:nvSpPr>
          <p:cNvPr id="119" name="Google Shape;119;p6"/>
          <p:cNvSpPr txBox="1"/>
          <p:nvPr>
            <p:ph idx="1" type="body"/>
          </p:nvPr>
        </p:nvSpPr>
        <p:spPr>
          <a:xfrm>
            <a:off x="396875" y="1362075"/>
            <a:ext cx="7896225" cy="4972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40"/>
              <a:buChar char="⬛"/>
            </a:pPr>
            <a:r>
              <a:rPr lang="en-US"/>
              <a:t>Reason 2: Efficiency</a:t>
            </a:r>
            <a:endParaRPr/>
          </a:p>
          <a:p>
            <a:pPr indent="-251459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440"/>
              <a:buNone/>
            </a:pPr>
            <a:r>
              <a:t/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200"/>
              <a:buChar char="▪"/>
            </a:pPr>
            <a:r>
              <a:rPr lang="en-US"/>
              <a:t>Time: Separate compilation</a:t>
            </a:r>
            <a:endParaRPr/>
          </a:p>
          <a:p>
            <a:pPr indent="-228600" lvl="2" marL="11430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▪"/>
            </a:pPr>
            <a:r>
              <a:rPr lang="en-US"/>
              <a:t>Change one source file, compile, and then relink.</a:t>
            </a:r>
            <a:endParaRPr/>
          </a:p>
          <a:p>
            <a:pPr indent="-228600" lvl="2" marL="11430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▪"/>
            </a:pPr>
            <a:r>
              <a:rPr lang="en-US"/>
              <a:t>No need to recompile other source files.</a:t>
            </a:r>
            <a:endParaRPr/>
          </a:p>
          <a:p>
            <a:pPr indent="-127000" lvl="2" marL="11430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t/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200"/>
              <a:buChar char="▪"/>
            </a:pPr>
            <a:r>
              <a:rPr lang="en-US"/>
              <a:t>Space: Libraries </a:t>
            </a:r>
            <a:endParaRPr/>
          </a:p>
          <a:p>
            <a:pPr indent="-228600" lvl="2" marL="11430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▪"/>
            </a:pPr>
            <a:r>
              <a:rPr lang="en-US"/>
              <a:t>Common functions can be aggregated into a single file...</a:t>
            </a:r>
            <a:endParaRPr/>
          </a:p>
          <a:p>
            <a:pPr indent="-228600" lvl="2" marL="11430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▪"/>
            </a:pPr>
            <a:r>
              <a:rPr lang="en-US"/>
              <a:t>Yet executable files and running memory images contain only code for the functions they actually use.</a:t>
            </a:r>
            <a:endParaRPr/>
          </a:p>
          <a:p>
            <a:pPr indent="-101600" lvl="3" marL="16002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t/>
            </a:r>
            <a:endParaRPr/>
          </a:p>
          <a:p>
            <a:pPr indent="-251459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44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7"/>
          <p:cNvSpPr txBox="1"/>
          <p:nvPr>
            <p:ph type="title"/>
          </p:nvPr>
        </p:nvSpPr>
        <p:spPr>
          <a:xfrm>
            <a:off x="404813" y="457200"/>
            <a:ext cx="6986587" cy="7810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119063" lvl="0" marL="11906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What Do Linkers Do?</a:t>
            </a:r>
            <a:endParaRPr/>
          </a:p>
        </p:txBody>
      </p:sp>
      <p:sp>
        <p:nvSpPr>
          <p:cNvPr id="125" name="Google Shape;125;p7"/>
          <p:cNvSpPr txBox="1"/>
          <p:nvPr>
            <p:ph idx="1" type="body"/>
          </p:nvPr>
        </p:nvSpPr>
        <p:spPr>
          <a:xfrm>
            <a:off x="290513" y="1449388"/>
            <a:ext cx="8853487" cy="54848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40"/>
              <a:buChar char="⬛"/>
            </a:pPr>
            <a:r>
              <a:rPr lang="en-US"/>
              <a:t>Step 1: Symbol resolution</a:t>
            </a:r>
            <a:endParaRPr/>
          </a:p>
          <a:p>
            <a:pPr indent="-1460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200"/>
              <a:buNone/>
            </a:pPr>
            <a:r>
              <a:t/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200"/>
              <a:buChar char="▪"/>
            </a:pPr>
            <a:r>
              <a:rPr lang="en-US"/>
              <a:t>Programs define and reference </a:t>
            </a:r>
            <a:r>
              <a:rPr i="1" lang="en-US"/>
              <a:t>symbols</a:t>
            </a:r>
            <a:r>
              <a:rPr lang="en-US"/>
              <a:t> (global variables and functions):</a:t>
            </a:r>
            <a:endParaRPr/>
          </a:p>
          <a:p>
            <a:pPr indent="-228600" lvl="2" marL="11430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▪"/>
            </a:pPr>
            <a:r>
              <a:rPr b="1" lang="en-US" sz="1800">
                <a:latin typeface="Courier New"/>
                <a:ea typeface="Courier New"/>
                <a:cs typeface="Courier New"/>
                <a:sym typeface="Courier New"/>
              </a:rPr>
              <a:t>void swap() {…}   /* define symbol swap */</a:t>
            </a:r>
            <a:endParaRPr/>
          </a:p>
          <a:p>
            <a:pPr indent="-228600" lvl="2" marL="11430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▪"/>
            </a:pPr>
            <a:r>
              <a:rPr b="1" lang="en-US" sz="1800">
                <a:latin typeface="Courier New"/>
                <a:ea typeface="Courier New"/>
                <a:cs typeface="Courier New"/>
                <a:sym typeface="Courier New"/>
              </a:rPr>
              <a:t>swap();           /* reference symbol swap */</a:t>
            </a:r>
            <a:endParaRPr/>
          </a:p>
          <a:p>
            <a:pPr indent="-228600" lvl="2" marL="11430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▪"/>
            </a:pPr>
            <a:r>
              <a:rPr b="1" lang="en-US" sz="1800">
                <a:latin typeface="Courier New"/>
                <a:ea typeface="Courier New"/>
                <a:cs typeface="Courier New"/>
                <a:sym typeface="Courier New"/>
              </a:rPr>
              <a:t>int *xp = &amp;x;     /* define symbol xp, reference x */</a:t>
            </a:r>
            <a:endParaRPr b="1" sz="1800"/>
          </a:p>
          <a:p>
            <a:pPr indent="-1460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200"/>
              <a:buNone/>
            </a:pPr>
            <a:r>
              <a:t/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200"/>
              <a:buChar char="▪"/>
            </a:pPr>
            <a:r>
              <a:rPr lang="en-US"/>
              <a:t>Symbol definitions are stored in object file (by assembler) in </a:t>
            </a:r>
            <a:r>
              <a:rPr i="1" lang="en-US"/>
              <a:t>symbol table</a:t>
            </a:r>
            <a:r>
              <a:rPr lang="en-US"/>
              <a:t>.</a:t>
            </a:r>
            <a:endParaRPr/>
          </a:p>
          <a:p>
            <a:pPr indent="-228600" lvl="2" marL="11430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▪"/>
            </a:pPr>
            <a:r>
              <a:rPr lang="en-US"/>
              <a:t>Symbol table is an array of </a:t>
            </a: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structs</a:t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  <a:p>
            <a:pPr indent="-228600" lvl="2" marL="11430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▪"/>
            </a:pPr>
            <a:r>
              <a:rPr lang="en-US"/>
              <a:t>Each entry includes name, size, and location of symbol.</a:t>
            </a:r>
            <a:endParaRPr/>
          </a:p>
          <a:p>
            <a:pPr indent="-1460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200"/>
              <a:buNone/>
            </a:pPr>
            <a:r>
              <a:t/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200"/>
              <a:buChar char="▪"/>
            </a:pPr>
            <a:r>
              <a:rPr b="1" lang="en-US">
                <a:solidFill>
                  <a:srgbClr val="FF0000"/>
                </a:solidFill>
              </a:rPr>
              <a:t>During symbol resolution step, the linker associates each symbol reference with exactly one symbol definition.</a:t>
            </a:r>
            <a:endParaRPr/>
          </a:p>
          <a:p>
            <a:pPr indent="-251459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44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8"/>
          <p:cNvSpPr txBox="1"/>
          <p:nvPr>
            <p:ph type="title"/>
          </p:nvPr>
        </p:nvSpPr>
        <p:spPr>
          <a:xfrm>
            <a:off x="357018" y="435678"/>
            <a:ext cx="7592093" cy="7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119063" lvl="0" marL="11906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What Do Linkers Do? (cont)</a:t>
            </a:r>
            <a:endParaRPr/>
          </a:p>
        </p:txBody>
      </p:sp>
      <p:sp>
        <p:nvSpPr>
          <p:cNvPr id="131" name="Google Shape;131;p8"/>
          <p:cNvSpPr txBox="1"/>
          <p:nvPr>
            <p:ph idx="1" type="body"/>
          </p:nvPr>
        </p:nvSpPr>
        <p:spPr>
          <a:xfrm>
            <a:off x="396875" y="1362075"/>
            <a:ext cx="7896225" cy="4972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40"/>
              <a:buChar char="⬛"/>
            </a:pPr>
            <a:r>
              <a:rPr lang="en-US"/>
              <a:t>Step 2: Relocation</a:t>
            </a:r>
            <a:endParaRPr/>
          </a:p>
          <a:p>
            <a:pPr indent="-1460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200"/>
              <a:buNone/>
            </a:pPr>
            <a:r>
              <a:t/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200"/>
              <a:buChar char="▪"/>
            </a:pPr>
            <a:r>
              <a:rPr lang="en-US"/>
              <a:t>Merges separate code and data sections into single sections</a:t>
            </a:r>
            <a:endParaRPr/>
          </a:p>
          <a:p>
            <a:pPr indent="-1460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200"/>
              <a:buNone/>
            </a:pPr>
            <a:r>
              <a:t/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200"/>
              <a:buChar char="▪"/>
            </a:pPr>
            <a:r>
              <a:rPr lang="en-US"/>
              <a:t>Relocates symbols from their relative locations in the </a:t>
            </a: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.o</a:t>
            </a:r>
            <a:r>
              <a:rPr lang="en-US"/>
              <a:t> files to their final absolute memory locations in the executable.</a:t>
            </a:r>
            <a:endParaRPr/>
          </a:p>
          <a:p>
            <a:pPr indent="-1460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200"/>
              <a:buNone/>
            </a:pPr>
            <a:r>
              <a:t/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200"/>
              <a:buChar char="▪"/>
            </a:pPr>
            <a:r>
              <a:rPr lang="en-US"/>
              <a:t>Updates all references to these symbols to reflect their new positions.</a:t>
            </a:r>
            <a:endParaRPr/>
          </a:p>
          <a:p>
            <a:pPr indent="-251459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440"/>
              <a:buNone/>
            </a:pPr>
            <a:r>
              <a:t/>
            </a:r>
            <a:endParaRPr/>
          </a:p>
        </p:txBody>
      </p:sp>
      <p:sp>
        <p:nvSpPr>
          <p:cNvPr id="132" name="Google Shape;132;p8"/>
          <p:cNvSpPr txBox="1"/>
          <p:nvPr/>
        </p:nvSpPr>
        <p:spPr>
          <a:xfrm>
            <a:off x="396875" y="5331767"/>
            <a:ext cx="5978469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Let’s look at these two steps in more detail….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9"/>
          <p:cNvSpPr txBox="1"/>
          <p:nvPr>
            <p:ph type="title"/>
          </p:nvPr>
        </p:nvSpPr>
        <p:spPr>
          <a:xfrm>
            <a:off x="357018" y="435678"/>
            <a:ext cx="7592093" cy="7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119063" lvl="0" marL="11906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Three Kinds of Object Files (Modules)</a:t>
            </a:r>
            <a:endParaRPr/>
          </a:p>
        </p:txBody>
      </p:sp>
      <p:sp>
        <p:nvSpPr>
          <p:cNvPr id="138" name="Google Shape;138;p9"/>
          <p:cNvSpPr txBox="1"/>
          <p:nvPr>
            <p:ph idx="1" type="body"/>
          </p:nvPr>
        </p:nvSpPr>
        <p:spPr>
          <a:xfrm>
            <a:off x="396875" y="1362075"/>
            <a:ext cx="7896225" cy="4972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40"/>
              <a:buChar char="⬛"/>
            </a:pPr>
            <a:r>
              <a:rPr lang="en-US"/>
              <a:t>Relocatable object file (</a:t>
            </a: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.o</a:t>
            </a:r>
            <a:r>
              <a:rPr lang="en-US"/>
              <a:t> file)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200"/>
              <a:buChar char="▪"/>
            </a:pPr>
            <a:r>
              <a:rPr lang="en-US"/>
              <a:t>Contains code and data in a form that can be combined with other relocatable object files to form executable object file.</a:t>
            </a:r>
            <a:endParaRPr/>
          </a:p>
          <a:p>
            <a:pPr indent="-228600" lvl="2" marL="11430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▪"/>
            </a:pPr>
            <a:r>
              <a:rPr lang="en-US"/>
              <a:t>Each </a:t>
            </a: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.o</a:t>
            </a:r>
            <a:r>
              <a:rPr lang="en-US"/>
              <a:t> file is produced from exactly one source (</a:t>
            </a: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.c</a:t>
            </a:r>
            <a:r>
              <a:rPr lang="en-US"/>
              <a:t>) file</a:t>
            </a:r>
            <a:endParaRPr/>
          </a:p>
          <a:p>
            <a:pPr indent="-251459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440"/>
              <a:buNone/>
            </a:pPr>
            <a:r>
              <a:t/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440"/>
              <a:buChar char="⬛"/>
            </a:pPr>
            <a:r>
              <a:rPr lang="en-US"/>
              <a:t>Executable object file (</a:t>
            </a: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a.out</a:t>
            </a:r>
            <a:r>
              <a:rPr lang="en-US"/>
              <a:t> file)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200"/>
              <a:buChar char="▪"/>
            </a:pPr>
            <a:r>
              <a:rPr lang="en-US"/>
              <a:t>Contains code and data in a form that can be copied directly into memory and then executed.</a:t>
            </a:r>
            <a:endParaRPr/>
          </a:p>
          <a:p>
            <a:pPr indent="-251459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440"/>
              <a:buNone/>
            </a:pPr>
            <a:r>
              <a:t/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440"/>
              <a:buChar char="⬛"/>
            </a:pPr>
            <a:r>
              <a:rPr lang="en-US"/>
              <a:t>Shared object file (</a:t>
            </a: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.so </a:t>
            </a:r>
            <a:r>
              <a:rPr lang="en-US"/>
              <a:t>file)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200"/>
              <a:buChar char="▪"/>
            </a:pPr>
            <a:r>
              <a:rPr lang="en-US"/>
              <a:t>Special type of relocatable object file that can be loaded into memory and linked dynamically, at either load time or run-time.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200"/>
              <a:buChar char="▪"/>
            </a:pPr>
            <a:r>
              <a:rPr lang="en-US"/>
              <a:t>Called </a:t>
            </a:r>
            <a:r>
              <a:rPr i="1" lang="en-US"/>
              <a:t>Dynamic Link Libraries</a:t>
            </a:r>
            <a:r>
              <a:rPr lang="en-US"/>
              <a:t> (DLLs) by Windows</a:t>
            </a:r>
            <a:endParaRPr/>
          </a:p>
          <a:p>
            <a:pPr indent="-1460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2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10"/>
          <p:cNvSpPr txBox="1"/>
          <p:nvPr>
            <p:ph type="title"/>
          </p:nvPr>
        </p:nvSpPr>
        <p:spPr>
          <a:xfrm>
            <a:off x="357018" y="435678"/>
            <a:ext cx="7592093" cy="7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119063" lvl="0" marL="11906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Executable and Linkable Format (ELF)</a:t>
            </a:r>
            <a:endParaRPr/>
          </a:p>
        </p:txBody>
      </p:sp>
      <p:sp>
        <p:nvSpPr>
          <p:cNvPr id="144" name="Google Shape;144;p10"/>
          <p:cNvSpPr txBox="1"/>
          <p:nvPr>
            <p:ph idx="1" type="body"/>
          </p:nvPr>
        </p:nvSpPr>
        <p:spPr>
          <a:xfrm>
            <a:off x="396875" y="1362075"/>
            <a:ext cx="7896225" cy="4972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40"/>
              <a:buChar char="⬛"/>
            </a:pPr>
            <a:r>
              <a:rPr lang="en-US"/>
              <a:t>Standard binary format for object files</a:t>
            </a:r>
            <a:endParaRPr/>
          </a:p>
          <a:p>
            <a:pPr indent="-251459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440"/>
              <a:buNone/>
            </a:pPr>
            <a:r>
              <a:t/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440"/>
              <a:buChar char="⬛"/>
            </a:pPr>
            <a:r>
              <a:rPr lang="en-US"/>
              <a:t>One unified format for 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200"/>
              <a:buChar char="▪"/>
            </a:pPr>
            <a:r>
              <a:rPr lang="en-US"/>
              <a:t>Relocatable object files (</a:t>
            </a: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.o</a:t>
            </a:r>
            <a:r>
              <a:rPr lang="en-US"/>
              <a:t>), 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200"/>
              <a:buChar char="▪"/>
            </a:pPr>
            <a:r>
              <a:rPr lang="en-US"/>
              <a:t>Executable object files </a:t>
            </a: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(a.out</a:t>
            </a:r>
            <a:r>
              <a:rPr lang="en-US"/>
              <a:t>)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200"/>
              <a:buChar char="▪"/>
            </a:pPr>
            <a:r>
              <a:rPr lang="en-US"/>
              <a:t>Shared object files (</a:t>
            </a: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.so</a:t>
            </a:r>
            <a:r>
              <a:rPr lang="en-US"/>
              <a:t>)</a:t>
            </a:r>
            <a:endParaRPr/>
          </a:p>
          <a:p>
            <a:pPr indent="-1460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200"/>
              <a:buNone/>
            </a:pPr>
            <a:r>
              <a:t/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440"/>
              <a:buChar char="⬛"/>
            </a:pPr>
            <a:r>
              <a:rPr lang="en-US"/>
              <a:t>Generic name: ELF binaries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11"/>
          <p:cNvSpPr txBox="1"/>
          <p:nvPr>
            <p:ph idx="4294967295" type="title"/>
          </p:nvPr>
        </p:nvSpPr>
        <p:spPr>
          <a:xfrm>
            <a:off x="372533" y="385763"/>
            <a:ext cx="8716962" cy="7826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119063" lvl="0" marL="11906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ELF Object File Format</a:t>
            </a:r>
            <a:endParaRPr/>
          </a:p>
        </p:txBody>
      </p:sp>
      <p:sp>
        <p:nvSpPr>
          <p:cNvPr id="151" name="Google Shape;151;p11"/>
          <p:cNvSpPr txBox="1"/>
          <p:nvPr>
            <p:ph idx="1" type="body"/>
          </p:nvPr>
        </p:nvSpPr>
        <p:spPr>
          <a:xfrm>
            <a:off x="381000" y="1019175"/>
            <a:ext cx="5348287" cy="5381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200"/>
              <a:buChar char="⬛"/>
            </a:pPr>
            <a:r>
              <a:rPr lang="en-US" sz="2000"/>
              <a:t>Elf header</a:t>
            </a:r>
            <a:endParaRPr/>
          </a:p>
          <a:p>
            <a:pPr indent="-285750" lvl="1" marL="742950" rtl="0" algn="l">
              <a:lnSpc>
                <a:spcPct val="88000"/>
              </a:lnSpc>
              <a:spcBef>
                <a:spcPts val="563"/>
              </a:spcBef>
              <a:spcAft>
                <a:spcPts val="0"/>
              </a:spcAft>
              <a:buSzPts val="1980"/>
              <a:buChar char="▪"/>
            </a:pPr>
            <a:r>
              <a:rPr lang="en-US" sz="1800"/>
              <a:t>Word size, byte ordering, file type (.o, exec, .so), machine type, etc.</a:t>
            </a:r>
            <a:endParaRPr/>
          </a:p>
          <a:p>
            <a:pPr indent="-342900" lvl="0" marL="342900" rtl="0" algn="l">
              <a:lnSpc>
                <a:spcPct val="83000"/>
              </a:lnSpc>
              <a:spcBef>
                <a:spcPts val="1250"/>
              </a:spcBef>
              <a:spcAft>
                <a:spcPts val="0"/>
              </a:spcAft>
              <a:buSzPts val="1200"/>
              <a:buChar char="⬛"/>
            </a:pPr>
            <a:r>
              <a:rPr lang="en-US" sz="2000"/>
              <a:t>Segment header table</a:t>
            </a:r>
            <a:endParaRPr/>
          </a:p>
          <a:p>
            <a:pPr indent="-285750" lvl="1" marL="742950" rtl="0" algn="l">
              <a:lnSpc>
                <a:spcPct val="88000"/>
              </a:lnSpc>
              <a:spcBef>
                <a:spcPts val="563"/>
              </a:spcBef>
              <a:spcAft>
                <a:spcPts val="0"/>
              </a:spcAft>
              <a:buSzPts val="1980"/>
              <a:buChar char="▪"/>
            </a:pPr>
            <a:r>
              <a:rPr lang="en-US" sz="1800"/>
              <a:t>Page size, virtual addresses memory segments (sections), segment sizes.</a:t>
            </a:r>
            <a:endParaRPr/>
          </a:p>
          <a:p>
            <a:pPr indent="-342900" lvl="0" marL="342900" rtl="0" algn="l">
              <a:lnSpc>
                <a:spcPct val="80000"/>
              </a:lnSpc>
              <a:spcBef>
                <a:spcPts val="1250"/>
              </a:spcBef>
              <a:spcAft>
                <a:spcPts val="0"/>
              </a:spcAft>
              <a:buSzPts val="1200"/>
              <a:buChar char="⬛"/>
            </a:pPr>
            <a:r>
              <a:rPr lang="en-US" sz="2000">
                <a:latin typeface="Courier New"/>
                <a:ea typeface="Courier New"/>
                <a:cs typeface="Courier New"/>
                <a:sym typeface="Courier New"/>
              </a:rPr>
              <a:t>.text</a:t>
            </a:r>
            <a:r>
              <a:rPr lang="en-US" sz="2000"/>
              <a:t> section</a:t>
            </a:r>
            <a:endParaRPr/>
          </a:p>
          <a:p>
            <a:pPr indent="-285750" lvl="1" marL="742950" rtl="0" algn="l">
              <a:lnSpc>
                <a:spcPct val="88000"/>
              </a:lnSpc>
              <a:spcBef>
                <a:spcPts val="563"/>
              </a:spcBef>
              <a:spcAft>
                <a:spcPts val="0"/>
              </a:spcAft>
              <a:buSzPts val="1980"/>
              <a:buChar char="▪"/>
            </a:pPr>
            <a:r>
              <a:rPr lang="en-US" sz="1800"/>
              <a:t>Code</a:t>
            </a:r>
            <a:endParaRPr/>
          </a:p>
          <a:p>
            <a:pPr indent="-342900" lvl="0" marL="342900" rtl="0" algn="l">
              <a:lnSpc>
                <a:spcPct val="80000"/>
              </a:lnSpc>
              <a:spcBef>
                <a:spcPts val="1250"/>
              </a:spcBef>
              <a:spcAft>
                <a:spcPts val="0"/>
              </a:spcAft>
              <a:buSzPts val="1200"/>
              <a:buChar char="⬛"/>
            </a:pPr>
            <a:r>
              <a:rPr lang="en-US" sz="2000">
                <a:latin typeface="Courier New"/>
                <a:ea typeface="Courier New"/>
                <a:cs typeface="Courier New"/>
                <a:sym typeface="Courier New"/>
              </a:rPr>
              <a:t>.rodata </a:t>
            </a:r>
            <a:r>
              <a:rPr lang="en-US" sz="2000"/>
              <a:t>section</a:t>
            </a:r>
            <a:endParaRPr/>
          </a:p>
          <a:p>
            <a:pPr indent="-285750" lvl="1" marL="742950" rtl="0" algn="l">
              <a:lnSpc>
                <a:spcPct val="80000"/>
              </a:lnSpc>
              <a:spcBef>
                <a:spcPts val="1250"/>
              </a:spcBef>
              <a:spcAft>
                <a:spcPts val="0"/>
              </a:spcAft>
              <a:buSzPts val="1980"/>
              <a:buChar char="▪"/>
            </a:pPr>
            <a:r>
              <a:rPr lang="en-US" sz="1800"/>
              <a:t>Read only data: jump tables, ...</a:t>
            </a:r>
            <a:endParaRPr/>
          </a:p>
          <a:p>
            <a:pPr indent="-342900" lvl="0" marL="342900" rtl="0" algn="l">
              <a:lnSpc>
                <a:spcPct val="80000"/>
              </a:lnSpc>
              <a:spcBef>
                <a:spcPts val="1250"/>
              </a:spcBef>
              <a:spcAft>
                <a:spcPts val="0"/>
              </a:spcAft>
              <a:buSzPts val="1200"/>
              <a:buChar char="⬛"/>
            </a:pPr>
            <a:r>
              <a:rPr lang="en-US" sz="2000">
                <a:latin typeface="Courier New"/>
                <a:ea typeface="Courier New"/>
                <a:cs typeface="Courier New"/>
                <a:sym typeface="Courier New"/>
              </a:rPr>
              <a:t>.data</a:t>
            </a:r>
            <a:r>
              <a:rPr lang="en-US" sz="2000"/>
              <a:t> section</a:t>
            </a:r>
            <a:endParaRPr/>
          </a:p>
          <a:p>
            <a:pPr indent="-285750" lvl="1" marL="742950" rtl="0" algn="l">
              <a:lnSpc>
                <a:spcPct val="88000"/>
              </a:lnSpc>
              <a:spcBef>
                <a:spcPts val="563"/>
              </a:spcBef>
              <a:spcAft>
                <a:spcPts val="0"/>
              </a:spcAft>
              <a:buSzPts val="1980"/>
              <a:buChar char="▪"/>
            </a:pPr>
            <a:r>
              <a:rPr lang="en-US" sz="1800"/>
              <a:t>Initialized global variables</a:t>
            </a:r>
            <a:endParaRPr/>
          </a:p>
          <a:p>
            <a:pPr indent="-342900" lvl="0" marL="342900" rtl="0" algn="l">
              <a:lnSpc>
                <a:spcPct val="80000"/>
              </a:lnSpc>
              <a:spcBef>
                <a:spcPts val="1250"/>
              </a:spcBef>
              <a:spcAft>
                <a:spcPts val="0"/>
              </a:spcAft>
              <a:buSzPts val="1200"/>
              <a:buChar char="⬛"/>
            </a:pPr>
            <a:r>
              <a:rPr lang="en-US" sz="2000">
                <a:latin typeface="Courier New"/>
                <a:ea typeface="Courier New"/>
                <a:cs typeface="Courier New"/>
                <a:sym typeface="Courier New"/>
              </a:rPr>
              <a:t>.bss</a:t>
            </a:r>
            <a:r>
              <a:rPr lang="en-US" sz="2000"/>
              <a:t> section</a:t>
            </a:r>
            <a:endParaRPr/>
          </a:p>
          <a:p>
            <a:pPr indent="-285750" lvl="1" marL="742950" rtl="0" algn="l">
              <a:lnSpc>
                <a:spcPct val="88000"/>
              </a:lnSpc>
              <a:spcBef>
                <a:spcPts val="563"/>
              </a:spcBef>
              <a:spcAft>
                <a:spcPts val="0"/>
              </a:spcAft>
              <a:buSzPts val="1980"/>
              <a:buChar char="▪"/>
            </a:pPr>
            <a:r>
              <a:rPr lang="en-US" sz="1800"/>
              <a:t>Uninitialized global variables</a:t>
            </a:r>
            <a:endParaRPr/>
          </a:p>
          <a:p>
            <a:pPr indent="-285750" lvl="1" marL="742950" rtl="0" algn="l">
              <a:lnSpc>
                <a:spcPct val="88000"/>
              </a:lnSpc>
              <a:spcBef>
                <a:spcPts val="563"/>
              </a:spcBef>
              <a:spcAft>
                <a:spcPts val="0"/>
              </a:spcAft>
              <a:buSzPts val="1980"/>
              <a:buChar char="▪"/>
            </a:pPr>
            <a:r>
              <a:rPr lang="en-US" sz="1800"/>
              <a:t>“Block Started by Symbol”</a:t>
            </a:r>
            <a:endParaRPr/>
          </a:p>
          <a:p>
            <a:pPr indent="-285750" lvl="1" marL="742950" rtl="0" algn="l">
              <a:lnSpc>
                <a:spcPct val="88000"/>
              </a:lnSpc>
              <a:spcBef>
                <a:spcPts val="563"/>
              </a:spcBef>
              <a:spcAft>
                <a:spcPts val="0"/>
              </a:spcAft>
              <a:buSzPts val="1980"/>
              <a:buChar char="▪"/>
            </a:pPr>
            <a:r>
              <a:rPr lang="en-US" sz="1800">
                <a:solidFill>
                  <a:srgbClr val="C00000"/>
                </a:solidFill>
              </a:rPr>
              <a:t>“Better Save Space”</a:t>
            </a:r>
            <a:endParaRPr/>
          </a:p>
          <a:p>
            <a:pPr indent="-285750" lvl="1" marL="742950" rtl="0" algn="l">
              <a:lnSpc>
                <a:spcPct val="88000"/>
              </a:lnSpc>
              <a:spcBef>
                <a:spcPts val="563"/>
              </a:spcBef>
              <a:spcAft>
                <a:spcPts val="0"/>
              </a:spcAft>
              <a:buSzPts val="1980"/>
              <a:buChar char="▪"/>
            </a:pPr>
            <a:r>
              <a:rPr lang="en-US" sz="1800"/>
              <a:t>Has section header but occupies no space</a:t>
            </a:r>
            <a:endParaRPr/>
          </a:p>
          <a:p>
            <a:pPr indent="-285750" lvl="1" marL="742950" rtl="0" algn="l">
              <a:lnSpc>
                <a:spcPct val="88000"/>
              </a:lnSpc>
              <a:spcBef>
                <a:spcPts val="563"/>
              </a:spcBef>
              <a:spcAft>
                <a:spcPts val="0"/>
              </a:spcAft>
              <a:buSzPts val="1980"/>
              <a:buFont typeface="Noto Sans"/>
              <a:buNone/>
            </a:pPr>
            <a:r>
              <a:t/>
            </a:r>
            <a:endParaRPr sz="1800"/>
          </a:p>
        </p:txBody>
      </p:sp>
      <p:sp>
        <p:nvSpPr>
          <p:cNvPr id="152" name="Google Shape;152;p11"/>
          <p:cNvSpPr/>
          <p:nvPr/>
        </p:nvSpPr>
        <p:spPr>
          <a:xfrm>
            <a:off x="5867400" y="1600200"/>
            <a:ext cx="2971800" cy="381000"/>
          </a:xfrm>
          <a:prstGeom prst="rect">
            <a:avLst/>
          </a:prstGeom>
          <a:solidFill>
            <a:srgbClr val="D5D5F4"/>
          </a:solidFill>
          <a:ln cap="flat" cmpd="sng" w="255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6800" lIns="90000" spcFirstLastPara="1" rIns="90000" wrap="square" tIns="46800">
            <a:noAutofit/>
          </a:bodyPr>
          <a:lstStyle/>
          <a:p>
            <a:pPr indent="0" lvl="0" marL="0" marR="0" rtl="0" algn="ctr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ELF header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" name="Google Shape;153;p11"/>
          <p:cNvSpPr/>
          <p:nvPr/>
        </p:nvSpPr>
        <p:spPr>
          <a:xfrm>
            <a:off x="5867400" y="1981200"/>
            <a:ext cx="2971800" cy="609600"/>
          </a:xfrm>
          <a:prstGeom prst="rect">
            <a:avLst/>
          </a:prstGeom>
          <a:solidFill>
            <a:srgbClr val="D5D5F4"/>
          </a:solidFill>
          <a:ln cap="flat" cmpd="sng" w="255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6800" lIns="90000" spcFirstLastPara="1" rIns="90000" wrap="square" tIns="46800">
            <a:noAutofit/>
          </a:bodyPr>
          <a:lstStyle/>
          <a:p>
            <a:pPr indent="0" lvl="0" marL="0" marR="0" rtl="0" algn="ctr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Segment header table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(required for executables)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" name="Google Shape;154;p11"/>
          <p:cNvSpPr/>
          <p:nvPr/>
        </p:nvSpPr>
        <p:spPr>
          <a:xfrm>
            <a:off x="5867400" y="2590800"/>
            <a:ext cx="2971800" cy="381000"/>
          </a:xfrm>
          <a:prstGeom prst="rect">
            <a:avLst/>
          </a:prstGeom>
          <a:solidFill>
            <a:srgbClr val="D5D5F4"/>
          </a:solidFill>
          <a:ln cap="flat" cmpd="sng" w="255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6800" lIns="90000" spcFirstLastPara="1" rIns="90000" wrap="square" tIns="46800">
            <a:noAutofit/>
          </a:bodyPr>
          <a:lstStyle/>
          <a:p>
            <a:pPr indent="0" lvl="0" marL="0" marR="0" rtl="0"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.text</a:t>
            </a:r>
            <a:r>
              <a:rPr b="1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section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" name="Google Shape;155;p11"/>
          <p:cNvSpPr/>
          <p:nvPr/>
        </p:nvSpPr>
        <p:spPr>
          <a:xfrm>
            <a:off x="5867400" y="2971800"/>
            <a:ext cx="2971800" cy="381000"/>
          </a:xfrm>
          <a:prstGeom prst="rect">
            <a:avLst/>
          </a:prstGeom>
          <a:solidFill>
            <a:srgbClr val="D5D5F4"/>
          </a:solidFill>
          <a:ln cap="flat" cmpd="sng" w="255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6800" lIns="90000" spcFirstLastPara="1" rIns="90000" wrap="square" tIns="46800">
            <a:noAutofit/>
          </a:bodyPr>
          <a:lstStyle/>
          <a:p>
            <a:pPr indent="0" lvl="0" marL="0" marR="0" rtl="0"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.rodata</a:t>
            </a:r>
            <a:r>
              <a:rPr b="1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section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" name="Google Shape;156;p11"/>
          <p:cNvSpPr/>
          <p:nvPr/>
        </p:nvSpPr>
        <p:spPr>
          <a:xfrm>
            <a:off x="5867400" y="3733800"/>
            <a:ext cx="2971800" cy="381000"/>
          </a:xfrm>
          <a:prstGeom prst="rect">
            <a:avLst/>
          </a:prstGeom>
          <a:solidFill>
            <a:srgbClr val="D5D5F4"/>
          </a:solidFill>
          <a:ln cap="flat" cmpd="sng" w="255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6800" lIns="90000" spcFirstLastPara="1" rIns="90000" wrap="square" tIns="46800">
            <a:noAutofit/>
          </a:bodyPr>
          <a:lstStyle/>
          <a:p>
            <a:pPr indent="0" lvl="0" marL="0" marR="0" rtl="0"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.bss</a:t>
            </a:r>
            <a:r>
              <a:rPr b="1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section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" name="Google Shape;157;p11"/>
          <p:cNvSpPr/>
          <p:nvPr/>
        </p:nvSpPr>
        <p:spPr>
          <a:xfrm>
            <a:off x="5867400" y="4114800"/>
            <a:ext cx="2971800" cy="381000"/>
          </a:xfrm>
          <a:prstGeom prst="rect">
            <a:avLst/>
          </a:prstGeom>
          <a:solidFill>
            <a:srgbClr val="F2F2F2"/>
          </a:solidFill>
          <a:ln cap="flat" cmpd="sng" w="255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6800" lIns="90000" spcFirstLastPara="1" rIns="90000" wrap="square" tIns="46800">
            <a:noAutofit/>
          </a:bodyPr>
          <a:lstStyle/>
          <a:p>
            <a:pPr indent="0" lvl="0" marL="0" marR="0" rtl="0"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.symtab </a:t>
            </a:r>
            <a:r>
              <a:rPr b="1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section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" name="Google Shape;158;p11"/>
          <p:cNvSpPr/>
          <p:nvPr/>
        </p:nvSpPr>
        <p:spPr>
          <a:xfrm>
            <a:off x="5867400" y="4495800"/>
            <a:ext cx="2971800" cy="381000"/>
          </a:xfrm>
          <a:prstGeom prst="rect">
            <a:avLst/>
          </a:prstGeom>
          <a:solidFill>
            <a:srgbClr val="F2F2F2"/>
          </a:solidFill>
          <a:ln cap="flat" cmpd="sng" w="255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6800" lIns="90000" spcFirstLastPara="1" rIns="90000" wrap="square" tIns="46800">
            <a:noAutofit/>
          </a:bodyPr>
          <a:lstStyle/>
          <a:p>
            <a:pPr indent="0" lvl="0" marL="0" marR="0" rtl="0"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.rel.txt </a:t>
            </a:r>
            <a:r>
              <a:rPr b="1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section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" name="Google Shape;159;p11"/>
          <p:cNvSpPr/>
          <p:nvPr/>
        </p:nvSpPr>
        <p:spPr>
          <a:xfrm>
            <a:off x="5867400" y="4876800"/>
            <a:ext cx="2971800" cy="381000"/>
          </a:xfrm>
          <a:prstGeom prst="rect">
            <a:avLst/>
          </a:prstGeom>
          <a:solidFill>
            <a:srgbClr val="F2F2F2"/>
          </a:solidFill>
          <a:ln cap="flat" cmpd="sng" w="255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6800" lIns="90000" spcFirstLastPara="1" rIns="90000" wrap="square" tIns="46800">
            <a:noAutofit/>
          </a:bodyPr>
          <a:lstStyle/>
          <a:p>
            <a:pPr indent="0" lvl="0" marL="0" marR="0" rtl="0"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.rel.data </a:t>
            </a:r>
            <a:r>
              <a:rPr b="1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section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" name="Google Shape;160;p11"/>
          <p:cNvSpPr/>
          <p:nvPr/>
        </p:nvSpPr>
        <p:spPr>
          <a:xfrm>
            <a:off x="5867400" y="5257800"/>
            <a:ext cx="2971800" cy="381000"/>
          </a:xfrm>
          <a:prstGeom prst="rect">
            <a:avLst/>
          </a:prstGeom>
          <a:solidFill>
            <a:srgbClr val="F2F2F2"/>
          </a:solidFill>
          <a:ln cap="flat" cmpd="sng" w="255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6800" lIns="90000" spcFirstLastPara="1" rIns="90000" wrap="square" tIns="46800">
            <a:noAutofit/>
          </a:bodyPr>
          <a:lstStyle/>
          <a:p>
            <a:pPr indent="0" lvl="0" marL="0" marR="0" rtl="0"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.debug </a:t>
            </a:r>
            <a:r>
              <a:rPr b="1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section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" name="Google Shape;161;p11"/>
          <p:cNvSpPr/>
          <p:nvPr/>
        </p:nvSpPr>
        <p:spPr>
          <a:xfrm>
            <a:off x="5867400" y="5638800"/>
            <a:ext cx="2971800" cy="609600"/>
          </a:xfrm>
          <a:prstGeom prst="rect">
            <a:avLst/>
          </a:prstGeom>
          <a:solidFill>
            <a:srgbClr val="F2F2F2"/>
          </a:solidFill>
          <a:ln cap="flat" cmpd="sng" w="255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6800" lIns="90000" spcFirstLastPara="1" rIns="90000" wrap="square" tIns="46800">
            <a:noAutofit/>
          </a:bodyPr>
          <a:lstStyle/>
          <a:p>
            <a:pPr indent="0" lvl="0" marL="0" marR="0" rtl="0" algn="ctr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Section header table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" name="Google Shape;162;p11"/>
          <p:cNvSpPr txBox="1"/>
          <p:nvPr/>
        </p:nvSpPr>
        <p:spPr>
          <a:xfrm>
            <a:off x="8839200" y="1447800"/>
            <a:ext cx="285954" cy="335799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spAutoFit/>
          </a:bodyPr>
          <a:lstStyle/>
          <a:p>
            <a:pPr indent="0" lvl="0" marL="0" marR="0" rtl="0"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000066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" name="Google Shape;163;p11"/>
          <p:cNvSpPr/>
          <p:nvPr/>
        </p:nvSpPr>
        <p:spPr>
          <a:xfrm>
            <a:off x="5867400" y="3352800"/>
            <a:ext cx="2971800" cy="381000"/>
          </a:xfrm>
          <a:prstGeom prst="rect">
            <a:avLst/>
          </a:prstGeom>
          <a:solidFill>
            <a:srgbClr val="D5D5F4"/>
          </a:solidFill>
          <a:ln cap="flat" cmpd="sng" w="255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6800" lIns="90000" spcFirstLastPara="1" rIns="90000" wrap="square" tIns="46800">
            <a:noAutofit/>
          </a:bodyPr>
          <a:lstStyle/>
          <a:p>
            <a:pPr indent="0" lvl="0" marL="0" marR="0" rtl="0"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.data</a:t>
            </a:r>
            <a:r>
              <a:rPr b="1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section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2"/>
          <p:cNvSpPr txBox="1"/>
          <p:nvPr>
            <p:ph idx="4294967295" type="title"/>
          </p:nvPr>
        </p:nvSpPr>
        <p:spPr>
          <a:xfrm>
            <a:off x="381000" y="385763"/>
            <a:ext cx="8716962" cy="7826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119063" lvl="0" marL="11906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ELF Object File Format (cont.)</a:t>
            </a:r>
            <a:endParaRPr/>
          </a:p>
        </p:txBody>
      </p:sp>
      <p:sp>
        <p:nvSpPr>
          <p:cNvPr id="170" name="Google Shape;170;p12"/>
          <p:cNvSpPr txBox="1"/>
          <p:nvPr>
            <p:ph idx="1" type="body"/>
          </p:nvPr>
        </p:nvSpPr>
        <p:spPr>
          <a:xfrm>
            <a:off x="396875" y="1309688"/>
            <a:ext cx="5272087" cy="54721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71000"/>
              </a:lnSpc>
              <a:spcBef>
                <a:spcPts val="0"/>
              </a:spcBef>
              <a:spcAft>
                <a:spcPts val="0"/>
              </a:spcAft>
              <a:buSzPts val="1200"/>
              <a:buChar char="⬛"/>
            </a:pPr>
            <a:r>
              <a:rPr lang="en-US" sz="2000">
                <a:latin typeface="Courier New"/>
                <a:ea typeface="Courier New"/>
                <a:cs typeface="Courier New"/>
                <a:sym typeface="Courier New"/>
              </a:rPr>
              <a:t>.symtab</a:t>
            </a:r>
            <a:r>
              <a:rPr lang="en-US" sz="2000"/>
              <a:t> section</a:t>
            </a:r>
            <a:endParaRPr/>
          </a:p>
          <a:p>
            <a:pPr indent="-285750" lvl="1" marL="742950" rtl="0" algn="l">
              <a:lnSpc>
                <a:spcPct val="78000"/>
              </a:lnSpc>
              <a:spcBef>
                <a:spcPts val="563"/>
              </a:spcBef>
              <a:spcAft>
                <a:spcPts val="0"/>
              </a:spcAft>
              <a:buSzPts val="1980"/>
              <a:buChar char="▪"/>
            </a:pPr>
            <a:r>
              <a:rPr lang="en-US" sz="1800"/>
              <a:t>Symbol table</a:t>
            </a:r>
            <a:endParaRPr/>
          </a:p>
          <a:p>
            <a:pPr indent="-285750" lvl="1" marL="742950" rtl="0" algn="l">
              <a:lnSpc>
                <a:spcPct val="78000"/>
              </a:lnSpc>
              <a:spcBef>
                <a:spcPts val="563"/>
              </a:spcBef>
              <a:spcAft>
                <a:spcPts val="0"/>
              </a:spcAft>
              <a:buSzPts val="1980"/>
              <a:buChar char="▪"/>
            </a:pPr>
            <a:r>
              <a:rPr lang="en-US" sz="1800"/>
              <a:t>Procedure and static variable names</a:t>
            </a:r>
            <a:endParaRPr/>
          </a:p>
          <a:p>
            <a:pPr indent="-285750" lvl="1" marL="742950" rtl="0" algn="l">
              <a:lnSpc>
                <a:spcPct val="78000"/>
              </a:lnSpc>
              <a:spcBef>
                <a:spcPts val="563"/>
              </a:spcBef>
              <a:spcAft>
                <a:spcPts val="0"/>
              </a:spcAft>
              <a:buSzPts val="1980"/>
              <a:buChar char="▪"/>
            </a:pPr>
            <a:r>
              <a:rPr lang="en-US" sz="1800"/>
              <a:t>Section names and locations</a:t>
            </a:r>
            <a:endParaRPr/>
          </a:p>
          <a:p>
            <a:pPr indent="-342900" lvl="0" marL="342900" rtl="0" algn="l">
              <a:lnSpc>
                <a:spcPct val="71000"/>
              </a:lnSpc>
              <a:spcBef>
                <a:spcPts val="1250"/>
              </a:spcBef>
              <a:spcAft>
                <a:spcPts val="0"/>
              </a:spcAft>
              <a:buSzPts val="1200"/>
              <a:buChar char="⬛"/>
            </a:pPr>
            <a:r>
              <a:rPr lang="en-US" sz="2000">
                <a:latin typeface="Courier New"/>
                <a:ea typeface="Courier New"/>
                <a:cs typeface="Courier New"/>
                <a:sym typeface="Courier New"/>
              </a:rPr>
              <a:t>.rel.text</a:t>
            </a:r>
            <a:r>
              <a:rPr lang="en-US" sz="2000"/>
              <a:t> section</a:t>
            </a:r>
            <a:endParaRPr/>
          </a:p>
          <a:p>
            <a:pPr indent="-285750" lvl="1" marL="742950" rtl="0" algn="l">
              <a:lnSpc>
                <a:spcPct val="78000"/>
              </a:lnSpc>
              <a:spcBef>
                <a:spcPts val="563"/>
              </a:spcBef>
              <a:spcAft>
                <a:spcPts val="0"/>
              </a:spcAft>
              <a:buSzPts val="1980"/>
              <a:buChar char="▪"/>
            </a:pPr>
            <a:r>
              <a:rPr lang="en-US" sz="1800"/>
              <a:t>Relocation info for </a:t>
            </a:r>
            <a:r>
              <a:rPr b="1" lang="en-US" sz="1800">
                <a:latin typeface="Courier New"/>
                <a:ea typeface="Courier New"/>
                <a:cs typeface="Courier New"/>
                <a:sym typeface="Courier New"/>
              </a:rPr>
              <a:t>.text</a:t>
            </a:r>
            <a:r>
              <a:rPr b="1" lang="en-US" sz="1800"/>
              <a:t> </a:t>
            </a:r>
            <a:r>
              <a:rPr lang="en-US" sz="1800"/>
              <a:t>section</a:t>
            </a:r>
            <a:endParaRPr/>
          </a:p>
          <a:p>
            <a:pPr indent="-285750" lvl="1" marL="742950" rtl="0" algn="l">
              <a:lnSpc>
                <a:spcPct val="78000"/>
              </a:lnSpc>
              <a:spcBef>
                <a:spcPts val="563"/>
              </a:spcBef>
              <a:spcAft>
                <a:spcPts val="0"/>
              </a:spcAft>
              <a:buSzPts val="1980"/>
              <a:buChar char="▪"/>
            </a:pPr>
            <a:r>
              <a:rPr lang="en-US" sz="1800"/>
              <a:t>Addresses of instructions that will need to be modified in the executable</a:t>
            </a:r>
            <a:endParaRPr/>
          </a:p>
          <a:p>
            <a:pPr indent="-285750" lvl="1" marL="742950" rtl="0" algn="l">
              <a:lnSpc>
                <a:spcPct val="78000"/>
              </a:lnSpc>
              <a:spcBef>
                <a:spcPts val="563"/>
              </a:spcBef>
              <a:spcAft>
                <a:spcPts val="0"/>
              </a:spcAft>
              <a:buSzPts val="1980"/>
              <a:buChar char="▪"/>
            </a:pPr>
            <a:r>
              <a:rPr lang="en-US" sz="1800"/>
              <a:t>Instructions for modifying.</a:t>
            </a:r>
            <a:endParaRPr/>
          </a:p>
          <a:p>
            <a:pPr indent="-342900" lvl="0" marL="342900" rtl="0" algn="l">
              <a:lnSpc>
                <a:spcPct val="71000"/>
              </a:lnSpc>
              <a:spcBef>
                <a:spcPts val="1250"/>
              </a:spcBef>
              <a:spcAft>
                <a:spcPts val="0"/>
              </a:spcAft>
              <a:buSzPts val="1200"/>
              <a:buChar char="⬛"/>
            </a:pPr>
            <a:r>
              <a:rPr lang="en-US" sz="2000">
                <a:latin typeface="Courier New"/>
                <a:ea typeface="Courier New"/>
                <a:cs typeface="Courier New"/>
                <a:sym typeface="Courier New"/>
              </a:rPr>
              <a:t>.rel.data</a:t>
            </a:r>
            <a:r>
              <a:rPr lang="en-US" sz="2000"/>
              <a:t> section</a:t>
            </a:r>
            <a:endParaRPr/>
          </a:p>
          <a:p>
            <a:pPr indent="-285750" lvl="1" marL="742950" rtl="0" algn="l">
              <a:lnSpc>
                <a:spcPct val="78000"/>
              </a:lnSpc>
              <a:spcBef>
                <a:spcPts val="563"/>
              </a:spcBef>
              <a:spcAft>
                <a:spcPts val="0"/>
              </a:spcAft>
              <a:buSzPts val="1980"/>
              <a:buChar char="▪"/>
            </a:pPr>
            <a:r>
              <a:rPr lang="en-US" sz="1800"/>
              <a:t>Relocation info for </a:t>
            </a:r>
            <a:r>
              <a:rPr b="1" lang="en-US" sz="1800">
                <a:latin typeface="Courier New"/>
                <a:ea typeface="Courier New"/>
                <a:cs typeface="Courier New"/>
                <a:sym typeface="Courier New"/>
              </a:rPr>
              <a:t>.data</a:t>
            </a:r>
            <a:r>
              <a:rPr b="1" lang="en-US" sz="1800"/>
              <a:t> </a:t>
            </a:r>
            <a:r>
              <a:rPr lang="en-US" sz="1800"/>
              <a:t>section</a:t>
            </a:r>
            <a:endParaRPr/>
          </a:p>
          <a:p>
            <a:pPr indent="-285750" lvl="1" marL="742950" rtl="0" algn="l">
              <a:lnSpc>
                <a:spcPct val="78000"/>
              </a:lnSpc>
              <a:spcBef>
                <a:spcPts val="563"/>
              </a:spcBef>
              <a:spcAft>
                <a:spcPts val="0"/>
              </a:spcAft>
              <a:buSzPts val="1980"/>
              <a:buChar char="▪"/>
            </a:pPr>
            <a:r>
              <a:rPr lang="en-US" sz="1800"/>
              <a:t>Addresses of pointer data that will need to be modified in the merged executable</a:t>
            </a:r>
            <a:endParaRPr/>
          </a:p>
          <a:p>
            <a:pPr indent="-342900" lvl="0" marL="342900" rtl="0" algn="l">
              <a:lnSpc>
                <a:spcPct val="71000"/>
              </a:lnSpc>
              <a:spcBef>
                <a:spcPts val="1250"/>
              </a:spcBef>
              <a:spcAft>
                <a:spcPts val="0"/>
              </a:spcAft>
              <a:buSzPts val="1200"/>
              <a:buChar char="⬛"/>
            </a:pPr>
            <a:r>
              <a:rPr lang="en-US" sz="2000">
                <a:latin typeface="Courier New"/>
                <a:ea typeface="Courier New"/>
                <a:cs typeface="Courier New"/>
                <a:sym typeface="Courier New"/>
              </a:rPr>
              <a:t>.debug</a:t>
            </a:r>
            <a:r>
              <a:rPr lang="en-US" sz="2000"/>
              <a:t> section</a:t>
            </a:r>
            <a:endParaRPr/>
          </a:p>
          <a:p>
            <a:pPr indent="-285750" lvl="1" marL="742950" rtl="0" algn="l">
              <a:lnSpc>
                <a:spcPct val="78000"/>
              </a:lnSpc>
              <a:spcBef>
                <a:spcPts val="563"/>
              </a:spcBef>
              <a:spcAft>
                <a:spcPts val="0"/>
              </a:spcAft>
              <a:buSzPts val="1980"/>
              <a:buChar char="▪"/>
            </a:pPr>
            <a:r>
              <a:rPr lang="en-US" sz="1800"/>
              <a:t>Info for symbolic debugging (</a:t>
            </a:r>
            <a:r>
              <a:rPr b="1" lang="en-US" sz="1800">
                <a:latin typeface="Courier New"/>
                <a:ea typeface="Courier New"/>
                <a:cs typeface="Courier New"/>
                <a:sym typeface="Courier New"/>
              </a:rPr>
              <a:t>gcc -g</a:t>
            </a:r>
            <a:r>
              <a:rPr lang="en-US" sz="1800"/>
              <a:t>)</a:t>
            </a:r>
            <a:endParaRPr/>
          </a:p>
          <a:p>
            <a:pPr indent="-342900" lvl="0" marL="342900" rtl="0" algn="l">
              <a:lnSpc>
                <a:spcPct val="88000"/>
              </a:lnSpc>
              <a:spcBef>
                <a:spcPts val="1250"/>
              </a:spcBef>
              <a:spcAft>
                <a:spcPts val="0"/>
              </a:spcAft>
              <a:buSzPts val="1200"/>
              <a:buChar char="⬛"/>
            </a:pPr>
            <a:r>
              <a:rPr lang="en-US" sz="2000"/>
              <a:t>Section header table</a:t>
            </a:r>
            <a:endParaRPr/>
          </a:p>
          <a:p>
            <a:pPr indent="-285750" lvl="1" marL="742950" rtl="0" algn="l">
              <a:lnSpc>
                <a:spcPct val="88000"/>
              </a:lnSpc>
              <a:spcBef>
                <a:spcPts val="563"/>
              </a:spcBef>
              <a:spcAft>
                <a:spcPts val="0"/>
              </a:spcAft>
              <a:buSzPts val="1980"/>
              <a:buChar char="▪"/>
            </a:pPr>
            <a:r>
              <a:rPr lang="en-US" sz="1800"/>
              <a:t>Offsets and sizes of each section</a:t>
            </a:r>
            <a:endParaRPr/>
          </a:p>
        </p:txBody>
      </p:sp>
      <p:sp>
        <p:nvSpPr>
          <p:cNvPr id="171" name="Google Shape;171;p12"/>
          <p:cNvSpPr/>
          <p:nvPr/>
        </p:nvSpPr>
        <p:spPr>
          <a:xfrm>
            <a:off x="5867400" y="1600200"/>
            <a:ext cx="2971800" cy="381000"/>
          </a:xfrm>
          <a:prstGeom prst="rect">
            <a:avLst/>
          </a:prstGeom>
          <a:solidFill>
            <a:srgbClr val="F2F2F2"/>
          </a:solidFill>
          <a:ln cap="flat" cmpd="sng" w="255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6800" lIns="90000" spcFirstLastPara="1" rIns="90000" wrap="square" tIns="46800">
            <a:noAutofit/>
          </a:bodyPr>
          <a:lstStyle/>
          <a:p>
            <a:pPr indent="0" lvl="0" marL="0" marR="0" rtl="0" algn="ctr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ELF header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" name="Google Shape;172;p12"/>
          <p:cNvSpPr/>
          <p:nvPr/>
        </p:nvSpPr>
        <p:spPr>
          <a:xfrm>
            <a:off x="5867400" y="1981200"/>
            <a:ext cx="2971800" cy="609600"/>
          </a:xfrm>
          <a:prstGeom prst="rect">
            <a:avLst/>
          </a:prstGeom>
          <a:solidFill>
            <a:srgbClr val="F2F2F2"/>
          </a:solidFill>
          <a:ln cap="flat" cmpd="sng" w="255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6800" lIns="90000" spcFirstLastPara="1" rIns="90000" wrap="square" tIns="46800">
            <a:noAutofit/>
          </a:bodyPr>
          <a:lstStyle/>
          <a:p>
            <a:pPr indent="0" lvl="0" marL="0" marR="0" rtl="0" algn="ctr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Segment header table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(required for executables)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" name="Google Shape;173;p12"/>
          <p:cNvSpPr/>
          <p:nvPr/>
        </p:nvSpPr>
        <p:spPr>
          <a:xfrm>
            <a:off x="5867400" y="2590800"/>
            <a:ext cx="2971800" cy="381000"/>
          </a:xfrm>
          <a:prstGeom prst="rect">
            <a:avLst/>
          </a:prstGeom>
          <a:solidFill>
            <a:srgbClr val="F2F2F2"/>
          </a:solidFill>
          <a:ln cap="flat" cmpd="sng" w="255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6800" lIns="90000" spcFirstLastPara="1" rIns="90000" wrap="square" tIns="46800">
            <a:noAutofit/>
          </a:bodyPr>
          <a:lstStyle/>
          <a:p>
            <a:pPr indent="0" lvl="0" marL="0" marR="0" rtl="0"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.text</a:t>
            </a:r>
            <a:r>
              <a:rPr b="1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section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" name="Google Shape;174;p12"/>
          <p:cNvSpPr/>
          <p:nvPr/>
        </p:nvSpPr>
        <p:spPr>
          <a:xfrm>
            <a:off x="5867400" y="2971800"/>
            <a:ext cx="2971800" cy="381000"/>
          </a:xfrm>
          <a:prstGeom prst="rect">
            <a:avLst/>
          </a:prstGeom>
          <a:solidFill>
            <a:srgbClr val="F2F2F2"/>
          </a:solidFill>
          <a:ln cap="flat" cmpd="sng" w="255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6800" lIns="90000" spcFirstLastPara="1" rIns="90000" wrap="square" tIns="46800">
            <a:noAutofit/>
          </a:bodyPr>
          <a:lstStyle/>
          <a:p>
            <a:pPr indent="0" lvl="0" marL="0" marR="0" rtl="0"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.rodata</a:t>
            </a:r>
            <a:r>
              <a:rPr b="1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section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" name="Google Shape;175;p12"/>
          <p:cNvSpPr/>
          <p:nvPr/>
        </p:nvSpPr>
        <p:spPr>
          <a:xfrm>
            <a:off x="5867400" y="3733800"/>
            <a:ext cx="2971800" cy="381000"/>
          </a:xfrm>
          <a:prstGeom prst="rect">
            <a:avLst/>
          </a:prstGeom>
          <a:solidFill>
            <a:srgbClr val="F2F2F2"/>
          </a:solidFill>
          <a:ln cap="flat" cmpd="sng" w="255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6800" lIns="90000" spcFirstLastPara="1" rIns="90000" wrap="square" tIns="46800">
            <a:noAutofit/>
          </a:bodyPr>
          <a:lstStyle/>
          <a:p>
            <a:pPr indent="0" lvl="0" marL="0" marR="0" rtl="0"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.bss</a:t>
            </a:r>
            <a:r>
              <a:rPr b="1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section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" name="Google Shape;176;p12"/>
          <p:cNvSpPr/>
          <p:nvPr/>
        </p:nvSpPr>
        <p:spPr>
          <a:xfrm>
            <a:off x="5867400" y="4114800"/>
            <a:ext cx="2971800" cy="381000"/>
          </a:xfrm>
          <a:prstGeom prst="rect">
            <a:avLst/>
          </a:prstGeom>
          <a:solidFill>
            <a:srgbClr val="D5D5F4"/>
          </a:solidFill>
          <a:ln cap="flat" cmpd="sng" w="255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6800" lIns="90000" spcFirstLastPara="1" rIns="90000" wrap="square" tIns="46800">
            <a:noAutofit/>
          </a:bodyPr>
          <a:lstStyle/>
          <a:p>
            <a:pPr indent="0" lvl="0" marL="0" marR="0" rtl="0"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.symtab </a:t>
            </a:r>
            <a:r>
              <a:rPr b="1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section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" name="Google Shape;177;p12"/>
          <p:cNvSpPr/>
          <p:nvPr/>
        </p:nvSpPr>
        <p:spPr>
          <a:xfrm>
            <a:off x="5867400" y="4495800"/>
            <a:ext cx="2971800" cy="381000"/>
          </a:xfrm>
          <a:prstGeom prst="rect">
            <a:avLst/>
          </a:prstGeom>
          <a:solidFill>
            <a:srgbClr val="D5D5F4"/>
          </a:solidFill>
          <a:ln cap="flat" cmpd="sng" w="255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6800" lIns="90000" spcFirstLastPara="1" rIns="90000" wrap="square" tIns="46800">
            <a:noAutofit/>
          </a:bodyPr>
          <a:lstStyle/>
          <a:p>
            <a:pPr indent="0" lvl="0" marL="0" marR="0" rtl="0"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.rel.txt </a:t>
            </a:r>
            <a:r>
              <a:rPr b="1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section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" name="Google Shape;178;p12"/>
          <p:cNvSpPr/>
          <p:nvPr/>
        </p:nvSpPr>
        <p:spPr>
          <a:xfrm>
            <a:off x="5867400" y="4876800"/>
            <a:ext cx="2971800" cy="381000"/>
          </a:xfrm>
          <a:prstGeom prst="rect">
            <a:avLst/>
          </a:prstGeom>
          <a:solidFill>
            <a:srgbClr val="D5D5F4"/>
          </a:solidFill>
          <a:ln cap="flat" cmpd="sng" w="255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6800" lIns="90000" spcFirstLastPara="1" rIns="90000" wrap="square" tIns="46800">
            <a:noAutofit/>
          </a:bodyPr>
          <a:lstStyle/>
          <a:p>
            <a:pPr indent="0" lvl="0" marL="0" marR="0" rtl="0"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.rel.data </a:t>
            </a:r>
            <a:r>
              <a:rPr b="1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section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" name="Google Shape;179;p12"/>
          <p:cNvSpPr/>
          <p:nvPr/>
        </p:nvSpPr>
        <p:spPr>
          <a:xfrm>
            <a:off x="5867400" y="5257800"/>
            <a:ext cx="2971800" cy="381000"/>
          </a:xfrm>
          <a:prstGeom prst="rect">
            <a:avLst/>
          </a:prstGeom>
          <a:solidFill>
            <a:srgbClr val="D5D5F4"/>
          </a:solidFill>
          <a:ln cap="flat" cmpd="sng" w="255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6800" lIns="90000" spcFirstLastPara="1" rIns="90000" wrap="square" tIns="46800">
            <a:noAutofit/>
          </a:bodyPr>
          <a:lstStyle/>
          <a:p>
            <a:pPr indent="0" lvl="0" marL="0" marR="0" rtl="0"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.debug </a:t>
            </a:r>
            <a:r>
              <a:rPr b="1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section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" name="Google Shape;180;p12"/>
          <p:cNvSpPr/>
          <p:nvPr/>
        </p:nvSpPr>
        <p:spPr>
          <a:xfrm>
            <a:off x="5867400" y="5638800"/>
            <a:ext cx="2971800" cy="609600"/>
          </a:xfrm>
          <a:prstGeom prst="rect">
            <a:avLst/>
          </a:prstGeom>
          <a:solidFill>
            <a:srgbClr val="D5D5F4"/>
          </a:solidFill>
          <a:ln cap="flat" cmpd="sng" w="255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6800" lIns="90000" spcFirstLastPara="1" rIns="90000" wrap="square" tIns="46800">
            <a:noAutofit/>
          </a:bodyPr>
          <a:lstStyle/>
          <a:p>
            <a:pPr indent="0" lvl="0" marL="0" marR="0" rtl="0" algn="ctr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Section header table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" name="Google Shape;181;p12"/>
          <p:cNvSpPr txBox="1"/>
          <p:nvPr/>
        </p:nvSpPr>
        <p:spPr>
          <a:xfrm>
            <a:off x="8839200" y="1447800"/>
            <a:ext cx="285954" cy="335799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spAutoFit/>
          </a:bodyPr>
          <a:lstStyle/>
          <a:p>
            <a:pPr indent="0" lvl="0" marL="0" marR="0" rtl="0"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000066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" name="Google Shape;182;p12"/>
          <p:cNvSpPr/>
          <p:nvPr/>
        </p:nvSpPr>
        <p:spPr>
          <a:xfrm>
            <a:off x="5867400" y="3352800"/>
            <a:ext cx="2971800" cy="381000"/>
          </a:xfrm>
          <a:prstGeom prst="rect">
            <a:avLst/>
          </a:prstGeom>
          <a:solidFill>
            <a:srgbClr val="F2F2F2"/>
          </a:solidFill>
          <a:ln cap="flat" cmpd="sng" w="255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6800" lIns="90000" spcFirstLastPara="1" rIns="90000" wrap="square" tIns="46800">
            <a:noAutofit/>
          </a:bodyPr>
          <a:lstStyle/>
          <a:p>
            <a:pPr indent="0" lvl="0" marL="0" marR="0" rtl="0"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.data</a:t>
            </a:r>
            <a:r>
              <a:rPr b="1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section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13"/>
          <p:cNvSpPr txBox="1"/>
          <p:nvPr>
            <p:ph idx="4294967295" type="title"/>
          </p:nvPr>
        </p:nvSpPr>
        <p:spPr>
          <a:xfrm>
            <a:off x="421747" y="436562"/>
            <a:ext cx="8716962" cy="7826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119063" lvl="0" marL="11906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Linker Symbols	</a:t>
            </a:r>
            <a:endParaRPr/>
          </a:p>
        </p:txBody>
      </p:sp>
      <p:sp>
        <p:nvSpPr>
          <p:cNvPr id="189" name="Google Shape;189;p13"/>
          <p:cNvSpPr txBox="1"/>
          <p:nvPr>
            <p:ph idx="1" type="body"/>
          </p:nvPr>
        </p:nvSpPr>
        <p:spPr>
          <a:xfrm>
            <a:off x="442913" y="1449388"/>
            <a:ext cx="8548687" cy="45704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40"/>
              <a:buChar char="⬛"/>
            </a:pPr>
            <a:r>
              <a:rPr lang="en-US"/>
              <a:t>Global symbols</a:t>
            </a:r>
            <a:endParaRPr/>
          </a:p>
          <a:p>
            <a:pPr indent="-285750" lvl="1" marL="742950" rtl="0" algn="l">
              <a:lnSpc>
                <a:spcPct val="88000"/>
              </a:lnSpc>
              <a:spcBef>
                <a:spcPts val="400"/>
              </a:spcBef>
              <a:spcAft>
                <a:spcPts val="0"/>
              </a:spcAft>
              <a:buSzPts val="2200"/>
              <a:buChar char="▪"/>
            </a:pPr>
            <a:r>
              <a:rPr lang="en-US"/>
              <a:t>Symbols defined by module </a:t>
            </a:r>
            <a:r>
              <a:rPr i="1" lang="en-US"/>
              <a:t>m</a:t>
            </a:r>
            <a:r>
              <a:rPr lang="en-US"/>
              <a:t> that can be referenced by other modules.</a:t>
            </a:r>
            <a:endParaRPr/>
          </a:p>
          <a:p>
            <a:pPr indent="-285750" lvl="1" marL="742950" rtl="0" algn="l">
              <a:lnSpc>
                <a:spcPct val="88000"/>
              </a:lnSpc>
              <a:spcBef>
                <a:spcPts val="400"/>
              </a:spcBef>
              <a:spcAft>
                <a:spcPts val="0"/>
              </a:spcAft>
              <a:buSzPts val="2200"/>
              <a:buChar char="▪"/>
            </a:pPr>
            <a:r>
              <a:rPr lang="en-US"/>
              <a:t>E.g.: non-</a:t>
            </a:r>
            <a:r>
              <a:rPr b="1" lang="en-US">
                <a:latin typeface="Courier New"/>
                <a:ea typeface="Courier New"/>
                <a:cs typeface="Courier New"/>
                <a:sym typeface="Courier New"/>
              </a:rPr>
              <a:t>static</a:t>
            </a:r>
            <a:r>
              <a:rPr lang="en-US"/>
              <a:t> C functions and non-</a:t>
            </a:r>
            <a:r>
              <a:rPr b="1" lang="en-US">
                <a:latin typeface="Courier New"/>
                <a:ea typeface="Courier New"/>
                <a:cs typeface="Courier New"/>
                <a:sym typeface="Courier New"/>
              </a:rPr>
              <a:t>static</a:t>
            </a:r>
            <a:r>
              <a:rPr lang="en-US"/>
              <a:t> global variables.</a:t>
            </a:r>
            <a:endParaRPr/>
          </a:p>
          <a:p>
            <a:pPr indent="-251459" lvl="0" marL="342900" rtl="0" algn="l">
              <a:lnSpc>
                <a:spcPct val="83000"/>
              </a:lnSpc>
              <a:spcBef>
                <a:spcPts val="480"/>
              </a:spcBef>
              <a:spcAft>
                <a:spcPts val="0"/>
              </a:spcAft>
              <a:buSzPts val="1440"/>
              <a:buNone/>
            </a:pPr>
            <a:r>
              <a:t/>
            </a:r>
            <a:endParaRPr/>
          </a:p>
          <a:p>
            <a:pPr indent="-342900" lvl="0" marL="342900" rtl="0" algn="l">
              <a:lnSpc>
                <a:spcPct val="83000"/>
              </a:lnSpc>
              <a:spcBef>
                <a:spcPts val="480"/>
              </a:spcBef>
              <a:spcAft>
                <a:spcPts val="0"/>
              </a:spcAft>
              <a:buSzPts val="1440"/>
              <a:buChar char="⬛"/>
            </a:pPr>
            <a:r>
              <a:rPr lang="en-US"/>
              <a:t>External symbols</a:t>
            </a:r>
            <a:endParaRPr/>
          </a:p>
          <a:p>
            <a:pPr indent="-285750" lvl="1" marL="742950" rtl="0" algn="l">
              <a:lnSpc>
                <a:spcPct val="88000"/>
              </a:lnSpc>
              <a:spcBef>
                <a:spcPts val="400"/>
              </a:spcBef>
              <a:spcAft>
                <a:spcPts val="0"/>
              </a:spcAft>
              <a:buSzPts val="2200"/>
              <a:buChar char="▪"/>
            </a:pPr>
            <a:r>
              <a:rPr lang="en-US"/>
              <a:t>Global symbols that are referenced by module </a:t>
            </a:r>
            <a:r>
              <a:rPr i="1" lang="en-US"/>
              <a:t>m</a:t>
            </a:r>
            <a:r>
              <a:rPr lang="en-US"/>
              <a:t> but defined by some other module.</a:t>
            </a:r>
            <a:endParaRPr/>
          </a:p>
          <a:p>
            <a:pPr indent="-251459" lvl="0" marL="342900" rtl="0" algn="l">
              <a:lnSpc>
                <a:spcPct val="83000"/>
              </a:lnSpc>
              <a:spcBef>
                <a:spcPts val="480"/>
              </a:spcBef>
              <a:spcAft>
                <a:spcPts val="0"/>
              </a:spcAft>
              <a:buSzPts val="1440"/>
              <a:buNone/>
            </a:pPr>
            <a:r>
              <a:t/>
            </a:r>
            <a:endParaRPr/>
          </a:p>
          <a:p>
            <a:pPr indent="-342900" lvl="0" marL="342900" rtl="0" algn="l">
              <a:lnSpc>
                <a:spcPct val="83000"/>
              </a:lnSpc>
              <a:spcBef>
                <a:spcPts val="480"/>
              </a:spcBef>
              <a:spcAft>
                <a:spcPts val="0"/>
              </a:spcAft>
              <a:buSzPts val="1440"/>
              <a:buChar char="⬛"/>
            </a:pPr>
            <a:r>
              <a:rPr lang="en-US"/>
              <a:t>Local symbols</a:t>
            </a:r>
            <a:endParaRPr/>
          </a:p>
          <a:p>
            <a:pPr indent="-285750" lvl="1" marL="742950" rtl="0" algn="l">
              <a:lnSpc>
                <a:spcPct val="88000"/>
              </a:lnSpc>
              <a:spcBef>
                <a:spcPts val="400"/>
              </a:spcBef>
              <a:spcAft>
                <a:spcPts val="0"/>
              </a:spcAft>
              <a:buSzPts val="2200"/>
              <a:buChar char="▪"/>
            </a:pPr>
            <a:r>
              <a:rPr lang="en-US"/>
              <a:t>Symbols that are defined and referenced exclusively by module </a:t>
            </a:r>
            <a:r>
              <a:rPr i="1" lang="en-US"/>
              <a:t>m</a:t>
            </a:r>
            <a:r>
              <a:rPr lang="en-US"/>
              <a:t>.</a:t>
            </a:r>
            <a:endParaRPr/>
          </a:p>
          <a:p>
            <a:pPr indent="-285750" lvl="1" marL="742950" rtl="0" algn="l">
              <a:lnSpc>
                <a:spcPct val="88000"/>
              </a:lnSpc>
              <a:spcBef>
                <a:spcPts val="400"/>
              </a:spcBef>
              <a:spcAft>
                <a:spcPts val="0"/>
              </a:spcAft>
              <a:buSzPts val="2200"/>
              <a:buChar char="▪"/>
            </a:pPr>
            <a:r>
              <a:rPr lang="en-US"/>
              <a:t>E.g.: C functions and global variables defined with the </a:t>
            </a:r>
            <a:r>
              <a:rPr b="1" lang="en-US">
                <a:latin typeface="Courier New"/>
                <a:ea typeface="Courier New"/>
                <a:cs typeface="Courier New"/>
                <a:sym typeface="Courier New"/>
              </a:rPr>
              <a:t>static</a:t>
            </a: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/>
              <a:t>attribute.</a:t>
            </a:r>
            <a:endParaRPr/>
          </a:p>
          <a:p>
            <a:pPr indent="-285750" lvl="1" marL="742950" rtl="0" algn="l">
              <a:lnSpc>
                <a:spcPct val="88000"/>
              </a:lnSpc>
              <a:spcBef>
                <a:spcPts val="400"/>
              </a:spcBef>
              <a:spcAft>
                <a:spcPts val="0"/>
              </a:spcAft>
              <a:buSzPts val="2200"/>
              <a:buChar char="▪"/>
            </a:pPr>
            <a:r>
              <a:rPr b="1" lang="en-US">
                <a:solidFill>
                  <a:srgbClr val="C00000"/>
                </a:solidFill>
              </a:rPr>
              <a:t>Local linker symbols are </a:t>
            </a:r>
            <a:r>
              <a:rPr b="1" i="1" lang="en-US">
                <a:solidFill>
                  <a:srgbClr val="C00000"/>
                </a:solidFill>
              </a:rPr>
              <a:t>not</a:t>
            </a:r>
            <a:r>
              <a:rPr b="1" lang="en-US">
                <a:solidFill>
                  <a:srgbClr val="C00000"/>
                </a:solidFill>
              </a:rPr>
              <a:t> local program variables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14"/>
          <p:cNvSpPr txBox="1"/>
          <p:nvPr>
            <p:ph idx="4294967295" type="title"/>
          </p:nvPr>
        </p:nvSpPr>
        <p:spPr>
          <a:xfrm>
            <a:off x="404813" y="360362"/>
            <a:ext cx="8716962" cy="7826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119063" lvl="0" marL="11906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Step 1: Symbol Resolution</a:t>
            </a:r>
            <a:endParaRPr/>
          </a:p>
        </p:txBody>
      </p:sp>
      <p:sp>
        <p:nvSpPr>
          <p:cNvPr id="196" name="Google Shape;196;p14"/>
          <p:cNvSpPr/>
          <p:nvPr/>
        </p:nvSpPr>
        <p:spPr>
          <a:xfrm>
            <a:off x="118003" y="2702650"/>
            <a:ext cx="4072997" cy="2587504"/>
          </a:xfrm>
          <a:prstGeom prst="rect">
            <a:avLst/>
          </a:prstGeom>
          <a:solidFill>
            <a:srgbClr val="F7F5CD"/>
          </a:solidFill>
          <a:ln cap="flat" cmpd="sng" w="9525">
            <a:solidFill>
              <a:srgbClr val="00006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6800" lIns="90000" spcFirstLastPara="1" rIns="90000" wrap="square" tIns="468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2D961E"/>
                </a:solidFill>
                <a:latin typeface="Arial"/>
                <a:ea typeface="Arial"/>
                <a:cs typeface="Arial"/>
                <a:sym typeface="Arial"/>
              </a:rPr>
              <a:t>int</a:t>
            </a:r>
            <a:r>
              <a:rPr b="1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en-US" sz="1800" u="none" cap="none" strike="noStrike">
                <a:solidFill>
                  <a:srgbClr val="4A00FF"/>
                </a:solidFill>
                <a:latin typeface="Arial"/>
                <a:ea typeface="Arial"/>
                <a:cs typeface="Arial"/>
                <a:sym typeface="Arial"/>
              </a:rPr>
              <a:t>sum</a:t>
            </a:r>
            <a:r>
              <a:rPr b="1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b="1" i="0" lang="en-US" sz="1800" u="none" cap="none" strike="noStrike">
                <a:solidFill>
                  <a:srgbClr val="2D961E"/>
                </a:solidFill>
                <a:latin typeface="Arial"/>
                <a:ea typeface="Arial"/>
                <a:cs typeface="Arial"/>
                <a:sym typeface="Arial"/>
              </a:rPr>
              <a:t>int</a:t>
            </a:r>
            <a:r>
              <a:rPr b="1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*</a:t>
            </a:r>
            <a:r>
              <a:rPr b="1" i="0" lang="en-US" sz="1800" u="none" cap="none" strike="noStrike">
                <a:solidFill>
                  <a:srgbClr val="C1651C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r>
              <a:rPr b="1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1" i="0" lang="en-US" sz="1800" u="none" cap="none" strike="noStrike">
                <a:solidFill>
                  <a:srgbClr val="2D961E"/>
                </a:solidFill>
                <a:latin typeface="Arial"/>
                <a:ea typeface="Arial"/>
                <a:cs typeface="Arial"/>
                <a:sym typeface="Arial"/>
              </a:rPr>
              <a:t>int</a:t>
            </a:r>
            <a:r>
              <a:rPr b="1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en-US" sz="1800" u="none" cap="none" strike="noStrike">
                <a:solidFill>
                  <a:srgbClr val="C1651C"/>
                </a:solidFill>
                <a:latin typeface="Arial"/>
                <a:ea typeface="Arial"/>
                <a:cs typeface="Arial"/>
                <a:sym typeface="Arial"/>
              </a:rPr>
              <a:t>n</a:t>
            </a:r>
            <a:r>
              <a:rPr b="1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2D961E"/>
                </a:solidFill>
                <a:latin typeface="Arial"/>
                <a:ea typeface="Arial"/>
                <a:cs typeface="Arial"/>
                <a:sym typeface="Arial"/>
              </a:rPr>
              <a:t>int</a:t>
            </a:r>
            <a:r>
              <a:rPr b="1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en-US" sz="1800" u="none" cap="none" strike="noStrike">
                <a:solidFill>
                  <a:srgbClr val="C1651C"/>
                </a:solidFill>
                <a:latin typeface="Arial"/>
                <a:ea typeface="Arial"/>
                <a:cs typeface="Arial"/>
                <a:sym typeface="Arial"/>
              </a:rPr>
              <a:t>array</a:t>
            </a:r>
            <a:r>
              <a:rPr b="1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[2] = {1, 2};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2D961E"/>
                </a:solidFill>
                <a:latin typeface="Arial"/>
                <a:ea typeface="Arial"/>
                <a:cs typeface="Arial"/>
                <a:sym typeface="Arial"/>
              </a:rPr>
              <a:t>int</a:t>
            </a:r>
            <a:r>
              <a:rPr b="1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en-US" sz="1800" u="none" cap="none" strike="noStrike">
                <a:solidFill>
                  <a:srgbClr val="4A00FF"/>
                </a:solidFill>
                <a:latin typeface="Arial"/>
                <a:ea typeface="Arial"/>
                <a:cs typeface="Arial"/>
                <a:sym typeface="Arial"/>
              </a:rPr>
              <a:t>main</a:t>
            </a:r>
            <a:r>
              <a:rPr b="1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</a:t>
            </a:r>
            <a:r>
              <a:rPr b="1" i="0" lang="en-US" sz="1800" u="none" cap="none" strike="noStrike">
                <a:solidFill>
                  <a:srgbClr val="2D961E"/>
                </a:solidFill>
                <a:latin typeface="Arial"/>
                <a:ea typeface="Arial"/>
                <a:cs typeface="Arial"/>
                <a:sym typeface="Arial"/>
              </a:rPr>
              <a:t>int</a:t>
            </a:r>
            <a:r>
              <a:rPr b="1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en-US" sz="1800" u="none" cap="none" strike="noStrike">
                <a:solidFill>
                  <a:srgbClr val="C1651C"/>
                </a:solidFill>
                <a:latin typeface="Arial"/>
                <a:ea typeface="Arial"/>
                <a:cs typeface="Arial"/>
                <a:sym typeface="Arial"/>
              </a:rPr>
              <a:t>val</a:t>
            </a:r>
            <a:r>
              <a:rPr b="1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= sum(array, 2);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</a:t>
            </a:r>
            <a:r>
              <a:rPr b="1" i="0" lang="en-US" sz="1800" u="none" cap="none" strike="noStrike">
                <a:solidFill>
                  <a:srgbClr val="C200FF"/>
                </a:solidFill>
                <a:latin typeface="Arial"/>
                <a:ea typeface="Arial"/>
                <a:cs typeface="Arial"/>
                <a:sym typeface="Arial"/>
              </a:rPr>
              <a:t>return</a:t>
            </a:r>
            <a:r>
              <a:rPr b="1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val;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}</a:t>
            </a:r>
            <a:endParaRPr b="1" i="0" sz="18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97" name="Google Shape;197;p14"/>
          <p:cNvSpPr/>
          <p:nvPr/>
        </p:nvSpPr>
        <p:spPr>
          <a:xfrm>
            <a:off x="3182093" y="4931144"/>
            <a:ext cx="1008907" cy="35901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spAutoFit/>
          </a:bodyPr>
          <a:lstStyle/>
          <a:p>
            <a:pPr indent="0" lvl="0" marL="0" marR="0" rtl="0"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1" lang="en-US" sz="1800" u="none" cap="none" strike="noStrike">
                <a:solidFill>
                  <a:srgbClr val="7F7F7F"/>
                </a:solidFill>
                <a:latin typeface="Courier New"/>
                <a:ea typeface="Courier New"/>
                <a:cs typeface="Courier New"/>
                <a:sym typeface="Courier New"/>
              </a:rPr>
              <a:t>main.c</a:t>
            </a:r>
            <a:endParaRPr b="1" i="1" sz="1800" u="none" cap="none" strike="noStrike">
              <a:solidFill>
                <a:srgbClr val="7F7F7F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98" name="Google Shape;198;p14"/>
          <p:cNvSpPr/>
          <p:nvPr/>
        </p:nvSpPr>
        <p:spPr>
          <a:xfrm>
            <a:off x="4487848" y="2704237"/>
            <a:ext cx="4211970" cy="2587504"/>
          </a:xfrm>
          <a:prstGeom prst="rect">
            <a:avLst/>
          </a:prstGeom>
          <a:solidFill>
            <a:srgbClr val="D5F1CF"/>
          </a:solidFill>
          <a:ln cap="flat" cmpd="sng" w="9525">
            <a:solidFill>
              <a:srgbClr val="00006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6800" lIns="90000" spcFirstLastPara="1" rIns="90000" wrap="square" tIns="468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2D961E"/>
                </a:solidFill>
                <a:latin typeface="Arial"/>
                <a:ea typeface="Arial"/>
                <a:cs typeface="Arial"/>
                <a:sym typeface="Arial"/>
              </a:rPr>
              <a:t>int</a:t>
            </a:r>
            <a:r>
              <a:rPr b="1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en-US" sz="1800" u="none" cap="none" strike="noStrike">
                <a:solidFill>
                  <a:srgbClr val="4A00FF"/>
                </a:solidFill>
                <a:latin typeface="Arial"/>
                <a:ea typeface="Arial"/>
                <a:cs typeface="Arial"/>
                <a:sym typeface="Arial"/>
              </a:rPr>
              <a:t>sum</a:t>
            </a:r>
            <a:r>
              <a:rPr b="1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b="1" i="0" lang="en-US" sz="1800" u="none" cap="none" strike="noStrike">
                <a:solidFill>
                  <a:srgbClr val="2D961E"/>
                </a:solidFill>
                <a:latin typeface="Arial"/>
                <a:ea typeface="Arial"/>
                <a:cs typeface="Arial"/>
                <a:sym typeface="Arial"/>
              </a:rPr>
              <a:t>int</a:t>
            </a:r>
            <a:r>
              <a:rPr b="1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*</a:t>
            </a:r>
            <a:r>
              <a:rPr b="1" i="0" lang="en-US" sz="1800" u="none" cap="none" strike="noStrike">
                <a:solidFill>
                  <a:srgbClr val="C1651C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r>
              <a:rPr b="1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1" i="0" lang="en-US" sz="1800" u="none" cap="none" strike="noStrike">
                <a:solidFill>
                  <a:srgbClr val="2D961E"/>
                </a:solidFill>
                <a:latin typeface="Arial"/>
                <a:ea typeface="Arial"/>
                <a:cs typeface="Arial"/>
                <a:sym typeface="Arial"/>
              </a:rPr>
              <a:t>int</a:t>
            </a:r>
            <a:r>
              <a:rPr b="1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en-US" sz="1800" u="none" cap="none" strike="noStrike">
                <a:solidFill>
                  <a:srgbClr val="C1651C"/>
                </a:solidFill>
                <a:latin typeface="Arial"/>
                <a:ea typeface="Arial"/>
                <a:cs typeface="Arial"/>
                <a:sym typeface="Arial"/>
              </a:rPr>
              <a:t>n</a:t>
            </a:r>
            <a:r>
              <a:rPr b="1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</a:t>
            </a:r>
            <a:r>
              <a:rPr b="1" i="0" lang="en-US" sz="1800" u="none" cap="none" strike="noStrike">
                <a:solidFill>
                  <a:srgbClr val="2D961E"/>
                </a:solidFill>
                <a:latin typeface="Arial"/>
                <a:ea typeface="Arial"/>
                <a:cs typeface="Arial"/>
                <a:sym typeface="Arial"/>
              </a:rPr>
              <a:t>int</a:t>
            </a:r>
            <a:r>
              <a:rPr b="1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en-US" sz="1800" u="none" cap="none" strike="noStrike">
                <a:solidFill>
                  <a:srgbClr val="C1651C"/>
                </a:solidFill>
                <a:latin typeface="Arial"/>
                <a:ea typeface="Arial"/>
                <a:cs typeface="Arial"/>
                <a:sym typeface="Arial"/>
              </a:rPr>
              <a:t>i</a:t>
            </a:r>
            <a:r>
              <a:rPr b="1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1" i="0" lang="en-US" sz="1800" u="none" cap="none" strike="noStrike">
                <a:solidFill>
                  <a:srgbClr val="C1651C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r>
              <a:rPr b="1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= 0;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</a:t>
            </a:r>
            <a:r>
              <a:rPr b="1" i="0" lang="en-US" sz="1800" u="none" cap="none" strike="noStrike">
                <a:solidFill>
                  <a:srgbClr val="C200FF"/>
                </a:solidFill>
                <a:latin typeface="Arial"/>
                <a:ea typeface="Arial"/>
                <a:cs typeface="Arial"/>
                <a:sym typeface="Arial"/>
              </a:rPr>
              <a:t>for</a:t>
            </a:r>
            <a:r>
              <a:rPr b="1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(i = 0; i &lt; n; i++) 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s += a[i];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</a:t>
            </a:r>
            <a:r>
              <a:rPr b="1" i="0" lang="en-US" sz="1800" u="none" cap="none" strike="noStrike">
                <a:solidFill>
                  <a:srgbClr val="C200FF"/>
                </a:solidFill>
                <a:latin typeface="Arial"/>
                <a:ea typeface="Arial"/>
                <a:cs typeface="Arial"/>
                <a:sym typeface="Arial"/>
              </a:rPr>
              <a:t>return</a:t>
            </a:r>
            <a:r>
              <a:rPr b="1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s;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" name="Google Shape;199;p14"/>
          <p:cNvSpPr/>
          <p:nvPr/>
        </p:nvSpPr>
        <p:spPr>
          <a:xfrm>
            <a:off x="7758028" y="4913085"/>
            <a:ext cx="928772" cy="357663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spAutoFit/>
          </a:bodyPr>
          <a:lstStyle/>
          <a:p>
            <a:pPr indent="0" lvl="0" marL="0" marR="0" rtl="0"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1" lang="en-US" sz="1800" u="none" cap="none" strike="noStrike">
                <a:solidFill>
                  <a:srgbClr val="7F7F7F"/>
                </a:solidFill>
                <a:latin typeface="Courier New"/>
                <a:ea typeface="Courier New"/>
                <a:cs typeface="Courier New"/>
                <a:sym typeface="Courier New"/>
              </a:rPr>
              <a:t>sum.c</a:t>
            </a:r>
            <a:endParaRPr b="1" i="1" sz="1800" u="none" cap="none" strike="noStrike">
              <a:solidFill>
                <a:srgbClr val="7F7F7F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grpSp>
        <p:nvGrpSpPr>
          <p:cNvPr id="200" name="Google Shape;200;p14"/>
          <p:cNvGrpSpPr/>
          <p:nvPr/>
        </p:nvGrpSpPr>
        <p:grpSpPr>
          <a:xfrm>
            <a:off x="3084903" y="1278744"/>
            <a:ext cx="1658514" cy="3217031"/>
            <a:chOff x="1523579" y="689057"/>
            <a:chExt cx="1658514" cy="3217031"/>
          </a:xfrm>
        </p:grpSpPr>
        <p:sp>
          <p:nvSpPr>
            <p:cNvPr id="201" name="Google Shape;201;p14"/>
            <p:cNvSpPr txBox="1"/>
            <p:nvPr/>
          </p:nvSpPr>
          <p:spPr>
            <a:xfrm>
              <a:off x="1843265" y="689057"/>
              <a:ext cx="1338828" cy="6463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-US" sz="1800" u="none" cap="none" strike="noStrike">
                  <a:solidFill>
                    <a:srgbClr val="990000"/>
                  </a:solidFill>
                  <a:latin typeface="Calibri"/>
                  <a:ea typeface="Calibri"/>
                  <a:cs typeface="Calibri"/>
                  <a:sym typeface="Calibri"/>
                </a:rPr>
                <a:t>Referencing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-US" sz="1800" u="none" cap="none" strike="noStrike">
                  <a:solidFill>
                    <a:srgbClr val="990000"/>
                  </a:solidFill>
                  <a:latin typeface="Calibri"/>
                  <a:ea typeface="Calibri"/>
                  <a:cs typeface="Calibri"/>
                  <a:sym typeface="Calibri"/>
                </a:rPr>
                <a:t>a global…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02" name="Google Shape;202;p14"/>
            <p:cNvCxnSpPr>
              <a:stCxn id="201" idx="2"/>
            </p:cNvCxnSpPr>
            <p:nvPr/>
          </p:nvCxnSpPr>
          <p:spPr>
            <a:xfrm flipH="1">
              <a:off x="1523579" y="1335388"/>
              <a:ext cx="989100" cy="2570700"/>
            </a:xfrm>
            <a:prstGeom prst="straightConnector1">
              <a:avLst/>
            </a:prstGeom>
            <a:noFill/>
            <a:ln cap="flat" cmpd="sng" w="25400">
              <a:solidFill>
                <a:srgbClr val="990000"/>
              </a:solidFill>
              <a:prstDash val="solid"/>
              <a:round/>
              <a:headEnd len="sm" w="sm" type="none"/>
              <a:tailEnd len="med" w="med" type="stealth"/>
            </a:ln>
          </p:spPr>
        </p:cxnSp>
      </p:grpSp>
      <p:grpSp>
        <p:nvGrpSpPr>
          <p:cNvPr id="203" name="Google Shape;203;p14"/>
          <p:cNvGrpSpPr/>
          <p:nvPr/>
        </p:nvGrpSpPr>
        <p:grpSpPr>
          <a:xfrm>
            <a:off x="132131" y="4120706"/>
            <a:ext cx="992579" cy="1936331"/>
            <a:chOff x="132131" y="3397669"/>
            <a:chExt cx="992579" cy="1936331"/>
          </a:xfrm>
        </p:grpSpPr>
        <p:sp>
          <p:nvSpPr>
            <p:cNvPr id="204" name="Google Shape;204;p14"/>
            <p:cNvSpPr txBox="1"/>
            <p:nvPr/>
          </p:nvSpPr>
          <p:spPr>
            <a:xfrm>
              <a:off x="132131" y="4687669"/>
              <a:ext cx="992579" cy="6463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-US" sz="1800" u="none" cap="none" strike="noStrike">
                  <a:solidFill>
                    <a:srgbClr val="990000"/>
                  </a:solidFill>
                  <a:latin typeface="Calibri"/>
                  <a:ea typeface="Calibri"/>
                  <a:cs typeface="Calibri"/>
                  <a:sym typeface="Calibri"/>
                </a:rPr>
                <a:t>Defining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-US" sz="1800" u="none" cap="none" strike="noStrike">
                  <a:solidFill>
                    <a:srgbClr val="990000"/>
                  </a:solidFill>
                  <a:latin typeface="Calibri"/>
                  <a:ea typeface="Calibri"/>
                  <a:cs typeface="Calibri"/>
                  <a:sym typeface="Calibri"/>
                </a:rPr>
                <a:t>a global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05" name="Google Shape;205;p14"/>
            <p:cNvCxnSpPr>
              <a:stCxn id="204" idx="0"/>
            </p:cNvCxnSpPr>
            <p:nvPr/>
          </p:nvCxnSpPr>
          <p:spPr>
            <a:xfrm flipH="1" rot="10800000">
              <a:off x="628421" y="3397669"/>
              <a:ext cx="396000" cy="1290000"/>
            </a:xfrm>
            <a:prstGeom prst="straightConnector1">
              <a:avLst/>
            </a:prstGeom>
            <a:noFill/>
            <a:ln cap="flat" cmpd="sng" w="25400">
              <a:solidFill>
                <a:srgbClr val="990000"/>
              </a:solidFill>
              <a:prstDash val="solid"/>
              <a:round/>
              <a:headEnd len="sm" w="sm" type="none"/>
              <a:tailEnd len="med" w="med" type="stealth"/>
            </a:ln>
          </p:spPr>
        </p:cxnSp>
      </p:grpSp>
      <p:grpSp>
        <p:nvGrpSpPr>
          <p:cNvPr id="206" name="Google Shape;206;p14"/>
          <p:cNvGrpSpPr/>
          <p:nvPr/>
        </p:nvGrpSpPr>
        <p:grpSpPr>
          <a:xfrm>
            <a:off x="994380" y="4609106"/>
            <a:ext cx="1643599" cy="2057531"/>
            <a:chOff x="994380" y="3886069"/>
            <a:chExt cx="1643599" cy="2057531"/>
          </a:xfrm>
        </p:grpSpPr>
        <p:sp>
          <p:nvSpPr>
            <p:cNvPr id="207" name="Google Shape;207;p14"/>
            <p:cNvSpPr txBox="1"/>
            <p:nvPr/>
          </p:nvSpPr>
          <p:spPr>
            <a:xfrm>
              <a:off x="994380" y="5297269"/>
              <a:ext cx="1643599" cy="6463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-US" sz="1800" u="none" cap="none" strike="noStrike">
                  <a:solidFill>
                    <a:srgbClr val="990000"/>
                  </a:solidFill>
                  <a:latin typeface="Calibri"/>
                  <a:ea typeface="Calibri"/>
                  <a:cs typeface="Calibri"/>
                  <a:sym typeface="Calibri"/>
                </a:rPr>
                <a:t>Linker knows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-US" sz="1800" u="none" cap="none" strike="noStrike">
                  <a:solidFill>
                    <a:srgbClr val="990000"/>
                  </a:solidFill>
                  <a:latin typeface="Calibri"/>
                  <a:ea typeface="Calibri"/>
                  <a:cs typeface="Calibri"/>
                  <a:sym typeface="Calibri"/>
                </a:rPr>
                <a:t>nothing of </a:t>
              </a:r>
              <a:r>
                <a:rPr b="1" i="0" lang="en-US" sz="1800" u="none" cap="none" strike="noStrike">
                  <a:solidFill>
                    <a:srgbClr val="99000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val</a:t>
              </a:r>
              <a:endParaRPr b="1" i="0" sz="1800" u="none" cap="none" strike="noStrike">
                <a:solidFill>
                  <a:srgbClr val="990000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cxnSp>
          <p:nvCxnSpPr>
            <p:cNvPr id="208" name="Google Shape;208;p14"/>
            <p:cNvCxnSpPr>
              <a:stCxn id="207" idx="0"/>
            </p:cNvCxnSpPr>
            <p:nvPr/>
          </p:nvCxnSpPr>
          <p:spPr>
            <a:xfrm rot="10800000">
              <a:off x="1523979" y="3886069"/>
              <a:ext cx="292200" cy="1411200"/>
            </a:xfrm>
            <a:prstGeom prst="straightConnector1">
              <a:avLst/>
            </a:prstGeom>
            <a:noFill/>
            <a:ln cap="flat" cmpd="sng" w="25400">
              <a:solidFill>
                <a:srgbClr val="990000"/>
              </a:solidFill>
              <a:prstDash val="solid"/>
              <a:round/>
              <a:headEnd len="sm" w="sm" type="none"/>
              <a:tailEnd len="med" w="med" type="stealth"/>
            </a:ln>
          </p:spPr>
        </p:cxnSp>
      </p:grpSp>
      <p:grpSp>
        <p:nvGrpSpPr>
          <p:cNvPr id="209" name="Google Shape;209;p14"/>
          <p:cNvGrpSpPr/>
          <p:nvPr/>
        </p:nvGrpSpPr>
        <p:grpSpPr>
          <a:xfrm>
            <a:off x="2400420" y="4609340"/>
            <a:ext cx="1900314" cy="1734131"/>
            <a:chOff x="2400420" y="4609340"/>
            <a:chExt cx="1900314" cy="1734131"/>
          </a:xfrm>
        </p:grpSpPr>
        <p:sp>
          <p:nvSpPr>
            <p:cNvPr id="210" name="Google Shape;210;p14"/>
            <p:cNvSpPr txBox="1"/>
            <p:nvPr/>
          </p:nvSpPr>
          <p:spPr>
            <a:xfrm>
              <a:off x="2961906" y="5697140"/>
              <a:ext cx="1338828" cy="6463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-US" sz="1800" u="none" cap="none" strike="noStrike">
                  <a:solidFill>
                    <a:srgbClr val="990000"/>
                  </a:solidFill>
                  <a:latin typeface="Calibri"/>
                  <a:ea typeface="Calibri"/>
                  <a:cs typeface="Calibri"/>
                  <a:sym typeface="Calibri"/>
                </a:rPr>
                <a:t>Referencing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-US" sz="1800" u="none" cap="none" strike="noStrike">
                  <a:solidFill>
                    <a:srgbClr val="990000"/>
                  </a:solidFill>
                  <a:latin typeface="Calibri"/>
                  <a:ea typeface="Calibri"/>
                  <a:cs typeface="Calibri"/>
                  <a:sym typeface="Calibri"/>
                </a:rPr>
                <a:t>a global…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11" name="Google Shape;211;p14"/>
            <p:cNvCxnSpPr>
              <a:stCxn id="210" idx="0"/>
            </p:cNvCxnSpPr>
            <p:nvPr/>
          </p:nvCxnSpPr>
          <p:spPr>
            <a:xfrm rot="10800000">
              <a:off x="2400420" y="4609340"/>
              <a:ext cx="1230900" cy="1087800"/>
            </a:xfrm>
            <a:prstGeom prst="straightConnector1">
              <a:avLst/>
            </a:prstGeom>
            <a:noFill/>
            <a:ln cap="flat" cmpd="sng" w="25400">
              <a:solidFill>
                <a:srgbClr val="990000"/>
              </a:solidFill>
              <a:prstDash val="solid"/>
              <a:round/>
              <a:headEnd len="sm" w="sm" type="none"/>
              <a:tailEnd len="med" w="med" type="stealth"/>
            </a:ln>
          </p:spPr>
        </p:cxnSp>
      </p:grpSp>
      <p:grpSp>
        <p:nvGrpSpPr>
          <p:cNvPr id="212" name="Google Shape;212;p14"/>
          <p:cNvGrpSpPr/>
          <p:nvPr/>
        </p:nvGrpSpPr>
        <p:grpSpPr>
          <a:xfrm>
            <a:off x="3404589" y="3009038"/>
            <a:ext cx="2173003" cy="3726764"/>
            <a:chOff x="3404589" y="3009038"/>
            <a:chExt cx="2173003" cy="3726764"/>
          </a:xfrm>
        </p:grpSpPr>
        <p:sp>
          <p:nvSpPr>
            <p:cNvPr id="213" name="Google Shape;213;p14"/>
            <p:cNvSpPr txBox="1"/>
            <p:nvPr/>
          </p:nvSpPr>
          <p:spPr>
            <a:xfrm>
              <a:off x="3404589" y="6366470"/>
              <a:ext cx="2173003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-US" sz="1800" u="none" cap="none" strike="noStrike">
                  <a:solidFill>
                    <a:srgbClr val="990000"/>
                  </a:solidFill>
                  <a:latin typeface="Calibri"/>
                  <a:ea typeface="Calibri"/>
                  <a:cs typeface="Calibri"/>
                  <a:sym typeface="Calibri"/>
                </a:rPr>
                <a:t>…that’s defined here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14" name="Google Shape;214;p14"/>
            <p:cNvCxnSpPr/>
            <p:nvPr/>
          </p:nvCxnSpPr>
          <p:spPr>
            <a:xfrm flipH="1" rot="10800000">
              <a:off x="4487848" y="3009038"/>
              <a:ext cx="769952" cy="3334433"/>
            </a:xfrm>
            <a:prstGeom prst="straightConnector1">
              <a:avLst/>
            </a:prstGeom>
            <a:noFill/>
            <a:ln cap="flat" cmpd="sng" w="25400">
              <a:solidFill>
                <a:srgbClr val="990000"/>
              </a:solidFill>
              <a:prstDash val="solid"/>
              <a:round/>
              <a:headEnd len="sm" w="sm" type="none"/>
              <a:tailEnd len="med" w="med" type="stealth"/>
            </a:ln>
          </p:spPr>
        </p:cxnSp>
      </p:grpSp>
      <p:grpSp>
        <p:nvGrpSpPr>
          <p:cNvPr id="215" name="Google Shape;215;p14"/>
          <p:cNvGrpSpPr/>
          <p:nvPr/>
        </p:nvGrpSpPr>
        <p:grpSpPr>
          <a:xfrm>
            <a:off x="6324579" y="3605971"/>
            <a:ext cx="2059182" cy="2774231"/>
            <a:chOff x="6324583" y="2882934"/>
            <a:chExt cx="2059182" cy="2774231"/>
          </a:xfrm>
        </p:grpSpPr>
        <p:sp>
          <p:nvSpPr>
            <p:cNvPr id="216" name="Google Shape;216;p14"/>
            <p:cNvSpPr txBox="1"/>
            <p:nvPr/>
          </p:nvSpPr>
          <p:spPr>
            <a:xfrm>
              <a:off x="6324600" y="5010834"/>
              <a:ext cx="2059165" cy="6463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-US" sz="1800" u="none" cap="none" strike="noStrike">
                  <a:solidFill>
                    <a:srgbClr val="990000"/>
                  </a:solidFill>
                  <a:latin typeface="Calibri"/>
                  <a:ea typeface="Calibri"/>
                  <a:cs typeface="Calibri"/>
                  <a:sym typeface="Calibri"/>
                </a:rPr>
                <a:t>Linker knows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-US" sz="1800" u="none" cap="none" strike="noStrike">
                  <a:solidFill>
                    <a:srgbClr val="990000"/>
                  </a:solidFill>
                  <a:latin typeface="Calibri"/>
                  <a:ea typeface="Calibri"/>
                  <a:cs typeface="Calibri"/>
                  <a:sym typeface="Calibri"/>
                </a:rPr>
                <a:t>nothing of </a:t>
              </a:r>
              <a:r>
                <a:rPr b="1" i="0" lang="en-US" sz="1800" u="none" cap="none" strike="noStrike">
                  <a:solidFill>
                    <a:srgbClr val="99000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i </a:t>
              </a:r>
              <a:r>
                <a:rPr b="1" i="0" lang="en-US" sz="1800" u="none" cap="none" strike="noStrike">
                  <a:solidFill>
                    <a:srgbClr val="990000"/>
                  </a:solidFill>
                  <a:latin typeface="Calibri"/>
                  <a:ea typeface="Calibri"/>
                  <a:cs typeface="Calibri"/>
                  <a:sym typeface="Calibri"/>
                </a:rPr>
                <a:t>or</a:t>
              </a:r>
              <a:r>
                <a:rPr b="1" i="0" lang="en-US" sz="1800" u="none" cap="none" strike="noStrike">
                  <a:solidFill>
                    <a:srgbClr val="99000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s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17" name="Google Shape;217;p14"/>
            <p:cNvCxnSpPr>
              <a:stCxn id="216" idx="0"/>
            </p:cNvCxnSpPr>
            <p:nvPr/>
          </p:nvCxnSpPr>
          <p:spPr>
            <a:xfrm rot="10800000">
              <a:off x="6324583" y="2882934"/>
              <a:ext cx="1029600" cy="2127900"/>
            </a:xfrm>
            <a:prstGeom prst="straightConnector1">
              <a:avLst/>
            </a:prstGeom>
            <a:noFill/>
            <a:ln cap="flat" cmpd="sng" w="25400">
              <a:solidFill>
                <a:srgbClr val="990000"/>
              </a:solidFill>
              <a:prstDash val="solid"/>
              <a:round/>
              <a:headEnd len="sm" w="sm" type="none"/>
              <a:tailEnd len="med" w="med" type="stealth"/>
            </a:ln>
          </p:spPr>
        </p:cxnSp>
      </p:grpSp>
      <p:grpSp>
        <p:nvGrpSpPr>
          <p:cNvPr id="218" name="Google Shape;218;p14"/>
          <p:cNvGrpSpPr/>
          <p:nvPr/>
        </p:nvGrpSpPr>
        <p:grpSpPr>
          <a:xfrm>
            <a:off x="1124779" y="1872734"/>
            <a:ext cx="2599702" cy="1479932"/>
            <a:chOff x="1124779" y="1872734"/>
            <a:chExt cx="2599702" cy="1479932"/>
          </a:xfrm>
        </p:grpSpPr>
        <p:sp>
          <p:nvSpPr>
            <p:cNvPr id="219" name="Google Shape;219;p14"/>
            <p:cNvSpPr txBox="1"/>
            <p:nvPr/>
          </p:nvSpPr>
          <p:spPr>
            <a:xfrm>
              <a:off x="1551477" y="1872734"/>
              <a:ext cx="2173003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-US" sz="1800" u="none" cap="none" strike="noStrike">
                  <a:solidFill>
                    <a:srgbClr val="990000"/>
                  </a:solidFill>
                  <a:latin typeface="Calibri"/>
                  <a:ea typeface="Calibri"/>
                  <a:cs typeface="Calibri"/>
                  <a:sym typeface="Calibri"/>
                </a:rPr>
                <a:t>…that’s defined here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20" name="Google Shape;220;p14"/>
            <p:cNvCxnSpPr>
              <a:stCxn id="219" idx="2"/>
            </p:cNvCxnSpPr>
            <p:nvPr/>
          </p:nvCxnSpPr>
          <p:spPr>
            <a:xfrm flipH="1">
              <a:off x="1124779" y="2242066"/>
              <a:ext cx="1513200" cy="1110600"/>
            </a:xfrm>
            <a:prstGeom prst="straightConnector1">
              <a:avLst/>
            </a:prstGeom>
            <a:noFill/>
            <a:ln cap="flat" cmpd="sng" w="25400">
              <a:solidFill>
                <a:srgbClr val="990000"/>
              </a:solidFill>
              <a:prstDash val="solid"/>
              <a:round/>
              <a:headEnd len="sm" w="sm" type="none"/>
              <a:tailEnd len="med" w="med" type="stealth"/>
            </a:ln>
          </p:spPr>
        </p:cxn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15"/>
          <p:cNvSpPr txBox="1"/>
          <p:nvPr>
            <p:ph type="title"/>
          </p:nvPr>
        </p:nvSpPr>
        <p:spPr>
          <a:xfrm>
            <a:off x="357018" y="435678"/>
            <a:ext cx="7592093" cy="7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119063" lvl="0" marL="11906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Local Symbols</a:t>
            </a:r>
            <a:endParaRPr/>
          </a:p>
        </p:txBody>
      </p:sp>
      <p:sp>
        <p:nvSpPr>
          <p:cNvPr id="226" name="Google Shape;226;p15"/>
          <p:cNvSpPr txBox="1"/>
          <p:nvPr>
            <p:ph idx="1" type="body"/>
          </p:nvPr>
        </p:nvSpPr>
        <p:spPr>
          <a:xfrm>
            <a:off x="396875" y="1362075"/>
            <a:ext cx="7896225" cy="1228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40"/>
              <a:buChar char="⬛"/>
            </a:pPr>
            <a:r>
              <a:rPr lang="en-US"/>
              <a:t>Local non-static C variables vs. local static C variables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200"/>
              <a:buChar char="▪"/>
            </a:pPr>
            <a:r>
              <a:rPr lang="en-US"/>
              <a:t>local non-static C variables: stored on the stack 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200"/>
              <a:buChar char="▪"/>
            </a:pPr>
            <a:r>
              <a:rPr lang="en-US"/>
              <a:t>local static C variables: stored in either </a:t>
            </a: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.bss, </a:t>
            </a:r>
            <a:r>
              <a:rPr lang="en-US"/>
              <a:t>or </a:t>
            </a: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.data</a:t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27" name="Google Shape;227;p15"/>
          <p:cNvSpPr/>
          <p:nvPr/>
        </p:nvSpPr>
        <p:spPr>
          <a:xfrm>
            <a:off x="786013" y="2829899"/>
            <a:ext cx="3100187" cy="3418501"/>
          </a:xfrm>
          <a:prstGeom prst="rect">
            <a:avLst/>
          </a:prstGeom>
          <a:solidFill>
            <a:srgbClr val="F7F5CD"/>
          </a:solidFill>
          <a:ln cap="flat" cmpd="sng" w="9525">
            <a:solidFill>
              <a:srgbClr val="00006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6800" lIns="90000" spcFirstLastPara="1" rIns="90000" wrap="square" tIns="468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2D961E"/>
                </a:solidFill>
                <a:latin typeface="Arial"/>
                <a:ea typeface="Arial"/>
                <a:cs typeface="Arial"/>
                <a:sym typeface="Arial"/>
              </a:rPr>
              <a:t>int</a:t>
            </a:r>
            <a:r>
              <a:rPr b="1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en-US" sz="1800" u="none" cap="none" strike="noStrike">
                <a:solidFill>
                  <a:srgbClr val="4A00FF"/>
                </a:solidFill>
                <a:latin typeface="Arial"/>
                <a:ea typeface="Arial"/>
                <a:cs typeface="Arial"/>
                <a:sym typeface="Arial"/>
              </a:rPr>
              <a:t>f</a:t>
            </a:r>
            <a:r>
              <a:rPr b="1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</a:t>
            </a:r>
            <a:r>
              <a:rPr b="1" i="0" lang="en-US" sz="1800" u="none" cap="none" strike="noStrike">
                <a:solidFill>
                  <a:srgbClr val="C200FF"/>
                </a:solidFill>
                <a:latin typeface="Arial"/>
                <a:ea typeface="Arial"/>
                <a:cs typeface="Arial"/>
                <a:sym typeface="Arial"/>
              </a:rPr>
              <a:t>static</a:t>
            </a:r>
            <a:r>
              <a:rPr b="1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en-US" sz="1800" u="none" cap="none" strike="noStrike">
                <a:solidFill>
                  <a:srgbClr val="2D961E"/>
                </a:solidFill>
                <a:latin typeface="Arial"/>
                <a:ea typeface="Arial"/>
                <a:cs typeface="Arial"/>
                <a:sym typeface="Arial"/>
              </a:rPr>
              <a:t>int</a:t>
            </a:r>
            <a:r>
              <a:rPr b="1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en-US" sz="1800" u="none" cap="none" strike="noStrike">
                <a:solidFill>
                  <a:srgbClr val="C1651C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r>
              <a:rPr b="1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= 0;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</a:t>
            </a:r>
            <a:r>
              <a:rPr b="1" i="0" lang="en-US" sz="1800" u="none" cap="none" strike="noStrike">
                <a:solidFill>
                  <a:srgbClr val="C200FF"/>
                </a:solidFill>
                <a:latin typeface="Arial"/>
                <a:ea typeface="Arial"/>
                <a:cs typeface="Arial"/>
                <a:sym typeface="Arial"/>
              </a:rPr>
              <a:t>return</a:t>
            </a:r>
            <a:r>
              <a:rPr b="1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x;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2D961E"/>
                </a:solidFill>
                <a:latin typeface="Arial"/>
                <a:ea typeface="Arial"/>
                <a:cs typeface="Arial"/>
                <a:sym typeface="Arial"/>
              </a:rPr>
              <a:t>int</a:t>
            </a:r>
            <a:r>
              <a:rPr b="1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en-US" sz="1800" u="none" cap="none" strike="noStrike">
                <a:solidFill>
                  <a:srgbClr val="4A00FF"/>
                </a:solidFill>
                <a:latin typeface="Arial"/>
                <a:ea typeface="Arial"/>
                <a:cs typeface="Arial"/>
                <a:sym typeface="Arial"/>
              </a:rPr>
              <a:t>g</a:t>
            </a:r>
            <a:r>
              <a:rPr b="1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</a:t>
            </a:r>
            <a:r>
              <a:rPr b="1" i="0" lang="en-US" sz="1800" u="none" cap="none" strike="noStrike">
                <a:solidFill>
                  <a:srgbClr val="C200FF"/>
                </a:solidFill>
                <a:latin typeface="Arial"/>
                <a:ea typeface="Arial"/>
                <a:cs typeface="Arial"/>
                <a:sym typeface="Arial"/>
              </a:rPr>
              <a:t>static</a:t>
            </a:r>
            <a:r>
              <a:rPr b="1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en-US" sz="1800" u="none" cap="none" strike="noStrike">
                <a:solidFill>
                  <a:srgbClr val="2D961E"/>
                </a:solidFill>
                <a:latin typeface="Arial"/>
                <a:ea typeface="Arial"/>
                <a:cs typeface="Arial"/>
                <a:sym typeface="Arial"/>
              </a:rPr>
              <a:t>int</a:t>
            </a:r>
            <a:r>
              <a:rPr b="1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en-US" sz="1800" u="none" cap="none" strike="noStrike">
                <a:solidFill>
                  <a:srgbClr val="C1651C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r>
              <a:rPr b="1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= 1;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</a:t>
            </a:r>
            <a:r>
              <a:rPr b="1" i="0" lang="en-US" sz="1800" u="none" cap="none" strike="noStrike">
                <a:solidFill>
                  <a:srgbClr val="C200FF"/>
                </a:solidFill>
                <a:latin typeface="Arial"/>
                <a:ea typeface="Arial"/>
                <a:cs typeface="Arial"/>
                <a:sym typeface="Arial"/>
              </a:rPr>
              <a:t>return</a:t>
            </a:r>
            <a:r>
              <a:rPr b="1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x;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28" name="Google Shape;228;p15"/>
          <p:cNvSpPr txBox="1"/>
          <p:nvPr/>
        </p:nvSpPr>
        <p:spPr>
          <a:xfrm>
            <a:off x="4267200" y="3505200"/>
            <a:ext cx="4343400" cy="19389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Compiler allocates space in </a:t>
            </a:r>
            <a:r>
              <a:rPr b="1" i="0" lang="en-US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.data </a:t>
            </a:r>
            <a:r>
              <a:rPr b="1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for each definition of </a:t>
            </a:r>
            <a:r>
              <a:rPr b="1" i="0" lang="en-US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x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1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Creates local symbols in the symbol table with unique names, e.g., </a:t>
            </a:r>
            <a:r>
              <a:rPr b="1" i="0" lang="en-US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x.1</a:t>
            </a:r>
            <a:r>
              <a:rPr b="1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and </a:t>
            </a:r>
            <a:r>
              <a:rPr b="1" i="0" lang="en-US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x.2</a:t>
            </a:r>
            <a:r>
              <a:rPr b="1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16"/>
          <p:cNvSpPr txBox="1"/>
          <p:nvPr>
            <p:ph idx="4294967295" type="title"/>
          </p:nvPr>
        </p:nvSpPr>
        <p:spPr>
          <a:xfrm>
            <a:off x="440266" y="436562"/>
            <a:ext cx="8716962" cy="7826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119063" lvl="0" marL="11906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How Linker Resolves Duplicate Symbol Definitions</a:t>
            </a:r>
            <a:endParaRPr/>
          </a:p>
        </p:txBody>
      </p:sp>
      <p:sp>
        <p:nvSpPr>
          <p:cNvPr id="235" name="Google Shape;235;p16"/>
          <p:cNvSpPr txBox="1"/>
          <p:nvPr>
            <p:ph idx="1" type="body"/>
          </p:nvPr>
        </p:nvSpPr>
        <p:spPr>
          <a:xfrm>
            <a:off x="455613" y="1754188"/>
            <a:ext cx="8307387" cy="14462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40"/>
              <a:buChar char="⬛"/>
            </a:pPr>
            <a:r>
              <a:rPr lang="en-US"/>
              <a:t>Program symbols are either </a:t>
            </a:r>
            <a:r>
              <a:rPr i="1" lang="en-US"/>
              <a:t>strong</a:t>
            </a:r>
            <a:r>
              <a:rPr lang="en-US"/>
              <a:t> or </a:t>
            </a:r>
            <a:r>
              <a:rPr i="1" lang="en-US"/>
              <a:t>weak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200"/>
              <a:buChar char="▪"/>
            </a:pPr>
            <a:r>
              <a:rPr b="1" i="1" lang="en-US">
                <a:solidFill>
                  <a:srgbClr val="C00000"/>
                </a:solidFill>
              </a:rPr>
              <a:t>Strong</a:t>
            </a:r>
            <a:r>
              <a:rPr lang="en-US"/>
              <a:t>: procedures and initialized globals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200"/>
              <a:buChar char="▪"/>
            </a:pPr>
            <a:r>
              <a:rPr b="1" i="1" lang="en-US">
                <a:solidFill>
                  <a:srgbClr val="C00000"/>
                </a:solidFill>
              </a:rPr>
              <a:t>Weak</a:t>
            </a:r>
            <a:r>
              <a:rPr lang="en-US"/>
              <a:t>: uninitialized globals</a:t>
            </a:r>
            <a:endParaRPr/>
          </a:p>
        </p:txBody>
      </p:sp>
      <p:sp>
        <p:nvSpPr>
          <p:cNvPr id="236" name="Google Shape;236;p16"/>
          <p:cNvSpPr/>
          <p:nvPr/>
        </p:nvSpPr>
        <p:spPr>
          <a:xfrm>
            <a:off x="2470150" y="3893119"/>
            <a:ext cx="1560340" cy="1136081"/>
          </a:xfrm>
          <a:prstGeom prst="rect">
            <a:avLst/>
          </a:prstGeom>
          <a:solidFill>
            <a:srgbClr val="F6F5BD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6800" lIns="90000" spcFirstLastPara="1" rIns="90000" wrap="square" tIns="46800">
            <a:spAutoFit/>
          </a:bodyPr>
          <a:lstStyle/>
          <a:p>
            <a:pPr indent="0" lvl="0" marL="0" marR="0" rtl="0"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int foo=5;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p1() 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7" name="Google Shape;237;p16"/>
          <p:cNvSpPr/>
          <p:nvPr/>
        </p:nvSpPr>
        <p:spPr>
          <a:xfrm>
            <a:off x="4981575" y="3893119"/>
            <a:ext cx="1284624" cy="1136081"/>
          </a:xfrm>
          <a:prstGeom prst="rect">
            <a:avLst/>
          </a:prstGeom>
          <a:solidFill>
            <a:srgbClr val="F6F5BD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6800" lIns="90000" spcFirstLastPara="1" rIns="90000" wrap="square" tIns="46800">
            <a:spAutoFit/>
          </a:bodyPr>
          <a:lstStyle/>
          <a:p>
            <a:pPr indent="0" lvl="0" marL="0" marR="0" rtl="0"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int foo;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p2() 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8" name="Google Shape;238;p16"/>
          <p:cNvSpPr/>
          <p:nvPr/>
        </p:nvSpPr>
        <p:spPr>
          <a:xfrm>
            <a:off x="2462213" y="3523232"/>
            <a:ext cx="717550" cy="354012"/>
          </a:xfrm>
          <a:prstGeom prst="rect">
            <a:avLst/>
          </a:prstGeom>
          <a:noFill/>
          <a:ln cap="flat" cmpd="sng" w="9525">
            <a:solidFill>
              <a:srgbClr val="FFF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6800" lIns="90000" spcFirstLastPara="1" rIns="90000" wrap="square" tIns="46800">
            <a:spAutoFit/>
          </a:bodyPr>
          <a:lstStyle/>
          <a:p>
            <a:pPr indent="0" lvl="0" marL="0" marR="0" rtl="0"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7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p1.c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9" name="Google Shape;239;p16"/>
          <p:cNvSpPr/>
          <p:nvPr/>
        </p:nvSpPr>
        <p:spPr>
          <a:xfrm>
            <a:off x="4976813" y="3523232"/>
            <a:ext cx="717550" cy="354012"/>
          </a:xfrm>
          <a:prstGeom prst="rect">
            <a:avLst/>
          </a:prstGeom>
          <a:noFill/>
          <a:ln cap="flat" cmpd="sng" w="9525">
            <a:solidFill>
              <a:srgbClr val="FFF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6800" lIns="90000" spcFirstLastPara="1" rIns="90000" wrap="square" tIns="46800">
            <a:spAutoFit/>
          </a:bodyPr>
          <a:lstStyle/>
          <a:p>
            <a:pPr indent="0" lvl="0" marL="0" marR="0" rtl="0"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7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p2.c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0" name="Google Shape;240;p16"/>
          <p:cNvSpPr txBox="1"/>
          <p:nvPr/>
        </p:nvSpPr>
        <p:spPr>
          <a:xfrm>
            <a:off x="7242175" y="4391593"/>
            <a:ext cx="785513" cy="365999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spAutoFit/>
          </a:bodyPr>
          <a:lstStyle/>
          <a:p>
            <a:pPr indent="0" lvl="0" marL="0" marR="0" rtl="0"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990000"/>
                </a:solidFill>
                <a:latin typeface="Calibri"/>
                <a:ea typeface="Calibri"/>
                <a:cs typeface="Calibri"/>
                <a:sym typeface="Calibri"/>
              </a:rPr>
              <a:t>strong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41" name="Google Shape;241;p16"/>
          <p:cNvCxnSpPr/>
          <p:nvPr/>
        </p:nvCxnSpPr>
        <p:spPr>
          <a:xfrm flipH="1">
            <a:off x="6327775" y="4572000"/>
            <a:ext cx="917575" cy="1588"/>
          </a:xfrm>
          <a:prstGeom prst="straightConnector1">
            <a:avLst/>
          </a:prstGeom>
          <a:noFill/>
          <a:ln cap="flat" cmpd="sng" w="25550">
            <a:solidFill>
              <a:srgbClr val="99000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242" name="Google Shape;242;p16"/>
          <p:cNvSpPr txBox="1"/>
          <p:nvPr/>
        </p:nvSpPr>
        <p:spPr>
          <a:xfrm>
            <a:off x="7242175" y="3883594"/>
            <a:ext cx="691321" cy="365999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spAutoFit/>
          </a:bodyPr>
          <a:lstStyle/>
          <a:p>
            <a:pPr indent="0" lvl="0" marL="0" marR="0" rtl="0"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990000"/>
                </a:solidFill>
                <a:latin typeface="Calibri"/>
                <a:ea typeface="Calibri"/>
                <a:cs typeface="Calibri"/>
                <a:sym typeface="Calibri"/>
              </a:rPr>
              <a:t>weak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43" name="Google Shape;243;p16"/>
          <p:cNvCxnSpPr/>
          <p:nvPr/>
        </p:nvCxnSpPr>
        <p:spPr>
          <a:xfrm flipH="1">
            <a:off x="6324600" y="4070877"/>
            <a:ext cx="917575" cy="1588"/>
          </a:xfrm>
          <a:prstGeom prst="straightConnector1">
            <a:avLst/>
          </a:prstGeom>
          <a:noFill/>
          <a:ln cap="flat" cmpd="sng" w="25550">
            <a:solidFill>
              <a:srgbClr val="99000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244" name="Google Shape;244;p16"/>
          <p:cNvSpPr txBox="1"/>
          <p:nvPr/>
        </p:nvSpPr>
        <p:spPr>
          <a:xfrm>
            <a:off x="704850" y="4431282"/>
            <a:ext cx="785513" cy="365999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spAutoFit/>
          </a:bodyPr>
          <a:lstStyle/>
          <a:p>
            <a:pPr indent="0" lvl="0" marL="0" marR="0" rtl="0"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990000"/>
                </a:solidFill>
                <a:latin typeface="Calibri"/>
                <a:ea typeface="Calibri"/>
                <a:cs typeface="Calibri"/>
                <a:sym typeface="Calibri"/>
              </a:rPr>
              <a:t>strong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45" name="Google Shape;245;p16"/>
          <p:cNvCxnSpPr/>
          <p:nvPr/>
        </p:nvCxnSpPr>
        <p:spPr>
          <a:xfrm flipH="1">
            <a:off x="1520825" y="4645594"/>
            <a:ext cx="917575" cy="1588"/>
          </a:xfrm>
          <a:prstGeom prst="straightConnector1">
            <a:avLst/>
          </a:prstGeom>
          <a:noFill/>
          <a:ln cap="flat" cmpd="sng" w="25550">
            <a:solidFill>
              <a:srgbClr val="990000"/>
            </a:solidFill>
            <a:prstDash val="solid"/>
            <a:miter lim="800000"/>
            <a:headEnd len="med" w="med" type="triangle"/>
            <a:tailEnd len="sm" w="sm" type="none"/>
          </a:ln>
        </p:spPr>
      </p:cxnSp>
      <p:sp>
        <p:nvSpPr>
          <p:cNvPr id="246" name="Google Shape;246;p16"/>
          <p:cNvSpPr txBox="1"/>
          <p:nvPr/>
        </p:nvSpPr>
        <p:spPr>
          <a:xfrm>
            <a:off x="704850" y="3889415"/>
            <a:ext cx="785513" cy="365999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spAutoFit/>
          </a:bodyPr>
          <a:lstStyle/>
          <a:p>
            <a:pPr indent="0" lvl="0" marL="0" marR="0" rtl="0"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990000"/>
                </a:solidFill>
                <a:latin typeface="Calibri"/>
                <a:ea typeface="Calibri"/>
                <a:cs typeface="Calibri"/>
                <a:sym typeface="Calibri"/>
              </a:rPr>
              <a:t>strong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47" name="Google Shape;247;p16"/>
          <p:cNvCxnSpPr/>
          <p:nvPr/>
        </p:nvCxnSpPr>
        <p:spPr>
          <a:xfrm flipH="1">
            <a:off x="1520825" y="4072468"/>
            <a:ext cx="917575" cy="1588"/>
          </a:xfrm>
          <a:prstGeom prst="straightConnector1">
            <a:avLst/>
          </a:prstGeom>
          <a:noFill/>
          <a:ln cap="flat" cmpd="sng" w="25550">
            <a:solidFill>
              <a:srgbClr val="990000"/>
            </a:solidFill>
            <a:prstDash val="solid"/>
            <a:miter lim="800000"/>
            <a:headEnd len="med" w="med" type="triangle"/>
            <a:tailEnd len="sm" w="sm" type="non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17"/>
          <p:cNvSpPr txBox="1"/>
          <p:nvPr>
            <p:ph idx="4294967295" type="title"/>
          </p:nvPr>
        </p:nvSpPr>
        <p:spPr>
          <a:xfrm>
            <a:off x="379412" y="436562"/>
            <a:ext cx="8716962" cy="7826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119063" lvl="0" marL="11906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Linker’s Symbol Rules</a:t>
            </a:r>
            <a:endParaRPr/>
          </a:p>
        </p:txBody>
      </p:sp>
      <p:sp>
        <p:nvSpPr>
          <p:cNvPr id="254" name="Google Shape;254;p17"/>
          <p:cNvSpPr txBox="1"/>
          <p:nvPr>
            <p:ph idx="1" type="body"/>
          </p:nvPr>
        </p:nvSpPr>
        <p:spPr>
          <a:xfrm>
            <a:off x="381000" y="1371600"/>
            <a:ext cx="8307387" cy="52244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40"/>
              <a:buChar char="⬛"/>
            </a:pPr>
            <a:r>
              <a:rPr lang="en-US"/>
              <a:t>Rule 1: Multiple strong symbols are not allowed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200"/>
              <a:buChar char="▪"/>
            </a:pPr>
            <a:r>
              <a:rPr lang="en-US"/>
              <a:t>Each item can be defined only once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200"/>
              <a:buChar char="▪"/>
            </a:pPr>
            <a:r>
              <a:rPr lang="en-US"/>
              <a:t>Otherwise: Linker error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440"/>
              <a:buFont typeface="Noto Sans"/>
              <a:buNone/>
            </a:pPr>
            <a:r>
              <a:t/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440"/>
              <a:buChar char="⬛"/>
            </a:pPr>
            <a:r>
              <a:rPr lang="en-US"/>
              <a:t>Rule 2: Given a strong symbol and multiple weak symbols, choose the strong symbol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200"/>
              <a:buChar char="▪"/>
            </a:pPr>
            <a:r>
              <a:rPr lang="en-US"/>
              <a:t>References to the weak symbol resolve to the strong symbol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440"/>
              <a:buFont typeface="Noto Sans"/>
              <a:buNone/>
            </a:pPr>
            <a:r>
              <a:t/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440"/>
              <a:buChar char="⬛"/>
            </a:pPr>
            <a:r>
              <a:rPr lang="en-US"/>
              <a:t>Rule 3: If there are multiple weak symbols, pick an arbitrary one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200"/>
              <a:buChar char="▪"/>
            </a:pPr>
            <a:r>
              <a:rPr lang="en-US"/>
              <a:t>Can override this with </a:t>
            </a:r>
            <a:r>
              <a:rPr b="1" lang="en-US">
                <a:latin typeface="Courier New"/>
                <a:ea typeface="Courier New"/>
                <a:cs typeface="Courier New"/>
                <a:sym typeface="Courier New"/>
              </a:rPr>
              <a:t>gcc –fno-common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440"/>
              <a:buFont typeface="Noto Sans"/>
              <a:buNone/>
            </a:pPr>
            <a:r>
              <a:rPr lang="en-US"/>
              <a:t>	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18"/>
          <p:cNvSpPr/>
          <p:nvPr/>
        </p:nvSpPr>
        <p:spPr>
          <a:xfrm>
            <a:off x="0" y="3962400"/>
            <a:ext cx="9144000" cy="1103841"/>
          </a:xfrm>
          <a:prstGeom prst="rect">
            <a:avLst/>
          </a:prstGeom>
          <a:solidFill>
            <a:srgbClr val="E5E5E5"/>
          </a:solidFill>
          <a:ln>
            <a:noFill/>
          </a:ln>
        </p:spPr>
        <p:txBody>
          <a:bodyPr anchorCtr="1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 Narrow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18"/>
          <p:cNvSpPr/>
          <p:nvPr/>
        </p:nvSpPr>
        <p:spPr>
          <a:xfrm>
            <a:off x="0" y="1879599"/>
            <a:ext cx="9144000" cy="1098550"/>
          </a:xfrm>
          <a:prstGeom prst="rect">
            <a:avLst/>
          </a:prstGeom>
          <a:solidFill>
            <a:srgbClr val="E5E5E5"/>
          </a:solidFill>
          <a:ln>
            <a:noFill/>
          </a:ln>
        </p:spPr>
        <p:txBody>
          <a:bodyPr anchorCtr="1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 Narrow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18"/>
          <p:cNvSpPr txBox="1"/>
          <p:nvPr>
            <p:ph idx="4294967295" type="title"/>
          </p:nvPr>
        </p:nvSpPr>
        <p:spPr>
          <a:xfrm>
            <a:off x="427038" y="284162"/>
            <a:ext cx="8716962" cy="7826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119063" lvl="0" marL="11906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Linker Puzzles</a:t>
            </a:r>
            <a:endParaRPr/>
          </a:p>
        </p:txBody>
      </p:sp>
      <p:sp>
        <p:nvSpPr>
          <p:cNvPr id="263" name="Google Shape;263;p18"/>
          <p:cNvSpPr txBox="1"/>
          <p:nvPr/>
        </p:nvSpPr>
        <p:spPr>
          <a:xfrm>
            <a:off x="533400" y="2165350"/>
            <a:ext cx="1045777" cy="557461"/>
          </a:xfrm>
          <a:prstGeom prst="rect">
            <a:avLst/>
          </a:prstGeom>
          <a:solidFill>
            <a:srgbClr val="F6F5BD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6800" lIns="90000" spcFirstLastPara="1" rIns="90000" wrap="square" tIns="46800">
            <a:spAutoFit/>
          </a:bodyPr>
          <a:lstStyle/>
          <a:p>
            <a:pPr indent="0" lvl="0" marL="0" marR="0" rtl="0"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int x;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p1() {}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4" name="Google Shape;264;p18"/>
          <p:cNvSpPr txBox="1"/>
          <p:nvPr/>
        </p:nvSpPr>
        <p:spPr>
          <a:xfrm>
            <a:off x="1983961" y="2165350"/>
            <a:ext cx="1045777" cy="557461"/>
          </a:xfrm>
          <a:prstGeom prst="rect">
            <a:avLst/>
          </a:prstGeom>
          <a:solidFill>
            <a:srgbClr val="F6F5BD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6800" lIns="90000" spcFirstLastPara="1" rIns="90000" wrap="square" tIns="46800">
            <a:spAutoFit/>
          </a:bodyPr>
          <a:lstStyle/>
          <a:p>
            <a:pPr indent="0" lvl="0" marL="0" marR="0" rtl="0"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int x;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p2() {}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5" name="Google Shape;265;p18"/>
          <p:cNvSpPr txBox="1"/>
          <p:nvPr/>
        </p:nvSpPr>
        <p:spPr>
          <a:xfrm>
            <a:off x="533400" y="3079750"/>
            <a:ext cx="1045777" cy="788935"/>
          </a:xfrm>
          <a:prstGeom prst="rect">
            <a:avLst/>
          </a:prstGeom>
          <a:solidFill>
            <a:srgbClr val="F6F5BD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6800" lIns="90000" spcFirstLastPara="1" rIns="90000" wrap="square" tIns="46800">
            <a:spAutoFit/>
          </a:bodyPr>
          <a:lstStyle/>
          <a:p>
            <a:pPr indent="0" lvl="0" marL="0" marR="0" rtl="0"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int x;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int y;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p1() {}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6" name="Google Shape;266;p18"/>
          <p:cNvSpPr txBox="1"/>
          <p:nvPr/>
        </p:nvSpPr>
        <p:spPr>
          <a:xfrm>
            <a:off x="1983961" y="3079750"/>
            <a:ext cx="1292639" cy="557461"/>
          </a:xfrm>
          <a:prstGeom prst="rect">
            <a:avLst/>
          </a:prstGeom>
          <a:solidFill>
            <a:srgbClr val="F6F5BD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6800" lIns="90000" spcFirstLastPara="1" rIns="90000" wrap="square" tIns="46800">
            <a:spAutoFit/>
          </a:bodyPr>
          <a:lstStyle/>
          <a:p>
            <a:pPr indent="0" lvl="0" marL="0" marR="0" rtl="0"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double x;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p2() {}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7" name="Google Shape;267;p18"/>
          <p:cNvSpPr txBox="1"/>
          <p:nvPr/>
        </p:nvSpPr>
        <p:spPr>
          <a:xfrm>
            <a:off x="533400" y="4129088"/>
            <a:ext cx="1169208" cy="788935"/>
          </a:xfrm>
          <a:prstGeom prst="rect">
            <a:avLst/>
          </a:prstGeom>
          <a:solidFill>
            <a:srgbClr val="F6F5BD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6800" lIns="90000" spcFirstLastPara="1" rIns="90000" wrap="square" tIns="46800">
            <a:spAutoFit/>
          </a:bodyPr>
          <a:lstStyle/>
          <a:p>
            <a:pPr indent="0" lvl="0" marL="0" marR="0" rtl="0"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int x=7;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int y=5;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p1() {}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8" name="Google Shape;268;p18"/>
          <p:cNvSpPr txBox="1"/>
          <p:nvPr/>
        </p:nvSpPr>
        <p:spPr>
          <a:xfrm>
            <a:off x="1983961" y="4129088"/>
            <a:ext cx="1292639" cy="557461"/>
          </a:xfrm>
          <a:prstGeom prst="rect">
            <a:avLst/>
          </a:prstGeom>
          <a:solidFill>
            <a:srgbClr val="F6F5BD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6800" lIns="90000" spcFirstLastPara="1" rIns="90000" wrap="square" tIns="46800">
            <a:spAutoFit/>
          </a:bodyPr>
          <a:lstStyle/>
          <a:p>
            <a:pPr indent="0" lvl="0" marL="0" marR="0" rtl="0"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double x;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p2() {}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9" name="Google Shape;269;p18"/>
          <p:cNvSpPr txBox="1"/>
          <p:nvPr/>
        </p:nvSpPr>
        <p:spPr>
          <a:xfrm>
            <a:off x="533400" y="5195888"/>
            <a:ext cx="1169208" cy="557461"/>
          </a:xfrm>
          <a:prstGeom prst="rect">
            <a:avLst/>
          </a:prstGeom>
          <a:solidFill>
            <a:srgbClr val="F6F5BD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6800" lIns="90000" spcFirstLastPara="1" rIns="90000" wrap="square" tIns="46800">
            <a:spAutoFit/>
          </a:bodyPr>
          <a:lstStyle/>
          <a:p>
            <a:pPr indent="0" lvl="0" marL="0" marR="0" rtl="0"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int x=7;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p1() {}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0" name="Google Shape;270;p18"/>
          <p:cNvSpPr txBox="1"/>
          <p:nvPr/>
        </p:nvSpPr>
        <p:spPr>
          <a:xfrm>
            <a:off x="1983961" y="5195888"/>
            <a:ext cx="1045777" cy="557461"/>
          </a:xfrm>
          <a:prstGeom prst="rect">
            <a:avLst/>
          </a:prstGeom>
          <a:solidFill>
            <a:srgbClr val="F6F5BD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6800" lIns="90000" spcFirstLastPara="1" rIns="90000" wrap="square" tIns="46800">
            <a:spAutoFit/>
          </a:bodyPr>
          <a:lstStyle/>
          <a:p>
            <a:pPr indent="0" lvl="0" marL="0" marR="0" rtl="0"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int x;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p2() {}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1" name="Google Shape;271;p18"/>
          <p:cNvSpPr txBox="1"/>
          <p:nvPr/>
        </p:nvSpPr>
        <p:spPr>
          <a:xfrm>
            <a:off x="533400" y="1174750"/>
            <a:ext cx="1045777" cy="557461"/>
          </a:xfrm>
          <a:prstGeom prst="rect">
            <a:avLst/>
          </a:prstGeom>
          <a:solidFill>
            <a:srgbClr val="F6F5BD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6800" lIns="90000" spcFirstLastPara="1" rIns="90000" wrap="square" tIns="46800">
            <a:spAutoFit/>
          </a:bodyPr>
          <a:lstStyle/>
          <a:p>
            <a:pPr indent="0" lvl="0" marL="0" marR="0" rtl="0"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int x;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p1() {}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2" name="Google Shape;272;p18"/>
          <p:cNvSpPr txBox="1"/>
          <p:nvPr/>
        </p:nvSpPr>
        <p:spPr>
          <a:xfrm>
            <a:off x="1983961" y="1174750"/>
            <a:ext cx="1045777" cy="557461"/>
          </a:xfrm>
          <a:prstGeom prst="rect">
            <a:avLst/>
          </a:prstGeom>
          <a:solidFill>
            <a:srgbClr val="F6F5BD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6800" lIns="90000" spcFirstLastPara="1" rIns="90000" wrap="square" tIns="46800">
            <a:spAutoFit/>
          </a:bodyPr>
          <a:lstStyle/>
          <a:p>
            <a:pPr indent="0" lvl="0" marL="0" marR="0" rtl="0"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1" i="0" sz="16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p1() {}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3" name="Google Shape;273;p18"/>
          <p:cNvSpPr txBox="1"/>
          <p:nvPr/>
        </p:nvSpPr>
        <p:spPr>
          <a:xfrm>
            <a:off x="3819525" y="1304925"/>
            <a:ext cx="4047431" cy="365999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spAutoFit/>
          </a:bodyPr>
          <a:lstStyle/>
          <a:p>
            <a:pPr indent="0" lvl="0" marL="0" marR="0" rtl="0"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Link time error: two strong symbols (</a:t>
            </a:r>
            <a:r>
              <a:rPr b="1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p1</a:t>
            </a: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4" name="Google Shape;274;p18"/>
          <p:cNvSpPr txBox="1"/>
          <p:nvPr/>
        </p:nvSpPr>
        <p:spPr>
          <a:xfrm>
            <a:off x="3794125" y="2159000"/>
            <a:ext cx="4397079" cy="637483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spAutoFit/>
          </a:bodyPr>
          <a:lstStyle/>
          <a:p>
            <a:pPr indent="0" lvl="0" marL="0" marR="0" rtl="0"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References to  </a:t>
            </a:r>
            <a:r>
              <a:rPr b="1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x</a:t>
            </a: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will refer to the same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uninitialized int. Is this what you really want?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5" name="Google Shape;275;p18"/>
          <p:cNvSpPr txBox="1"/>
          <p:nvPr/>
        </p:nvSpPr>
        <p:spPr>
          <a:xfrm>
            <a:off x="3824287" y="3194050"/>
            <a:ext cx="3611671" cy="637483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spAutoFit/>
          </a:bodyPr>
          <a:lstStyle/>
          <a:p>
            <a:pPr indent="0" lvl="0" marL="0" marR="0" rtl="0"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Writes to </a:t>
            </a:r>
            <a:r>
              <a:rPr b="1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x</a:t>
            </a: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in </a:t>
            </a:r>
            <a:r>
              <a:rPr b="1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p2</a:t>
            </a: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might overwrite </a:t>
            </a:r>
            <a:r>
              <a:rPr b="1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y</a:t>
            </a: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!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Evil!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6" name="Google Shape;276;p18"/>
          <p:cNvSpPr txBox="1"/>
          <p:nvPr/>
        </p:nvSpPr>
        <p:spPr>
          <a:xfrm>
            <a:off x="3829050" y="4140200"/>
            <a:ext cx="3477600" cy="6375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spAutoFit/>
          </a:bodyPr>
          <a:lstStyle/>
          <a:p>
            <a:pPr indent="0" lvl="0" marL="0" marR="0" rtl="0"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Reads from </a:t>
            </a:r>
            <a:r>
              <a:rPr b="1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x</a:t>
            </a: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in </a:t>
            </a:r>
            <a:r>
              <a:rPr b="1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p2</a:t>
            </a:r>
            <a:r>
              <a:rPr b="0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will reference </a:t>
            </a: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x </a:t>
            </a: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 </a:t>
            </a: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p1</a:t>
            </a:r>
            <a:endParaRPr b="1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18"/>
          <p:cNvSpPr txBox="1"/>
          <p:nvPr/>
        </p:nvSpPr>
        <p:spPr>
          <a:xfrm>
            <a:off x="440266" y="6051550"/>
            <a:ext cx="7813014" cy="637483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spAutoFit/>
          </a:bodyPr>
          <a:lstStyle/>
          <a:p>
            <a:pPr indent="0" lvl="0" marL="0" marR="0" rtl="0"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Nightmare scenario: two identical weak structs, compiled by different compilers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with different alignment rules.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8" name="Google Shape;278;p18"/>
          <p:cNvSpPr txBox="1"/>
          <p:nvPr/>
        </p:nvSpPr>
        <p:spPr>
          <a:xfrm>
            <a:off x="3824287" y="5159375"/>
            <a:ext cx="4654008" cy="637483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spAutoFit/>
          </a:bodyPr>
          <a:lstStyle/>
          <a:p>
            <a:pPr indent="0" lvl="0" marL="0" marR="0" rtl="0"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References to </a:t>
            </a:r>
            <a:r>
              <a:rPr b="1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x</a:t>
            </a: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will refer to the same initialized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variable.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19"/>
          <p:cNvSpPr txBox="1"/>
          <p:nvPr>
            <p:ph type="title"/>
          </p:nvPr>
        </p:nvSpPr>
        <p:spPr>
          <a:xfrm>
            <a:off x="357018" y="435678"/>
            <a:ext cx="7592093" cy="7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119063" lvl="0" marL="11906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Global Variables</a:t>
            </a:r>
            <a:endParaRPr/>
          </a:p>
        </p:txBody>
      </p:sp>
      <p:sp>
        <p:nvSpPr>
          <p:cNvPr id="284" name="Google Shape;284;p19"/>
          <p:cNvSpPr txBox="1"/>
          <p:nvPr>
            <p:ph idx="1" type="body"/>
          </p:nvPr>
        </p:nvSpPr>
        <p:spPr>
          <a:xfrm>
            <a:off x="396875" y="1362075"/>
            <a:ext cx="7896225" cy="4972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40"/>
              <a:buChar char="⬛"/>
            </a:pPr>
            <a:r>
              <a:rPr lang="en-US"/>
              <a:t>Avoid if you can</a:t>
            </a:r>
            <a:endParaRPr/>
          </a:p>
          <a:p>
            <a:pPr indent="-251459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440"/>
              <a:buNone/>
            </a:pPr>
            <a:r>
              <a:t/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440"/>
              <a:buChar char="⬛"/>
            </a:pPr>
            <a:r>
              <a:rPr lang="en-US"/>
              <a:t>Otherwise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200"/>
              <a:buChar char="▪"/>
            </a:pPr>
            <a:r>
              <a:rPr lang="en-US"/>
              <a:t>Use </a:t>
            </a:r>
            <a:r>
              <a:rPr b="1" lang="en-US">
                <a:latin typeface="Courier New"/>
                <a:ea typeface="Courier New"/>
                <a:cs typeface="Courier New"/>
                <a:sym typeface="Courier New"/>
              </a:rPr>
              <a:t>static </a:t>
            </a:r>
            <a:r>
              <a:rPr lang="en-US"/>
              <a:t>if you can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200"/>
              <a:buChar char="▪"/>
            </a:pPr>
            <a:r>
              <a:rPr lang="en-US"/>
              <a:t>Initialize if you define a global variable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200"/>
              <a:buChar char="▪"/>
            </a:pPr>
            <a:r>
              <a:rPr lang="en-US"/>
              <a:t>Use </a:t>
            </a:r>
            <a:r>
              <a:rPr b="1" lang="en-US">
                <a:latin typeface="Courier New"/>
                <a:ea typeface="Courier New"/>
                <a:cs typeface="Courier New"/>
                <a:sym typeface="Courier New"/>
              </a:rPr>
              <a:t>extern</a:t>
            </a:r>
            <a:r>
              <a:rPr lang="en-US"/>
              <a:t> if you reference an external global variable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20"/>
          <p:cNvSpPr txBox="1"/>
          <p:nvPr>
            <p:ph idx="4294967295" type="title"/>
          </p:nvPr>
        </p:nvSpPr>
        <p:spPr>
          <a:xfrm>
            <a:off x="372533" y="465667"/>
            <a:ext cx="7594600" cy="5730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119063" lvl="0" marL="11906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Step 2: Relocation</a:t>
            </a:r>
            <a:endParaRPr/>
          </a:p>
        </p:txBody>
      </p:sp>
      <p:sp>
        <p:nvSpPr>
          <p:cNvPr id="291" name="Google Shape;291;p20"/>
          <p:cNvSpPr/>
          <p:nvPr/>
        </p:nvSpPr>
        <p:spPr>
          <a:xfrm>
            <a:off x="508174" y="3702050"/>
            <a:ext cx="2278062" cy="533400"/>
          </a:xfrm>
          <a:prstGeom prst="rect">
            <a:avLst/>
          </a:prstGeom>
          <a:solidFill>
            <a:srgbClr val="F6F5BD"/>
          </a:solidFill>
          <a:ln cap="flat" cmpd="sng" w="255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6800" lIns="90000" spcFirstLastPara="1" rIns="90000" wrap="square" tIns="46800">
            <a:noAutofit/>
          </a:bodyPr>
          <a:lstStyle/>
          <a:p>
            <a:pPr indent="0" lvl="0" marL="0" marR="0" rtl="0"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main()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2" name="Google Shape;292;p20"/>
          <p:cNvSpPr txBox="1"/>
          <p:nvPr/>
        </p:nvSpPr>
        <p:spPr>
          <a:xfrm>
            <a:off x="414865" y="3395828"/>
            <a:ext cx="1008907" cy="354906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spAutoFit/>
          </a:bodyPr>
          <a:lstStyle/>
          <a:p>
            <a:pPr indent="0" lvl="0" marL="0" marR="0" rtl="0"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main.o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3" name="Google Shape;293;p20"/>
          <p:cNvSpPr/>
          <p:nvPr/>
        </p:nvSpPr>
        <p:spPr>
          <a:xfrm>
            <a:off x="508174" y="5032375"/>
            <a:ext cx="2278062" cy="533400"/>
          </a:xfrm>
          <a:prstGeom prst="rect">
            <a:avLst/>
          </a:prstGeom>
          <a:solidFill>
            <a:srgbClr val="F6F5BD"/>
          </a:solidFill>
          <a:ln cap="flat" cmpd="sng" w="255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6800" lIns="90000" spcFirstLastPara="1" rIns="90000" wrap="square" tIns="46800">
            <a:noAutofit/>
          </a:bodyPr>
          <a:lstStyle/>
          <a:p>
            <a:pPr indent="0" lvl="0" marL="0" marR="0" rtl="0"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sum()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4" name="Google Shape;294;p20"/>
          <p:cNvSpPr txBox="1"/>
          <p:nvPr/>
        </p:nvSpPr>
        <p:spPr>
          <a:xfrm>
            <a:off x="381000" y="4738689"/>
            <a:ext cx="874368" cy="357663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spAutoFit/>
          </a:bodyPr>
          <a:lstStyle/>
          <a:p>
            <a:pPr indent="0" lvl="0" marL="0" marR="0" rtl="0"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sum.o</a:t>
            </a:r>
            <a:endParaRPr b="1" i="0" sz="18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95" name="Google Shape;295;p20"/>
          <p:cNvSpPr/>
          <p:nvPr/>
        </p:nvSpPr>
        <p:spPr>
          <a:xfrm>
            <a:off x="508174" y="2057400"/>
            <a:ext cx="2278062" cy="533400"/>
          </a:xfrm>
          <a:prstGeom prst="rect">
            <a:avLst/>
          </a:prstGeom>
          <a:solidFill>
            <a:srgbClr val="F6F5BD"/>
          </a:solidFill>
          <a:ln cap="flat" cmpd="sng" w="255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6800" lIns="90000" spcFirstLastPara="1" rIns="90000" wrap="square" tIns="46800">
            <a:noAutofit/>
          </a:bodyPr>
          <a:lstStyle/>
          <a:p>
            <a:pPr indent="0" lvl="0" marL="0" marR="0" rtl="0" algn="ctr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System code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6" name="Google Shape;296;p20"/>
          <p:cNvSpPr/>
          <p:nvPr/>
        </p:nvSpPr>
        <p:spPr>
          <a:xfrm>
            <a:off x="508174" y="4235450"/>
            <a:ext cx="2278062" cy="322262"/>
          </a:xfrm>
          <a:prstGeom prst="rect">
            <a:avLst/>
          </a:prstGeom>
          <a:solidFill>
            <a:srgbClr val="D5D5F4"/>
          </a:solidFill>
          <a:ln cap="flat" cmpd="sng" w="255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6800" lIns="90000" spcFirstLastPara="1" rIns="90000" wrap="square" tIns="46800">
            <a:noAutofit/>
          </a:bodyPr>
          <a:lstStyle/>
          <a:p>
            <a:pPr indent="0" lvl="0" marL="0" marR="0" rtl="0"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5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int array[2]={1,2}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7" name="Google Shape;297;p20"/>
          <p:cNvSpPr/>
          <p:nvPr/>
        </p:nvSpPr>
        <p:spPr>
          <a:xfrm>
            <a:off x="508174" y="2590800"/>
            <a:ext cx="2278062" cy="361950"/>
          </a:xfrm>
          <a:prstGeom prst="rect">
            <a:avLst/>
          </a:prstGeom>
          <a:solidFill>
            <a:srgbClr val="D5D5F4"/>
          </a:solidFill>
          <a:ln cap="flat" cmpd="sng" w="255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6800" lIns="90000" spcFirstLastPara="1" rIns="90000" wrap="square" tIns="46800">
            <a:noAutofit/>
          </a:bodyPr>
          <a:lstStyle/>
          <a:p>
            <a:pPr indent="0" lvl="0" marL="0" marR="0" rtl="0" algn="ctr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System data</a:t>
            </a:r>
            <a:endParaRPr b="1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20"/>
          <p:cNvSpPr txBox="1"/>
          <p:nvPr/>
        </p:nvSpPr>
        <p:spPr>
          <a:xfrm>
            <a:off x="389467" y="1306513"/>
            <a:ext cx="3226502" cy="456473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spAutoFit/>
          </a:bodyPr>
          <a:lstStyle/>
          <a:p>
            <a:pPr indent="0" lvl="0" marL="0" marR="0" rtl="0"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Relocatable Object Files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9" name="Google Shape;299;p20"/>
          <p:cNvSpPr txBox="1"/>
          <p:nvPr/>
        </p:nvSpPr>
        <p:spPr>
          <a:xfrm>
            <a:off x="2778299" y="2112963"/>
            <a:ext cx="871049" cy="354906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spAutoFit/>
          </a:bodyPr>
          <a:lstStyle/>
          <a:p>
            <a:pPr indent="0" lvl="0" marL="0" marR="0" rtl="0"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.text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0" name="Google Shape;300;p20"/>
          <p:cNvSpPr txBox="1"/>
          <p:nvPr/>
        </p:nvSpPr>
        <p:spPr>
          <a:xfrm>
            <a:off x="2778299" y="2478088"/>
            <a:ext cx="871049" cy="354906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spAutoFit/>
          </a:bodyPr>
          <a:lstStyle/>
          <a:p>
            <a:pPr indent="0" lvl="0" marL="0" marR="0" rtl="0"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.data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1" name="Google Shape;301;p20"/>
          <p:cNvSpPr txBox="1"/>
          <p:nvPr/>
        </p:nvSpPr>
        <p:spPr>
          <a:xfrm>
            <a:off x="2778299" y="3741738"/>
            <a:ext cx="871049" cy="354906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spAutoFit/>
          </a:bodyPr>
          <a:lstStyle/>
          <a:p>
            <a:pPr indent="0" lvl="0" marL="0" marR="0" rtl="0"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.text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2" name="Google Shape;302;p20"/>
          <p:cNvSpPr txBox="1"/>
          <p:nvPr/>
        </p:nvSpPr>
        <p:spPr>
          <a:xfrm>
            <a:off x="2778299" y="4154488"/>
            <a:ext cx="871049" cy="354906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spAutoFit/>
          </a:bodyPr>
          <a:lstStyle/>
          <a:p>
            <a:pPr indent="0" lvl="0" marL="0" marR="0" rtl="0"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.data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3" name="Google Shape;303;p20"/>
          <p:cNvSpPr txBox="1"/>
          <p:nvPr/>
        </p:nvSpPr>
        <p:spPr>
          <a:xfrm>
            <a:off x="2778299" y="5103813"/>
            <a:ext cx="871049" cy="354906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spAutoFit/>
          </a:bodyPr>
          <a:lstStyle/>
          <a:p>
            <a:pPr indent="0" lvl="0" marL="0" marR="0" rtl="0"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.text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04" name="Google Shape;304;p20"/>
          <p:cNvGrpSpPr/>
          <p:nvPr/>
        </p:nvGrpSpPr>
        <p:grpSpPr>
          <a:xfrm>
            <a:off x="4038600" y="1306513"/>
            <a:ext cx="4900862" cy="4635499"/>
            <a:chOff x="4038600" y="1306513"/>
            <a:chExt cx="4900862" cy="4635499"/>
          </a:xfrm>
        </p:grpSpPr>
        <p:sp>
          <p:nvSpPr>
            <p:cNvPr id="305" name="Google Shape;305;p20"/>
            <p:cNvSpPr/>
            <p:nvPr/>
          </p:nvSpPr>
          <p:spPr>
            <a:xfrm>
              <a:off x="5231591" y="2309813"/>
              <a:ext cx="2422525" cy="319087"/>
            </a:xfrm>
            <a:prstGeom prst="rect">
              <a:avLst/>
            </a:prstGeom>
            <a:solidFill>
              <a:srgbClr val="FFFFFF"/>
            </a:solidFill>
            <a:ln cap="flat" cmpd="sng" w="255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6800" lIns="90000" spcFirstLastPara="1" rIns="90000" wrap="square" tIns="46800">
              <a:noAutofit/>
            </a:bodyPr>
            <a:lstStyle/>
            <a:p>
              <a:pPr indent="0" lvl="0" marL="0" marR="0" rtl="0" algn="ctr">
                <a:lnSpc>
                  <a:spcPct val="98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1" i="0" lang="en-US" sz="1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Headers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6" name="Google Shape;306;p20"/>
            <p:cNvSpPr/>
            <p:nvPr/>
          </p:nvSpPr>
          <p:spPr>
            <a:xfrm>
              <a:off x="5231591" y="2957513"/>
              <a:ext cx="2422525" cy="533400"/>
            </a:xfrm>
            <a:prstGeom prst="rect">
              <a:avLst/>
            </a:prstGeom>
            <a:solidFill>
              <a:srgbClr val="F6F5BD"/>
            </a:solidFill>
            <a:ln cap="flat" cmpd="sng" w="255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6800" lIns="90000" spcFirstLastPara="1" rIns="90000" wrap="square" tIns="46800">
              <a:noAutofit/>
            </a:bodyPr>
            <a:lstStyle/>
            <a:p>
              <a:pPr indent="0" lvl="0" marL="0" marR="0" rtl="0" algn="ctr">
                <a:lnSpc>
                  <a:spcPct val="94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1" i="0" lang="en-US" sz="1600" u="none" cap="none" strike="noStrike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main()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7" name="Google Shape;307;p20"/>
            <p:cNvSpPr/>
            <p:nvPr/>
          </p:nvSpPr>
          <p:spPr>
            <a:xfrm>
              <a:off x="5231591" y="3490913"/>
              <a:ext cx="2422525" cy="533400"/>
            </a:xfrm>
            <a:prstGeom prst="rect">
              <a:avLst/>
            </a:prstGeom>
            <a:solidFill>
              <a:srgbClr val="F6F5BD"/>
            </a:solidFill>
            <a:ln cap="flat" cmpd="sng" w="255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6800" lIns="90000" spcFirstLastPara="1" rIns="90000" wrap="square" tIns="46800">
              <a:noAutofit/>
            </a:bodyPr>
            <a:lstStyle/>
            <a:p>
              <a:pPr indent="0" lvl="0" marL="0" marR="0" rtl="0" algn="ctr">
                <a:lnSpc>
                  <a:spcPct val="94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1" i="0" lang="en-US" sz="1600" u="none" cap="none" strike="noStrike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sum()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8" name="Google Shape;308;p20"/>
            <p:cNvSpPr txBox="1"/>
            <p:nvPr/>
          </p:nvSpPr>
          <p:spPr>
            <a:xfrm>
              <a:off x="4948237" y="2136774"/>
              <a:ext cx="309563" cy="36353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6800" lIns="90000" spcFirstLastPara="1" rIns="90000" wrap="square" tIns="46800">
              <a:spAutoFit/>
            </a:bodyPr>
            <a:lstStyle/>
            <a:p>
              <a:pPr indent="0" lvl="0" marL="0" marR="0" rtl="0" algn="l">
                <a:lnSpc>
                  <a:spcPct val="98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-US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0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9" name="Google Shape;309;p20"/>
            <p:cNvSpPr/>
            <p:nvPr/>
          </p:nvSpPr>
          <p:spPr>
            <a:xfrm>
              <a:off x="5231591" y="4024313"/>
              <a:ext cx="2422525" cy="533400"/>
            </a:xfrm>
            <a:prstGeom prst="rect">
              <a:avLst/>
            </a:prstGeom>
            <a:solidFill>
              <a:srgbClr val="F6F5BD"/>
            </a:solidFill>
            <a:ln cap="flat" cmpd="sng" w="255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6800" lIns="90000" spcFirstLastPara="1" rIns="90000" wrap="square" tIns="46800">
              <a:noAutofit/>
            </a:bodyPr>
            <a:lstStyle/>
            <a:p>
              <a:pPr indent="0" lvl="0" marL="0" marR="0" rtl="0" algn="ctr">
                <a:lnSpc>
                  <a:spcPct val="98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1" i="0" lang="en-US" sz="1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More system code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0" name="Google Shape;310;p20"/>
            <p:cNvSpPr txBox="1"/>
            <p:nvPr/>
          </p:nvSpPr>
          <p:spPr>
            <a:xfrm>
              <a:off x="5105400" y="1306513"/>
              <a:ext cx="2995862" cy="45647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6800" lIns="90000" spcFirstLastPara="1" rIns="90000" wrap="square" tIns="46800">
              <a:spAutoFit/>
            </a:bodyPr>
            <a:lstStyle/>
            <a:p>
              <a:pPr indent="0" lvl="0" marL="0" marR="0" rtl="0" algn="l">
                <a:lnSpc>
                  <a:spcPct val="98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1" i="0" lang="en-US" sz="2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Executable Object File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1" name="Google Shape;311;p20"/>
            <p:cNvSpPr/>
            <p:nvPr/>
          </p:nvSpPr>
          <p:spPr>
            <a:xfrm>
              <a:off x="7772400" y="2628899"/>
              <a:ext cx="304800" cy="1928813"/>
            </a:xfrm>
            <a:prstGeom prst="rightBrace">
              <a:avLst>
                <a:gd fmla="val 59766" name="adj1"/>
                <a:gd fmla="val 50000" name="adj2"/>
              </a:avLst>
            </a:prstGeom>
            <a:noFill/>
            <a:ln cap="flat" cmpd="sng" w="255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1" i="0" sz="2400" u="none" cap="none" strike="noStrik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endParaRPr>
            </a:p>
          </p:txBody>
        </p:sp>
        <p:sp>
          <p:nvSpPr>
            <p:cNvPr id="312" name="Google Shape;312;p20"/>
            <p:cNvSpPr txBox="1"/>
            <p:nvPr/>
          </p:nvSpPr>
          <p:spPr>
            <a:xfrm>
              <a:off x="8068413" y="3224742"/>
              <a:ext cx="871049" cy="35490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6800" lIns="90000" spcFirstLastPara="1" rIns="90000" wrap="square" tIns="46800">
              <a:spAutoFit/>
            </a:bodyPr>
            <a:lstStyle/>
            <a:p>
              <a:pPr indent="0" lvl="0" marL="0" marR="0" rtl="0" algn="l">
                <a:lnSpc>
                  <a:spcPct val="94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-US" sz="1800" u="none" cap="none" strike="noStrike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.text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3" name="Google Shape;313;p20"/>
            <p:cNvSpPr/>
            <p:nvPr/>
          </p:nvSpPr>
          <p:spPr>
            <a:xfrm>
              <a:off x="5231591" y="5257800"/>
              <a:ext cx="2422525" cy="684212"/>
            </a:xfrm>
            <a:prstGeom prst="rect">
              <a:avLst/>
            </a:prstGeom>
            <a:solidFill>
              <a:srgbClr val="FFFFFF"/>
            </a:solidFill>
            <a:ln cap="flat" cmpd="sng" w="255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6800" lIns="90000" spcFirstLastPara="1" rIns="90000" wrap="square" tIns="46800">
              <a:noAutofit/>
            </a:bodyPr>
            <a:lstStyle/>
            <a:p>
              <a:pPr indent="0" lvl="0" marL="0" marR="0" rtl="0" algn="ctr">
                <a:lnSpc>
                  <a:spcPct val="94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1" i="0" lang="en-US" sz="1600" u="none" cap="none" strike="noStrike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.symtab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94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1" i="0" lang="en-US" sz="1600" u="none" cap="none" strike="noStrike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.debug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4" name="Google Shape;314;p20"/>
            <p:cNvSpPr/>
            <p:nvPr/>
          </p:nvSpPr>
          <p:spPr>
            <a:xfrm>
              <a:off x="7730316" y="4557713"/>
              <a:ext cx="304800" cy="676275"/>
            </a:xfrm>
            <a:prstGeom prst="rightBrace">
              <a:avLst>
                <a:gd fmla="val 18490" name="adj1"/>
                <a:gd fmla="val 50000" name="adj2"/>
              </a:avLst>
            </a:prstGeom>
            <a:noFill/>
            <a:ln cap="flat" cmpd="sng" w="255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1" i="0" sz="2400" u="none" cap="none" strike="noStrik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endParaRPr>
            </a:p>
          </p:txBody>
        </p:sp>
        <p:sp>
          <p:nvSpPr>
            <p:cNvPr id="315" name="Google Shape;315;p20"/>
            <p:cNvSpPr txBox="1"/>
            <p:nvPr/>
          </p:nvSpPr>
          <p:spPr>
            <a:xfrm>
              <a:off x="8068413" y="4696354"/>
              <a:ext cx="871049" cy="35490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6800" lIns="90000" spcFirstLastPara="1" rIns="90000" wrap="square" tIns="46800">
              <a:spAutoFit/>
            </a:bodyPr>
            <a:lstStyle/>
            <a:p>
              <a:pPr indent="0" lvl="0" marL="0" marR="0" rtl="0" algn="l">
                <a:lnSpc>
                  <a:spcPct val="94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-US" sz="1800" u="none" cap="none" strike="noStrike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.data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316" name="Google Shape;316;p20"/>
            <p:cNvCxnSpPr/>
            <p:nvPr/>
          </p:nvCxnSpPr>
          <p:spPr>
            <a:xfrm>
              <a:off x="4038600" y="4106070"/>
              <a:ext cx="836613" cy="1587"/>
            </a:xfrm>
            <a:prstGeom prst="straightConnector1">
              <a:avLst/>
            </a:prstGeom>
            <a:noFill/>
            <a:ln cap="flat" cmpd="sng" w="76300">
              <a:solidFill>
                <a:srgbClr val="595959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cxnSp>
          <p:nvCxnSpPr>
            <p:cNvPr id="317" name="Google Shape;317;p20"/>
            <p:cNvCxnSpPr/>
            <p:nvPr/>
          </p:nvCxnSpPr>
          <p:spPr>
            <a:xfrm>
              <a:off x="4038600" y="2971800"/>
              <a:ext cx="836613" cy="392113"/>
            </a:xfrm>
            <a:prstGeom prst="straightConnector1">
              <a:avLst/>
            </a:prstGeom>
            <a:noFill/>
            <a:ln cap="flat" cmpd="sng" w="76300">
              <a:solidFill>
                <a:srgbClr val="595959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cxnSp>
          <p:nvCxnSpPr>
            <p:cNvPr id="318" name="Google Shape;318;p20"/>
            <p:cNvCxnSpPr/>
            <p:nvPr/>
          </p:nvCxnSpPr>
          <p:spPr>
            <a:xfrm flipH="1" rot="10800000">
              <a:off x="4038600" y="4849813"/>
              <a:ext cx="836613" cy="409575"/>
            </a:xfrm>
            <a:prstGeom prst="straightConnector1">
              <a:avLst/>
            </a:prstGeom>
            <a:noFill/>
            <a:ln cap="flat" cmpd="sng" w="76300">
              <a:solidFill>
                <a:srgbClr val="595959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sp>
          <p:nvSpPr>
            <p:cNvPr id="319" name="Google Shape;319;p20"/>
            <p:cNvSpPr/>
            <p:nvPr/>
          </p:nvSpPr>
          <p:spPr>
            <a:xfrm>
              <a:off x="5231591" y="2633663"/>
              <a:ext cx="2422525" cy="319087"/>
            </a:xfrm>
            <a:prstGeom prst="rect">
              <a:avLst/>
            </a:prstGeom>
            <a:solidFill>
              <a:srgbClr val="F6F5BD"/>
            </a:solidFill>
            <a:ln cap="flat" cmpd="sng" w="255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6800" lIns="90000" spcFirstLastPara="1" rIns="90000" wrap="square" tIns="46800">
              <a:noAutofit/>
            </a:bodyPr>
            <a:lstStyle/>
            <a:p>
              <a:pPr indent="0" lvl="0" marL="0" marR="0" rtl="0" algn="ctr">
                <a:lnSpc>
                  <a:spcPct val="98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1" i="0" lang="en-US" sz="1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System code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0" name="Google Shape;320;p20"/>
            <p:cNvSpPr/>
            <p:nvPr/>
          </p:nvSpPr>
          <p:spPr>
            <a:xfrm>
              <a:off x="5231590" y="4564063"/>
              <a:ext cx="2422525" cy="361950"/>
            </a:xfrm>
            <a:prstGeom prst="rect">
              <a:avLst/>
            </a:prstGeom>
            <a:solidFill>
              <a:srgbClr val="D5D5F4"/>
            </a:solidFill>
            <a:ln cap="flat" cmpd="sng" w="255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6800" lIns="90000" spcFirstLastPara="1" rIns="90000" wrap="square" tIns="46800">
              <a:noAutofit/>
            </a:bodyPr>
            <a:lstStyle/>
            <a:p>
              <a:pPr indent="0" lvl="0" marL="0" marR="0" rtl="0" algn="ctr">
                <a:lnSpc>
                  <a:spcPct val="98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1" i="0" lang="en-US" sz="1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System data</a:t>
              </a:r>
              <a:endPara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1" name="Google Shape;321;p20"/>
            <p:cNvSpPr/>
            <p:nvPr/>
          </p:nvSpPr>
          <p:spPr>
            <a:xfrm>
              <a:off x="5231591" y="4942682"/>
              <a:ext cx="2422524" cy="322262"/>
            </a:xfrm>
            <a:prstGeom prst="rect">
              <a:avLst/>
            </a:prstGeom>
            <a:solidFill>
              <a:srgbClr val="D5D5F4"/>
            </a:solidFill>
            <a:ln cap="flat" cmpd="sng" w="255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6800" lIns="90000" spcFirstLastPara="1" rIns="90000" wrap="square" tIns="46800">
              <a:noAutofit/>
            </a:bodyPr>
            <a:lstStyle/>
            <a:p>
              <a:pPr indent="0" lvl="0" marL="0" marR="0" rtl="0" algn="ctr">
                <a:lnSpc>
                  <a:spcPct val="94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1" i="0" lang="en-US" sz="1600" u="none" cap="none" strike="noStrike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int array[2]={1,2}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21"/>
          <p:cNvSpPr txBox="1"/>
          <p:nvPr>
            <p:ph idx="4294967295" type="title"/>
          </p:nvPr>
        </p:nvSpPr>
        <p:spPr>
          <a:xfrm>
            <a:off x="333904" y="445029"/>
            <a:ext cx="8716962" cy="7826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119063" lvl="0" marL="119063" rtl="0" algn="l">
              <a:lnSpc>
                <a:spcPct val="82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Relocation Entries</a:t>
            </a:r>
            <a:endParaRPr/>
          </a:p>
        </p:txBody>
      </p:sp>
      <p:sp>
        <p:nvSpPr>
          <p:cNvPr id="328" name="Google Shape;328;p21"/>
          <p:cNvSpPr txBox="1"/>
          <p:nvPr/>
        </p:nvSpPr>
        <p:spPr>
          <a:xfrm>
            <a:off x="5715000" y="6551633"/>
            <a:ext cx="2933713" cy="306367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spAutoFit/>
          </a:bodyPr>
          <a:lstStyle/>
          <a:p>
            <a:pPr indent="0" lvl="0" marL="0" marR="0" rtl="0"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Source: </a:t>
            </a:r>
            <a:r>
              <a:rPr b="1" i="0" lang="en-US" sz="14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objdump –r –d main.o</a:t>
            </a:r>
            <a:endParaRPr b="1" i="0" sz="14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329" name="Google Shape;329;p21"/>
          <p:cNvSpPr txBox="1"/>
          <p:nvPr/>
        </p:nvSpPr>
        <p:spPr>
          <a:xfrm>
            <a:off x="0" y="3581400"/>
            <a:ext cx="9075900" cy="2788800"/>
          </a:xfrm>
          <a:prstGeom prst="rect">
            <a:avLst/>
          </a:prstGeom>
          <a:solidFill>
            <a:srgbClr val="F2F2F2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6800" lIns="90000" spcFirstLastPara="1" rIns="90000" wrap="square" tIns="468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0000000000000000 &lt;main&gt;: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0:   48 83 ec 08             	sub    $0x8,%rsp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4:   be 02 00 00 00          	mov    $0x2,%esi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9:   bf 00 00 00 00          	mov    $0x0,%edi     	</a:t>
            </a:r>
            <a:r>
              <a:rPr b="1" i="0" lang="en-US" sz="1600" u="none" cap="none" strike="noStrike">
                <a:solidFill>
                  <a:srgbClr val="3366FF"/>
                </a:solidFill>
                <a:latin typeface="Arial"/>
                <a:ea typeface="Arial"/>
                <a:cs typeface="Arial"/>
                <a:sym typeface="Arial"/>
              </a:rPr>
              <a:t># %edi = &amp;array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</a:t>
            </a:r>
            <a:r>
              <a:rPr b="1" i="0" lang="en-US" sz="16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a: R_X86_64_32 array          					</a:t>
            </a:r>
            <a:r>
              <a:rPr b="1" i="0" lang="en-US" sz="1600" u="none" cap="none" strike="noStrike">
                <a:solidFill>
                  <a:srgbClr val="3366FF"/>
                </a:solidFill>
                <a:latin typeface="Arial"/>
                <a:ea typeface="Arial"/>
                <a:cs typeface="Arial"/>
                <a:sym typeface="Arial"/>
              </a:rPr>
              <a:t># Relocation entry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1" i="0" sz="1600" u="none" cap="none" strike="noStrike">
              <a:solidFill>
                <a:srgbClr val="3366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e:   e8 00 00 00 00          	callq  13 &lt;main+0x13&gt; 	</a:t>
            </a:r>
            <a:r>
              <a:rPr b="1" i="0" lang="en-US" sz="1600" u="none" cap="none" strike="noStrike">
                <a:solidFill>
                  <a:srgbClr val="3366FF"/>
                </a:solidFill>
                <a:latin typeface="Arial"/>
                <a:ea typeface="Arial"/>
                <a:cs typeface="Arial"/>
                <a:sym typeface="Arial"/>
              </a:rPr>
              <a:t># sum()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</a:t>
            </a:r>
            <a:r>
              <a:rPr b="1" i="0" lang="en-US" sz="16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f: R_X86_64_PC32 sum-0x4      					</a:t>
            </a:r>
            <a:r>
              <a:rPr b="1" i="0" lang="en-US" sz="1600" u="none" cap="none" strike="noStrike">
                <a:solidFill>
                  <a:srgbClr val="3366FF"/>
                </a:solidFill>
                <a:latin typeface="Arial"/>
                <a:ea typeface="Arial"/>
                <a:cs typeface="Arial"/>
                <a:sym typeface="Arial"/>
              </a:rPr>
              <a:t># Relocation entry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13:   48 83 c4 08             	add    $0x8,%rsp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17:   c3                      		retq</a:t>
            </a:r>
            <a:endParaRPr b="1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1" i="0" sz="16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330" name="Google Shape;330;p21"/>
          <p:cNvSpPr/>
          <p:nvPr/>
        </p:nvSpPr>
        <p:spPr>
          <a:xfrm>
            <a:off x="8067113" y="6014373"/>
            <a:ext cx="1067294" cy="357663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spAutoFit/>
          </a:bodyPr>
          <a:lstStyle/>
          <a:p>
            <a:pPr indent="0" lvl="0" marL="0" marR="0" rtl="0"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1" lang="en-US" sz="1800" u="none" cap="none" strike="noStrike">
                <a:solidFill>
                  <a:srgbClr val="7F7F7F"/>
                </a:solidFill>
                <a:latin typeface="Courier New"/>
                <a:ea typeface="Courier New"/>
                <a:cs typeface="Courier New"/>
                <a:sym typeface="Courier New"/>
              </a:rPr>
              <a:t>main.o</a:t>
            </a:r>
            <a:endParaRPr b="1" i="1" sz="1800" u="none" cap="none" strike="noStrike">
              <a:solidFill>
                <a:srgbClr val="7F7F7F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331" name="Google Shape;331;p21"/>
          <p:cNvSpPr/>
          <p:nvPr/>
        </p:nvSpPr>
        <p:spPr>
          <a:xfrm>
            <a:off x="118003" y="1219200"/>
            <a:ext cx="4072997" cy="2033507"/>
          </a:xfrm>
          <a:prstGeom prst="rect">
            <a:avLst/>
          </a:prstGeom>
          <a:solidFill>
            <a:srgbClr val="F7F5CD"/>
          </a:solidFill>
          <a:ln cap="flat" cmpd="sng" w="9525">
            <a:solidFill>
              <a:srgbClr val="00006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6800" lIns="90000" spcFirstLastPara="1" rIns="90000" wrap="square" tIns="468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2D961E"/>
                </a:solidFill>
                <a:latin typeface="Arial"/>
                <a:ea typeface="Arial"/>
                <a:cs typeface="Arial"/>
                <a:sym typeface="Arial"/>
              </a:rPr>
              <a:t>int</a:t>
            </a:r>
            <a:r>
              <a:rPr b="1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en-US" sz="1800" u="none" cap="none" strike="noStrike">
                <a:solidFill>
                  <a:srgbClr val="C1651C"/>
                </a:solidFill>
                <a:latin typeface="Arial"/>
                <a:ea typeface="Arial"/>
                <a:cs typeface="Arial"/>
                <a:sym typeface="Arial"/>
              </a:rPr>
              <a:t>array</a:t>
            </a:r>
            <a:r>
              <a:rPr b="1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[2] = {1, 2};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2D961E"/>
                </a:solidFill>
                <a:latin typeface="Arial"/>
                <a:ea typeface="Arial"/>
                <a:cs typeface="Arial"/>
                <a:sym typeface="Arial"/>
              </a:rPr>
              <a:t>int</a:t>
            </a:r>
            <a:r>
              <a:rPr b="1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en-US" sz="1800" u="none" cap="none" strike="noStrike">
                <a:solidFill>
                  <a:srgbClr val="4A00FF"/>
                </a:solidFill>
                <a:latin typeface="Arial"/>
                <a:ea typeface="Arial"/>
                <a:cs typeface="Arial"/>
                <a:sym typeface="Arial"/>
              </a:rPr>
              <a:t>main</a:t>
            </a:r>
            <a:r>
              <a:rPr b="1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</a:t>
            </a:r>
            <a:r>
              <a:rPr b="1" i="0" lang="en-US" sz="1800" u="none" cap="none" strike="noStrike">
                <a:solidFill>
                  <a:srgbClr val="2D961E"/>
                </a:solidFill>
                <a:latin typeface="Arial"/>
                <a:ea typeface="Arial"/>
                <a:cs typeface="Arial"/>
                <a:sym typeface="Arial"/>
              </a:rPr>
              <a:t>int</a:t>
            </a:r>
            <a:r>
              <a:rPr b="1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en-US" sz="1800" u="none" cap="none" strike="noStrike">
                <a:solidFill>
                  <a:srgbClr val="C1651C"/>
                </a:solidFill>
                <a:latin typeface="Arial"/>
                <a:ea typeface="Arial"/>
                <a:cs typeface="Arial"/>
                <a:sym typeface="Arial"/>
              </a:rPr>
              <a:t>val</a:t>
            </a:r>
            <a:r>
              <a:rPr b="1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= sum(array, 2);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</a:t>
            </a:r>
            <a:r>
              <a:rPr b="1" i="0" lang="en-US" sz="1800" u="none" cap="none" strike="noStrike">
                <a:solidFill>
                  <a:srgbClr val="C200FF"/>
                </a:solidFill>
                <a:latin typeface="Arial"/>
                <a:ea typeface="Arial"/>
                <a:cs typeface="Arial"/>
                <a:sym typeface="Arial"/>
              </a:rPr>
              <a:t>return</a:t>
            </a:r>
            <a:r>
              <a:rPr b="1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val;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}</a:t>
            </a:r>
            <a:endParaRPr b="1" i="0" sz="18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332" name="Google Shape;332;p21"/>
          <p:cNvSpPr/>
          <p:nvPr/>
        </p:nvSpPr>
        <p:spPr>
          <a:xfrm>
            <a:off x="3199906" y="2895044"/>
            <a:ext cx="1067294" cy="357663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spAutoFit/>
          </a:bodyPr>
          <a:lstStyle/>
          <a:p>
            <a:pPr indent="0" lvl="0" marL="0" marR="0" rtl="0"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1" lang="en-US" sz="1800" u="none" cap="none" strike="noStrike">
                <a:solidFill>
                  <a:srgbClr val="7F7F7F"/>
                </a:solidFill>
                <a:latin typeface="Courier New"/>
                <a:ea typeface="Courier New"/>
                <a:cs typeface="Courier New"/>
                <a:sym typeface="Courier New"/>
              </a:rPr>
              <a:t>main.c</a:t>
            </a:r>
            <a:endParaRPr b="1" i="1" sz="1800" u="none" cap="none" strike="noStrike">
              <a:solidFill>
                <a:srgbClr val="7F7F7F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22"/>
          <p:cNvSpPr txBox="1"/>
          <p:nvPr>
            <p:ph idx="4294967295" type="title"/>
          </p:nvPr>
        </p:nvSpPr>
        <p:spPr>
          <a:xfrm>
            <a:off x="250826" y="152400"/>
            <a:ext cx="8918575" cy="11350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119063" lvl="0" marL="11906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Relocated .text section</a:t>
            </a:r>
            <a:endParaRPr/>
          </a:p>
        </p:txBody>
      </p:sp>
      <p:sp>
        <p:nvSpPr>
          <p:cNvPr id="339" name="Google Shape;339;p22"/>
          <p:cNvSpPr/>
          <p:nvPr/>
        </p:nvSpPr>
        <p:spPr>
          <a:xfrm>
            <a:off x="152400" y="3200400"/>
            <a:ext cx="181758" cy="328424"/>
          </a:xfrm>
          <a:prstGeom prst="rect">
            <a:avLst/>
          </a:prstGeom>
          <a:solidFill>
            <a:srgbClr val="F2F2F2"/>
          </a:solidFill>
          <a:ln cap="flat" cmpd="sng" w="126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6800" lIns="90000" spcFirstLastPara="1" rIns="90000" wrap="square" tIns="46800">
            <a:spAutoFit/>
          </a:bodyPr>
          <a:lstStyle/>
          <a:p>
            <a:pPr indent="0" lvl="0" marL="0" marR="0" rtl="0"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1" i="0" sz="16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340" name="Google Shape;340;p22"/>
          <p:cNvSpPr txBox="1"/>
          <p:nvPr/>
        </p:nvSpPr>
        <p:spPr>
          <a:xfrm>
            <a:off x="76200" y="1330888"/>
            <a:ext cx="9017100" cy="4527600"/>
          </a:xfrm>
          <a:prstGeom prst="rect">
            <a:avLst/>
          </a:prstGeom>
          <a:solidFill>
            <a:srgbClr val="F2F2F2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6800" lIns="90000" spcFirstLastPara="1" rIns="90000" wrap="square" tIns="468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00000000004004d0 &lt;main&gt;: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4004d0:       48 83 ec 08       		sub    $0x8,%rsp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4004d4:       be 02 00 00 00    	mov    $0x2,%esi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4004d9:       bf 18 10 60 00    	mov    </a:t>
            </a:r>
            <a:r>
              <a:rPr b="1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$0x601018</a:t>
            </a: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,%edi  </a:t>
            </a:r>
            <a:r>
              <a:rPr b="1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# %edi = &amp;array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4004de:       e8 </a:t>
            </a:r>
            <a:r>
              <a:rPr b="1" i="0" lang="en-US" sz="16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05 00 00 00    	</a:t>
            </a: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callq  </a:t>
            </a:r>
            <a:r>
              <a:rPr b="1" i="0" lang="en-US" sz="16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4004e8 </a:t>
            </a: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&lt;sum&gt;    # sum()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b="1" i="0" lang="en-US" sz="1600" u="none" cap="none" strike="noStrike">
                <a:solidFill>
                  <a:srgbClr val="3366FF"/>
                </a:solidFill>
                <a:latin typeface="Arial"/>
                <a:ea typeface="Arial"/>
                <a:cs typeface="Arial"/>
                <a:sym typeface="Arial"/>
              </a:rPr>
              <a:t>4004e3</a:t>
            </a: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      48 83 c4 08       		add    $0x8,%rsp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4004e7:       c3                		retq</a:t>
            </a:r>
            <a:endParaRPr b="1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1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00000000004004e8 &lt;sum&gt;: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b="1" i="0" lang="en-US" sz="16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4004e8</a:t>
            </a: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      b8 00 00 00 00          mov    $0x0,%eax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4004ed:       ba 00 00 00 00          mov    $0x0,%edx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4004f2:       eb 09                   	jmp    4004fd &lt;sum+0x15&gt;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4004f4:       48 63 ca                	movslq %edx,%rcx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4004f7:       03 04 8f                	add    (%rdi,%rcx,4),%eax</a:t>
            </a:r>
            <a:endParaRPr b="1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4004fa:       83 c2 01                	add    $0x1,%edx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4004fd:       39 f2                   	cmp    %esi,%edx</a:t>
            </a:r>
            <a:endParaRPr b="1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4004ff:       7c f3                   		jl     4004f4 &lt;sum+0xc&gt;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400501:       f3 c3                   	repz retq</a:t>
            </a:r>
            <a:endParaRPr b="1" i="0" sz="16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341" name="Google Shape;341;p22"/>
          <p:cNvSpPr txBox="1"/>
          <p:nvPr/>
        </p:nvSpPr>
        <p:spPr>
          <a:xfrm>
            <a:off x="838200" y="5943600"/>
            <a:ext cx="7343326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Using PC-relative addressing for sum():  </a:t>
            </a:r>
            <a:r>
              <a:rPr b="1" i="0" lang="en-US" sz="20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0x4004e8</a:t>
            </a:r>
            <a:r>
              <a:rPr b="1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= </a:t>
            </a:r>
            <a:r>
              <a:rPr b="1" i="0" lang="en-US" sz="2000" u="none" cap="none" strike="noStrike">
                <a:solidFill>
                  <a:srgbClr val="3366FF"/>
                </a:solidFill>
                <a:latin typeface="Calibri"/>
                <a:ea typeface="Calibri"/>
                <a:cs typeface="Calibri"/>
                <a:sym typeface="Calibri"/>
              </a:rPr>
              <a:t>0x4004e3</a:t>
            </a:r>
            <a:r>
              <a:rPr b="1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+ </a:t>
            </a:r>
            <a:r>
              <a:rPr b="1" i="0" lang="en-US" sz="2000" u="none" cap="none" strike="noStrike">
                <a:solidFill>
                  <a:srgbClr val="00CC99"/>
                </a:solidFill>
                <a:latin typeface="Calibri"/>
                <a:ea typeface="Calibri"/>
                <a:cs typeface="Calibri"/>
                <a:sym typeface="Calibri"/>
              </a:rPr>
              <a:t>0x5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2" name="Google Shape;342;p22"/>
          <p:cNvSpPr/>
          <p:nvPr/>
        </p:nvSpPr>
        <p:spPr>
          <a:xfrm>
            <a:off x="5394598" y="6519446"/>
            <a:ext cx="3139802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Source: objdump -dx prog</a:t>
            </a:r>
            <a:endParaRPr b="1" i="0" sz="16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23"/>
          <p:cNvSpPr txBox="1"/>
          <p:nvPr>
            <p:ph idx="4294967295" type="title"/>
          </p:nvPr>
        </p:nvSpPr>
        <p:spPr>
          <a:xfrm>
            <a:off x="350838" y="381000"/>
            <a:ext cx="8716962" cy="7826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119063" lvl="0" marL="11906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Loading Executable Object Files</a:t>
            </a:r>
            <a:endParaRPr/>
          </a:p>
        </p:txBody>
      </p:sp>
      <p:sp>
        <p:nvSpPr>
          <p:cNvPr id="349" name="Google Shape;349;p23"/>
          <p:cNvSpPr/>
          <p:nvPr/>
        </p:nvSpPr>
        <p:spPr>
          <a:xfrm>
            <a:off x="323646" y="1567788"/>
            <a:ext cx="2971800" cy="381000"/>
          </a:xfrm>
          <a:prstGeom prst="rect">
            <a:avLst/>
          </a:prstGeom>
          <a:solidFill>
            <a:srgbClr val="F2F2F2"/>
          </a:solidFill>
          <a:ln cap="flat" cmpd="sng" w="255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6800" lIns="90000" spcFirstLastPara="1" rIns="90000" wrap="square" tIns="46800">
            <a:noAutofit/>
          </a:bodyPr>
          <a:lstStyle/>
          <a:p>
            <a:pPr indent="0" lvl="0" marL="0" marR="0" rtl="0" algn="ctr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ELF header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0" name="Google Shape;350;p23"/>
          <p:cNvSpPr/>
          <p:nvPr/>
        </p:nvSpPr>
        <p:spPr>
          <a:xfrm>
            <a:off x="323646" y="1948788"/>
            <a:ext cx="2971800" cy="609600"/>
          </a:xfrm>
          <a:prstGeom prst="rect">
            <a:avLst/>
          </a:prstGeom>
          <a:solidFill>
            <a:srgbClr val="F2F2F2"/>
          </a:solidFill>
          <a:ln cap="flat" cmpd="sng" w="255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6800" lIns="90000" spcFirstLastPara="1" rIns="90000" wrap="square" tIns="46800">
            <a:noAutofit/>
          </a:bodyPr>
          <a:lstStyle/>
          <a:p>
            <a:pPr indent="0" lvl="0" marL="0" marR="0" rtl="0" algn="ctr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Program header table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(required for executables)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1" name="Google Shape;351;p23"/>
          <p:cNvSpPr/>
          <p:nvPr/>
        </p:nvSpPr>
        <p:spPr>
          <a:xfrm>
            <a:off x="323646" y="2939388"/>
            <a:ext cx="2971800" cy="381000"/>
          </a:xfrm>
          <a:prstGeom prst="rect">
            <a:avLst/>
          </a:prstGeom>
          <a:solidFill>
            <a:srgbClr val="F6F5BD"/>
          </a:solidFill>
          <a:ln cap="flat" cmpd="sng" w="255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6800" lIns="90000" spcFirstLastPara="1" rIns="90000" wrap="square" tIns="46800">
            <a:noAutofit/>
          </a:bodyPr>
          <a:lstStyle/>
          <a:p>
            <a:pPr indent="0" lvl="0" marL="0" marR="0" rtl="0" algn="ctr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.text section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2" name="Google Shape;352;p23"/>
          <p:cNvSpPr/>
          <p:nvPr/>
        </p:nvSpPr>
        <p:spPr>
          <a:xfrm>
            <a:off x="323646" y="3701388"/>
            <a:ext cx="2971800" cy="381000"/>
          </a:xfrm>
          <a:prstGeom prst="rect">
            <a:avLst/>
          </a:prstGeom>
          <a:solidFill>
            <a:srgbClr val="D5D5F4"/>
          </a:solidFill>
          <a:ln cap="flat" cmpd="sng" w="255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6800" lIns="90000" spcFirstLastPara="1" rIns="90000" wrap="square" tIns="46800">
            <a:noAutofit/>
          </a:bodyPr>
          <a:lstStyle/>
          <a:p>
            <a:pPr indent="0" lvl="0" marL="0" marR="0" rtl="0" algn="ctr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.data section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3" name="Google Shape;353;p23"/>
          <p:cNvSpPr/>
          <p:nvPr/>
        </p:nvSpPr>
        <p:spPr>
          <a:xfrm>
            <a:off x="323646" y="4082388"/>
            <a:ext cx="2971800" cy="381000"/>
          </a:xfrm>
          <a:prstGeom prst="rect">
            <a:avLst/>
          </a:prstGeom>
          <a:solidFill>
            <a:srgbClr val="D5D5F4"/>
          </a:solidFill>
          <a:ln cap="flat" cmpd="sng" w="255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6800" lIns="90000" spcFirstLastPara="1" rIns="90000" wrap="square" tIns="46800">
            <a:noAutofit/>
          </a:bodyPr>
          <a:lstStyle/>
          <a:p>
            <a:pPr indent="0" lvl="0" marL="0" marR="0" rtl="0" algn="ctr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.bss section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4" name="Google Shape;354;p23"/>
          <p:cNvSpPr/>
          <p:nvPr/>
        </p:nvSpPr>
        <p:spPr>
          <a:xfrm>
            <a:off x="323646" y="4463388"/>
            <a:ext cx="2971800" cy="381000"/>
          </a:xfrm>
          <a:prstGeom prst="rect">
            <a:avLst/>
          </a:prstGeom>
          <a:solidFill>
            <a:srgbClr val="F2F2F2"/>
          </a:solidFill>
          <a:ln cap="flat" cmpd="sng" w="255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6800" lIns="90000" spcFirstLastPara="1" rIns="90000" wrap="square" tIns="46800">
            <a:noAutofit/>
          </a:bodyPr>
          <a:lstStyle/>
          <a:p>
            <a:pPr indent="0" lvl="0" marL="0" marR="0" rtl="0" algn="ctr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.symtab</a:t>
            </a:r>
            <a:endParaRPr b="1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" name="Google Shape;355;p23"/>
          <p:cNvSpPr/>
          <p:nvPr/>
        </p:nvSpPr>
        <p:spPr>
          <a:xfrm>
            <a:off x="323646" y="4844388"/>
            <a:ext cx="2971800" cy="381000"/>
          </a:xfrm>
          <a:prstGeom prst="rect">
            <a:avLst/>
          </a:prstGeom>
          <a:solidFill>
            <a:srgbClr val="F2F2F2"/>
          </a:solidFill>
          <a:ln cap="flat" cmpd="sng" w="255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6800" lIns="90000" spcFirstLastPara="1" rIns="90000" wrap="square" tIns="46800">
            <a:noAutofit/>
          </a:bodyPr>
          <a:lstStyle/>
          <a:p>
            <a:pPr indent="0" lvl="0" marL="0" marR="0" rtl="0" algn="ctr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.debug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6" name="Google Shape;356;p23"/>
          <p:cNvSpPr/>
          <p:nvPr/>
        </p:nvSpPr>
        <p:spPr>
          <a:xfrm>
            <a:off x="323646" y="5987388"/>
            <a:ext cx="2971800" cy="609600"/>
          </a:xfrm>
          <a:prstGeom prst="rect">
            <a:avLst/>
          </a:prstGeom>
          <a:solidFill>
            <a:srgbClr val="F2F2F2"/>
          </a:solidFill>
          <a:ln cap="flat" cmpd="sng" w="255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6800" lIns="90000" spcFirstLastPara="1" rIns="90000" wrap="square" tIns="46800">
            <a:noAutofit/>
          </a:bodyPr>
          <a:lstStyle/>
          <a:p>
            <a:pPr indent="0" lvl="0" marL="0" marR="0" rtl="0" algn="ctr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Section header table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(required for relocatables)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7" name="Google Shape;357;p23"/>
          <p:cNvSpPr txBox="1"/>
          <p:nvPr/>
        </p:nvSpPr>
        <p:spPr>
          <a:xfrm>
            <a:off x="3269568" y="1413296"/>
            <a:ext cx="285954" cy="335799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spAutoFit/>
          </a:bodyPr>
          <a:lstStyle/>
          <a:p>
            <a:pPr indent="0" lvl="0" marL="0" marR="0" rtl="0"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8" name="Google Shape;358;p23"/>
          <p:cNvSpPr txBox="1"/>
          <p:nvPr/>
        </p:nvSpPr>
        <p:spPr>
          <a:xfrm>
            <a:off x="198806" y="1236452"/>
            <a:ext cx="2285154" cy="365999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spAutoFit/>
          </a:bodyPr>
          <a:lstStyle/>
          <a:p>
            <a:pPr indent="0" lvl="0" marL="0" marR="0" rtl="0" algn="ctr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Executable Object File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9" name="Google Shape;359;p23"/>
          <p:cNvSpPr/>
          <p:nvPr/>
        </p:nvSpPr>
        <p:spPr>
          <a:xfrm>
            <a:off x="4686829" y="1262063"/>
            <a:ext cx="2789237" cy="487362"/>
          </a:xfrm>
          <a:prstGeom prst="rect">
            <a:avLst/>
          </a:prstGeom>
          <a:solidFill>
            <a:srgbClr val="F1C7C7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6800" lIns="90000" spcFirstLastPara="1" rIns="90000" wrap="square" tIns="46800">
            <a:noAutofit/>
          </a:bodyPr>
          <a:lstStyle/>
          <a:p>
            <a:pPr indent="0" lvl="0" marL="0" marR="0" rtl="0" algn="ctr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Kernel virtual memory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0" name="Google Shape;360;p23"/>
          <p:cNvSpPr/>
          <p:nvPr/>
        </p:nvSpPr>
        <p:spPr>
          <a:xfrm>
            <a:off x="4686829" y="2963863"/>
            <a:ext cx="2789237" cy="669925"/>
          </a:xfrm>
          <a:prstGeom prst="rect">
            <a:avLst/>
          </a:prstGeom>
          <a:solidFill>
            <a:srgbClr val="D5F1CF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6800" lIns="90000" spcFirstLastPara="1" rIns="90000" wrap="square" tIns="46800">
            <a:noAutofit/>
          </a:bodyPr>
          <a:lstStyle/>
          <a:p>
            <a:pPr indent="0" lvl="0" marL="0" marR="0" rtl="0" algn="ctr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Memory-mapped region for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shared libraries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1" name="Google Shape;361;p23"/>
          <p:cNvSpPr/>
          <p:nvPr/>
        </p:nvSpPr>
        <p:spPr>
          <a:xfrm>
            <a:off x="4686829" y="3629025"/>
            <a:ext cx="2789237" cy="723900"/>
          </a:xfrm>
          <a:prstGeom prst="rect">
            <a:avLst/>
          </a:prstGeom>
          <a:solidFill>
            <a:srgbClr val="BFBFBF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362" name="Google Shape;362;p23"/>
          <p:cNvSpPr/>
          <p:nvPr/>
        </p:nvSpPr>
        <p:spPr>
          <a:xfrm>
            <a:off x="4686830" y="4350808"/>
            <a:ext cx="2789237" cy="669925"/>
          </a:xfrm>
          <a:prstGeom prst="rect">
            <a:avLst/>
          </a:prstGeom>
          <a:solidFill>
            <a:srgbClr val="D5F1CF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6800" lIns="90000" spcFirstLastPara="1" rIns="90000" wrap="square" tIns="46800">
            <a:noAutofit/>
          </a:bodyPr>
          <a:lstStyle/>
          <a:p>
            <a:pPr indent="0" lvl="0" marL="0" marR="0" rtl="0" algn="ctr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Run-time heap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(created by </a:t>
            </a:r>
            <a:r>
              <a:rPr b="1" i="0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malloc</a:t>
            </a:r>
            <a:r>
              <a:rPr b="1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3" name="Google Shape;363;p23"/>
          <p:cNvSpPr/>
          <p:nvPr/>
        </p:nvSpPr>
        <p:spPr>
          <a:xfrm>
            <a:off x="4686829" y="2054225"/>
            <a:ext cx="2789237" cy="906463"/>
          </a:xfrm>
          <a:prstGeom prst="rect">
            <a:avLst/>
          </a:prstGeom>
          <a:solidFill>
            <a:srgbClr val="BFBFBF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cxnSp>
        <p:nvCxnSpPr>
          <p:cNvPr id="364" name="Google Shape;364;p23"/>
          <p:cNvCxnSpPr/>
          <p:nvPr/>
        </p:nvCxnSpPr>
        <p:spPr>
          <a:xfrm flipH="1" rot="10800000">
            <a:off x="6076950" y="3957638"/>
            <a:ext cx="1588" cy="384175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365" name="Google Shape;365;p23"/>
          <p:cNvSpPr/>
          <p:nvPr/>
        </p:nvSpPr>
        <p:spPr>
          <a:xfrm>
            <a:off x="4686829" y="1719263"/>
            <a:ext cx="2789237" cy="563562"/>
          </a:xfrm>
          <a:prstGeom prst="rect">
            <a:avLst/>
          </a:prstGeom>
          <a:solidFill>
            <a:srgbClr val="D5F1CF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6800" lIns="90000" spcFirstLastPara="1" rIns="90000" wrap="square" tIns="46800">
            <a:noAutofit/>
          </a:bodyPr>
          <a:lstStyle/>
          <a:p>
            <a:pPr indent="0" lvl="0" marL="0" marR="0" rtl="0" algn="ctr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User stack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(created at runtime)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66" name="Google Shape;366;p23"/>
          <p:cNvCxnSpPr/>
          <p:nvPr/>
        </p:nvCxnSpPr>
        <p:spPr>
          <a:xfrm>
            <a:off x="6076950" y="2282825"/>
            <a:ext cx="1588" cy="2286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367" name="Google Shape;367;p23"/>
          <p:cNvSpPr/>
          <p:nvPr/>
        </p:nvSpPr>
        <p:spPr>
          <a:xfrm>
            <a:off x="4686829" y="6312958"/>
            <a:ext cx="2789238" cy="396875"/>
          </a:xfrm>
          <a:prstGeom prst="rect">
            <a:avLst/>
          </a:prstGeom>
          <a:solidFill>
            <a:srgbClr val="BFBFBF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6800" lIns="90000" spcFirstLastPara="1" rIns="90000" wrap="square" tIns="46800">
            <a:noAutofit/>
          </a:bodyPr>
          <a:lstStyle/>
          <a:p>
            <a:pPr indent="0" lvl="0" marL="0" marR="0" rtl="0" algn="ctr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Unused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8" name="Google Shape;368;p23"/>
          <p:cNvSpPr txBox="1"/>
          <p:nvPr/>
        </p:nvSpPr>
        <p:spPr>
          <a:xfrm>
            <a:off x="4421194" y="6531510"/>
            <a:ext cx="285954" cy="335799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spAutoFit/>
          </a:bodyPr>
          <a:lstStyle/>
          <a:p>
            <a:pPr indent="0" lvl="0" marL="0" marR="0" rtl="0"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9" name="Google Shape;369;p23"/>
          <p:cNvSpPr txBox="1"/>
          <p:nvPr/>
        </p:nvSpPr>
        <p:spPr>
          <a:xfrm>
            <a:off x="7834221" y="2108200"/>
            <a:ext cx="869831" cy="808556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spAutoFit/>
          </a:bodyPr>
          <a:lstStyle/>
          <a:p>
            <a:pPr indent="0" lvl="0" marL="0" marR="0" rtl="0"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%rsp</a:t>
            </a:r>
            <a:r>
              <a:rPr b="1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1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(stack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pointer)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70" name="Google Shape;370;p23"/>
          <p:cNvCxnSpPr/>
          <p:nvPr/>
        </p:nvCxnSpPr>
        <p:spPr>
          <a:xfrm flipH="1">
            <a:off x="7527834" y="2279650"/>
            <a:ext cx="384175" cy="1588"/>
          </a:xfrm>
          <a:prstGeom prst="straightConnector1">
            <a:avLst/>
          </a:prstGeom>
          <a:noFill/>
          <a:ln cap="flat" cmpd="sng" w="9525">
            <a:solidFill>
              <a:srgbClr val="000066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371" name="Google Shape;371;p23"/>
          <p:cNvSpPr txBox="1"/>
          <p:nvPr/>
        </p:nvSpPr>
        <p:spPr>
          <a:xfrm>
            <a:off x="7677150" y="899576"/>
            <a:ext cx="1314450" cy="819225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spAutoFit/>
          </a:bodyPr>
          <a:lstStyle/>
          <a:p>
            <a:pPr indent="0" lvl="0" marL="0" marR="0" rtl="0"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Memory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invisible to user code</a:t>
            </a:r>
            <a:endParaRPr b="1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72" name="Google Shape;372;p23"/>
          <p:cNvCxnSpPr/>
          <p:nvPr/>
        </p:nvCxnSpPr>
        <p:spPr>
          <a:xfrm flipH="1" rot="10800000">
            <a:off x="7543800" y="1257568"/>
            <a:ext cx="1588" cy="460375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373" name="Google Shape;373;p23"/>
          <p:cNvSpPr txBox="1"/>
          <p:nvPr/>
        </p:nvSpPr>
        <p:spPr>
          <a:xfrm>
            <a:off x="7888288" y="4173538"/>
            <a:ext cx="552052" cy="325988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spAutoFit/>
          </a:bodyPr>
          <a:lstStyle/>
          <a:p>
            <a:pPr indent="0" lvl="0" marL="0" marR="0" rtl="0"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brk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74" name="Google Shape;374;p23"/>
          <p:cNvCxnSpPr/>
          <p:nvPr/>
        </p:nvCxnSpPr>
        <p:spPr>
          <a:xfrm flipH="1">
            <a:off x="7504113" y="4340225"/>
            <a:ext cx="384175" cy="1588"/>
          </a:xfrm>
          <a:prstGeom prst="straightConnector1">
            <a:avLst/>
          </a:prstGeom>
          <a:noFill/>
          <a:ln cap="flat" cmpd="sng" w="9525">
            <a:solidFill>
              <a:srgbClr val="000066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375" name="Google Shape;375;p23"/>
          <p:cNvSpPr txBox="1"/>
          <p:nvPr/>
        </p:nvSpPr>
        <p:spPr>
          <a:xfrm>
            <a:off x="3810000" y="6172200"/>
            <a:ext cx="920542" cy="269947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spAutoFit/>
          </a:bodyPr>
          <a:lstStyle/>
          <a:p>
            <a:pPr indent="0" lvl="0" marL="0" marR="0" rtl="0"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0x400000</a:t>
            </a:r>
            <a:endParaRPr b="1" i="0" sz="12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376" name="Google Shape;376;p23"/>
          <p:cNvSpPr/>
          <p:nvPr/>
        </p:nvSpPr>
        <p:spPr>
          <a:xfrm>
            <a:off x="4686829" y="5017558"/>
            <a:ext cx="2789238" cy="669925"/>
          </a:xfrm>
          <a:prstGeom prst="rect">
            <a:avLst/>
          </a:prstGeom>
          <a:solidFill>
            <a:srgbClr val="D5D5F4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6800" lIns="90000" spcFirstLastPara="1" rIns="90000" wrap="square" tIns="46800">
            <a:noAutofit/>
          </a:bodyPr>
          <a:lstStyle/>
          <a:p>
            <a:pPr indent="0" lvl="0" marL="0" marR="0" rtl="0" algn="ctr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Read/write data segment</a:t>
            </a:r>
            <a:endParaRPr b="1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(.</a:t>
            </a:r>
            <a:r>
              <a:rPr b="1" i="0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data</a:t>
            </a:r>
            <a:r>
              <a:rPr b="1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.</a:t>
            </a:r>
            <a:r>
              <a:rPr b="1" i="0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bss</a:t>
            </a:r>
            <a:r>
              <a:rPr b="1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7" name="Google Shape;377;p23"/>
          <p:cNvSpPr/>
          <p:nvPr/>
        </p:nvSpPr>
        <p:spPr>
          <a:xfrm>
            <a:off x="4686829" y="5643033"/>
            <a:ext cx="2789238" cy="669925"/>
          </a:xfrm>
          <a:prstGeom prst="rect">
            <a:avLst/>
          </a:prstGeom>
          <a:solidFill>
            <a:srgbClr val="F6F5BD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6800" lIns="90000" spcFirstLastPara="1" rIns="90000" wrap="square" tIns="46800">
            <a:noAutofit/>
          </a:bodyPr>
          <a:lstStyle/>
          <a:p>
            <a:pPr indent="0" lvl="0" marL="0" marR="0" rtl="0" algn="ctr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Read-only code segment</a:t>
            </a:r>
            <a:endParaRPr b="1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</a:t>
            </a:r>
            <a:r>
              <a:rPr b="1" i="0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.init</a:t>
            </a:r>
            <a:r>
              <a:rPr b="1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.</a:t>
            </a:r>
            <a:r>
              <a:rPr b="1" i="0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text</a:t>
            </a:r>
            <a:r>
              <a:rPr b="1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b="1" i="0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.rodata</a:t>
            </a:r>
            <a:r>
              <a:rPr b="1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8" name="Google Shape;378;p23"/>
          <p:cNvSpPr/>
          <p:nvPr/>
        </p:nvSpPr>
        <p:spPr>
          <a:xfrm>
            <a:off x="7524750" y="5026025"/>
            <a:ext cx="76200" cy="1295400"/>
          </a:xfrm>
          <a:prstGeom prst="rightBrace">
            <a:avLst>
              <a:gd fmla="val 141667" name="adj1"/>
              <a:gd fmla="val 50000" name="adj2"/>
            </a:avLst>
          </a:prstGeom>
          <a:noFill/>
          <a:ln cap="flat" cmpd="sng" w="12600">
            <a:solidFill>
              <a:srgbClr val="00006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379" name="Google Shape;379;p23"/>
          <p:cNvSpPr txBox="1"/>
          <p:nvPr/>
        </p:nvSpPr>
        <p:spPr>
          <a:xfrm>
            <a:off x="7677150" y="5010150"/>
            <a:ext cx="1149459" cy="1300935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spAutoFit/>
          </a:bodyPr>
          <a:lstStyle/>
          <a:p>
            <a:pPr indent="0" lvl="0" marL="0" marR="0" rtl="0"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Loaded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from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executable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file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0" name="Google Shape;380;p23"/>
          <p:cNvSpPr/>
          <p:nvPr/>
        </p:nvSpPr>
        <p:spPr>
          <a:xfrm>
            <a:off x="323646" y="3320388"/>
            <a:ext cx="2971800" cy="381000"/>
          </a:xfrm>
          <a:prstGeom prst="rect">
            <a:avLst/>
          </a:prstGeom>
          <a:solidFill>
            <a:srgbClr val="F6F5BD"/>
          </a:solidFill>
          <a:ln cap="flat" cmpd="sng" w="255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6800" lIns="90000" spcFirstLastPara="1" rIns="90000" wrap="square" tIns="46800">
            <a:noAutofit/>
          </a:bodyPr>
          <a:lstStyle/>
          <a:p>
            <a:pPr indent="0" lvl="0" marL="0" marR="0" rtl="0" algn="ctr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.rodata section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1" name="Google Shape;381;p23"/>
          <p:cNvSpPr/>
          <p:nvPr/>
        </p:nvSpPr>
        <p:spPr>
          <a:xfrm>
            <a:off x="323646" y="5225388"/>
            <a:ext cx="2971800" cy="381000"/>
          </a:xfrm>
          <a:prstGeom prst="rect">
            <a:avLst/>
          </a:prstGeom>
          <a:solidFill>
            <a:srgbClr val="F2F2F2"/>
          </a:solidFill>
          <a:ln cap="flat" cmpd="sng" w="255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6800" lIns="90000" spcFirstLastPara="1" rIns="90000" wrap="square" tIns="46800">
            <a:noAutofit/>
          </a:bodyPr>
          <a:lstStyle/>
          <a:p>
            <a:pPr indent="0" lvl="0" marL="0" marR="0" rtl="0" algn="ctr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.line</a:t>
            </a:r>
            <a:endParaRPr b="1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2" name="Google Shape;382;p23"/>
          <p:cNvSpPr/>
          <p:nvPr/>
        </p:nvSpPr>
        <p:spPr>
          <a:xfrm>
            <a:off x="323646" y="2558388"/>
            <a:ext cx="2971800" cy="381000"/>
          </a:xfrm>
          <a:prstGeom prst="rect">
            <a:avLst/>
          </a:prstGeom>
          <a:solidFill>
            <a:srgbClr val="F6F5BD"/>
          </a:solidFill>
          <a:ln cap="flat" cmpd="sng" w="255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6800" lIns="90000" spcFirstLastPara="1" rIns="90000" wrap="square" tIns="46800">
            <a:noAutofit/>
          </a:bodyPr>
          <a:lstStyle/>
          <a:p>
            <a:pPr indent="0" lvl="0" marL="0" marR="0" rtl="0" algn="ctr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.init section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3" name="Google Shape;383;p23"/>
          <p:cNvSpPr/>
          <p:nvPr/>
        </p:nvSpPr>
        <p:spPr>
          <a:xfrm>
            <a:off x="323646" y="5606388"/>
            <a:ext cx="2971800" cy="381000"/>
          </a:xfrm>
          <a:prstGeom prst="rect">
            <a:avLst/>
          </a:prstGeom>
          <a:solidFill>
            <a:srgbClr val="F2F2F2"/>
          </a:solidFill>
          <a:ln cap="flat" cmpd="sng" w="255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6800" lIns="90000" spcFirstLastPara="1" rIns="90000" wrap="square" tIns="46800">
            <a:noAutofit/>
          </a:bodyPr>
          <a:lstStyle/>
          <a:p>
            <a:pPr indent="0" lvl="0" marL="0" marR="0" rtl="0" algn="ctr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.strtab</a:t>
            </a:r>
            <a:endParaRPr b="1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8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p24"/>
          <p:cNvSpPr txBox="1"/>
          <p:nvPr>
            <p:ph idx="4294967295" type="title"/>
          </p:nvPr>
        </p:nvSpPr>
        <p:spPr>
          <a:xfrm>
            <a:off x="355070" y="304800"/>
            <a:ext cx="8831262" cy="105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119063" lvl="0" marL="11906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Packaging Commonly Used Functions</a:t>
            </a:r>
            <a:endParaRPr/>
          </a:p>
        </p:txBody>
      </p:sp>
      <p:sp>
        <p:nvSpPr>
          <p:cNvPr id="390" name="Google Shape;390;p24"/>
          <p:cNvSpPr txBox="1"/>
          <p:nvPr>
            <p:ph idx="1" type="body"/>
          </p:nvPr>
        </p:nvSpPr>
        <p:spPr>
          <a:xfrm>
            <a:off x="362161" y="1333500"/>
            <a:ext cx="8307387" cy="5295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40"/>
              <a:buChar char="⬛"/>
            </a:pPr>
            <a:r>
              <a:rPr lang="en-US"/>
              <a:t>How to package functions commonly used by programmers?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200"/>
              <a:buChar char="▪"/>
            </a:pPr>
            <a:r>
              <a:rPr lang="en-US"/>
              <a:t>Math, I/O, memory management, string manipulation, etc.</a:t>
            </a:r>
            <a:endParaRPr/>
          </a:p>
          <a:p>
            <a:pPr indent="-251459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440"/>
              <a:buNone/>
            </a:pPr>
            <a:r>
              <a:t/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440"/>
              <a:buChar char="⬛"/>
            </a:pPr>
            <a:r>
              <a:rPr lang="en-US"/>
              <a:t>Awkward, given the linker framework so far: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200"/>
              <a:buChar char="▪"/>
            </a:pPr>
            <a:r>
              <a:rPr b="1" lang="en-US">
                <a:solidFill>
                  <a:srgbClr val="990000"/>
                </a:solidFill>
              </a:rPr>
              <a:t>Option 1:</a:t>
            </a:r>
            <a:r>
              <a:rPr lang="en-US"/>
              <a:t> Put all functions into a single source file</a:t>
            </a:r>
            <a:endParaRPr/>
          </a:p>
          <a:p>
            <a:pPr indent="-228600" lvl="2" marL="11430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▪"/>
            </a:pPr>
            <a:r>
              <a:rPr lang="en-US"/>
              <a:t>Programmers link big object file into their programs</a:t>
            </a:r>
            <a:endParaRPr/>
          </a:p>
          <a:p>
            <a:pPr indent="-228600" lvl="2" marL="11430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▪"/>
            </a:pPr>
            <a:r>
              <a:rPr lang="en-US"/>
              <a:t>Space and time inefficient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200"/>
              <a:buChar char="▪"/>
            </a:pPr>
            <a:r>
              <a:rPr b="1" lang="en-US">
                <a:solidFill>
                  <a:srgbClr val="990000"/>
                </a:solidFill>
              </a:rPr>
              <a:t>Option 2:</a:t>
            </a:r>
            <a:r>
              <a:rPr lang="en-US"/>
              <a:t> Put each function in a separate source file</a:t>
            </a:r>
            <a:endParaRPr/>
          </a:p>
          <a:p>
            <a:pPr indent="-228600" lvl="2" marL="11430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▪"/>
            </a:pPr>
            <a:r>
              <a:rPr lang="en-US"/>
              <a:t>Programmers explicitly link appropriate binaries into their programs</a:t>
            </a:r>
            <a:endParaRPr/>
          </a:p>
          <a:p>
            <a:pPr indent="-228600" lvl="2" marL="11430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▪"/>
            </a:pPr>
            <a:r>
              <a:rPr lang="en-US"/>
              <a:t>More efficient, but burdensome on the programmer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5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p25"/>
          <p:cNvSpPr txBox="1"/>
          <p:nvPr>
            <p:ph idx="4294967295" type="title"/>
          </p:nvPr>
        </p:nvSpPr>
        <p:spPr>
          <a:xfrm>
            <a:off x="379412" y="436562"/>
            <a:ext cx="8716962" cy="7826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119063" lvl="0" marL="11906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Old-fashioned Solution: Static Libraries</a:t>
            </a:r>
            <a:endParaRPr/>
          </a:p>
        </p:txBody>
      </p:sp>
      <p:sp>
        <p:nvSpPr>
          <p:cNvPr id="397" name="Google Shape;397;p25"/>
          <p:cNvSpPr txBox="1"/>
          <p:nvPr>
            <p:ph idx="1" type="body"/>
          </p:nvPr>
        </p:nvSpPr>
        <p:spPr>
          <a:xfrm>
            <a:off x="379413" y="1447800"/>
            <a:ext cx="8459787" cy="47672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40"/>
              <a:buChar char="⬛"/>
            </a:pPr>
            <a:r>
              <a:rPr lang="en-US">
                <a:solidFill>
                  <a:srgbClr val="990000"/>
                </a:solidFill>
              </a:rPr>
              <a:t>Static libraries </a:t>
            </a:r>
            <a:r>
              <a:rPr lang="en-US"/>
              <a:t>(.</a:t>
            </a: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a</a:t>
            </a:r>
            <a:r>
              <a:rPr lang="en-US"/>
              <a:t> </a:t>
            </a:r>
            <a:r>
              <a:rPr lang="en-US">
                <a:solidFill>
                  <a:srgbClr val="000004"/>
                </a:solidFill>
              </a:rPr>
              <a:t>archive files</a:t>
            </a:r>
            <a:r>
              <a:rPr lang="en-US"/>
              <a:t>)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200"/>
              <a:buChar char="▪"/>
            </a:pPr>
            <a:r>
              <a:rPr lang="en-US"/>
              <a:t>Concatenate related relocatable object files into a single file with an index (called an </a:t>
            </a:r>
            <a:r>
              <a:rPr i="1" lang="en-US"/>
              <a:t>archive</a:t>
            </a:r>
            <a:r>
              <a:rPr lang="en-US"/>
              <a:t>).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200"/>
              <a:buFont typeface="Noto Sans"/>
              <a:buNone/>
            </a:pPr>
            <a:r>
              <a:t/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200"/>
              <a:buChar char="▪"/>
            </a:pPr>
            <a:r>
              <a:rPr lang="en-US"/>
              <a:t>Enhance linker so that it tries to resolve unresolved external references by looking for the symbols in one or more archives.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500"/>
              <a:buFont typeface="Noto Sans"/>
              <a:buNone/>
            </a:pPr>
            <a:r>
              <a:t/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200"/>
              <a:buChar char="▪"/>
            </a:pPr>
            <a:r>
              <a:rPr lang="en-US"/>
              <a:t>If an archive member file resolves reference, link it  into the executable.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440"/>
              <a:buFont typeface="Noto Sans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2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p26"/>
          <p:cNvSpPr txBox="1"/>
          <p:nvPr>
            <p:ph idx="4294967295" type="title"/>
          </p:nvPr>
        </p:nvSpPr>
        <p:spPr>
          <a:xfrm>
            <a:off x="503238" y="436562"/>
            <a:ext cx="8716962" cy="7826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119063" lvl="0" marL="11906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Creating Static Libraries</a:t>
            </a:r>
            <a:endParaRPr/>
          </a:p>
        </p:txBody>
      </p:sp>
      <p:cxnSp>
        <p:nvCxnSpPr>
          <p:cNvPr id="404" name="Google Shape;404;p26"/>
          <p:cNvCxnSpPr/>
          <p:nvPr/>
        </p:nvCxnSpPr>
        <p:spPr>
          <a:xfrm>
            <a:off x="1295400" y="1919981"/>
            <a:ext cx="1588" cy="381000"/>
          </a:xfrm>
          <a:prstGeom prst="straightConnector1">
            <a:avLst/>
          </a:prstGeom>
          <a:noFill/>
          <a:ln cap="flat" cmpd="sng" w="28425">
            <a:solidFill>
              <a:srgbClr val="000066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405" name="Google Shape;405;p26"/>
          <p:cNvSpPr/>
          <p:nvPr/>
        </p:nvSpPr>
        <p:spPr>
          <a:xfrm>
            <a:off x="609600" y="2289869"/>
            <a:ext cx="1371600" cy="360909"/>
          </a:xfrm>
          <a:prstGeom prst="rect">
            <a:avLst/>
          </a:prstGeom>
          <a:solidFill>
            <a:srgbClr val="DEDFF5"/>
          </a:solidFill>
          <a:ln cap="flat" cmpd="sng" w="284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4275" lIns="90350" spcFirstLastPara="1" rIns="90350" wrap="square" tIns="44275">
            <a:spAutoFit/>
          </a:bodyPr>
          <a:lstStyle/>
          <a:p>
            <a:pPr indent="0" lvl="0" marL="0" marR="0" rtl="0" algn="ctr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Translator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6" name="Google Shape;406;p26"/>
          <p:cNvSpPr txBox="1"/>
          <p:nvPr/>
        </p:nvSpPr>
        <p:spPr>
          <a:xfrm>
            <a:off x="771525" y="1615181"/>
            <a:ext cx="1008907" cy="354906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spAutoFit/>
          </a:bodyPr>
          <a:lstStyle/>
          <a:p>
            <a:pPr indent="0" lvl="0" marL="0" marR="0" rtl="0"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atoi.c</a:t>
            </a:r>
            <a:endParaRPr b="1" i="0" sz="18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407" name="Google Shape;407;p26"/>
          <p:cNvSpPr txBox="1"/>
          <p:nvPr/>
        </p:nvSpPr>
        <p:spPr>
          <a:xfrm>
            <a:off x="955675" y="2986781"/>
            <a:ext cx="1008907" cy="354906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spAutoFit/>
          </a:bodyPr>
          <a:lstStyle/>
          <a:p>
            <a:pPr indent="0" lvl="0" marL="0" marR="0" rtl="0"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atoi.o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8" name="Google Shape;408;p26"/>
          <p:cNvSpPr/>
          <p:nvPr/>
        </p:nvSpPr>
        <p:spPr>
          <a:xfrm>
            <a:off x="2286000" y="2289869"/>
            <a:ext cx="1371600" cy="360909"/>
          </a:xfrm>
          <a:prstGeom prst="rect">
            <a:avLst/>
          </a:prstGeom>
          <a:solidFill>
            <a:srgbClr val="D5D5F4"/>
          </a:solidFill>
          <a:ln cap="flat" cmpd="sng" w="284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4275" lIns="90350" spcFirstLastPara="1" rIns="90350" wrap="square" tIns="44275">
            <a:spAutoFit/>
          </a:bodyPr>
          <a:lstStyle/>
          <a:p>
            <a:pPr indent="0" lvl="0" marL="0" marR="0" rtl="0" algn="ctr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Translator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9" name="Google Shape;409;p26"/>
          <p:cNvSpPr txBox="1"/>
          <p:nvPr/>
        </p:nvSpPr>
        <p:spPr>
          <a:xfrm>
            <a:off x="2297113" y="1615181"/>
            <a:ext cx="1284624" cy="354906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spAutoFit/>
          </a:bodyPr>
          <a:lstStyle/>
          <a:p>
            <a:pPr indent="0" lvl="0" marL="0" marR="0" rtl="0"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printf.c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0" name="Google Shape;410;p26"/>
          <p:cNvSpPr txBox="1"/>
          <p:nvPr/>
        </p:nvSpPr>
        <p:spPr>
          <a:xfrm>
            <a:off x="2316163" y="2986781"/>
            <a:ext cx="1284624" cy="354906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spAutoFit/>
          </a:bodyPr>
          <a:lstStyle/>
          <a:p>
            <a:pPr indent="0" lvl="0" marL="0" marR="0" rtl="0"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printf.o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11" name="Google Shape;411;p26"/>
          <p:cNvCxnSpPr/>
          <p:nvPr/>
        </p:nvCxnSpPr>
        <p:spPr>
          <a:xfrm>
            <a:off x="2971800" y="1919981"/>
            <a:ext cx="1588" cy="381000"/>
          </a:xfrm>
          <a:prstGeom prst="straightConnector1">
            <a:avLst/>
          </a:prstGeom>
          <a:noFill/>
          <a:ln cap="flat" cmpd="sng" w="28425">
            <a:solidFill>
              <a:srgbClr val="000066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412" name="Google Shape;412;p26"/>
          <p:cNvCxnSpPr/>
          <p:nvPr/>
        </p:nvCxnSpPr>
        <p:spPr>
          <a:xfrm>
            <a:off x="1295400" y="2681981"/>
            <a:ext cx="1588" cy="381000"/>
          </a:xfrm>
          <a:prstGeom prst="straightConnector1">
            <a:avLst/>
          </a:prstGeom>
          <a:noFill/>
          <a:ln cap="flat" cmpd="sng" w="28425">
            <a:solidFill>
              <a:srgbClr val="000066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413" name="Google Shape;413;p26"/>
          <p:cNvCxnSpPr/>
          <p:nvPr/>
        </p:nvCxnSpPr>
        <p:spPr>
          <a:xfrm>
            <a:off x="2971800" y="2681981"/>
            <a:ext cx="1588" cy="381000"/>
          </a:xfrm>
          <a:prstGeom prst="straightConnector1">
            <a:avLst/>
          </a:prstGeom>
          <a:noFill/>
          <a:ln cap="flat" cmpd="sng" w="28425">
            <a:solidFill>
              <a:srgbClr val="000066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414" name="Google Shape;414;p26"/>
          <p:cNvCxnSpPr/>
          <p:nvPr/>
        </p:nvCxnSpPr>
        <p:spPr>
          <a:xfrm>
            <a:off x="2971800" y="3364606"/>
            <a:ext cx="1588" cy="471488"/>
          </a:xfrm>
          <a:prstGeom prst="straightConnector1">
            <a:avLst/>
          </a:prstGeom>
          <a:noFill/>
          <a:ln cap="flat" cmpd="sng" w="28425">
            <a:solidFill>
              <a:srgbClr val="000066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415" name="Google Shape;415;p26"/>
          <p:cNvSpPr txBox="1"/>
          <p:nvPr/>
        </p:nvSpPr>
        <p:spPr>
          <a:xfrm>
            <a:off x="2511425" y="4674294"/>
            <a:ext cx="1008907" cy="354906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spAutoFit/>
          </a:bodyPr>
          <a:lstStyle/>
          <a:p>
            <a:pPr indent="0" lvl="0" marL="0" marR="0" rtl="0"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libc.a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16" name="Google Shape;416;p26"/>
          <p:cNvCxnSpPr/>
          <p:nvPr/>
        </p:nvCxnSpPr>
        <p:spPr>
          <a:xfrm flipH="1">
            <a:off x="3884613" y="3302694"/>
            <a:ext cx="1298575" cy="457200"/>
          </a:xfrm>
          <a:prstGeom prst="straightConnector1">
            <a:avLst/>
          </a:prstGeom>
          <a:noFill/>
          <a:ln cap="flat" cmpd="sng" w="28425">
            <a:solidFill>
              <a:srgbClr val="000066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417" name="Google Shape;417;p26"/>
          <p:cNvSpPr/>
          <p:nvPr/>
        </p:nvSpPr>
        <p:spPr>
          <a:xfrm>
            <a:off x="1828800" y="3836094"/>
            <a:ext cx="2971800" cy="360909"/>
          </a:xfrm>
          <a:prstGeom prst="rect">
            <a:avLst/>
          </a:prstGeom>
          <a:solidFill>
            <a:srgbClr val="D5D5F4"/>
          </a:solidFill>
          <a:ln cap="flat" cmpd="sng" w="284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4275" lIns="90350" spcFirstLastPara="1" rIns="90350" wrap="square" tIns="44275">
            <a:spAutoFit/>
          </a:bodyPr>
          <a:lstStyle/>
          <a:p>
            <a:pPr indent="0" lvl="0" marL="0" marR="0" rtl="0" algn="ctr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Archiver (ar)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8" name="Google Shape;418;p26"/>
          <p:cNvSpPr txBox="1"/>
          <p:nvPr/>
        </p:nvSpPr>
        <p:spPr>
          <a:xfrm>
            <a:off x="3886200" y="2159694"/>
            <a:ext cx="436563" cy="454025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spAutoFit/>
          </a:bodyPr>
          <a:lstStyle/>
          <a:p>
            <a:pPr indent="0" lvl="0" marL="0" marR="0" rtl="0"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...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9" name="Google Shape;419;p26"/>
          <p:cNvSpPr/>
          <p:nvPr/>
        </p:nvSpPr>
        <p:spPr>
          <a:xfrm>
            <a:off x="4572000" y="2300981"/>
            <a:ext cx="1371600" cy="360909"/>
          </a:xfrm>
          <a:prstGeom prst="rect">
            <a:avLst/>
          </a:prstGeom>
          <a:solidFill>
            <a:srgbClr val="D5D5F4"/>
          </a:solidFill>
          <a:ln cap="flat" cmpd="sng" w="284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4275" lIns="90350" spcFirstLastPara="1" rIns="90350" wrap="square" tIns="44275">
            <a:spAutoFit/>
          </a:bodyPr>
          <a:lstStyle/>
          <a:p>
            <a:pPr indent="0" lvl="0" marL="0" marR="0" rtl="0" algn="ctr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Translator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0" name="Google Shape;420;p26"/>
          <p:cNvSpPr txBox="1"/>
          <p:nvPr/>
        </p:nvSpPr>
        <p:spPr>
          <a:xfrm>
            <a:off x="4583113" y="1626294"/>
            <a:ext cx="1284624" cy="354906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spAutoFit/>
          </a:bodyPr>
          <a:lstStyle/>
          <a:p>
            <a:pPr indent="0" lvl="0" marL="0" marR="0" rtl="0"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random.c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1" name="Google Shape;421;p26"/>
          <p:cNvSpPr txBox="1"/>
          <p:nvPr/>
        </p:nvSpPr>
        <p:spPr>
          <a:xfrm>
            <a:off x="4602163" y="2997894"/>
            <a:ext cx="1284624" cy="354906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spAutoFit/>
          </a:bodyPr>
          <a:lstStyle/>
          <a:p>
            <a:pPr indent="0" lvl="0" marL="0" marR="0" rtl="0"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random.o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22" name="Google Shape;422;p26"/>
          <p:cNvCxnSpPr/>
          <p:nvPr/>
        </p:nvCxnSpPr>
        <p:spPr>
          <a:xfrm>
            <a:off x="5257800" y="1931094"/>
            <a:ext cx="1588" cy="381000"/>
          </a:xfrm>
          <a:prstGeom prst="straightConnector1">
            <a:avLst/>
          </a:prstGeom>
          <a:noFill/>
          <a:ln cap="flat" cmpd="sng" w="28425">
            <a:solidFill>
              <a:srgbClr val="000066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423" name="Google Shape;423;p26"/>
          <p:cNvCxnSpPr/>
          <p:nvPr/>
        </p:nvCxnSpPr>
        <p:spPr>
          <a:xfrm>
            <a:off x="5257800" y="2693094"/>
            <a:ext cx="1588" cy="381000"/>
          </a:xfrm>
          <a:prstGeom prst="straightConnector1">
            <a:avLst/>
          </a:prstGeom>
          <a:noFill/>
          <a:ln cap="flat" cmpd="sng" w="28425">
            <a:solidFill>
              <a:srgbClr val="000066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424" name="Google Shape;424;p26"/>
          <p:cNvCxnSpPr/>
          <p:nvPr/>
        </p:nvCxnSpPr>
        <p:spPr>
          <a:xfrm>
            <a:off x="1295400" y="3302694"/>
            <a:ext cx="1219200" cy="457200"/>
          </a:xfrm>
          <a:prstGeom prst="straightConnector1">
            <a:avLst/>
          </a:prstGeom>
          <a:noFill/>
          <a:ln cap="flat" cmpd="sng" w="28425">
            <a:solidFill>
              <a:srgbClr val="000066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425" name="Google Shape;425;p26"/>
          <p:cNvSpPr txBox="1"/>
          <p:nvPr/>
        </p:nvSpPr>
        <p:spPr>
          <a:xfrm>
            <a:off x="5095875" y="3759894"/>
            <a:ext cx="3637832" cy="557461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spAutoFit/>
          </a:bodyPr>
          <a:lstStyle/>
          <a:p>
            <a:pPr indent="0" lvl="0" marL="0" marR="0" rtl="0"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C00000"/>
                </a:solidFill>
                <a:latin typeface="Courier New"/>
                <a:ea typeface="Courier New"/>
                <a:cs typeface="Courier New"/>
                <a:sym typeface="Courier New"/>
              </a:rPr>
              <a:t>unix&gt; ar rs libc.a \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C00000"/>
                </a:solidFill>
                <a:latin typeface="Courier New"/>
                <a:ea typeface="Courier New"/>
                <a:cs typeface="Courier New"/>
                <a:sym typeface="Courier New"/>
              </a:rPr>
              <a:t>  atoi.o printf.o … random.o</a:t>
            </a:r>
            <a:endParaRPr b="1" i="0" sz="1600" u="none" cap="none" strike="noStrike">
              <a:solidFill>
                <a:srgbClr val="C0000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cxnSp>
        <p:nvCxnSpPr>
          <p:cNvPr id="426" name="Google Shape;426;p26"/>
          <p:cNvCxnSpPr/>
          <p:nvPr/>
        </p:nvCxnSpPr>
        <p:spPr>
          <a:xfrm>
            <a:off x="2971800" y="4279006"/>
            <a:ext cx="1588" cy="457200"/>
          </a:xfrm>
          <a:prstGeom prst="straightConnector1">
            <a:avLst/>
          </a:prstGeom>
          <a:noFill/>
          <a:ln cap="flat" cmpd="sng" w="28425">
            <a:solidFill>
              <a:srgbClr val="000066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427" name="Google Shape;427;p26"/>
          <p:cNvSpPr txBox="1"/>
          <p:nvPr/>
        </p:nvSpPr>
        <p:spPr>
          <a:xfrm>
            <a:off x="3886200" y="4654714"/>
            <a:ext cx="2971800" cy="365999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spAutoFit/>
          </a:bodyPr>
          <a:lstStyle/>
          <a:p>
            <a:pPr indent="0" lvl="0" marL="0" marR="0" rtl="0"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1" lang="en-US" sz="18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C standard library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8" name="Google Shape;428;p26"/>
          <p:cNvSpPr txBox="1"/>
          <p:nvPr/>
        </p:nvSpPr>
        <p:spPr>
          <a:xfrm>
            <a:off x="457200" y="5562600"/>
            <a:ext cx="8307387" cy="10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00"/>
              </a:buClr>
              <a:buSzPts val="1200"/>
              <a:buFont typeface="Noto Sans"/>
              <a:buChar char="⬛"/>
            </a:pPr>
            <a:r>
              <a:rPr b="1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Archiver allows incremental updates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990000"/>
              </a:buClr>
              <a:buSzPts val="1200"/>
              <a:buFont typeface="Noto Sans"/>
              <a:buChar char="⬛"/>
            </a:pPr>
            <a:r>
              <a:rPr b="1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Recompile function that changes and replace .o file in archive.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66700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990000"/>
              </a:buClr>
              <a:buSzPts val="1200"/>
              <a:buFont typeface="Noto Sans"/>
              <a:buNone/>
            </a:pPr>
            <a:r>
              <a:t/>
            </a:r>
            <a:endParaRPr b="1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3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p27"/>
          <p:cNvSpPr txBox="1"/>
          <p:nvPr>
            <p:ph idx="4294967295" type="title"/>
          </p:nvPr>
        </p:nvSpPr>
        <p:spPr>
          <a:xfrm>
            <a:off x="350838" y="304800"/>
            <a:ext cx="8716962" cy="7826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119063" lvl="0" marL="11906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Commonly Used Libraries</a:t>
            </a:r>
            <a:endParaRPr/>
          </a:p>
        </p:txBody>
      </p:sp>
      <p:sp>
        <p:nvSpPr>
          <p:cNvPr id="435" name="Google Shape;435;p27"/>
          <p:cNvSpPr txBox="1"/>
          <p:nvPr>
            <p:ph idx="1" type="body"/>
          </p:nvPr>
        </p:nvSpPr>
        <p:spPr>
          <a:xfrm>
            <a:off x="354012" y="1220788"/>
            <a:ext cx="8307387" cy="3152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oto Sans"/>
              <a:buNone/>
            </a:pPr>
            <a:r>
              <a:rPr lang="en-US" sz="2000">
                <a:latin typeface="Courier New"/>
                <a:ea typeface="Courier New"/>
                <a:cs typeface="Courier New"/>
                <a:sym typeface="Courier New"/>
              </a:rPr>
              <a:t>libc.a</a:t>
            </a:r>
            <a:r>
              <a:rPr lang="en-US" sz="2000"/>
              <a:t> (the C standard library)</a:t>
            </a:r>
            <a:endParaRPr/>
          </a:p>
          <a:p>
            <a:pPr indent="-285750" lvl="1" marL="742950" rtl="0" algn="l">
              <a:lnSpc>
                <a:spcPct val="88000"/>
              </a:lnSpc>
              <a:spcBef>
                <a:spcPts val="563"/>
              </a:spcBef>
              <a:spcAft>
                <a:spcPts val="0"/>
              </a:spcAft>
              <a:buSzPts val="1980"/>
              <a:buChar char="▪"/>
            </a:pPr>
            <a:r>
              <a:rPr lang="en-US" sz="1800"/>
              <a:t>4.6 MB archive of 1496 object files.</a:t>
            </a:r>
            <a:endParaRPr/>
          </a:p>
          <a:p>
            <a:pPr indent="-285750" lvl="1" marL="742950" rtl="0" algn="l">
              <a:lnSpc>
                <a:spcPct val="88000"/>
              </a:lnSpc>
              <a:spcBef>
                <a:spcPts val="563"/>
              </a:spcBef>
              <a:spcAft>
                <a:spcPts val="0"/>
              </a:spcAft>
              <a:buSzPts val="1980"/>
              <a:buChar char="▪"/>
            </a:pPr>
            <a:r>
              <a:rPr lang="en-US" sz="1800"/>
              <a:t>I/O, memory allocation, signal handling, string handling, data and time, random numbers, integer math</a:t>
            </a:r>
            <a:endParaRPr/>
          </a:p>
          <a:p>
            <a:pPr indent="-342900" lvl="0" marL="342900" rtl="0" algn="l">
              <a:lnSpc>
                <a:spcPct val="80000"/>
              </a:lnSpc>
              <a:spcBef>
                <a:spcPts val="1250"/>
              </a:spcBef>
              <a:spcAft>
                <a:spcPts val="0"/>
              </a:spcAft>
              <a:buSzPts val="1200"/>
              <a:buFont typeface="Noto Sans"/>
              <a:buNone/>
            </a:pPr>
            <a:r>
              <a:rPr lang="en-US" sz="2000">
                <a:latin typeface="Courier New"/>
                <a:ea typeface="Courier New"/>
                <a:cs typeface="Courier New"/>
                <a:sym typeface="Courier New"/>
              </a:rPr>
              <a:t>libm.a</a:t>
            </a:r>
            <a:r>
              <a:rPr lang="en-US" sz="2000"/>
              <a:t> (the C math library)</a:t>
            </a:r>
            <a:endParaRPr/>
          </a:p>
          <a:p>
            <a:pPr indent="-285750" lvl="1" marL="742950" rtl="0" algn="l">
              <a:lnSpc>
                <a:spcPct val="88000"/>
              </a:lnSpc>
              <a:spcBef>
                <a:spcPts val="563"/>
              </a:spcBef>
              <a:spcAft>
                <a:spcPts val="0"/>
              </a:spcAft>
              <a:buSzPts val="1980"/>
              <a:buChar char="▪"/>
            </a:pPr>
            <a:r>
              <a:rPr lang="en-US" sz="1800"/>
              <a:t>2 MB archive of 444 object files. </a:t>
            </a:r>
            <a:endParaRPr/>
          </a:p>
          <a:p>
            <a:pPr indent="-285750" lvl="1" marL="742950" rtl="0" algn="l">
              <a:lnSpc>
                <a:spcPct val="88000"/>
              </a:lnSpc>
              <a:spcBef>
                <a:spcPts val="563"/>
              </a:spcBef>
              <a:spcAft>
                <a:spcPts val="0"/>
              </a:spcAft>
              <a:buSzPts val="1980"/>
              <a:buChar char="▪"/>
            </a:pPr>
            <a:r>
              <a:rPr lang="en-US" sz="1800"/>
              <a:t>floating point math (sin, cos, tan, log, exp, sqrt, …) 	</a:t>
            </a:r>
            <a:endParaRPr/>
          </a:p>
          <a:p>
            <a:pPr indent="-342900" lvl="0" marL="342900" rtl="0" algn="l">
              <a:lnSpc>
                <a:spcPct val="83000"/>
              </a:lnSpc>
              <a:spcBef>
                <a:spcPts val="1250"/>
              </a:spcBef>
              <a:spcAft>
                <a:spcPts val="0"/>
              </a:spcAft>
              <a:buSzPts val="1200"/>
              <a:buFont typeface="Noto Sans"/>
              <a:buNone/>
            </a:pPr>
            <a:r>
              <a:t/>
            </a:r>
            <a:endParaRPr sz="2000"/>
          </a:p>
          <a:p>
            <a:pPr indent="-342900" lvl="0" marL="342900" rtl="0" algn="l">
              <a:lnSpc>
                <a:spcPct val="83000"/>
              </a:lnSpc>
              <a:spcBef>
                <a:spcPts val="1250"/>
              </a:spcBef>
              <a:spcAft>
                <a:spcPts val="0"/>
              </a:spcAft>
              <a:buSzPts val="1200"/>
              <a:buFont typeface="Noto Sans"/>
              <a:buNone/>
            </a:pPr>
            <a:r>
              <a:t/>
            </a:r>
            <a:endParaRPr sz="2000"/>
          </a:p>
        </p:txBody>
      </p:sp>
      <p:sp>
        <p:nvSpPr>
          <p:cNvPr id="436" name="Google Shape;436;p27"/>
          <p:cNvSpPr txBox="1"/>
          <p:nvPr/>
        </p:nvSpPr>
        <p:spPr>
          <a:xfrm>
            <a:off x="914400" y="3677347"/>
            <a:ext cx="2767502" cy="2874352"/>
          </a:xfrm>
          <a:prstGeom prst="rect">
            <a:avLst/>
          </a:prstGeom>
          <a:solidFill>
            <a:srgbClr val="E6E6E6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6800" lIns="90000" spcFirstLastPara="1" rIns="90000" wrap="square" tIns="46800">
            <a:spAutoFit/>
          </a:bodyPr>
          <a:lstStyle/>
          <a:p>
            <a:pPr indent="0" lvl="0" marL="0" marR="0" rtl="0"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% ar –t libc.a | sort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…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fork.o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…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fprintf.o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fpu_control.o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fputc.o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freopen.o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fscanf.o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fseek.o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fstab.o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…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7" name="Google Shape;437;p27"/>
          <p:cNvSpPr txBox="1"/>
          <p:nvPr/>
        </p:nvSpPr>
        <p:spPr>
          <a:xfrm>
            <a:off x="4754874" y="3677347"/>
            <a:ext cx="2767502" cy="2874352"/>
          </a:xfrm>
          <a:prstGeom prst="rect">
            <a:avLst/>
          </a:prstGeom>
          <a:solidFill>
            <a:srgbClr val="E6E6E6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6800" lIns="90000" spcFirstLastPara="1" rIns="90000" wrap="square" tIns="46800">
            <a:spAutoFit/>
          </a:bodyPr>
          <a:lstStyle/>
          <a:p>
            <a:pPr indent="0" lvl="0" marL="0" marR="0" rtl="0"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% ar –t libm.a | sort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…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e_acos.o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e_acosf.o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e_acosh.o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e_acoshf.o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e_acoshl.o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e_acosl.o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e_asin.o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e_asinf.o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e_asinl.o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…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p28"/>
          <p:cNvSpPr txBox="1"/>
          <p:nvPr>
            <p:ph type="title"/>
          </p:nvPr>
        </p:nvSpPr>
        <p:spPr>
          <a:xfrm>
            <a:off x="357019" y="435678"/>
            <a:ext cx="3452982" cy="12407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119063" lvl="0" marL="11906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Linking with Static Libraries</a:t>
            </a:r>
            <a:endParaRPr/>
          </a:p>
        </p:txBody>
      </p:sp>
      <p:sp>
        <p:nvSpPr>
          <p:cNvPr id="443" name="Google Shape;443;p28"/>
          <p:cNvSpPr/>
          <p:nvPr/>
        </p:nvSpPr>
        <p:spPr>
          <a:xfrm>
            <a:off x="216694" y="2020989"/>
            <a:ext cx="3517106" cy="3541611"/>
          </a:xfrm>
          <a:prstGeom prst="rect">
            <a:avLst/>
          </a:prstGeom>
          <a:solidFill>
            <a:srgbClr val="F7F5CD"/>
          </a:solidFill>
          <a:ln cap="flat" cmpd="sng" w="9525">
            <a:solidFill>
              <a:srgbClr val="00006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6800" lIns="90000" spcFirstLastPara="1" rIns="90000" wrap="square" tIns="468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926492"/>
                </a:solidFill>
                <a:latin typeface="Arial"/>
                <a:ea typeface="Arial"/>
                <a:cs typeface="Arial"/>
                <a:sym typeface="Arial"/>
              </a:rPr>
              <a:t>#include</a:t>
            </a: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en-US" sz="1600" u="none" cap="none" strike="noStrike">
                <a:solidFill>
                  <a:srgbClr val="9D206F"/>
                </a:solidFill>
                <a:latin typeface="Arial"/>
                <a:ea typeface="Arial"/>
                <a:cs typeface="Arial"/>
                <a:sym typeface="Arial"/>
              </a:rPr>
              <a:t>&lt;stdio.h&gt;</a:t>
            </a:r>
            <a:endParaRPr b="1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926492"/>
                </a:solidFill>
                <a:latin typeface="Arial"/>
                <a:ea typeface="Arial"/>
                <a:cs typeface="Arial"/>
                <a:sym typeface="Arial"/>
              </a:rPr>
              <a:t>#include</a:t>
            </a: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en-US" sz="1600" u="none" cap="none" strike="noStrike">
                <a:solidFill>
                  <a:srgbClr val="9D206F"/>
                </a:solidFill>
                <a:latin typeface="Arial"/>
                <a:ea typeface="Arial"/>
                <a:cs typeface="Arial"/>
                <a:sym typeface="Arial"/>
              </a:rPr>
              <a:t>"vector.h"</a:t>
            </a:r>
            <a:endParaRPr b="1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1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2D961E"/>
                </a:solidFill>
                <a:latin typeface="Arial"/>
                <a:ea typeface="Arial"/>
                <a:cs typeface="Arial"/>
                <a:sym typeface="Arial"/>
              </a:rPr>
              <a:t>int</a:t>
            </a: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en-US" sz="1600" u="none" cap="none" strike="noStrike">
                <a:solidFill>
                  <a:srgbClr val="C1651C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[2] = {1, 2};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2D961E"/>
                </a:solidFill>
                <a:latin typeface="Arial"/>
                <a:ea typeface="Arial"/>
                <a:cs typeface="Arial"/>
                <a:sym typeface="Arial"/>
              </a:rPr>
              <a:t>int</a:t>
            </a: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en-US" sz="1600" u="none" cap="none" strike="noStrike">
                <a:solidFill>
                  <a:srgbClr val="C1651C"/>
                </a:solidFill>
                <a:latin typeface="Arial"/>
                <a:ea typeface="Arial"/>
                <a:cs typeface="Arial"/>
                <a:sym typeface="Arial"/>
              </a:rPr>
              <a:t>y</a:t>
            </a: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[2] = {3, 4};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2D961E"/>
                </a:solidFill>
                <a:latin typeface="Arial"/>
                <a:ea typeface="Arial"/>
                <a:cs typeface="Arial"/>
                <a:sym typeface="Arial"/>
              </a:rPr>
              <a:t>int</a:t>
            </a: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en-US" sz="1600" u="none" cap="none" strike="noStrike">
                <a:solidFill>
                  <a:srgbClr val="C1651C"/>
                </a:solidFill>
                <a:latin typeface="Arial"/>
                <a:ea typeface="Arial"/>
                <a:cs typeface="Arial"/>
                <a:sym typeface="Arial"/>
              </a:rPr>
              <a:t>z</a:t>
            </a: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[2];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1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2D961E"/>
                </a:solidFill>
                <a:latin typeface="Arial"/>
                <a:ea typeface="Arial"/>
                <a:cs typeface="Arial"/>
                <a:sym typeface="Arial"/>
              </a:rPr>
              <a:t>int</a:t>
            </a: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en-US" sz="1600" u="none" cap="none" strike="noStrike">
                <a:solidFill>
                  <a:srgbClr val="4A00FF"/>
                </a:solidFill>
                <a:latin typeface="Arial"/>
                <a:ea typeface="Arial"/>
                <a:cs typeface="Arial"/>
                <a:sym typeface="Arial"/>
              </a:rPr>
              <a:t>main</a:t>
            </a: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addvec(x, y, z, 2);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printf(</a:t>
            </a:r>
            <a:r>
              <a:rPr b="1" i="0" lang="en-US" sz="1600" u="none" cap="none" strike="noStrike">
                <a:solidFill>
                  <a:srgbClr val="9D206F"/>
                </a:solidFill>
                <a:latin typeface="Arial"/>
                <a:ea typeface="Arial"/>
                <a:cs typeface="Arial"/>
                <a:sym typeface="Arial"/>
              </a:rPr>
              <a:t>"z = [%d %d]\n”</a:t>
            </a: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   z[0], z[1]);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</a:t>
            </a:r>
            <a:r>
              <a:rPr b="1" i="0" lang="en-US" sz="1600" u="none" cap="none" strike="noStrike">
                <a:solidFill>
                  <a:srgbClr val="C200FF"/>
                </a:solidFill>
                <a:latin typeface="Arial"/>
                <a:ea typeface="Arial"/>
                <a:cs typeface="Arial"/>
                <a:sym typeface="Arial"/>
              </a:rPr>
              <a:t>return</a:t>
            </a: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0;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4" name="Google Shape;444;p28"/>
          <p:cNvSpPr/>
          <p:nvPr/>
        </p:nvSpPr>
        <p:spPr>
          <a:xfrm>
            <a:off x="2604184" y="5257800"/>
            <a:ext cx="1205816" cy="357663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spAutoFit/>
          </a:bodyPr>
          <a:lstStyle/>
          <a:p>
            <a:pPr indent="0" lvl="0" marL="0" marR="0" rtl="0"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1" lang="en-US" sz="1800" u="none" cap="none" strike="noStrike">
                <a:solidFill>
                  <a:srgbClr val="7F7F7F"/>
                </a:solidFill>
                <a:latin typeface="Courier New"/>
                <a:ea typeface="Courier New"/>
                <a:cs typeface="Courier New"/>
                <a:sym typeface="Courier New"/>
              </a:rPr>
              <a:t>main2.c</a:t>
            </a:r>
            <a:endParaRPr b="1" i="1" sz="1800" u="none" cap="none" strike="noStrike">
              <a:solidFill>
                <a:srgbClr val="7F7F7F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445" name="Google Shape;445;p28"/>
          <p:cNvSpPr/>
          <p:nvPr/>
        </p:nvSpPr>
        <p:spPr>
          <a:xfrm>
            <a:off x="4169138" y="1817132"/>
            <a:ext cx="4441462" cy="1818063"/>
          </a:xfrm>
          <a:prstGeom prst="rect">
            <a:avLst/>
          </a:prstGeom>
          <a:solidFill>
            <a:srgbClr val="F7F5CD"/>
          </a:solidFill>
          <a:ln cap="flat" cmpd="sng" w="9525">
            <a:solidFill>
              <a:srgbClr val="00006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6800" lIns="90000" spcFirstLastPara="1" rIns="90000" wrap="square" tIns="468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2D961E"/>
                </a:solidFill>
                <a:latin typeface="Arial"/>
                <a:ea typeface="Arial"/>
                <a:cs typeface="Arial"/>
                <a:sym typeface="Arial"/>
              </a:rPr>
              <a:t>void</a:t>
            </a: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en-US" sz="1600" u="none" cap="none" strike="noStrike">
                <a:solidFill>
                  <a:srgbClr val="4A00FF"/>
                </a:solidFill>
                <a:latin typeface="Arial"/>
                <a:ea typeface="Arial"/>
                <a:cs typeface="Arial"/>
                <a:sym typeface="Arial"/>
              </a:rPr>
              <a:t>addvec</a:t>
            </a: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b="1" i="0" lang="en-US" sz="1600" u="none" cap="none" strike="noStrike">
                <a:solidFill>
                  <a:srgbClr val="2D961E"/>
                </a:solidFill>
                <a:latin typeface="Arial"/>
                <a:ea typeface="Arial"/>
                <a:cs typeface="Arial"/>
                <a:sym typeface="Arial"/>
              </a:rPr>
              <a:t>int</a:t>
            </a: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*</a:t>
            </a:r>
            <a:r>
              <a:rPr b="1" i="0" lang="en-US" sz="1600" u="none" cap="none" strike="noStrike">
                <a:solidFill>
                  <a:srgbClr val="C1651C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1" i="0" lang="en-US" sz="1600" u="none" cap="none" strike="noStrike">
                <a:solidFill>
                  <a:srgbClr val="2D961E"/>
                </a:solidFill>
                <a:latin typeface="Arial"/>
                <a:ea typeface="Arial"/>
                <a:cs typeface="Arial"/>
                <a:sym typeface="Arial"/>
              </a:rPr>
              <a:t>int</a:t>
            </a: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*</a:t>
            </a:r>
            <a:r>
              <a:rPr b="1" i="0" lang="en-US" sz="1600" u="none" cap="none" strike="noStrike">
                <a:solidFill>
                  <a:srgbClr val="C1651C"/>
                </a:solidFill>
                <a:latin typeface="Arial"/>
                <a:ea typeface="Arial"/>
                <a:cs typeface="Arial"/>
                <a:sym typeface="Arial"/>
              </a:rPr>
              <a:t>y</a:t>
            </a: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    </a:t>
            </a:r>
            <a:r>
              <a:rPr b="1" i="0" lang="en-US" sz="1600" u="none" cap="none" strike="noStrike">
                <a:solidFill>
                  <a:srgbClr val="2D961E"/>
                </a:solidFill>
                <a:latin typeface="Arial"/>
                <a:ea typeface="Arial"/>
                <a:cs typeface="Arial"/>
                <a:sym typeface="Arial"/>
              </a:rPr>
              <a:t>int</a:t>
            </a: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*</a:t>
            </a:r>
            <a:r>
              <a:rPr b="1" i="0" lang="en-US" sz="1600" u="none" cap="none" strike="noStrike">
                <a:solidFill>
                  <a:srgbClr val="C1651C"/>
                </a:solidFill>
                <a:latin typeface="Arial"/>
                <a:ea typeface="Arial"/>
                <a:cs typeface="Arial"/>
                <a:sym typeface="Arial"/>
              </a:rPr>
              <a:t>z</a:t>
            </a: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1" i="0" lang="en-US" sz="1600" u="none" cap="none" strike="noStrike">
                <a:solidFill>
                  <a:srgbClr val="2D961E"/>
                </a:solidFill>
                <a:latin typeface="Arial"/>
                <a:ea typeface="Arial"/>
                <a:cs typeface="Arial"/>
                <a:sym typeface="Arial"/>
              </a:rPr>
              <a:t>int</a:t>
            </a: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en-US" sz="1600" u="none" cap="none" strike="noStrike">
                <a:solidFill>
                  <a:srgbClr val="C1651C"/>
                </a:solidFill>
                <a:latin typeface="Arial"/>
                <a:ea typeface="Arial"/>
                <a:cs typeface="Arial"/>
                <a:sym typeface="Arial"/>
              </a:rPr>
              <a:t>n</a:t>
            </a: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) {</a:t>
            </a:r>
            <a:endParaRPr b="1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</a:t>
            </a:r>
            <a:r>
              <a:rPr b="1" i="0" lang="en-US" sz="1600" u="none" cap="none" strike="noStrike">
                <a:solidFill>
                  <a:srgbClr val="2D961E"/>
                </a:solidFill>
                <a:latin typeface="Arial"/>
                <a:ea typeface="Arial"/>
                <a:cs typeface="Arial"/>
                <a:sym typeface="Arial"/>
              </a:rPr>
              <a:t>int</a:t>
            </a: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en-US" sz="1600" u="none" cap="none" strike="noStrike">
                <a:solidFill>
                  <a:srgbClr val="C1651C"/>
                </a:solidFill>
                <a:latin typeface="Arial"/>
                <a:ea typeface="Arial"/>
                <a:cs typeface="Arial"/>
                <a:sym typeface="Arial"/>
              </a:rPr>
              <a:t>i</a:t>
            </a: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1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</a:t>
            </a:r>
            <a:r>
              <a:rPr b="1" i="0" lang="en-US" sz="1600" u="none" cap="none" strike="noStrike">
                <a:solidFill>
                  <a:srgbClr val="C200FF"/>
                </a:solidFill>
                <a:latin typeface="Arial"/>
                <a:ea typeface="Arial"/>
                <a:cs typeface="Arial"/>
                <a:sym typeface="Arial"/>
              </a:rPr>
              <a:t>for</a:t>
            </a: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(i = 0; i &lt; n; i++)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z[i] = x[i] + y[i];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}</a:t>
            </a:r>
            <a:endParaRPr b="1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6" name="Google Shape;446;p28"/>
          <p:cNvSpPr/>
          <p:nvPr/>
        </p:nvSpPr>
        <p:spPr>
          <a:xfrm>
            <a:off x="4169138" y="3774995"/>
            <a:ext cx="4441462" cy="2064284"/>
          </a:xfrm>
          <a:prstGeom prst="rect">
            <a:avLst/>
          </a:prstGeom>
          <a:solidFill>
            <a:srgbClr val="F7F5CD"/>
          </a:solidFill>
          <a:ln cap="flat" cmpd="sng" w="9525">
            <a:solidFill>
              <a:srgbClr val="00006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6800" lIns="90000" spcFirstLastPara="1" rIns="90000" wrap="square" tIns="468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2D961E"/>
                </a:solidFill>
                <a:latin typeface="Arial"/>
                <a:ea typeface="Arial"/>
                <a:cs typeface="Arial"/>
                <a:sym typeface="Arial"/>
              </a:rPr>
              <a:t>void</a:t>
            </a: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en-US" sz="1600" u="none" cap="none" strike="noStrike">
                <a:solidFill>
                  <a:srgbClr val="4A00FF"/>
                </a:solidFill>
                <a:latin typeface="Arial"/>
                <a:ea typeface="Arial"/>
                <a:cs typeface="Arial"/>
                <a:sym typeface="Arial"/>
              </a:rPr>
              <a:t>multvec</a:t>
            </a: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b="1" i="0" lang="en-US" sz="1600" u="none" cap="none" strike="noStrike">
                <a:solidFill>
                  <a:srgbClr val="2D961E"/>
                </a:solidFill>
                <a:latin typeface="Arial"/>
                <a:ea typeface="Arial"/>
                <a:cs typeface="Arial"/>
                <a:sym typeface="Arial"/>
              </a:rPr>
              <a:t>int</a:t>
            </a: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*</a:t>
            </a:r>
            <a:r>
              <a:rPr b="1" i="0" lang="en-US" sz="1600" u="none" cap="none" strike="noStrike">
                <a:solidFill>
                  <a:srgbClr val="C1651C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1" i="0" lang="en-US" sz="1600" u="none" cap="none" strike="noStrike">
                <a:solidFill>
                  <a:srgbClr val="2D961E"/>
                </a:solidFill>
                <a:latin typeface="Arial"/>
                <a:ea typeface="Arial"/>
                <a:cs typeface="Arial"/>
                <a:sym typeface="Arial"/>
              </a:rPr>
              <a:t>int</a:t>
            </a: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*</a:t>
            </a:r>
            <a:r>
              <a:rPr b="1" i="0" lang="en-US" sz="1600" u="none" cap="none" strike="noStrike">
                <a:solidFill>
                  <a:srgbClr val="C1651C"/>
                </a:solidFill>
                <a:latin typeface="Arial"/>
                <a:ea typeface="Arial"/>
                <a:cs typeface="Arial"/>
                <a:sym typeface="Arial"/>
              </a:rPr>
              <a:t>y</a:t>
            </a: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     </a:t>
            </a:r>
            <a:r>
              <a:rPr b="1" i="0" lang="en-US" sz="1600" u="none" cap="none" strike="noStrike">
                <a:solidFill>
                  <a:srgbClr val="2D961E"/>
                </a:solidFill>
                <a:latin typeface="Arial"/>
                <a:ea typeface="Arial"/>
                <a:cs typeface="Arial"/>
                <a:sym typeface="Arial"/>
              </a:rPr>
              <a:t>int</a:t>
            </a: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*</a:t>
            </a:r>
            <a:r>
              <a:rPr b="1" i="0" lang="en-US" sz="1600" u="none" cap="none" strike="noStrike">
                <a:solidFill>
                  <a:srgbClr val="C1651C"/>
                </a:solidFill>
                <a:latin typeface="Arial"/>
                <a:ea typeface="Arial"/>
                <a:cs typeface="Arial"/>
                <a:sym typeface="Arial"/>
              </a:rPr>
              <a:t>z</a:t>
            </a: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1" i="0" lang="en-US" sz="1600" u="none" cap="none" strike="noStrike">
                <a:solidFill>
                  <a:srgbClr val="2D961E"/>
                </a:solidFill>
                <a:latin typeface="Arial"/>
                <a:ea typeface="Arial"/>
                <a:cs typeface="Arial"/>
                <a:sym typeface="Arial"/>
              </a:rPr>
              <a:t>int</a:t>
            </a: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en-US" sz="1600" u="none" cap="none" strike="noStrike">
                <a:solidFill>
                  <a:srgbClr val="C1651C"/>
                </a:solidFill>
                <a:latin typeface="Arial"/>
                <a:ea typeface="Arial"/>
                <a:cs typeface="Arial"/>
                <a:sym typeface="Arial"/>
              </a:rPr>
              <a:t>n</a:t>
            </a: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</a:t>
            </a:r>
            <a:r>
              <a:rPr b="1" i="0" lang="en-US" sz="1600" u="none" cap="none" strike="noStrike">
                <a:solidFill>
                  <a:srgbClr val="2D961E"/>
                </a:solidFill>
                <a:latin typeface="Arial"/>
                <a:ea typeface="Arial"/>
                <a:cs typeface="Arial"/>
                <a:sym typeface="Arial"/>
              </a:rPr>
              <a:t>int</a:t>
            </a: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en-US" sz="1600" u="none" cap="none" strike="noStrike">
                <a:solidFill>
                  <a:srgbClr val="C1651C"/>
                </a:solidFill>
                <a:latin typeface="Arial"/>
                <a:ea typeface="Arial"/>
                <a:cs typeface="Arial"/>
                <a:sym typeface="Arial"/>
              </a:rPr>
              <a:t>i</a:t>
            </a: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1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C200FF"/>
                </a:solidFill>
                <a:latin typeface="Arial"/>
                <a:ea typeface="Arial"/>
                <a:cs typeface="Arial"/>
                <a:sym typeface="Arial"/>
              </a:rPr>
              <a:t>    for</a:t>
            </a: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(i = 0; i &lt; n; i++)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z[i] = x[i] * y[i];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}</a:t>
            </a:r>
            <a:endParaRPr b="1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7" name="Google Shape;447;p28"/>
          <p:cNvSpPr/>
          <p:nvPr/>
        </p:nvSpPr>
        <p:spPr>
          <a:xfrm>
            <a:off x="7203940" y="5527595"/>
            <a:ext cx="1482860" cy="357663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spAutoFit/>
          </a:bodyPr>
          <a:lstStyle/>
          <a:p>
            <a:pPr indent="0" lvl="0" marL="0" marR="0" rtl="0"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1" lang="en-US" sz="1800" u="none" cap="none" strike="noStrike">
                <a:solidFill>
                  <a:srgbClr val="7F7F7F"/>
                </a:solidFill>
                <a:latin typeface="Courier New"/>
                <a:ea typeface="Courier New"/>
                <a:cs typeface="Courier New"/>
                <a:sym typeface="Courier New"/>
              </a:rPr>
              <a:t>multvec.c</a:t>
            </a:r>
            <a:endParaRPr b="1" i="1" sz="1800" u="none" cap="none" strike="noStrike">
              <a:solidFill>
                <a:srgbClr val="7F7F7F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448" name="Google Shape;448;p28"/>
          <p:cNvSpPr/>
          <p:nvPr/>
        </p:nvSpPr>
        <p:spPr>
          <a:xfrm>
            <a:off x="7342462" y="3341132"/>
            <a:ext cx="1344338" cy="357663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spAutoFit/>
          </a:bodyPr>
          <a:lstStyle/>
          <a:p>
            <a:pPr indent="0" lvl="0" marL="0" marR="0" rtl="0"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1" lang="en-US" sz="1800" u="none" cap="none" strike="noStrike">
                <a:solidFill>
                  <a:srgbClr val="7F7F7F"/>
                </a:solidFill>
                <a:latin typeface="Courier New"/>
                <a:ea typeface="Courier New"/>
                <a:cs typeface="Courier New"/>
                <a:sym typeface="Courier New"/>
              </a:rPr>
              <a:t>addvec.c</a:t>
            </a:r>
            <a:endParaRPr b="1" i="1" sz="1800" u="none" cap="none" strike="noStrike">
              <a:solidFill>
                <a:srgbClr val="7F7F7F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449" name="Google Shape;449;p28"/>
          <p:cNvSpPr/>
          <p:nvPr/>
        </p:nvSpPr>
        <p:spPr>
          <a:xfrm rot="5400000">
            <a:off x="6210300" y="-583168"/>
            <a:ext cx="381000" cy="4267200"/>
          </a:xfrm>
          <a:prstGeom prst="leftBrace">
            <a:avLst>
              <a:gd fmla="val 233773" name="adj1"/>
              <a:gd fmla="val 50261" name="adj2"/>
            </a:avLst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450" name="Google Shape;450;p28"/>
          <p:cNvSpPr txBox="1"/>
          <p:nvPr/>
        </p:nvSpPr>
        <p:spPr>
          <a:xfrm>
            <a:off x="5791200" y="914400"/>
            <a:ext cx="120571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libvector.a</a:t>
            </a:r>
            <a:endParaRPr b="1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5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Google Shape;456;p29"/>
          <p:cNvSpPr txBox="1"/>
          <p:nvPr>
            <p:ph idx="4294967295" type="title"/>
          </p:nvPr>
        </p:nvSpPr>
        <p:spPr>
          <a:xfrm>
            <a:off x="404813" y="284162"/>
            <a:ext cx="5614987" cy="7826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119063" lvl="0" marL="11906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Linking with Static Libraries</a:t>
            </a:r>
            <a:endParaRPr/>
          </a:p>
        </p:txBody>
      </p:sp>
      <p:cxnSp>
        <p:nvCxnSpPr>
          <p:cNvPr id="457" name="Google Shape;457;p29"/>
          <p:cNvCxnSpPr/>
          <p:nvPr/>
        </p:nvCxnSpPr>
        <p:spPr>
          <a:xfrm>
            <a:off x="698500" y="2582862"/>
            <a:ext cx="1587" cy="381000"/>
          </a:xfrm>
          <a:prstGeom prst="straightConnector1">
            <a:avLst/>
          </a:prstGeom>
          <a:noFill/>
          <a:ln cap="flat" cmpd="sng" w="28425">
            <a:solidFill>
              <a:srgbClr val="000066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458" name="Google Shape;458;p29"/>
          <p:cNvSpPr/>
          <p:nvPr/>
        </p:nvSpPr>
        <p:spPr>
          <a:xfrm>
            <a:off x="174625" y="2992438"/>
            <a:ext cx="2070100" cy="644525"/>
          </a:xfrm>
          <a:prstGeom prst="rect">
            <a:avLst/>
          </a:prstGeom>
          <a:solidFill>
            <a:srgbClr val="D5D5F4"/>
          </a:solidFill>
          <a:ln cap="flat" cmpd="sng" w="284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4275" lIns="90350" spcFirstLastPara="1" rIns="90350" wrap="square" tIns="44275">
            <a:spAutoFit/>
          </a:bodyPr>
          <a:lstStyle/>
          <a:p>
            <a:pPr indent="0" lvl="0" marL="0" marR="0" rtl="0" algn="ctr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Translators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</a:t>
            </a:r>
            <a:r>
              <a:rPr b="1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cpp</a:t>
            </a: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b="1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cc1</a:t>
            </a: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b="1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as</a:t>
            </a: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9" name="Google Shape;459;p29"/>
          <p:cNvSpPr txBox="1"/>
          <p:nvPr/>
        </p:nvSpPr>
        <p:spPr>
          <a:xfrm>
            <a:off x="152400" y="2286000"/>
            <a:ext cx="1146767" cy="354906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spAutoFit/>
          </a:bodyPr>
          <a:lstStyle/>
          <a:p>
            <a:pPr indent="0" lvl="0" marL="0" marR="0" rtl="0"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main2.c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0" name="Google Shape;460;p29"/>
          <p:cNvSpPr txBox="1"/>
          <p:nvPr/>
        </p:nvSpPr>
        <p:spPr>
          <a:xfrm>
            <a:off x="1801813" y="3994150"/>
            <a:ext cx="1146767" cy="354906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spAutoFit/>
          </a:bodyPr>
          <a:lstStyle/>
          <a:p>
            <a:pPr indent="0" lvl="0" marL="0" marR="0" rtl="0"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main2.o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61" name="Google Shape;461;p29"/>
          <p:cNvCxnSpPr/>
          <p:nvPr/>
        </p:nvCxnSpPr>
        <p:spPr>
          <a:xfrm>
            <a:off x="1241425" y="3681413"/>
            <a:ext cx="815975" cy="381000"/>
          </a:xfrm>
          <a:prstGeom prst="straightConnector1">
            <a:avLst/>
          </a:prstGeom>
          <a:noFill/>
          <a:ln cap="flat" cmpd="sng" w="28425">
            <a:solidFill>
              <a:srgbClr val="000066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462" name="Google Shape;462;p29"/>
          <p:cNvCxnSpPr/>
          <p:nvPr/>
        </p:nvCxnSpPr>
        <p:spPr>
          <a:xfrm>
            <a:off x="2344738" y="4291013"/>
            <a:ext cx="762000" cy="304800"/>
          </a:xfrm>
          <a:prstGeom prst="straightConnector1">
            <a:avLst/>
          </a:prstGeom>
          <a:noFill/>
          <a:ln cap="flat" cmpd="sng" w="28425">
            <a:solidFill>
              <a:srgbClr val="000066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463" name="Google Shape;463;p29"/>
          <p:cNvSpPr txBox="1"/>
          <p:nvPr/>
        </p:nvSpPr>
        <p:spPr>
          <a:xfrm>
            <a:off x="5353050" y="3263900"/>
            <a:ext cx="1008907" cy="354906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spAutoFit/>
          </a:bodyPr>
          <a:lstStyle/>
          <a:p>
            <a:pPr indent="0" lvl="0" marL="0" marR="0" rtl="0"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libc.a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64" name="Google Shape;464;p29"/>
          <p:cNvCxnSpPr/>
          <p:nvPr/>
        </p:nvCxnSpPr>
        <p:spPr>
          <a:xfrm>
            <a:off x="3981451" y="3649663"/>
            <a:ext cx="1587" cy="1022350"/>
          </a:xfrm>
          <a:prstGeom prst="straightConnector1">
            <a:avLst/>
          </a:prstGeom>
          <a:noFill/>
          <a:ln cap="flat" cmpd="sng" w="28425">
            <a:solidFill>
              <a:srgbClr val="000066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465" name="Google Shape;465;p29"/>
          <p:cNvSpPr/>
          <p:nvPr/>
        </p:nvSpPr>
        <p:spPr>
          <a:xfrm>
            <a:off x="2497138" y="4672013"/>
            <a:ext cx="2971800" cy="360909"/>
          </a:xfrm>
          <a:prstGeom prst="rect">
            <a:avLst/>
          </a:prstGeom>
          <a:solidFill>
            <a:srgbClr val="D5D5F4"/>
          </a:solidFill>
          <a:ln cap="flat" cmpd="sng" w="284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4275" lIns="90350" spcFirstLastPara="1" rIns="90350" wrap="square" tIns="44275">
            <a:spAutoFit/>
          </a:bodyPr>
          <a:lstStyle/>
          <a:p>
            <a:pPr indent="0" lvl="0" marL="0" marR="0" rtl="0" algn="ctr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Linker (</a:t>
            </a:r>
            <a:r>
              <a:rPr b="1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ld</a:t>
            </a: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6" name="Google Shape;466;p29"/>
          <p:cNvSpPr txBox="1"/>
          <p:nvPr/>
        </p:nvSpPr>
        <p:spPr>
          <a:xfrm>
            <a:off x="3519593" y="5518150"/>
            <a:ext cx="1012890" cy="357663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spAutoFit/>
          </a:bodyPr>
          <a:lstStyle/>
          <a:p>
            <a:pPr indent="0" lvl="0" marL="0" marR="0" rtl="0"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prog2c</a:t>
            </a:r>
            <a:endParaRPr b="1" i="0" sz="18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cxnSp>
        <p:nvCxnSpPr>
          <p:cNvPr id="467" name="Google Shape;467;p29"/>
          <p:cNvCxnSpPr/>
          <p:nvPr/>
        </p:nvCxnSpPr>
        <p:spPr>
          <a:xfrm>
            <a:off x="3981450" y="5047191"/>
            <a:ext cx="1588" cy="414338"/>
          </a:xfrm>
          <a:prstGeom prst="straightConnector1">
            <a:avLst/>
          </a:prstGeom>
          <a:noFill/>
          <a:ln cap="flat" cmpd="sng" w="28425">
            <a:solidFill>
              <a:srgbClr val="000066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468" name="Google Shape;468;p29"/>
          <p:cNvSpPr txBox="1"/>
          <p:nvPr/>
        </p:nvSpPr>
        <p:spPr>
          <a:xfrm>
            <a:off x="5577022" y="3886200"/>
            <a:ext cx="3185978" cy="626391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spAutoFit/>
          </a:bodyPr>
          <a:lstStyle/>
          <a:p>
            <a:pPr indent="0" lvl="0" marL="0" marR="0" rtl="0"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1" lang="en-US" sz="1800" u="none" cap="none" strike="noStrike">
                <a:solidFill>
                  <a:srgbClr val="7F7F7F"/>
                </a:solidFill>
                <a:latin typeface="Courier New"/>
                <a:ea typeface="Courier New"/>
                <a:cs typeface="Courier New"/>
                <a:sym typeface="Courier New"/>
              </a:rPr>
              <a:t>printf.o </a:t>
            </a:r>
            <a:r>
              <a:rPr b="1" i="1" lang="en-US" sz="18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and any other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1" lang="en-US" sz="18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modules called by </a:t>
            </a:r>
            <a:r>
              <a:rPr b="1" i="1" lang="en-US" sz="1800" u="none" cap="none" strike="noStrike">
                <a:solidFill>
                  <a:srgbClr val="7F7F7F"/>
                </a:solidFill>
                <a:latin typeface="Courier New"/>
                <a:ea typeface="Courier New"/>
                <a:cs typeface="Courier New"/>
                <a:sym typeface="Courier New"/>
              </a:rPr>
              <a:t>printf.o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9" name="Google Shape;469;p29"/>
          <p:cNvSpPr txBox="1"/>
          <p:nvPr/>
        </p:nvSpPr>
        <p:spPr>
          <a:xfrm>
            <a:off x="3187700" y="3263900"/>
            <a:ext cx="1698199" cy="354906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spAutoFit/>
          </a:bodyPr>
          <a:lstStyle/>
          <a:p>
            <a:pPr indent="0" lvl="0" marL="0" marR="0" rtl="0"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libvector.a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0" name="Google Shape;470;p29"/>
          <p:cNvSpPr txBox="1"/>
          <p:nvPr/>
        </p:nvSpPr>
        <p:spPr>
          <a:xfrm>
            <a:off x="3992563" y="3994150"/>
            <a:ext cx="1284624" cy="354906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spAutoFit/>
          </a:bodyPr>
          <a:lstStyle/>
          <a:p>
            <a:pPr indent="0" lvl="0" marL="0" marR="0" rtl="0"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addvec.o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71" name="Google Shape;471;p29"/>
          <p:cNvCxnSpPr/>
          <p:nvPr/>
        </p:nvCxnSpPr>
        <p:spPr>
          <a:xfrm flipH="1">
            <a:off x="4981575" y="3590397"/>
            <a:ext cx="841375" cy="1066800"/>
          </a:xfrm>
          <a:prstGeom prst="straightConnector1">
            <a:avLst/>
          </a:prstGeom>
          <a:noFill/>
          <a:ln cap="flat" cmpd="sng" w="28425">
            <a:solidFill>
              <a:srgbClr val="000066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472" name="Google Shape;472;p29"/>
          <p:cNvSpPr txBox="1"/>
          <p:nvPr/>
        </p:nvSpPr>
        <p:spPr>
          <a:xfrm>
            <a:off x="6929438" y="3206750"/>
            <a:ext cx="1552839" cy="365999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spAutoFit/>
          </a:bodyPr>
          <a:lstStyle/>
          <a:p>
            <a:pPr indent="0" lvl="0" marL="0" marR="0" rtl="0"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1" lang="en-US" sz="18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Static libraries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3" name="Google Shape;473;p29"/>
          <p:cNvSpPr txBox="1"/>
          <p:nvPr/>
        </p:nvSpPr>
        <p:spPr>
          <a:xfrm>
            <a:off x="225425" y="3883025"/>
            <a:ext cx="1305592" cy="637483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spAutoFit/>
          </a:bodyPr>
          <a:lstStyle/>
          <a:p>
            <a:pPr indent="0" lvl="0" marL="0" marR="0" rtl="0"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1" lang="en-US" sz="18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Relocatable</a:t>
            </a:r>
            <a:endParaRPr b="1" i="1" sz="1800" u="none" cap="none" strike="noStrike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1" lang="en-US" sz="18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object files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4" name="Google Shape;474;p29"/>
          <p:cNvSpPr txBox="1"/>
          <p:nvPr/>
        </p:nvSpPr>
        <p:spPr>
          <a:xfrm>
            <a:off x="4648251" y="5378450"/>
            <a:ext cx="2209749" cy="637483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spAutoFit/>
          </a:bodyPr>
          <a:lstStyle/>
          <a:p>
            <a:pPr indent="0" lvl="0" marL="0" marR="0" rtl="0"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1" lang="en-US" sz="18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Fully linked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1" lang="en-US" sz="18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executable object file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5" name="Google Shape;475;p29"/>
          <p:cNvSpPr txBox="1"/>
          <p:nvPr/>
        </p:nvSpPr>
        <p:spPr>
          <a:xfrm>
            <a:off x="1260475" y="2286000"/>
            <a:ext cx="1284624" cy="354906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spAutoFit/>
          </a:bodyPr>
          <a:lstStyle/>
          <a:p>
            <a:pPr indent="0" lvl="0" marL="0" marR="0" rtl="0"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vector.h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76" name="Google Shape;476;p29"/>
          <p:cNvCxnSpPr/>
          <p:nvPr/>
        </p:nvCxnSpPr>
        <p:spPr>
          <a:xfrm>
            <a:off x="1882775" y="2582862"/>
            <a:ext cx="1587" cy="381000"/>
          </a:xfrm>
          <a:prstGeom prst="straightConnector1">
            <a:avLst/>
          </a:prstGeom>
          <a:noFill/>
          <a:ln cap="flat" cmpd="sng" w="28425">
            <a:solidFill>
              <a:srgbClr val="000066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477" name="Google Shape;477;p29"/>
          <p:cNvSpPr/>
          <p:nvPr/>
        </p:nvSpPr>
        <p:spPr>
          <a:xfrm>
            <a:off x="3328988" y="2289175"/>
            <a:ext cx="1304925" cy="644525"/>
          </a:xfrm>
          <a:prstGeom prst="rect">
            <a:avLst/>
          </a:prstGeom>
          <a:solidFill>
            <a:srgbClr val="D5D5F4"/>
          </a:solidFill>
          <a:ln cap="flat" cmpd="sng" w="284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4275" lIns="90350" spcFirstLastPara="1" rIns="90350" wrap="square" tIns="44275">
            <a:spAutoFit/>
          </a:bodyPr>
          <a:lstStyle/>
          <a:p>
            <a:pPr indent="0" lvl="0" marL="0" marR="0" rtl="0" algn="ctr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Archiver</a:t>
            </a:r>
            <a:endParaRPr b="1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</a:t>
            </a:r>
            <a:r>
              <a:rPr b="1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ar</a:t>
            </a: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78" name="Google Shape;478;p29"/>
          <p:cNvCxnSpPr/>
          <p:nvPr/>
        </p:nvCxnSpPr>
        <p:spPr>
          <a:xfrm>
            <a:off x="3981451" y="2955925"/>
            <a:ext cx="1587" cy="411163"/>
          </a:xfrm>
          <a:prstGeom prst="straightConnector1">
            <a:avLst/>
          </a:prstGeom>
          <a:noFill/>
          <a:ln cap="flat" cmpd="sng" w="28425">
            <a:solidFill>
              <a:srgbClr val="000066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479" name="Google Shape;479;p29"/>
          <p:cNvCxnSpPr/>
          <p:nvPr/>
        </p:nvCxnSpPr>
        <p:spPr>
          <a:xfrm>
            <a:off x="3429000" y="1874837"/>
            <a:ext cx="1588" cy="411163"/>
          </a:xfrm>
          <a:prstGeom prst="straightConnector1">
            <a:avLst/>
          </a:prstGeom>
          <a:noFill/>
          <a:ln cap="flat" cmpd="sng" w="28425">
            <a:solidFill>
              <a:srgbClr val="000066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480" name="Google Shape;480;p29"/>
          <p:cNvCxnSpPr/>
          <p:nvPr/>
        </p:nvCxnSpPr>
        <p:spPr>
          <a:xfrm>
            <a:off x="4572000" y="1874837"/>
            <a:ext cx="1588" cy="411163"/>
          </a:xfrm>
          <a:prstGeom prst="straightConnector1">
            <a:avLst/>
          </a:prstGeom>
          <a:noFill/>
          <a:ln cap="flat" cmpd="sng" w="28425">
            <a:solidFill>
              <a:srgbClr val="000066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481" name="Google Shape;481;p29"/>
          <p:cNvSpPr txBox="1"/>
          <p:nvPr/>
        </p:nvSpPr>
        <p:spPr>
          <a:xfrm>
            <a:off x="2601913" y="1538288"/>
            <a:ext cx="1284624" cy="354906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spAutoFit/>
          </a:bodyPr>
          <a:lstStyle/>
          <a:p>
            <a:pPr indent="0" lvl="0" marL="0" marR="0" rtl="0"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addvec.o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2" name="Google Shape;482;p29"/>
          <p:cNvSpPr txBox="1"/>
          <p:nvPr/>
        </p:nvSpPr>
        <p:spPr>
          <a:xfrm>
            <a:off x="3925888" y="1524000"/>
            <a:ext cx="1422483" cy="354906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spAutoFit/>
          </a:bodyPr>
          <a:lstStyle/>
          <a:p>
            <a:pPr indent="0" lvl="0" marL="0" marR="0" rtl="0"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multvec.o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3" name="Google Shape;483;p29"/>
          <p:cNvSpPr txBox="1"/>
          <p:nvPr/>
        </p:nvSpPr>
        <p:spPr>
          <a:xfrm>
            <a:off x="2895600" y="6347379"/>
            <a:ext cx="2175583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1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“c” for “compile-time”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8" name="Shape 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Google Shape;489;p30"/>
          <p:cNvSpPr txBox="1"/>
          <p:nvPr>
            <p:ph idx="4294967295" type="title"/>
          </p:nvPr>
        </p:nvSpPr>
        <p:spPr>
          <a:xfrm>
            <a:off x="457200" y="360362"/>
            <a:ext cx="8716962" cy="7826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119063" lvl="0" marL="11906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Using Static Libraries</a:t>
            </a:r>
            <a:endParaRPr/>
          </a:p>
        </p:txBody>
      </p:sp>
      <p:sp>
        <p:nvSpPr>
          <p:cNvPr id="490" name="Google Shape;490;p30"/>
          <p:cNvSpPr txBox="1"/>
          <p:nvPr>
            <p:ph idx="1" type="body"/>
          </p:nvPr>
        </p:nvSpPr>
        <p:spPr>
          <a:xfrm>
            <a:off x="455613" y="1428750"/>
            <a:ext cx="8307387" cy="41338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40"/>
              <a:buChar char="⬛"/>
            </a:pPr>
            <a:r>
              <a:rPr lang="en-US"/>
              <a:t>Linker’s algorithm for resolving external references:</a:t>
            </a:r>
            <a:endParaRPr/>
          </a:p>
          <a:p>
            <a:pPr indent="-285750" lvl="1" marL="742950" rtl="0" algn="l">
              <a:lnSpc>
                <a:spcPct val="88000"/>
              </a:lnSpc>
              <a:spcBef>
                <a:spcPts val="400"/>
              </a:spcBef>
              <a:spcAft>
                <a:spcPts val="0"/>
              </a:spcAft>
              <a:buSzPts val="2200"/>
              <a:buChar char="▪"/>
            </a:pPr>
            <a:r>
              <a:rPr lang="en-US"/>
              <a:t>Scan </a:t>
            </a:r>
            <a:r>
              <a:rPr b="1" lang="en-US">
                <a:latin typeface="Courier New"/>
                <a:ea typeface="Courier New"/>
                <a:cs typeface="Courier New"/>
                <a:sym typeface="Courier New"/>
              </a:rPr>
              <a:t>.o</a:t>
            </a:r>
            <a:r>
              <a:rPr lang="en-US"/>
              <a:t> files and </a:t>
            </a:r>
            <a:r>
              <a:rPr b="1" lang="en-US">
                <a:latin typeface="Courier New"/>
                <a:ea typeface="Courier New"/>
                <a:cs typeface="Courier New"/>
                <a:sym typeface="Courier New"/>
              </a:rPr>
              <a:t>.a</a:t>
            </a:r>
            <a:r>
              <a:rPr lang="en-US"/>
              <a:t> files in the command line order.</a:t>
            </a:r>
            <a:endParaRPr/>
          </a:p>
          <a:p>
            <a:pPr indent="-285750" lvl="1" marL="742950" rtl="0" algn="l">
              <a:lnSpc>
                <a:spcPct val="88000"/>
              </a:lnSpc>
              <a:spcBef>
                <a:spcPts val="400"/>
              </a:spcBef>
              <a:spcAft>
                <a:spcPts val="0"/>
              </a:spcAft>
              <a:buSzPts val="2200"/>
              <a:buChar char="▪"/>
            </a:pPr>
            <a:r>
              <a:rPr lang="en-US"/>
              <a:t>During the scan, keep a list of the current unresolved references.</a:t>
            </a:r>
            <a:endParaRPr/>
          </a:p>
          <a:p>
            <a:pPr indent="-285750" lvl="1" marL="742950" rtl="0" algn="l">
              <a:lnSpc>
                <a:spcPct val="88000"/>
              </a:lnSpc>
              <a:spcBef>
                <a:spcPts val="400"/>
              </a:spcBef>
              <a:spcAft>
                <a:spcPts val="0"/>
              </a:spcAft>
              <a:buSzPts val="2200"/>
              <a:buChar char="▪"/>
            </a:pPr>
            <a:r>
              <a:rPr lang="en-US"/>
              <a:t>As each new </a:t>
            </a:r>
            <a:r>
              <a:rPr b="1" lang="en-US">
                <a:latin typeface="Courier New"/>
                <a:ea typeface="Courier New"/>
                <a:cs typeface="Courier New"/>
                <a:sym typeface="Courier New"/>
              </a:rPr>
              <a:t>.o</a:t>
            </a:r>
            <a:r>
              <a:rPr lang="en-US"/>
              <a:t> or </a:t>
            </a:r>
            <a:r>
              <a:rPr b="1" lang="en-US">
                <a:latin typeface="Courier New"/>
                <a:ea typeface="Courier New"/>
                <a:cs typeface="Courier New"/>
                <a:sym typeface="Courier New"/>
              </a:rPr>
              <a:t>.a</a:t>
            </a:r>
            <a:r>
              <a:rPr lang="en-US"/>
              <a:t> file, </a:t>
            </a:r>
            <a:r>
              <a:rPr i="1" lang="en-US"/>
              <a:t>obj</a:t>
            </a:r>
            <a:r>
              <a:rPr lang="en-US"/>
              <a:t>, is encountered, try to resolve each unresolved reference in the list against the symbols defined in </a:t>
            </a:r>
            <a:r>
              <a:rPr i="1" lang="en-US"/>
              <a:t>obj</a:t>
            </a:r>
            <a:r>
              <a:rPr lang="en-US"/>
              <a:t>. </a:t>
            </a:r>
            <a:endParaRPr/>
          </a:p>
          <a:p>
            <a:pPr indent="-285750" lvl="1" marL="742950" rtl="0" algn="l">
              <a:lnSpc>
                <a:spcPct val="88000"/>
              </a:lnSpc>
              <a:spcBef>
                <a:spcPts val="400"/>
              </a:spcBef>
              <a:spcAft>
                <a:spcPts val="0"/>
              </a:spcAft>
              <a:buSzPts val="2200"/>
              <a:buChar char="▪"/>
            </a:pPr>
            <a:r>
              <a:rPr lang="en-US"/>
              <a:t>If any entries in the unresolved list at end of scan, then error.</a:t>
            </a:r>
            <a:endParaRPr/>
          </a:p>
          <a:p>
            <a:pPr indent="-251459" lvl="0" marL="342900" rtl="0" algn="l">
              <a:lnSpc>
                <a:spcPct val="83000"/>
              </a:lnSpc>
              <a:spcBef>
                <a:spcPts val="480"/>
              </a:spcBef>
              <a:spcAft>
                <a:spcPts val="0"/>
              </a:spcAft>
              <a:buSzPts val="1440"/>
              <a:buNone/>
            </a:pPr>
            <a:r>
              <a:t/>
            </a:r>
            <a:endParaRPr/>
          </a:p>
          <a:p>
            <a:pPr indent="-342900" lvl="0" marL="342900" rtl="0" algn="l">
              <a:lnSpc>
                <a:spcPct val="83000"/>
              </a:lnSpc>
              <a:spcBef>
                <a:spcPts val="480"/>
              </a:spcBef>
              <a:spcAft>
                <a:spcPts val="0"/>
              </a:spcAft>
              <a:buSzPts val="1440"/>
              <a:buChar char="⬛"/>
            </a:pPr>
            <a:r>
              <a:rPr lang="en-US"/>
              <a:t>Problem:</a:t>
            </a:r>
            <a:endParaRPr/>
          </a:p>
          <a:p>
            <a:pPr indent="-285750" lvl="1" marL="742950" rtl="0" algn="l">
              <a:lnSpc>
                <a:spcPct val="88000"/>
              </a:lnSpc>
              <a:spcBef>
                <a:spcPts val="400"/>
              </a:spcBef>
              <a:spcAft>
                <a:spcPts val="0"/>
              </a:spcAft>
              <a:buSzPts val="2200"/>
              <a:buChar char="▪"/>
            </a:pPr>
            <a:r>
              <a:rPr lang="en-US"/>
              <a:t>Command line order matters!</a:t>
            </a:r>
            <a:endParaRPr/>
          </a:p>
          <a:p>
            <a:pPr indent="-285750" lvl="1" marL="742950" rtl="0" algn="l">
              <a:lnSpc>
                <a:spcPct val="88000"/>
              </a:lnSpc>
              <a:spcBef>
                <a:spcPts val="400"/>
              </a:spcBef>
              <a:spcAft>
                <a:spcPts val="0"/>
              </a:spcAft>
              <a:buSzPts val="2200"/>
              <a:buChar char="▪"/>
            </a:pPr>
            <a:r>
              <a:rPr lang="en-US"/>
              <a:t>Moral: put libraries at the end of the command line. </a:t>
            </a:r>
            <a:endParaRPr/>
          </a:p>
        </p:txBody>
      </p:sp>
      <p:sp>
        <p:nvSpPr>
          <p:cNvPr id="491" name="Google Shape;491;p30"/>
          <p:cNvSpPr/>
          <p:nvPr/>
        </p:nvSpPr>
        <p:spPr>
          <a:xfrm>
            <a:off x="990600" y="4995736"/>
            <a:ext cx="6847044" cy="1024064"/>
          </a:xfrm>
          <a:prstGeom prst="rect">
            <a:avLst/>
          </a:prstGeom>
          <a:solidFill>
            <a:srgbClr val="E6E6E6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6800" lIns="90000" spcFirstLastPara="1" rIns="90000" wrap="square" tIns="46800">
            <a:spAutoFit/>
          </a:bodyPr>
          <a:lstStyle/>
          <a:p>
            <a:pPr indent="0" lvl="0" marL="0" marR="0" rtl="0"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unix&gt; gcc -L. libtest.o -lmine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unix&gt; gcc -L. -lmine libtest.o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libtest.o: In function `main':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libtest.o(.text+0x4): undefined reference to `libfun'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6" name="Shape 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497;p31"/>
          <p:cNvSpPr txBox="1"/>
          <p:nvPr>
            <p:ph idx="4294967295" type="title"/>
          </p:nvPr>
        </p:nvSpPr>
        <p:spPr>
          <a:xfrm>
            <a:off x="350838" y="381000"/>
            <a:ext cx="8716962" cy="7826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119063" lvl="0" marL="11906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Modern Solution: Shared Libraries</a:t>
            </a:r>
            <a:endParaRPr/>
          </a:p>
        </p:txBody>
      </p:sp>
      <p:sp>
        <p:nvSpPr>
          <p:cNvPr id="498" name="Google Shape;498;p31"/>
          <p:cNvSpPr txBox="1"/>
          <p:nvPr>
            <p:ph idx="1" type="body"/>
          </p:nvPr>
        </p:nvSpPr>
        <p:spPr>
          <a:xfrm>
            <a:off x="379413" y="1344613"/>
            <a:ext cx="8307387" cy="49799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40"/>
              <a:buChar char="⬛"/>
            </a:pPr>
            <a:r>
              <a:rPr lang="en-US"/>
              <a:t>Static libraries have the following disadvantages: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200"/>
              <a:buChar char="▪"/>
            </a:pPr>
            <a:r>
              <a:rPr lang="en-US"/>
              <a:t>Duplication in the stored executables (every function needs libc)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200"/>
              <a:buChar char="▪"/>
            </a:pPr>
            <a:r>
              <a:rPr lang="en-US"/>
              <a:t>Duplication in the running executables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200"/>
              <a:buChar char="▪"/>
            </a:pPr>
            <a:r>
              <a:rPr lang="en-US"/>
              <a:t>Minor bug fixes of system libraries require each application to explicitly relink</a:t>
            </a:r>
            <a:endParaRPr/>
          </a:p>
          <a:p>
            <a:pPr indent="-251459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440"/>
              <a:buNone/>
            </a:pPr>
            <a:r>
              <a:t/>
            </a:r>
            <a:endParaRPr>
              <a:solidFill>
                <a:srgbClr val="000004"/>
              </a:solidFill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440"/>
              <a:buChar char="⬛"/>
            </a:pPr>
            <a:r>
              <a:rPr lang="en-US">
                <a:solidFill>
                  <a:srgbClr val="000004"/>
                </a:solidFill>
              </a:rPr>
              <a:t>Modern solution: Shared Libraries 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200"/>
              <a:buChar char="▪"/>
            </a:pPr>
            <a:r>
              <a:rPr lang="en-US"/>
              <a:t>Object files that contain code and data that are loaded and linked into an application </a:t>
            </a:r>
            <a:r>
              <a:rPr i="1" lang="en-US"/>
              <a:t>dynamically, </a:t>
            </a:r>
            <a:r>
              <a:rPr lang="en-US"/>
              <a:t>at either </a:t>
            </a:r>
            <a:r>
              <a:rPr i="1" lang="en-US"/>
              <a:t>load-time</a:t>
            </a:r>
            <a:r>
              <a:rPr lang="en-US"/>
              <a:t> or </a:t>
            </a:r>
            <a:r>
              <a:rPr i="1" lang="en-US"/>
              <a:t>run-time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200"/>
              <a:buChar char="▪"/>
            </a:pPr>
            <a:r>
              <a:rPr lang="en-US"/>
              <a:t>Also called: dynamic link libraries, DLLs, </a:t>
            </a: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.so </a:t>
            </a:r>
            <a:r>
              <a:rPr lang="en-US"/>
              <a:t>files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200"/>
              <a:buFont typeface="Noto Sans"/>
              <a:buNone/>
            </a:pPr>
            <a:r>
              <a:t/>
            </a:r>
            <a:endParaRPr i="1"/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440"/>
              <a:buFont typeface="Noto Sans"/>
              <a:buNone/>
            </a:pPr>
            <a:r>
              <a:t/>
            </a:r>
            <a:endParaRPr i="1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3" name="Shape 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" name="Google Shape;504;p32"/>
          <p:cNvSpPr txBox="1"/>
          <p:nvPr>
            <p:ph idx="4294967295" type="title"/>
          </p:nvPr>
        </p:nvSpPr>
        <p:spPr>
          <a:xfrm>
            <a:off x="404813" y="436562"/>
            <a:ext cx="8716962" cy="7826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119063" lvl="0" marL="11906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Shared Libraries (cont.)</a:t>
            </a:r>
            <a:endParaRPr/>
          </a:p>
        </p:txBody>
      </p:sp>
      <p:sp>
        <p:nvSpPr>
          <p:cNvPr id="505" name="Google Shape;505;p32"/>
          <p:cNvSpPr txBox="1"/>
          <p:nvPr>
            <p:ph idx="1" type="body"/>
          </p:nvPr>
        </p:nvSpPr>
        <p:spPr>
          <a:xfrm>
            <a:off x="396347" y="1295400"/>
            <a:ext cx="8307387" cy="54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40"/>
              <a:buChar char="⬛"/>
            </a:pPr>
            <a:r>
              <a:rPr lang="en-US"/>
              <a:t>Dynamic linking can occur when executable is first loaded and run (load-time linking).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200"/>
              <a:buChar char="▪"/>
            </a:pPr>
            <a:r>
              <a:rPr lang="en-US"/>
              <a:t>Common case for Linux, handled automatically by the dynamic linker (</a:t>
            </a:r>
            <a:r>
              <a:rPr b="1" lang="en-US">
                <a:latin typeface="Courier New"/>
                <a:ea typeface="Courier New"/>
                <a:cs typeface="Courier New"/>
                <a:sym typeface="Courier New"/>
              </a:rPr>
              <a:t>ld-linux.so</a:t>
            </a: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)</a:t>
            </a:r>
            <a:r>
              <a:rPr lang="en-US"/>
              <a:t>.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200"/>
              <a:buChar char="▪"/>
            </a:pPr>
            <a:r>
              <a:rPr lang="en-US"/>
              <a:t>Standard C library (</a:t>
            </a:r>
            <a:r>
              <a:rPr b="1" lang="en-US">
                <a:latin typeface="Courier New"/>
                <a:ea typeface="Courier New"/>
                <a:cs typeface="Courier New"/>
                <a:sym typeface="Courier New"/>
              </a:rPr>
              <a:t>libc.so</a:t>
            </a:r>
            <a:r>
              <a:rPr lang="en-US"/>
              <a:t>) usually dynamically linked. 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SzPts val="1440"/>
              <a:buChar char="⬛"/>
            </a:pPr>
            <a:r>
              <a:rPr lang="en-US"/>
              <a:t>Dynamic linking can also occur after program has begun </a:t>
            </a:r>
            <a:br>
              <a:rPr lang="en-US"/>
            </a:br>
            <a:r>
              <a:rPr lang="en-US"/>
              <a:t>(run-time linking).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200"/>
              <a:buChar char="▪"/>
            </a:pPr>
            <a:r>
              <a:rPr lang="en-US"/>
              <a:t>In Linux, this is done by calls to the </a:t>
            </a:r>
            <a:r>
              <a:rPr b="1" lang="en-US">
                <a:latin typeface="Courier New"/>
                <a:ea typeface="Courier New"/>
                <a:cs typeface="Courier New"/>
                <a:sym typeface="Courier New"/>
              </a:rPr>
              <a:t>dlopen() </a:t>
            </a:r>
            <a:r>
              <a:rPr lang="en-US"/>
              <a:t>interface</a:t>
            </a: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.</a:t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  <a:p>
            <a:pPr indent="-228600" lvl="2" marL="11430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▪"/>
            </a:pPr>
            <a:r>
              <a:rPr lang="en-US"/>
              <a:t>Distributing software.</a:t>
            </a:r>
            <a:endParaRPr/>
          </a:p>
          <a:p>
            <a:pPr indent="-228600" lvl="2" marL="11430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▪"/>
            </a:pPr>
            <a:r>
              <a:rPr lang="en-US"/>
              <a:t>High-performance web servers. </a:t>
            </a:r>
            <a:endParaRPr/>
          </a:p>
          <a:p>
            <a:pPr indent="-228600" lvl="2" marL="11430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▪"/>
            </a:pPr>
            <a:r>
              <a:rPr lang="en-US"/>
              <a:t>Runtime library interpositioning.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SzPts val="1440"/>
              <a:buChar char="⬛"/>
            </a:pPr>
            <a:r>
              <a:rPr lang="en-US"/>
              <a:t>Shared library routines can be shared by multiple processes.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200"/>
              <a:buChar char="▪"/>
            </a:pPr>
            <a:r>
              <a:rPr lang="en-US"/>
              <a:t>More on this when we learn about virtual memory</a:t>
            </a:r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0" name="Shape 5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1" name="Google Shape;511;p33"/>
          <p:cNvSpPr txBox="1"/>
          <p:nvPr>
            <p:ph idx="4294967295" type="title"/>
          </p:nvPr>
        </p:nvSpPr>
        <p:spPr>
          <a:xfrm>
            <a:off x="350838" y="285750"/>
            <a:ext cx="8716962" cy="7810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119063" lvl="0" marL="11906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Dynamic Linking at Load-time</a:t>
            </a:r>
            <a:endParaRPr/>
          </a:p>
        </p:txBody>
      </p:sp>
      <p:cxnSp>
        <p:nvCxnSpPr>
          <p:cNvPr id="512" name="Google Shape;512;p33"/>
          <p:cNvCxnSpPr/>
          <p:nvPr/>
        </p:nvCxnSpPr>
        <p:spPr>
          <a:xfrm>
            <a:off x="2620963" y="1247500"/>
            <a:ext cx="1587" cy="381000"/>
          </a:xfrm>
          <a:prstGeom prst="straightConnector1">
            <a:avLst/>
          </a:prstGeom>
          <a:noFill/>
          <a:ln cap="flat" cmpd="sng" w="9525">
            <a:solidFill>
              <a:srgbClr val="000066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513" name="Google Shape;513;p33"/>
          <p:cNvSpPr/>
          <p:nvPr/>
        </p:nvSpPr>
        <p:spPr>
          <a:xfrm>
            <a:off x="2454275" y="1657075"/>
            <a:ext cx="1676400" cy="574675"/>
          </a:xfrm>
          <a:prstGeom prst="rect">
            <a:avLst/>
          </a:prstGeom>
          <a:solidFill>
            <a:srgbClr val="D5D5F4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4275" lIns="90350" spcFirstLastPara="1" rIns="90350" wrap="square" tIns="44275">
            <a:spAutoFit/>
          </a:bodyPr>
          <a:lstStyle/>
          <a:p>
            <a:pPr indent="0" lvl="0" marL="0" marR="0" rtl="0" algn="ctr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Translators </a:t>
            </a:r>
            <a:endParaRPr b="1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</a:t>
            </a:r>
            <a:r>
              <a:rPr b="1" i="0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cpp</a:t>
            </a:r>
            <a:r>
              <a:rPr b="1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b="1" i="0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cc1</a:t>
            </a:r>
            <a:r>
              <a:rPr b="1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b="1" i="0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as</a:t>
            </a:r>
            <a:r>
              <a:rPr b="1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4" name="Google Shape;514;p33"/>
          <p:cNvSpPr txBox="1"/>
          <p:nvPr/>
        </p:nvSpPr>
        <p:spPr>
          <a:xfrm>
            <a:off x="2081213" y="1010963"/>
            <a:ext cx="1045777" cy="329643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spAutoFit/>
          </a:bodyPr>
          <a:lstStyle/>
          <a:p>
            <a:pPr indent="0" lvl="0" marL="0" marR="0" rtl="0"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main2.c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5" name="Google Shape;515;p33"/>
          <p:cNvSpPr txBox="1"/>
          <p:nvPr/>
        </p:nvSpPr>
        <p:spPr>
          <a:xfrm>
            <a:off x="2757488" y="2568300"/>
            <a:ext cx="1045777" cy="329643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spAutoFit/>
          </a:bodyPr>
          <a:lstStyle/>
          <a:p>
            <a:pPr indent="0" lvl="0" marL="0" marR="0" rtl="0"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main2.o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16" name="Google Shape;516;p33"/>
          <p:cNvCxnSpPr/>
          <p:nvPr/>
        </p:nvCxnSpPr>
        <p:spPr>
          <a:xfrm>
            <a:off x="3292475" y="2238100"/>
            <a:ext cx="1588" cy="381000"/>
          </a:xfrm>
          <a:prstGeom prst="straightConnector1">
            <a:avLst/>
          </a:prstGeom>
          <a:noFill/>
          <a:ln cap="flat" cmpd="sng" w="9525">
            <a:solidFill>
              <a:srgbClr val="000066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517" name="Google Shape;517;p33"/>
          <p:cNvSpPr txBox="1"/>
          <p:nvPr/>
        </p:nvSpPr>
        <p:spPr>
          <a:xfrm>
            <a:off x="4359275" y="1949175"/>
            <a:ext cx="1662934" cy="561117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spAutoFit/>
          </a:bodyPr>
          <a:lstStyle/>
          <a:p>
            <a:pPr indent="0" lvl="0" marL="0" marR="0" rtl="0"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libc.so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libvector.so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8" name="Google Shape;518;p33"/>
          <p:cNvSpPr/>
          <p:nvPr/>
        </p:nvSpPr>
        <p:spPr>
          <a:xfrm>
            <a:off x="2454275" y="3225525"/>
            <a:ext cx="3028950" cy="341313"/>
          </a:xfrm>
          <a:prstGeom prst="rect">
            <a:avLst/>
          </a:prstGeom>
          <a:solidFill>
            <a:srgbClr val="D5D5F4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4275" lIns="90350" spcFirstLastPara="1" rIns="90350" wrap="square" tIns="44275">
            <a:spAutoFit/>
          </a:bodyPr>
          <a:lstStyle/>
          <a:p>
            <a:pPr indent="0" lvl="0" marL="0" marR="0" rtl="0" algn="ctr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Linker (</a:t>
            </a:r>
            <a:r>
              <a:rPr b="1" i="0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ld</a:t>
            </a:r>
            <a:r>
              <a:rPr b="1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9" name="Google Shape;519;p33"/>
          <p:cNvSpPr txBox="1"/>
          <p:nvPr/>
        </p:nvSpPr>
        <p:spPr>
          <a:xfrm>
            <a:off x="2795691" y="3974825"/>
            <a:ext cx="920542" cy="328424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spAutoFit/>
          </a:bodyPr>
          <a:lstStyle/>
          <a:p>
            <a:pPr indent="0" lvl="0" marL="0" marR="0" rtl="0"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prog2l</a:t>
            </a:r>
            <a:endParaRPr b="1" i="0" sz="16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cxnSp>
        <p:nvCxnSpPr>
          <p:cNvPr id="520" name="Google Shape;520;p33"/>
          <p:cNvCxnSpPr/>
          <p:nvPr/>
        </p:nvCxnSpPr>
        <p:spPr>
          <a:xfrm>
            <a:off x="3292475" y="3609700"/>
            <a:ext cx="1588" cy="381000"/>
          </a:xfrm>
          <a:prstGeom prst="straightConnector1">
            <a:avLst/>
          </a:prstGeom>
          <a:noFill/>
          <a:ln cap="flat" cmpd="sng" w="9525">
            <a:solidFill>
              <a:srgbClr val="000066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521" name="Google Shape;521;p33"/>
          <p:cNvCxnSpPr/>
          <p:nvPr/>
        </p:nvCxnSpPr>
        <p:spPr>
          <a:xfrm>
            <a:off x="3292475" y="4295500"/>
            <a:ext cx="1588" cy="457200"/>
          </a:xfrm>
          <a:prstGeom prst="straightConnector1">
            <a:avLst/>
          </a:prstGeom>
          <a:noFill/>
          <a:ln cap="flat" cmpd="sng" w="9525">
            <a:solidFill>
              <a:srgbClr val="000066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522" name="Google Shape;522;p33"/>
          <p:cNvSpPr/>
          <p:nvPr/>
        </p:nvSpPr>
        <p:spPr>
          <a:xfrm>
            <a:off x="2454275" y="6124300"/>
            <a:ext cx="3200400" cy="341313"/>
          </a:xfrm>
          <a:prstGeom prst="rect">
            <a:avLst/>
          </a:prstGeom>
          <a:solidFill>
            <a:srgbClr val="D5D5F4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4275" lIns="90350" spcFirstLastPara="1" rIns="90350" wrap="square" tIns="44275">
            <a:spAutoFit/>
          </a:bodyPr>
          <a:lstStyle/>
          <a:p>
            <a:pPr indent="0" lvl="0" marL="0" marR="0" rtl="0" algn="ctr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Dynamic linker (</a:t>
            </a:r>
            <a:r>
              <a:rPr b="1" i="0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ld-linux.so</a:t>
            </a:r>
            <a:r>
              <a:rPr b="1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23" name="Google Shape;523;p33"/>
          <p:cNvCxnSpPr/>
          <p:nvPr/>
        </p:nvCxnSpPr>
        <p:spPr>
          <a:xfrm>
            <a:off x="3292475" y="5133700"/>
            <a:ext cx="1588" cy="990600"/>
          </a:xfrm>
          <a:prstGeom prst="straightConnector1">
            <a:avLst/>
          </a:prstGeom>
          <a:noFill/>
          <a:ln cap="flat" cmpd="sng" w="9525">
            <a:solidFill>
              <a:srgbClr val="000066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524" name="Google Shape;524;p33"/>
          <p:cNvCxnSpPr/>
          <p:nvPr/>
        </p:nvCxnSpPr>
        <p:spPr>
          <a:xfrm>
            <a:off x="3292475" y="2847700"/>
            <a:ext cx="1588" cy="381000"/>
          </a:xfrm>
          <a:prstGeom prst="straightConnector1">
            <a:avLst/>
          </a:prstGeom>
          <a:noFill/>
          <a:ln cap="flat" cmpd="sng" w="9525">
            <a:solidFill>
              <a:srgbClr val="000066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525" name="Google Shape;525;p33"/>
          <p:cNvSpPr txBox="1"/>
          <p:nvPr/>
        </p:nvSpPr>
        <p:spPr>
          <a:xfrm>
            <a:off x="5254625" y="2542900"/>
            <a:ext cx="2609850" cy="577082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spAutoFit/>
          </a:bodyPr>
          <a:lstStyle/>
          <a:p>
            <a:pPr indent="0" lvl="0" marL="0" marR="0" rtl="0"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1" lang="en-US" sz="16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Relocation and symbol  table info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26" name="Google Shape;526;p33"/>
          <p:cNvCxnSpPr/>
          <p:nvPr/>
        </p:nvCxnSpPr>
        <p:spPr>
          <a:xfrm>
            <a:off x="5180013" y="2542900"/>
            <a:ext cx="1587" cy="685800"/>
          </a:xfrm>
          <a:prstGeom prst="straightConnector1">
            <a:avLst/>
          </a:prstGeom>
          <a:noFill/>
          <a:ln cap="flat" cmpd="sng" w="9525">
            <a:solidFill>
              <a:srgbClr val="000066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527" name="Google Shape;527;p33"/>
          <p:cNvSpPr txBox="1"/>
          <p:nvPr/>
        </p:nvSpPr>
        <p:spPr>
          <a:xfrm>
            <a:off x="4352925" y="4844775"/>
            <a:ext cx="1662934" cy="561117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spAutoFit/>
          </a:bodyPr>
          <a:lstStyle/>
          <a:p>
            <a:pPr indent="0" lvl="0" marL="0" marR="0" rtl="0"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libc.so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libvector.so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8" name="Google Shape;528;p33"/>
          <p:cNvSpPr txBox="1"/>
          <p:nvPr/>
        </p:nvSpPr>
        <p:spPr>
          <a:xfrm>
            <a:off x="5254625" y="5559150"/>
            <a:ext cx="1771650" cy="335799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spAutoFit/>
          </a:bodyPr>
          <a:lstStyle/>
          <a:p>
            <a:pPr indent="0" lvl="0" marL="0" marR="0" rtl="0"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1" lang="en-US" sz="16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Code and data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29" name="Google Shape;529;p33"/>
          <p:cNvCxnSpPr/>
          <p:nvPr/>
        </p:nvCxnSpPr>
        <p:spPr>
          <a:xfrm>
            <a:off x="5173663" y="5438500"/>
            <a:ext cx="1587" cy="685800"/>
          </a:xfrm>
          <a:prstGeom prst="straightConnector1">
            <a:avLst/>
          </a:prstGeom>
          <a:noFill/>
          <a:ln cap="flat" cmpd="sng" w="9525">
            <a:solidFill>
              <a:srgbClr val="000066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530" name="Google Shape;530;p33"/>
          <p:cNvSpPr txBox="1"/>
          <p:nvPr/>
        </p:nvSpPr>
        <p:spPr>
          <a:xfrm>
            <a:off x="-228600" y="3873224"/>
            <a:ext cx="2514600" cy="577082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spAutoFit/>
          </a:bodyPr>
          <a:lstStyle/>
          <a:p>
            <a:pPr indent="0" lvl="0" marL="0" marR="0" rtl="0" algn="r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1" lang="en-US" sz="1600" u="none" cap="none" strike="noStrike">
                <a:solidFill>
                  <a:srgbClr val="990000"/>
                </a:solidFill>
                <a:latin typeface="Calibri"/>
                <a:ea typeface="Calibri"/>
                <a:cs typeface="Calibri"/>
                <a:sym typeface="Calibri"/>
              </a:rPr>
              <a:t>Partially linked </a:t>
            </a:r>
            <a:endParaRPr b="1" i="1" sz="1600" u="none" cap="none" strike="noStrike">
              <a:solidFill>
                <a:srgbClr val="99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r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1" lang="en-US" sz="1600" u="none" cap="none" strike="noStrike">
                <a:solidFill>
                  <a:srgbClr val="990000"/>
                </a:solidFill>
                <a:latin typeface="Calibri"/>
                <a:ea typeface="Calibri"/>
                <a:cs typeface="Calibri"/>
                <a:sym typeface="Calibri"/>
              </a:rPr>
              <a:t>executable object file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1" name="Google Shape;531;p33"/>
          <p:cNvSpPr txBox="1"/>
          <p:nvPr/>
        </p:nvSpPr>
        <p:spPr>
          <a:xfrm>
            <a:off x="914400" y="2451355"/>
            <a:ext cx="1371600" cy="577082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spAutoFit/>
          </a:bodyPr>
          <a:lstStyle/>
          <a:p>
            <a:pPr indent="0" lvl="0" marL="0" marR="0" rtl="0" algn="r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1" lang="en-US" sz="1600" u="none" cap="none" strike="noStrike">
                <a:solidFill>
                  <a:srgbClr val="990000"/>
                </a:solidFill>
                <a:latin typeface="Calibri"/>
                <a:ea typeface="Calibri"/>
                <a:cs typeface="Calibri"/>
                <a:sym typeface="Calibri"/>
              </a:rPr>
              <a:t>Relocatable</a:t>
            </a:r>
            <a:endParaRPr b="1" i="1" sz="1600" u="none" cap="none" strike="noStrike">
              <a:solidFill>
                <a:srgbClr val="99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r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1" lang="en-US" sz="1600" u="none" cap="none" strike="noStrike">
                <a:solidFill>
                  <a:srgbClr val="990000"/>
                </a:solidFill>
                <a:latin typeface="Calibri"/>
                <a:ea typeface="Calibri"/>
                <a:cs typeface="Calibri"/>
                <a:sym typeface="Calibri"/>
              </a:rPr>
              <a:t>object file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2" name="Google Shape;532;p33"/>
          <p:cNvSpPr txBox="1"/>
          <p:nvPr/>
        </p:nvSpPr>
        <p:spPr>
          <a:xfrm>
            <a:off x="533400" y="5887233"/>
            <a:ext cx="1752600" cy="818367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spAutoFit/>
          </a:bodyPr>
          <a:lstStyle/>
          <a:p>
            <a:pPr indent="0" lvl="0" marL="0" marR="0" rtl="0" algn="r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1" lang="en-US" sz="1600" u="none" cap="none" strike="noStrike">
                <a:solidFill>
                  <a:srgbClr val="990000"/>
                </a:solidFill>
                <a:latin typeface="Calibri"/>
                <a:ea typeface="Calibri"/>
                <a:cs typeface="Calibri"/>
                <a:sym typeface="Calibri"/>
              </a:rPr>
              <a:t>Fully linked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r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1" lang="en-US" sz="1600" u="none" cap="none" strike="noStrike">
                <a:solidFill>
                  <a:srgbClr val="990000"/>
                </a:solidFill>
                <a:latin typeface="Calibri"/>
                <a:ea typeface="Calibri"/>
                <a:cs typeface="Calibri"/>
                <a:sym typeface="Calibri"/>
              </a:rPr>
              <a:t>executable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r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1" lang="en-US" sz="1600" u="none" cap="none" strike="noStrike">
                <a:solidFill>
                  <a:srgbClr val="990000"/>
                </a:solidFill>
                <a:latin typeface="Calibri"/>
                <a:ea typeface="Calibri"/>
                <a:cs typeface="Calibri"/>
                <a:sym typeface="Calibri"/>
              </a:rPr>
              <a:t>in memory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33" name="Google Shape;533;p33"/>
          <p:cNvCxnSpPr/>
          <p:nvPr/>
        </p:nvCxnSpPr>
        <p:spPr>
          <a:xfrm>
            <a:off x="3783013" y="1247500"/>
            <a:ext cx="1587" cy="381000"/>
          </a:xfrm>
          <a:prstGeom prst="straightConnector1">
            <a:avLst/>
          </a:prstGeom>
          <a:noFill/>
          <a:ln cap="flat" cmpd="sng" w="9525">
            <a:solidFill>
              <a:srgbClr val="000066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534" name="Google Shape;534;p33"/>
          <p:cNvSpPr txBox="1"/>
          <p:nvPr/>
        </p:nvSpPr>
        <p:spPr>
          <a:xfrm>
            <a:off x="3184525" y="1010963"/>
            <a:ext cx="1169209" cy="329643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spAutoFit/>
          </a:bodyPr>
          <a:lstStyle/>
          <a:p>
            <a:pPr indent="0" lvl="0" marL="0" marR="0" rtl="0"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vector.h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5" name="Google Shape;535;p33"/>
          <p:cNvSpPr/>
          <p:nvPr/>
        </p:nvSpPr>
        <p:spPr>
          <a:xfrm>
            <a:off x="2454275" y="4749525"/>
            <a:ext cx="1657350" cy="574675"/>
          </a:xfrm>
          <a:prstGeom prst="rect">
            <a:avLst/>
          </a:prstGeom>
          <a:solidFill>
            <a:srgbClr val="D5D5F4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4275" lIns="90350" spcFirstLastPara="1" rIns="90350" wrap="square" tIns="44275">
            <a:spAutoFit/>
          </a:bodyPr>
          <a:lstStyle/>
          <a:p>
            <a:pPr indent="0" lvl="0" marL="0" marR="0" rtl="0" algn="ctr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Loader (</a:t>
            </a:r>
            <a:r>
              <a:rPr b="1" i="0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execve</a:t>
            </a:r>
            <a:r>
              <a:rPr b="1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6" name="Google Shape;536;p33"/>
          <p:cNvSpPr txBox="1"/>
          <p:nvPr/>
        </p:nvSpPr>
        <p:spPr>
          <a:xfrm>
            <a:off x="4689475" y="1047475"/>
            <a:ext cx="4501851" cy="561117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spAutoFit/>
          </a:bodyPr>
          <a:lstStyle/>
          <a:p>
            <a:pPr indent="0" lvl="0" marL="0" marR="0" rtl="0"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990000"/>
                </a:solidFill>
                <a:latin typeface="Courier New"/>
                <a:ea typeface="Courier New"/>
                <a:cs typeface="Courier New"/>
                <a:sym typeface="Courier New"/>
              </a:rPr>
              <a:t>unix&gt; gcc -shared -o libvector.so \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990000"/>
                </a:solidFill>
                <a:latin typeface="Courier New"/>
                <a:ea typeface="Courier New"/>
                <a:cs typeface="Courier New"/>
                <a:sym typeface="Courier New"/>
              </a:rPr>
              <a:t>     addvec.c multvec.c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37" name="Google Shape;537;p33"/>
          <p:cNvCxnSpPr/>
          <p:nvPr/>
        </p:nvCxnSpPr>
        <p:spPr>
          <a:xfrm flipH="1">
            <a:off x="5715000" y="1574799"/>
            <a:ext cx="460375" cy="609600"/>
          </a:xfrm>
          <a:prstGeom prst="straightConnector1">
            <a:avLst/>
          </a:prstGeom>
          <a:noFill/>
          <a:ln cap="flat" cmpd="sng" w="2555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2" name="Shape 5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3" name="Google Shape;543;p34"/>
          <p:cNvSpPr txBox="1"/>
          <p:nvPr>
            <p:ph idx="4294967295" type="title"/>
          </p:nvPr>
        </p:nvSpPr>
        <p:spPr>
          <a:xfrm>
            <a:off x="427038" y="360362"/>
            <a:ext cx="8716962" cy="7826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119063" lvl="0" marL="11906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Dynamic Linking at Run-time</a:t>
            </a:r>
            <a:endParaRPr/>
          </a:p>
        </p:txBody>
      </p:sp>
      <p:sp>
        <p:nvSpPr>
          <p:cNvPr id="544" name="Google Shape;544;p34"/>
          <p:cNvSpPr txBox="1"/>
          <p:nvPr/>
        </p:nvSpPr>
        <p:spPr>
          <a:xfrm>
            <a:off x="304800" y="1323975"/>
            <a:ext cx="8581894" cy="5018940"/>
          </a:xfrm>
          <a:prstGeom prst="rect">
            <a:avLst/>
          </a:prstGeom>
          <a:solidFill>
            <a:srgbClr val="F6F5BD"/>
          </a:solidFill>
          <a:ln cap="flat" cmpd="sng" w="12600">
            <a:solidFill>
              <a:srgbClr val="00006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6800" lIns="90000" spcFirstLastPara="1" rIns="90000" wrap="square" tIns="468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926492"/>
                </a:solidFill>
                <a:latin typeface="Arial"/>
                <a:ea typeface="Arial"/>
                <a:cs typeface="Arial"/>
                <a:sym typeface="Arial"/>
              </a:rPr>
              <a:t>#include</a:t>
            </a: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en-US" sz="1600" u="none" cap="none" strike="noStrike">
                <a:solidFill>
                  <a:srgbClr val="9D206F"/>
                </a:solidFill>
                <a:latin typeface="Arial"/>
                <a:ea typeface="Arial"/>
                <a:cs typeface="Arial"/>
                <a:sym typeface="Arial"/>
              </a:rPr>
              <a:t>&lt;stdio.h&gt;</a:t>
            </a:r>
            <a:endParaRPr b="1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926492"/>
                </a:solidFill>
                <a:latin typeface="Arial"/>
                <a:ea typeface="Arial"/>
                <a:cs typeface="Arial"/>
                <a:sym typeface="Arial"/>
              </a:rPr>
              <a:t>#include</a:t>
            </a: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en-US" sz="1600" u="none" cap="none" strike="noStrike">
                <a:solidFill>
                  <a:srgbClr val="9D206F"/>
                </a:solidFill>
                <a:latin typeface="Arial"/>
                <a:ea typeface="Arial"/>
                <a:cs typeface="Arial"/>
                <a:sym typeface="Arial"/>
              </a:rPr>
              <a:t>&lt;stdlib.h&gt;</a:t>
            </a:r>
            <a:endParaRPr b="1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926492"/>
                </a:solidFill>
                <a:latin typeface="Arial"/>
                <a:ea typeface="Arial"/>
                <a:cs typeface="Arial"/>
                <a:sym typeface="Arial"/>
              </a:rPr>
              <a:t>#include</a:t>
            </a: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en-US" sz="1600" u="none" cap="none" strike="noStrike">
                <a:solidFill>
                  <a:srgbClr val="9D206F"/>
                </a:solidFill>
                <a:latin typeface="Arial"/>
                <a:ea typeface="Arial"/>
                <a:cs typeface="Arial"/>
                <a:sym typeface="Arial"/>
              </a:rPr>
              <a:t>&lt;dlfcn.h&gt;</a:t>
            </a:r>
            <a:endParaRPr b="1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1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2D961E"/>
                </a:solidFill>
                <a:latin typeface="Arial"/>
                <a:ea typeface="Arial"/>
                <a:cs typeface="Arial"/>
                <a:sym typeface="Arial"/>
              </a:rPr>
              <a:t>int</a:t>
            </a: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en-US" sz="1600" u="none" cap="none" strike="noStrike">
                <a:solidFill>
                  <a:srgbClr val="C1651C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[2] = {1, 2};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2D961E"/>
                </a:solidFill>
                <a:latin typeface="Arial"/>
                <a:ea typeface="Arial"/>
                <a:cs typeface="Arial"/>
                <a:sym typeface="Arial"/>
              </a:rPr>
              <a:t>int</a:t>
            </a: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en-US" sz="1600" u="none" cap="none" strike="noStrike">
                <a:solidFill>
                  <a:srgbClr val="C1651C"/>
                </a:solidFill>
                <a:latin typeface="Arial"/>
                <a:ea typeface="Arial"/>
                <a:cs typeface="Arial"/>
                <a:sym typeface="Arial"/>
              </a:rPr>
              <a:t>y</a:t>
            </a: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[2] = {3, 4};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2D961E"/>
                </a:solidFill>
                <a:latin typeface="Arial"/>
                <a:ea typeface="Arial"/>
                <a:cs typeface="Arial"/>
                <a:sym typeface="Arial"/>
              </a:rPr>
              <a:t>int</a:t>
            </a: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en-US" sz="1600" u="none" cap="none" strike="noStrike">
                <a:solidFill>
                  <a:srgbClr val="C1651C"/>
                </a:solidFill>
                <a:latin typeface="Arial"/>
                <a:ea typeface="Arial"/>
                <a:cs typeface="Arial"/>
                <a:sym typeface="Arial"/>
              </a:rPr>
              <a:t>z</a:t>
            </a: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[2];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1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2D961E"/>
                </a:solidFill>
                <a:latin typeface="Arial"/>
                <a:ea typeface="Arial"/>
                <a:cs typeface="Arial"/>
                <a:sym typeface="Arial"/>
              </a:rPr>
              <a:t>int</a:t>
            </a: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en-US" sz="1600" u="none" cap="none" strike="noStrike">
                <a:solidFill>
                  <a:srgbClr val="4A00FF"/>
                </a:solidFill>
                <a:latin typeface="Arial"/>
                <a:ea typeface="Arial"/>
                <a:cs typeface="Arial"/>
                <a:sym typeface="Arial"/>
              </a:rPr>
              <a:t>main</a:t>
            </a: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</a:t>
            </a:r>
            <a:r>
              <a:rPr b="1" i="0" lang="en-US" sz="1600" u="none" cap="none" strike="noStrike">
                <a:solidFill>
                  <a:srgbClr val="2D961E"/>
                </a:solidFill>
                <a:latin typeface="Arial"/>
                <a:ea typeface="Arial"/>
                <a:cs typeface="Arial"/>
                <a:sym typeface="Arial"/>
              </a:rPr>
              <a:t>void</a:t>
            </a: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*</a:t>
            </a:r>
            <a:r>
              <a:rPr b="1" i="0" lang="en-US" sz="1600" u="none" cap="none" strike="noStrike">
                <a:solidFill>
                  <a:srgbClr val="C1651C"/>
                </a:solidFill>
                <a:latin typeface="Arial"/>
                <a:ea typeface="Arial"/>
                <a:cs typeface="Arial"/>
                <a:sym typeface="Arial"/>
              </a:rPr>
              <a:t>handle</a:t>
            </a: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</a:t>
            </a:r>
            <a:r>
              <a:rPr b="1" i="0" lang="en-US" sz="1600" u="none" cap="none" strike="noStrike">
                <a:solidFill>
                  <a:srgbClr val="2D961E"/>
                </a:solidFill>
                <a:latin typeface="Arial"/>
                <a:ea typeface="Arial"/>
                <a:cs typeface="Arial"/>
                <a:sym typeface="Arial"/>
              </a:rPr>
              <a:t>void</a:t>
            </a: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(*</a:t>
            </a:r>
            <a:r>
              <a:rPr b="1" i="0" lang="en-US" sz="1600" u="none" cap="none" strike="noStrike">
                <a:solidFill>
                  <a:srgbClr val="C1651C"/>
                </a:solidFill>
                <a:latin typeface="Arial"/>
                <a:ea typeface="Arial"/>
                <a:cs typeface="Arial"/>
                <a:sym typeface="Arial"/>
              </a:rPr>
              <a:t>addvec</a:t>
            </a: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)(</a:t>
            </a:r>
            <a:r>
              <a:rPr b="1" i="0" lang="en-US" sz="1600" u="none" cap="none" strike="noStrike">
                <a:solidFill>
                  <a:srgbClr val="2D961E"/>
                </a:solidFill>
                <a:latin typeface="Arial"/>
                <a:ea typeface="Arial"/>
                <a:cs typeface="Arial"/>
                <a:sym typeface="Arial"/>
              </a:rPr>
              <a:t>int</a:t>
            </a: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*, </a:t>
            </a:r>
            <a:r>
              <a:rPr b="1" i="0" lang="en-US" sz="1600" u="none" cap="none" strike="noStrike">
                <a:solidFill>
                  <a:srgbClr val="2D961E"/>
                </a:solidFill>
                <a:latin typeface="Arial"/>
                <a:ea typeface="Arial"/>
                <a:cs typeface="Arial"/>
                <a:sym typeface="Arial"/>
              </a:rPr>
              <a:t>int</a:t>
            </a: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*, </a:t>
            </a:r>
            <a:r>
              <a:rPr b="1" i="0" lang="en-US" sz="1600" u="none" cap="none" strike="noStrike">
                <a:solidFill>
                  <a:srgbClr val="2D961E"/>
                </a:solidFill>
                <a:latin typeface="Arial"/>
                <a:ea typeface="Arial"/>
                <a:cs typeface="Arial"/>
                <a:sym typeface="Arial"/>
              </a:rPr>
              <a:t>int</a:t>
            </a: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*, </a:t>
            </a:r>
            <a:r>
              <a:rPr b="1" i="0" lang="en-US" sz="1600" u="none" cap="none" strike="noStrike">
                <a:solidFill>
                  <a:srgbClr val="2D961E"/>
                </a:solidFill>
                <a:latin typeface="Arial"/>
                <a:ea typeface="Arial"/>
                <a:cs typeface="Arial"/>
                <a:sym typeface="Arial"/>
              </a:rPr>
              <a:t>int</a:t>
            </a: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</a:t>
            </a:r>
            <a:r>
              <a:rPr b="1" i="0" lang="en-US" sz="1600" u="none" cap="none" strike="noStrike">
                <a:solidFill>
                  <a:srgbClr val="2D961E"/>
                </a:solidFill>
                <a:latin typeface="Arial"/>
                <a:ea typeface="Arial"/>
                <a:cs typeface="Arial"/>
                <a:sym typeface="Arial"/>
              </a:rPr>
              <a:t>char</a:t>
            </a: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*</a:t>
            </a:r>
            <a:r>
              <a:rPr b="1" i="0" lang="en-US" sz="1600" u="none" cap="none" strike="noStrike">
                <a:solidFill>
                  <a:srgbClr val="C1651C"/>
                </a:solidFill>
                <a:latin typeface="Arial"/>
                <a:ea typeface="Arial"/>
                <a:cs typeface="Arial"/>
                <a:sym typeface="Arial"/>
              </a:rPr>
              <a:t>error</a:t>
            </a: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1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</a:t>
            </a:r>
            <a:r>
              <a:rPr b="1" i="0" lang="en-US" sz="1600" u="none" cap="none" strike="noStrike">
                <a:solidFill>
                  <a:srgbClr val="CB2418"/>
                </a:solidFill>
                <a:latin typeface="Arial"/>
                <a:ea typeface="Arial"/>
                <a:cs typeface="Arial"/>
                <a:sym typeface="Arial"/>
              </a:rPr>
              <a:t>/* Dynamically load the shared library that contains addvec() */</a:t>
            </a:r>
            <a:endParaRPr b="1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handle = dlopen(</a:t>
            </a:r>
            <a:r>
              <a:rPr b="1" i="0" lang="en-US" sz="1600" u="none" cap="none" strike="noStrike">
                <a:solidFill>
                  <a:srgbClr val="9D206F"/>
                </a:solidFill>
                <a:latin typeface="Arial"/>
                <a:ea typeface="Arial"/>
                <a:cs typeface="Arial"/>
                <a:sym typeface="Arial"/>
              </a:rPr>
              <a:t>"./libvector.so"</a:t>
            </a: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RTLD_LAZY);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</a:t>
            </a:r>
            <a:r>
              <a:rPr b="1" i="0" lang="en-US" sz="1600" u="none" cap="none" strike="noStrike">
                <a:solidFill>
                  <a:srgbClr val="C200FF"/>
                </a:solidFill>
                <a:latin typeface="Arial"/>
                <a:ea typeface="Arial"/>
                <a:cs typeface="Arial"/>
                <a:sym typeface="Arial"/>
              </a:rPr>
              <a:t>if</a:t>
            </a: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(!handle) 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fprintf(stderr, </a:t>
            </a:r>
            <a:r>
              <a:rPr b="1" i="0" lang="en-US" sz="1600" u="none" cap="none" strike="noStrike">
                <a:solidFill>
                  <a:srgbClr val="9D206F"/>
                </a:solidFill>
                <a:latin typeface="Arial"/>
                <a:ea typeface="Arial"/>
                <a:cs typeface="Arial"/>
                <a:sym typeface="Arial"/>
              </a:rPr>
              <a:t>"%s\n"</a:t>
            </a: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dlerror());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exit(1);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}</a:t>
            </a:r>
            <a:endParaRPr b="1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5" name="Google Shape;545;p34"/>
          <p:cNvSpPr/>
          <p:nvPr/>
        </p:nvSpPr>
        <p:spPr>
          <a:xfrm>
            <a:off x="7910428" y="6019800"/>
            <a:ext cx="928772" cy="357663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spAutoFit/>
          </a:bodyPr>
          <a:lstStyle/>
          <a:p>
            <a:pPr indent="0" lvl="0" marL="0" marR="0" rtl="0"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1" lang="en-US" sz="1800" u="none" cap="none" strike="noStrike">
                <a:solidFill>
                  <a:srgbClr val="7F7F7F"/>
                </a:solidFill>
                <a:latin typeface="Courier New"/>
                <a:ea typeface="Courier New"/>
                <a:cs typeface="Courier New"/>
                <a:sym typeface="Courier New"/>
              </a:rPr>
              <a:t>dll.c</a:t>
            </a:r>
            <a:endParaRPr b="1" i="1" sz="1800" u="none" cap="none" strike="noStrike">
              <a:solidFill>
                <a:srgbClr val="7F7F7F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0" name="Shape 5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1" name="Google Shape;551;p35"/>
          <p:cNvSpPr txBox="1"/>
          <p:nvPr>
            <p:ph idx="4294967295" type="title"/>
          </p:nvPr>
        </p:nvSpPr>
        <p:spPr>
          <a:xfrm>
            <a:off x="404813" y="381000"/>
            <a:ext cx="8716962" cy="7826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119063" lvl="0" marL="11906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Dynamic Linking at Run-time</a:t>
            </a:r>
            <a:endParaRPr/>
          </a:p>
        </p:txBody>
      </p:sp>
      <p:sp>
        <p:nvSpPr>
          <p:cNvPr id="552" name="Google Shape;552;p35"/>
          <p:cNvSpPr txBox="1"/>
          <p:nvPr/>
        </p:nvSpPr>
        <p:spPr>
          <a:xfrm>
            <a:off x="510981" y="1371600"/>
            <a:ext cx="7964237" cy="5004167"/>
          </a:xfrm>
          <a:prstGeom prst="rect">
            <a:avLst/>
          </a:prstGeom>
          <a:solidFill>
            <a:srgbClr val="F6F5BD"/>
          </a:solidFill>
          <a:ln cap="flat" cmpd="sng" w="126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6800" lIns="90000" spcFirstLastPara="1" rIns="90000" wrap="square" tIns="46800">
            <a:spAutoFit/>
          </a:bodyPr>
          <a:lstStyle/>
          <a:p>
            <a:pPr indent="0" lvl="0" marL="0" marR="0" rtl="0"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...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1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</a:t>
            </a:r>
            <a:r>
              <a:rPr b="1" i="0" lang="en-US" sz="1600" u="none" cap="none" strike="noStrike">
                <a:solidFill>
                  <a:srgbClr val="CB2418"/>
                </a:solidFill>
                <a:latin typeface="Arial"/>
                <a:ea typeface="Arial"/>
                <a:cs typeface="Arial"/>
                <a:sym typeface="Arial"/>
              </a:rPr>
              <a:t>/* Get a pointer to the addvec() function we just loaded */</a:t>
            </a:r>
            <a:endParaRPr b="1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addvec = dlsym(handle, </a:t>
            </a:r>
            <a:r>
              <a:rPr b="1" i="0" lang="en-US" sz="1600" u="none" cap="none" strike="noStrike">
                <a:solidFill>
                  <a:srgbClr val="9D206F"/>
                </a:solidFill>
                <a:latin typeface="Arial"/>
                <a:ea typeface="Arial"/>
                <a:cs typeface="Arial"/>
                <a:sym typeface="Arial"/>
              </a:rPr>
              <a:t>"addvec"</a:t>
            </a: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</a:t>
            </a:r>
            <a:r>
              <a:rPr b="1" i="0" lang="en-US" sz="1600" u="none" cap="none" strike="noStrike">
                <a:solidFill>
                  <a:srgbClr val="C200FF"/>
                </a:solidFill>
                <a:latin typeface="Arial"/>
                <a:ea typeface="Arial"/>
                <a:cs typeface="Arial"/>
                <a:sym typeface="Arial"/>
              </a:rPr>
              <a:t>if</a:t>
            </a: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((error = dlerror()) != </a:t>
            </a:r>
            <a:r>
              <a:rPr b="1" i="0" lang="en-US" sz="1600" u="none" cap="none" strike="noStrike">
                <a:solidFill>
                  <a:srgbClr val="2C9290"/>
                </a:solidFill>
                <a:latin typeface="Arial"/>
                <a:ea typeface="Arial"/>
                <a:cs typeface="Arial"/>
                <a:sym typeface="Arial"/>
              </a:rPr>
              <a:t>NULL</a:t>
            </a: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) 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fprintf(stderr, </a:t>
            </a:r>
            <a:r>
              <a:rPr b="1" i="0" lang="en-US" sz="1600" u="none" cap="none" strike="noStrike">
                <a:solidFill>
                  <a:srgbClr val="9D206F"/>
                </a:solidFill>
                <a:latin typeface="Arial"/>
                <a:ea typeface="Arial"/>
                <a:cs typeface="Arial"/>
                <a:sym typeface="Arial"/>
              </a:rPr>
              <a:t>"%s\n"</a:t>
            </a: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error);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exit(1);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1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</a:t>
            </a:r>
            <a:r>
              <a:rPr b="1" i="0" lang="en-US" sz="1600" u="none" cap="none" strike="noStrike">
                <a:solidFill>
                  <a:srgbClr val="CB2418"/>
                </a:solidFill>
                <a:latin typeface="Arial"/>
                <a:ea typeface="Arial"/>
                <a:cs typeface="Arial"/>
                <a:sym typeface="Arial"/>
              </a:rPr>
              <a:t>/* Now we can call addvec() just like any other function */</a:t>
            </a:r>
            <a:endParaRPr b="1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addvec(x, y, z, 2);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printf(</a:t>
            </a:r>
            <a:r>
              <a:rPr b="1" i="0" lang="en-US" sz="1600" u="none" cap="none" strike="noStrike">
                <a:solidFill>
                  <a:srgbClr val="9D206F"/>
                </a:solidFill>
                <a:latin typeface="Arial"/>
                <a:ea typeface="Arial"/>
                <a:cs typeface="Arial"/>
                <a:sym typeface="Arial"/>
              </a:rPr>
              <a:t>"z = [%d %d]\n"</a:t>
            </a: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z[0], z[1]);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1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</a:t>
            </a:r>
            <a:r>
              <a:rPr b="1" i="0" lang="en-US" sz="1600" u="none" cap="none" strike="noStrike">
                <a:solidFill>
                  <a:srgbClr val="CB2418"/>
                </a:solidFill>
                <a:latin typeface="Arial"/>
                <a:ea typeface="Arial"/>
                <a:cs typeface="Arial"/>
                <a:sym typeface="Arial"/>
              </a:rPr>
              <a:t>/* Unload the shared library */</a:t>
            </a:r>
            <a:endParaRPr b="1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</a:t>
            </a:r>
            <a:r>
              <a:rPr b="1" i="0" lang="en-US" sz="1600" u="none" cap="none" strike="noStrike">
                <a:solidFill>
                  <a:srgbClr val="C200FF"/>
                </a:solidFill>
                <a:latin typeface="Arial"/>
                <a:ea typeface="Arial"/>
                <a:cs typeface="Arial"/>
                <a:sym typeface="Arial"/>
              </a:rPr>
              <a:t>if</a:t>
            </a: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(dlclose(handle) &lt; 0) 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fprintf(stderr, </a:t>
            </a:r>
            <a:r>
              <a:rPr b="1" i="0" lang="en-US" sz="1600" u="none" cap="none" strike="noStrike">
                <a:solidFill>
                  <a:srgbClr val="9D206F"/>
                </a:solidFill>
                <a:latin typeface="Arial"/>
                <a:ea typeface="Arial"/>
                <a:cs typeface="Arial"/>
                <a:sym typeface="Arial"/>
              </a:rPr>
              <a:t>"%s\n"</a:t>
            </a: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dlerror());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exit(1);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</a:t>
            </a:r>
            <a:r>
              <a:rPr b="1" i="0" lang="en-US" sz="1600" u="none" cap="none" strike="noStrike">
                <a:solidFill>
                  <a:srgbClr val="C200FF"/>
                </a:solidFill>
                <a:latin typeface="Arial"/>
                <a:ea typeface="Arial"/>
                <a:cs typeface="Arial"/>
                <a:sym typeface="Arial"/>
              </a:rPr>
              <a:t>return</a:t>
            </a: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0;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}</a:t>
            </a:r>
            <a:endParaRPr b="1" i="0" sz="16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553" name="Google Shape;553;p35"/>
          <p:cNvSpPr/>
          <p:nvPr/>
        </p:nvSpPr>
        <p:spPr>
          <a:xfrm>
            <a:off x="7605628" y="6019800"/>
            <a:ext cx="928772" cy="357663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spAutoFit/>
          </a:bodyPr>
          <a:lstStyle/>
          <a:p>
            <a:pPr indent="0" lvl="0" marL="0" marR="0" rtl="0"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1" lang="en-US" sz="1800" u="none" cap="none" strike="noStrike">
                <a:solidFill>
                  <a:srgbClr val="7F7F7F"/>
                </a:solidFill>
                <a:latin typeface="Courier New"/>
                <a:ea typeface="Courier New"/>
                <a:cs typeface="Courier New"/>
                <a:sym typeface="Courier New"/>
              </a:rPr>
              <a:t>dll.c</a:t>
            </a:r>
            <a:endParaRPr b="1" i="1" sz="1800" u="none" cap="none" strike="noStrike">
              <a:solidFill>
                <a:srgbClr val="7F7F7F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7" name="Shape 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" name="Google Shape;558;p36"/>
          <p:cNvSpPr txBox="1"/>
          <p:nvPr>
            <p:ph type="title"/>
          </p:nvPr>
        </p:nvSpPr>
        <p:spPr>
          <a:xfrm>
            <a:off x="357018" y="435678"/>
            <a:ext cx="75921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119063" lvl="0" marL="11906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Linking Summary	</a:t>
            </a:r>
            <a:endParaRPr/>
          </a:p>
        </p:txBody>
      </p:sp>
      <p:sp>
        <p:nvSpPr>
          <p:cNvPr id="559" name="Google Shape;559;p36"/>
          <p:cNvSpPr txBox="1"/>
          <p:nvPr>
            <p:ph idx="1" type="body"/>
          </p:nvPr>
        </p:nvSpPr>
        <p:spPr>
          <a:xfrm>
            <a:off x="396875" y="1362075"/>
            <a:ext cx="7896300" cy="4972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40"/>
              <a:buChar char="⬛"/>
            </a:pPr>
            <a:r>
              <a:rPr lang="en-US"/>
              <a:t>Linking is a technique that allows programs to be constructed from multiple object files. </a:t>
            </a:r>
            <a:endParaRPr/>
          </a:p>
          <a:p>
            <a:pPr indent="-251459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440"/>
              <a:buNone/>
            </a:pPr>
            <a:r>
              <a:t/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440"/>
              <a:buChar char="⬛"/>
            </a:pPr>
            <a:r>
              <a:rPr lang="en-US"/>
              <a:t>Linking can happen at different times in a program’s lifetime: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200"/>
              <a:buChar char="▪"/>
            </a:pPr>
            <a:r>
              <a:rPr lang="en-US"/>
              <a:t>Compile time (when a program is compiled)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200"/>
              <a:buChar char="▪"/>
            </a:pPr>
            <a:r>
              <a:rPr lang="en-US"/>
              <a:t>Load time (when a program is loaded into memory)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200"/>
              <a:buChar char="▪"/>
            </a:pPr>
            <a:r>
              <a:rPr lang="en-US"/>
              <a:t>Run time (while a program is executing)</a:t>
            </a:r>
            <a:endParaRPr/>
          </a:p>
          <a:p>
            <a:pPr indent="-1460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200"/>
              <a:buNone/>
            </a:pPr>
            <a:r>
              <a:t/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440"/>
              <a:buChar char="⬛"/>
            </a:pPr>
            <a:r>
              <a:rPr lang="en-US"/>
              <a:t>Understanding linking can help you avoid nasty errors and make you a better programmer. 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emplate2007">
  <a:themeElements>
    <a:clrScheme name="Custom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00000"/>
      </a:hlink>
      <a:folHlink>
        <a:srgbClr val="C000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2012-10-04T19:17:13Z</dcterms:created>
  <dc:creator>Markus Pueschel</dc:creator>
</cp:coreProperties>
</file>