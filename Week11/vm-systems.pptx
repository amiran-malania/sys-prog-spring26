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</p:sldIdLst>
  <p:sldSz cy="6858000" cx="9144000"/>
  <p:notesSz cx="7302500" cy="9586900"/>
  <p:embeddedFontLst>
    <p:embeddedFont>
      <p:font typeface="Arial Narrow"/>
      <p:regular r:id="rId38"/>
      <p:bold r:id="rId39"/>
      <p:italic r:id="rId40"/>
      <p:boldItalic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296">
          <p15:clr>
            <a:srgbClr val="000000"/>
          </p15:clr>
        </p15:guide>
        <p15:guide id="2" pos="3936">
          <p15:clr>
            <a:srgbClr val="000000"/>
          </p15:clr>
        </p15:guide>
      </p15:sldGuideLst>
    </p:ext>
    <p:ext uri="GoogleSlidesCustomDataVersion2">
      <go:slidesCustomData xmlns:go="http://customooxmlschemas.google.com/" r:id="rId42" roundtripDataSignature="AMtx7mivQnwK/CoN0ZchO1T44v3R8Cl2X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296" orient="horz"/>
        <p:guide pos="3936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ArialNarrow-italic.fntdata"/><Relationship Id="rId20" Type="http://schemas.openxmlformats.org/officeDocument/2006/relationships/slide" Target="slides/slide15.xml"/><Relationship Id="rId42" Type="http://customschemas.google.com/relationships/presentationmetadata" Target="metadata"/><Relationship Id="rId41" Type="http://schemas.openxmlformats.org/officeDocument/2006/relationships/font" Target="fonts/ArialNarrow-boldItalic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font" Target="fonts/ArialNarrow-bold.fntdata"/><Relationship Id="rId16" Type="http://schemas.openxmlformats.org/officeDocument/2006/relationships/slide" Target="slides/slide11.xml"/><Relationship Id="rId38" Type="http://schemas.openxmlformats.org/officeDocument/2006/relationships/font" Target="fonts/ArialNarrow-regular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114800" y="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1440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114800" y="91440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GB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3" name="Google Shape;63;p1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4" name="Google Shape;64;p1:notes"/>
          <p:cNvSpPr txBox="1"/>
          <p:nvPr>
            <p:ph idx="12" type="sldNum"/>
          </p:nvPr>
        </p:nvSpPr>
        <p:spPr>
          <a:xfrm>
            <a:off x="4114800" y="91440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0" name="Google Shape;70;p2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6" name="Google Shape;76;p3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:notes"/>
          <p:cNvSpPr txBox="1"/>
          <p:nvPr/>
        </p:nvSpPr>
        <p:spPr>
          <a:xfrm>
            <a:off x="1264626" y="725993"/>
            <a:ext cx="4774834" cy="3582411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625" lIns="91275" spcFirstLastPara="1" rIns="91275" wrap="square" tIns="456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82" name="Google Shape;82;p4:notes"/>
          <p:cNvSpPr txBox="1"/>
          <p:nvPr>
            <p:ph idx="1" type="body"/>
          </p:nvPr>
        </p:nvSpPr>
        <p:spPr>
          <a:xfrm>
            <a:off x="973033" y="4554101"/>
            <a:ext cx="5356434" cy="43163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3" name="Google Shape;83;p4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5:notes"/>
          <p:cNvSpPr txBox="1"/>
          <p:nvPr/>
        </p:nvSpPr>
        <p:spPr>
          <a:xfrm>
            <a:off x="1264626" y="725993"/>
            <a:ext cx="4774834" cy="3582411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625" lIns="91275" spcFirstLastPara="1" rIns="91275" wrap="square" tIns="456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57" name="Google Shape;157;p5:notes"/>
          <p:cNvSpPr txBox="1"/>
          <p:nvPr>
            <p:ph idx="1" type="body"/>
          </p:nvPr>
        </p:nvSpPr>
        <p:spPr>
          <a:xfrm>
            <a:off x="973033" y="4554101"/>
            <a:ext cx="5356434" cy="43163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8" name="Google Shape;158;p5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6:notes"/>
          <p:cNvSpPr txBox="1"/>
          <p:nvPr/>
        </p:nvSpPr>
        <p:spPr>
          <a:xfrm>
            <a:off x="1264626" y="725993"/>
            <a:ext cx="4774834" cy="3582411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625" lIns="91275" spcFirstLastPara="1" rIns="91275" wrap="square" tIns="456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289" name="Google Shape;289;p6:notes"/>
          <p:cNvSpPr txBox="1"/>
          <p:nvPr>
            <p:ph idx="1" type="body"/>
          </p:nvPr>
        </p:nvSpPr>
        <p:spPr>
          <a:xfrm>
            <a:off x="973033" y="4554101"/>
            <a:ext cx="5356434" cy="43163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0" name="Google Shape;290;p6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7:notes"/>
          <p:cNvSpPr txBox="1"/>
          <p:nvPr/>
        </p:nvSpPr>
        <p:spPr>
          <a:xfrm>
            <a:off x="1264626" y="725993"/>
            <a:ext cx="4774834" cy="3582411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625" lIns="91275" spcFirstLastPara="1" rIns="91275" wrap="square" tIns="456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378" name="Google Shape;378;p7:notes"/>
          <p:cNvSpPr txBox="1"/>
          <p:nvPr>
            <p:ph idx="1" type="body"/>
          </p:nvPr>
        </p:nvSpPr>
        <p:spPr>
          <a:xfrm>
            <a:off x="973033" y="4554101"/>
            <a:ext cx="5356434" cy="43163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9" name="Google Shape;379;p7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8:notes"/>
          <p:cNvSpPr txBox="1"/>
          <p:nvPr/>
        </p:nvSpPr>
        <p:spPr>
          <a:xfrm>
            <a:off x="1264626" y="725993"/>
            <a:ext cx="4774834" cy="3582411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625" lIns="91275" spcFirstLastPara="1" rIns="91275" wrap="square" tIns="456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586" name="Google Shape;586;p8:notes"/>
          <p:cNvSpPr txBox="1"/>
          <p:nvPr>
            <p:ph idx="1" type="body"/>
          </p:nvPr>
        </p:nvSpPr>
        <p:spPr>
          <a:xfrm>
            <a:off x="973033" y="4554101"/>
            <a:ext cx="5356434" cy="43163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7" name="Google Shape;587;p8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9:notes"/>
          <p:cNvSpPr txBox="1"/>
          <p:nvPr/>
        </p:nvSpPr>
        <p:spPr>
          <a:xfrm>
            <a:off x="1264626" y="725993"/>
            <a:ext cx="4774834" cy="3582411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625" lIns="91275" spcFirstLastPara="1" rIns="91275" wrap="square" tIns="456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708" name="Google Shape;708;p9:notes"/>
          <p:cNvSpPr txBox="1"/>
          <p:nvPr>
            <p:ph idx="1" type="body"/>
          </p:nvPr>
        </p:nvSpPr>
        <p:spPr>
          <a:xfrm>
            <a:off x="973033" y="4554101"/>
            <a:ext cx="5356434" cy="43163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09" name="Google Shape;709;p9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p10:notes"/>
          <p:cNvSpPr txBox="1"/>
          <p:nvPr/>
        </p:nvSpPr>
        <p:spPr>
          <a:xfrm>
            <a:off x="1264626" y="725993"/>
            <a:ext cx="4774834" cy="3582411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625" lIns="91275" spcFirstLastPara="1" rIns="91275" wrap="square" tIns="456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830" name="Google Shape;830;p10:notes"/>
          <p:cNvSpPr txBox="1"/>
          <p:nvPr>
            <p:ph idx="1" type="body"/>
          </p:nvPr>
        </p:nvSpPr>
        <p:spPr>
          <a:xfrm>
            <a:off x="973033" y="4554101"/>
            <a:ext cx="5356434" cy="43163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31" name="Google Shape;831;p10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p11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52" name="Google Shape;952;p11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6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p12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58" name="Google Shape;958;p12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0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p13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02" name="Google Shape;1002;p13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6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p14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8" name="Google Shape;1008;p14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8" name="Shape 1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9" name="Google Shape;1179;p15:notes"/>
          <p:cNvSpPr txBox="1"/>
          <p:nvPr/>
        </p:nvSpPr>
        <p:spPr>
          <a:xfrm>
            <a:off x="1347244" y="725326"/>
            <a:ext cx="4609703" cy="3582829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9650" lIns="99325" spcFirstLastPara="1" rIns="99325" wrap="square" tIns="49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180" name="Google Shape;1180;p15:notes"/>
          <p:cNvSpPr txBox="1"/>
          <p:nvPr>
            <p:ph idx="1" type="body"/>
          </p:nvPr>
        </p:nvSpPr>
        <p:spPr>
          <a:xfrm>
            <a:off x="973667" y="4553434"/>
            <a:ext cx="5355167" cy="43169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81" name="Google Shape;1181;p15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6" name="Shape 1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7" name="Google Shape;1217;p16:notes"/>
          <p:cNvSpPr txBox="1"/>
          <p:nvPr/>
        </p:nvSpPr>
        <p:spPr>
          <a:xfrm>
            <a:off x="1347244" y="725326"/>
            <a:ext cx="4609703" cy="3582829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9650" lIns="99325" spcFirstLastPara="1" rIns="99325" wrap="square" tIns="49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218" name="Google Shape;1218;p16:notes"/>
          <p:cNvSpPr txBox="1"/>
          <p:nvPr>
            <p:ph idx="1" type="body"/>
          </p:nvPr>
        </p:nvSpPr>
        <p:spPr>
          <a:xfrm>
            <a:off x="973667" y="4553434"/>
            <a:ext cx="5355167" cy="43169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19" name="Google Shape;1219;p16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4" name="Shape 1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5" name="Google Shape;1255;p17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56" name="Google Shape;1256;p17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0" name="Shape 1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" name="Google Shape;1331;p18:notes"/>
          <p:cNvSpPr txBox="1"/>
          <p:nvPr/>
        </p:nvSpPr>
        <p:spPr>
          <a:xfrm>
            <a:off x="1347244" y="725326"/>
            <a:ext cx="4609703" cy="3582829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9650" lIns="99325" spcFirstLastPara="1" rIns="99325" wrap="square" tIns="49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332" name="Google Shape;1332;p18:notes"/>
          <p:cNvSpPr txBox="1"/>
          <p:nvPr>
            <p:ph idx="1" type="body"/>
          </p:nvPr>
        </p:nvSpPr>
        <p:spPr>
          <a:xfrm>
            <a:off x="973667" y="4553434"/>
            <a:ext cx="5355167" cy="43169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33" name="Google Shape;1333;p18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0" name="Shape 1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1" name="Google Shape;1381;p19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82" name="Google Shape;1382;p19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5" name="Shape 1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6" name="Google Shape;1416;p20:notes"/>
          <p:cNvSpPr txBox="1"/>
          <p:nvPr/>
        </p:nvSpPr>
        <p:spPr>
          <a:xfrm>
            <a:off x="1347244" y="725326"/>
            <a:ext cx="4609703" cy="3582829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9650" lIns="99325" spcFirstLastPara="1" rIns="99325" wrap="square" tIns="49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417" name="Google Shape;1417;p20:notes"/>
          <p:cNvSpPr txBox="1"/>
          <p:nvPr>
            <p:ph idx="1" type="body"/>
          </p:nvPr>
        </p:nvSpPr>
        <p:spPr>
          <a:xfrm>
            <a:off x="973667" y="4553434"/>
            <a:ext cx="5355167" cy="43169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18" name="Google Shape;1418;p20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8" name="Shape 1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9" name="Google Shape;1469;p21:notes"/>
          <p:cNvSpPr txBox="1"/>
          <p:nvPr/>
        </p:nvSpPr>
        <p:spPr>
          <a:xfrm>
            <a:off x="1347244" y="725326"/>
            <a:ext cx="4609703" cy="3582829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9650" lIns="99325" spcFirstLastPara="1" rIns="99325" wrap="square" tIns="49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470" name="Google Shape;1470;p21:notes"/>
          <p:cNvSpPr txBox="1"/>
          <p:nvPr>
            <p:ph idx="1" type="body"/>
          </p:nvPr>
        </p:nvSpPr>
        <p:spPr>
          <a:xfrm>
            <a:off x="973667" y="4553434"/>
            <a:ext cx="5355167" cy="43169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71" name="Google Shape;1471;p21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5" name="Shape 1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6" name="Google Shape;1526;p22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27" name="Google Shape;1527;p22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1" name="Shape 1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2" name="Google Shape;1532;p23:notes"/>
          <p:cNvSpPr txBox="1"/>
          <p:nvPr/>
        </p:nvSpPr>
        <p:spPr>
          <a:xfrm>
            <a:off x="1347244" y="725326"/>
            <a:ext cx="4609703" cy="3582829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9650" lIns="99325" spcFirstLastPara="1" rIns="99325" wrap="square" tIns="49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533" name="Google Shape;1533;p23:notes"/>
          <p:cNvSpPr txBox="1"/>
          <p:nvPr>
            <p:ph idx="1" type="body"/>
          </p:nvPr>
        </p:nvSpPr>
        <p:spPr>
          <a:xfrm>
            <a:off x="973667" y="4553434"/>
            <a:ext cx="5355167" cy="43169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34" name="Google Shape;1534;p23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8" name="Shape 1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9" name="Google Shape;1539;p24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40" name="Google Shape;1540;p24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8" name="Shape 1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9" name="Google Shape;1559;p25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60" name="Google Shape;1560;p25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3" name="Shape 1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4" name="Google Shape;1584;p26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85" name="Google Shape;1585;p26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0" name="Shape 1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1" name="Google Shape;1611;p27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12" name="Google Shape;1612;p27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4" name="Shape 1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5" name="Google Shape;1645;p28:notes"/>
          <p:cNvSpPr txBox="1"/>
          <p:nvPr/>
        </p:nvSpPr>
        <p:spPr>
          <a:xfrm>
            <a:off x="1347244" y="725326"/>
            <a:ext cx="4609703" cy="3582829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9650" lIns="99325" spcFirstLastPara="1" rIns="99325" wrap="square" tIns="49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646" name="Google Shape;1646;p28:notes"/>
          <p:cNvSpPr txBox="1"/>
          <p:nvPr>
            <p:ph idx="1" type="body"/>
          </p:nvPr>
        </p:nvSpPr>
        <p:spPr>
          <a:xfrm>
            <a:off x="973667" y="4553434"/>
            <a:ext cx="5355167" cy="43169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47" name="Google Shape;1647;p28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1" name="Shape 1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2" name="Google Shape;1652;p29:notes"/>
          <p:cNvSpPr txBox="1"/>
          <p:nvPr/>
        </p:nvSpPr>
        <p:spPr>
          <a:xfrm>
            <a:off x="1347244" y="725326"/>
            <a:ext cx="4609703" cy="3582829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9650" lIns="99325" spcFirstLastPara="1" rIns="99325" wrap="square" tIns="49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653" name="Google Shape;1653;p29:notes"/>
          <p:cNvSpPr txBox="1"/>
          <p:nvPr>
            <p:ph idx="1" type="body"/>
          </p:nvPr>
        </p:nvSpPr>
        <p:spPr>
          <a:xfrm>
            <a:off x="973667" y="4553434"/>
            <a:ext cx="5355167" cy="43169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54" name="Google Shape;1654;p29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1" name="Shape 1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2" name="Google Shape;1692;p30:notes"/>
          <p:cNvSpPr txBox="1"/>
          <p:nvPr/>
        </p:nvSpPr>
        <p:spPr>
          <a:xfrm>
            <a:off x="1347244" y="725326"/>
            <a:ext cx="4609703" cy="3582829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9650" lIns="99325" spcFirstLastPara="1" rIns="99325" wrap="square" tIns="49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693" name="Google Shape;1693;p30:notes"/>
          <p:cNvSpPr txBox="1"/>
          <p:nvPr>
            <p:ph idx="1" type="body"/>
          </p:nvPr>
        </p:nvSpPr>
        <p:spPr>
          <a:xfrm>
            <a:off x="973667" y="4553434"/>
            <a:ext cx="5355167" cy="43169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94" name="Google Shape;1694;p30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8" name="Shape 1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" name="Google Shape;1699;p31:notes"/>
          <p:cNvSpPr txBox="1"/>
          <p:nvPr/>
        </p:nvSpPr>
        <p:spPr>
          <a:xfrm>
            <a:off x="1347244" y="725326"/>
            <a:ext cx="4609703" cy="3582829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9650" lIns="99325" spcFirstLastPara="1" rIns="99325" wrap="square" tIns="49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700" name="Google Shape;1700;p31:notes"/>
          <p:cNvSpPr txBox="1"/>
          <p:nvPr>
            <p:ph idx="1" type="body"/>
          </p:nvPr>
        </p:nvSpPr>
        <p:spPr>
          <a:xfrm>
            <a:off x="973667" y="4553434"/>
            <a:ext cx="5355167" cy="43169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01" name="Google Shape;1701;p31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5" name="Shape 1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6" name="Google Shape;1726;p32:notes"/>
          <p:cNvSpPr txBox="1"/>
          <p:nvPr/>
        </p:nvSpPr>
        <p:spPr>
          <a:xfrm>
            <a:off x="1347244" y="725326"/>
            <a:ext cx="4609703" cy="3582829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9650" lIns="99325" spcFirstLastPara="1" rIns="99325" wrap="square" tIns="49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727" name="Google Shape;1727;p32:notes"/>
          <p:cNvSpPr txBox="1"/>
          <p:nvPr>
            <p:ph idx="1" type="body"/>
          </p:nvPr>
        </p:nvSpPr>
        <p:spPr>
          <a:xfrm>
            <a:off x="973667" y="4553434"/>
            <a:ext cx="5355167" cy="43169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28" name="Google Shape;1728;p32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4"/>
          <p:cNvSpPr txBox="1"/>
          <p:nvPr>
            <p:ph type="ctrTitle"/>
          </p:nvPr>
        </p:nvSpPr>
        <p:spPr>
          <a:xfrm>
            <a:off x="685800" y="1708012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4"/>
          <p:cNvSpPr txBox="1"/>
          <p:nvPr>
            <p:ph idx="1" type="subTitle"/>
          </p:nvPr>
        </p:nvSpPr>
        <p:spPr>
          <a:xfrm>
            <a:off x="685800" y="3886200"/>
            <a:ext cx="7677492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b="0" sz="2000"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/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5"/>
          <p:cNvSpPr txBox="1"/>
          <p:nvPr>
            <p:ph type="title"/>
          </p:nvPr>
        </p:nvSpPr>
        <p:spPr>
          <a:xfrm>
            <a:off x="357018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5"/>
          <p:cNvSpPr txBox="1"/>
          <p:nvPr>
            <p:ph idx="1" type="body"/>
          </p:nvPr>
        </p:nvSpPr>
        <p:spPr>
          <a:xfrm>
            <a:off x="396875" y="1362075"/>
            <a:ext cx="7896225" cy="4972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-3683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–"/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»"/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2000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980"/>
              <a:buNone/>
              <a:defRPr sz="18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400"/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7"/>
          <p:cNvSpPr txBox="1"/>
          <p:nvPr>
            <p:ph type="title"/>
          </p:nvPr>
        </p:nvSpPr>
        <p:spPr>
          <a:xfrm>
            <a:off x="374090" y="371182"/>
            <a:ext cx="7591425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7"/>
          <p:cNvSpPr txBox="1"/>
          <p:nvPr>
            <p:ph idx="1" type="body"/>
          </p:nvPr>
        </p:nvSpPr>
        <p:spPr>
          <a:xfrm>
            <a:off x="638175" y="1362075"/>
            <a:ext cx="3871913" cy="4972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80"/>
              <a:buChar char="⬛"/>
              <a:defRPr sz="2800">
                <a:latin typeface="Calibri"/>
                <a:ea typeface="Calibri"/>
                <a:cs typeface="Calibri"/>
                <a:sym typeface="Calibri"/>
              </a:defRPr>
            </a:lvl1pPr>
            <a:lvl2pPr indent="-39624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640"/>
              <a:buChar char="▪"/>
              <a:defRPr sz="2400"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  <a:defRPr sz="2000"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–"/>
              <a:defRPr sz="1800"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»"/>
              <a:defRPr sz="1800"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/>
        </p:txBody>
      </p:sp>
      <p:sp>
        <p:nvSpPr>
          <p:cNvPr id="28" name="Google Shape;28;p37"/>
          <p:cNvSpPr txBox="1"/>
          <p:nvPr>
            <p:ph idx="2" type="body"/>
          </p:nvPr>
        </p:nvSpPr>
        <p:spPr>
          <a:xfrm>
            <a:off x="4662488" y="1362075"/>
            <a:ext cx="3871912" cy="4972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80"/>
              <a:buChar char="⬛"/>
              <a:defRPr sz="2800">
                <a:latin typeface="Calibri"/>
                <a:ea typeface="Calibri"/>
                <a:cs typeface="Calibri"/>
                <a:sym typeface="Calibri"/>
              </a:defRPr>
            </a:lvl1pPr>
            <a:lvl2pPr indent="-39624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640"/>
              <a:buChar char="▪"/>
              <a:defRPr sz="2400"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  <a:defRPr sz="2000"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–"/>
              <a:defRPr sz="1800"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»"/>
              <a:defRPr sz="1800"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  <a:defRPr b="1" sz="2400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32" name="Google Shape;32;p3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  <a:defRPr sz="2400">
                <a:latin typeface="Calibri"/>
                <a:ea typeface="Calibri"/>
                <a:cs typeface="Calibri"/>
                <a:sym typeface="Calibri"/>
              </a:defRPr>
            </a:lvl1pPr>
            <a:lvl2pPr indent="-3683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  <a:defRPr sz="2000">
                <a:latin typeface="Calibri"/>
                <a:ea typeface="Calibri"/>
                <a:cs typeface="Calibri"/>
                <a:sym typeface="Calibri"/>
              </a:defRPr>
            </a:lvl2pPr>
            <a:lvl3pPr indent="-320039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▪"/>
              <a:defRPr sz="1800">
                <a:latin typeface="Calibri"/>
                <a:ea typeface="Calibri"/>
                <a:cs typeface="Calibri"/>
                <a:sym typeface="Calibri"/>
              </a:defRPr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–"/>
              <a:defRPr sz="1600">
                <a:latin typeface="Calibri"/>
                <a:ea typeface="Calibri"/>
                <a:cs typeface="Calibri"/>
                <a:sym typeface="Calibri"/>
              </a:defRPr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»"/>
              <a:defRPr sz="1600">
                <a:latin typeface="Calibri"/>
                <a:ea typeface="Calibri"/>
                <a:cs typeface="Calibri"/>
                <a:sym typeface="Calibri"/>
              </a:defRPr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/>
        </p:txBody>
      </p:sp>
      <p:sp>
        <p:nvSpPr>
          <p:cNvPr id="33" name="Google Shape;33;p3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  <a:defRPr b="1" sz="2400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34" name="Google Shape;34;p3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  <a:defRPr sz="2400">
                <a:latin typeface="Calibri"/>
                <a:ea typeface="Calibri"/>
                <a:cs typeface="Calibri"/>
                <a:sym typeface="Calibri"/>
              </a:defRPr>
            </a:lvl1pPr>
            <a:lvl2pPr indent="-3683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  <a:defRPr sz="2000">
                <a:latin typeface="Calibri"/>
                <a:ea typeface="Calibri"/>
                <a:cs typeface="Calibri"/>
                <a:sym typeface="Calibri"/>
              </a:defRPr>
            </a:lvl2pPr>
            <a:lvl3pPr indent="-320039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▪"/>
              <a:defRPr sz="1800">
                <a:latin typeface="Calibri"/>
                <a:ea typeface="Calibri"/>
                <a:cs typeface="Calibri"/>
                <a:sym typeface="Calibri"/>
              </a:defRPr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–"/>
              <a:defRPr sz="1600">
                <a:latin typeface="Calibri"/>
                <a:ea typeface="Calibri"/>
                <a:cs typeface="Calibri"/>
                <a:sym typeface="Calibri"/>
              </a:defRPr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»"/>
              <a:defRPr sz="1600">
                <a:latin typeface="Calibri"/>
                <a:ea typeface="Calibri"/>
                <a:cs typeface="Calibri"/>
                <a:sym typeface="Calibri"/>
              </a:defRPr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9"/>
          <p:cNvSpPr txBox="1"/>
          <p:nvPr>
            <p:ph type="title"/>
          </p:nvPr>
        </p:nvSpPr>
        <p:spPr>
          <a:xfrm>
            <a:off x="357762" y="445070"/>
            <a:ext cx="7591425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4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4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920"/>
              <a:buChar char="⬛"/>
              <a:defRPr sz="3200">
                <a:latin typeface="Calibri"/>
                <a:ea typeface="Calibri"/>
                <a:cs typeface="Calibri"/>
                <a:sym typeface="Calibri"/>
              </a:defRPr>
            </a:lvl1pPr>
            <a:lvl2pPr indent="-42418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3080"/>
              <a:buChar char="▪"/>
              <a:defRPr sz="2800">
                <a:latin typeface="Calibri"/>
                <a:ea typeface="Calibri"/>
                <a:cs typeface="Calibri"/>
                <a:sym typeface="Calibri"/>
              </a:defRPr>
            </a:lvl2pPr>
            <a:lvl3pPr indent="-350519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Char char="▪"/>
              <a:defRPr sz="2400"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–"/>
              <a:defRPr sz="2000"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»"/>
              <a:defRPr sz="2000"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9pPr>
          </a:lstStyle>
          <a:p/>
        </p:txBody>
      </p:sp>
      <p:sp>
        <p:nvSpPr>
          <p:cNvPr id="41" name="Google Shape;41;p4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840"/>
              <a:buNone/>
              <a:defRPr sz="1400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32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4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45" name="Google Shape;45;p4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840"/>
              <a:buNone/>
              <a:defRPr sz="1400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32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43"/>
          <p:cNvSpPr txBox="1"/>
          <p:nvPr>
            <p:ph type="title"/>
          </p:nvPr>
        </p:nvSpPr>
        <p:spPr>
          <a:xfrm>
            <a:off x="374090" y="371182"/>
            <a:ext cx="7591425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43"/>
          <p:cNvSpPr txBox="1"/>
          <p:nvPr>
            <p:ph idx="1" type="body"/>
          </p:nvPr>
        </p:nvSpPr>
        <p:spPr>
          <a:xfrm rot="5400000">
            <a:off x="1858963" y="-100012"/>
            <a:ext cx="4972050" cy="789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-3683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–"/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»"/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4"/>
          <p:cNvSpPr txBox="1"/>
          <p:nvPr>
            <p:ph type="title"/>
          </p:nvPr>
        </p:nvSpPr>
        <p:spPr>
          <a:xfrm rot="5400000">
            <a:off x="4998244" y="2188369"/>
            <a:ext cx="6105525" cy="21859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4"/>
          <p:cNvSpPr txBox="1"/>
          <p:nvPr>
            <p:ph idx="1" type="body"/>
          </p:nvPr>
        </p:nvSpPr>
        <p:spPr>
          <a:xfrm rot="5400000">
            <a:off x="548481" y="76994"/>
            <a:ext cx="6105525" cy="64087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-3683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–"/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»"/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, and 2 Content" type="objAndTwoObj">
  <p:cSld name="OBJECT_AND_TWO_OBJECTS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5"/>
          <p:cNvSpPr txBox="1"/>
          <p:nvPr>
            <p:ph type="title"/>
          </p:nvPr>
        </p:nvSpPr>
        <p:spPr>
          <a:xfrm>
            <a:off x="396875" y="228600"/>
            <a:ext cx="8747125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45"/>
          <p:cNvSpPr txBox="1"/>
          <p:nvPr>
            <p:ph idx="1" type="body"/>
          </p:nvPr>
        </p:nvSpPr>
        <p:spPr>
          <a:xfrm>
            <a:off x="638175" y="1362075"/>
            <a:ext cx="3871913" cy="4972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-3683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–"/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»"/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55" name="Google Shape;55;p45"/>
          <p:cNvSpPr txBox="1"/>
          <p:nvPr>
            <p:ph idx="2" type="body"/>
          </p:nvPr>
        </p:nvSpPr>
        <p:spPr>
          <a:xfrm>
            <a:off x="4662488" y="1362075"/>
            <a:ext cx="3871912" cy="240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-3683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–"/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»"/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56" name="Google Shape;56;p45"/>
          <p:cNvSpPr txBox="1"/>
          <p:nvPr>
            <p:ph idx="3" type="body"/>
          </p:nvPr>
        </p:nvSpPr>
        <p:spPr>
          <a:xfrm>
            <a:off x="4662488" y="3924300"/>
            <a:ext cx="3871912" cy="240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-3683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–"/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»"/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Content" type="txAndObj">
  <p:cSld name="TEXT_AND_OBJEC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6"/>
          <p:cNvSpPr txBox="1"/>
          <p:nvPr>
            <p:ph type="title"/>
          </p:nvPr>
        </p:nvSpPr>
        <p:spPr>
          <a:xfrm>
            <a:off x="396875" y="228600"/>
            <a:ext cx="8747125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46"/>
          <p:cNvSpPr txBox="1"/>
          <p:nvPr>
            <p:ph idx="1" type="body"/>
          </p:nvPr>
        </p:nvSpPr>
        <p:spPr>
          <a:xfrm>
            <a:off x="638175" y="1362075"/>
            <a:ext cx="3871913" cy="4972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-3683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–"/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»"/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60" name="Google Shape;60;p46"/>
          <p:cNvSpPr txBox="1"/>
          <p:nvPr>
            <p:ph idx="2" type="body"/>
          </p:nvPr>
        </p:nvSpPr>
        <p:spPr>
          <a:xfrm>
            <a:off x="4662488" y="1362075"/>
            <a:ext cx="3871912" cy="4972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-3683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–"/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»"/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3"/>
          <p:cNvSpPr txBox="1"/>
          <p:nvPr>
            <p:ph type="title"/>
          </p:nvPr>
        </p:nvSpPr>
        <p:spPr>
          <a:xfrm>
            <a:off x="374090" y="371182"/>
            <a:ext cx="7591425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/>
        </p:txBody>
      </p:sp>
      <p:sp>
        <p:nvSpPr>
          <p:cNvPr id="11" name="Google Shape;11;p33"/>
          <p:cNvSpPr txBox="1"/>
          <p:nvPr>
            <p:ph idx="1" type="body"/>
          </p:nvPr>
        </p:nvSpPr>
        <p:spPr>
          <a:xfrm>
            <a:off x="396875" y="1362075"/>
            <a:ext cx="7896225" cy="4972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00"/>
              </a:buClr>
              <a:buSzPts val="1440"/>
              <a:buFont typeface="Noto Sans Symbols"/>
              <a:buChar char="⬛"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830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990000"/>
              </a:buClr>
              <a:buSzPts val="22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33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" name="Google Shape;13;p33"/>
          <p:cNvSpPr txBox="1"/>
          <p:nvPr/>
        </p:nvSpPr>
        <p:spPr>
          <a:xfrm>
            <a:off x="7574250" y="-27000"/>
            <a:ext cx="1633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Ilia State University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33"/>
          <p:cNvSpPr/>
          <p:nvPr/>
        </p:nvSpPr>
        <p:spPr>
          <a:xfrm>
            <a:off x="8830843" y="6611779"/>
            <a:ext cx="313157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1" i="0" lang="en-GB" sz="1000" u="none" cap="none" strike="noStrik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‹#›</a:t>
            </a:fld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5" name="Google Shape;15;p33"/>
          <p:cNvSpPr txBox="1"/>
          <p:nvPr/>
        </p:nvSpPr>
        <p:spPr>
          <a:xfrm>
            <a:off x="-16031" y="6629400"/>
            <a:ext cx="4649342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Bryant and O’Hallaron, Computer Systems: A Programmer’s Perspective, Third Edition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"/>
          <p:cNvSpPr txBox="1"/>
          <p:nvPr>
            <p:ph type="ctrTitle"/>
          </p:nvPr>
        </p:nvSpPr>
        <p:spPr>
          <a:xfrm>
            <a:off x="685800" y="1708150"/>
            <a:ext cx="7772400" cy="172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Virtual Memory: Systems</a:t>
            </a:r>
            <a:br>
              <a:rPr lang="en-GB"/>
            </a:br>
            <a:br>
              <a:rPr lang="en-GB"/>
            </a:br>
            <a:r>
              <a:rPr b="0" lang="en-GB" sz="2000"/>
              <a:t>Systems Programming	</a:t>
            </a:r>
            <a:endParaRPr/>
          </a:p>
        </p:txBody>
      </p:sp>
      <p:sp>
        <p:nvSpPr>
          <p:cNvPr id="67" name="Google Shape;67;p1"/>
          <p:cNvSpPr txBox="1"/>
          <p:nvPr>
            <p:ph idx="1" type="subTitle"/>
          </p:nvPr>
        </p:nvSpPr>
        <p:spPr>
          <a:xfrm>
            <a:off x="685800" y="3886200"/>
            <a:ext cx="7678738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-GB"/>
              <a:t>Instructor:</a:t>
            </a:r>
            <a:r>
              <a:rPr lang="en-GB"/>
              <a:t>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rPr lang="en-GB"/>
              <a:t>Amiran Malania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"/>
          <p:cNvSpPr txBox="1"/>
          <p:nvPr>
            <p:ph type="title"/>
          </p:nvPr>
        </p:nvSpPr>
        <p:spPr>
          <a:xfrm>
            <a:off x="357018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Today		</a:t>
            </a:r>
            <a:endParaRPr/>
          </a:p>
        </p:txBody>
      </p:sp>
      <p:sp>
        <p:nvSpPr>
          <p:cNvPr id="73" name="Google Shape;73;p2"/>
          <p:cNvSpPr txBox="1"/>
          <p:nvPr>
            <p:ph idx="1" type="body"/>
          </p:nvPr>
        </p:nvSpPr>
        <p:spPr>
          <a:xfrm>
            <a:off x="396875" y="1362075"/>
            <a:ext cx="7896225" cy="4972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GB"/>
              <a:t>Simple memory system example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GB">
                <a:solidFill>
                  <a:srgbClr val="7F7F7F"/>
                </a:solidFill>
              </a:rPr>
              <a:t>Case study: Core i7/Linux memory system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GB">
                <a:solidFill>
                  <a:srgbClr val="7F7F7F"/>
                </a:solidFill>
              </a:rPr>
              <a:t>Memory mapping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"/>
          <p:cNvSpPr txBox="1"/>
          <p:nvPr>
            <p:ph type="title"/>
          </p:nvPr>
        </p:nvSpPr>
        <p:spPr>
          <a:xfrm>
            <a:off x="357018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Review of Symbols</a:t>
            </a:r>
            <a:endParaRPr/>
          </a:p>
        </p:txBody>
      </p:sp>
      <p:sp>
        <p:nvSpPr>
          <p:cNvPr id="79" name="Google Shape;79;p3"/>
          <p:cNvSpPr txBox="1"/>
          <p:nvPr>
            <p:ph idx="1" type="body"/>
          </p:nvPr>
        </p:nvSpPr>
        <p:spPr>
          <a:xfrm>
            <a:off x="396875" y="1362074"/>
            <a:ext cx="7896225" cy="5267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59999"/>
              <a:buChar char="⬛"/>
            </a:pPr>
            <a:r>
              <a:rPr lang="en-GB"/>
              <a:t>Basic Parameters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ct val="110000"/>
              <a:buChar char="▪"/>
            </a:pPr>
            <a:r>
              <a:rPr b="1" lang="en-GB"/>
              <a:t>N = 2</a:t>
            </a:r>
            <a:r>
              <a:rPr b="1" baseline="30000" lang="en-GB"/>
              <a:t>n </a:t>
            </a:r>
            <a:r>
              <a:rPr lang="en-GB"/>
              <a:t>: Number of addresses in virtual address space</a:t>
            </a:r>
            <a:endParaRPr baseline="30000"/>
          </a:p>
          <a:p>
            <a:pPr indent="-285750" lvl="1" marL="74295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ct val="110000"/>
              <a:buChar char="▪"/>
            </a:pPr>
            <a:r>
              <a:rPr b="1" lang="en-GB"/>
              <a:t>M = 2</a:t>
            </a:r>
            <a:r>
              <a:rPr b="1" baseline="30000" lang="en-GB"/>
              <a:t>m </a:t>
            </a:r>
            <a:r>
              <a:rPr lang="en-GB"/>
              <a:t>: Number of addresses in physical address space</a:t>
            </a:r>
            <a:endParaRPr baseline="30000"/>
          </a:p>
          <a:p>
            <a:pPr indent="-285750" lvl="1" marL="74295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ct val="110000"/>
              <a:buChar char="▪"/>
            </a:pPr>
            <a:r>
              <a:rPr b="1" lang="en-GB"/>
              <a:t>P = 2</a:t>
            </a:r>
            <a:r>
              <a:rPr b="1" baseline="30000" lang="en-GB"/>
              <a:t>p </a:t>
            </a:r>
            <a:r>
              <a:rPr b="1" lang="en-GB"/>
              <a:t> </a:t>
            </a:r>
            <a:r>
              <a:rPr lang="en-GB"/>
              <a:t>: Page size (bytes)</a:t>
            </a:r>
            <a:endParaRPr baseline="30000"/>
          </a:p>
          <a:p>
            <a:pPr indent="-342900" lvl="0" marL="342900" rtl="0" algn="l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SzPct val="59999"/>
              <a:buChar char="⬛"/>
            </a:pPr>
            <a:r>
              <a:rPr lang="en-GB"/>
              <a:t>Components of the virtual address (VA)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ct val="110000"/>
              <a:buChar char="▪"/>
            </a:pPr>
            <a:r>
              <a:rPr b="1" lang="en-GB"/>
              <a:t>TLBI</a:t>
            </a:r>
            <a:r>
              <a:rPr lang="en-GB"/>
              <a:t>: TLB index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ct val="110000"/>
              <a:buChar char="▪"/>
            </a:pPr>
            <a:r>
              <a:rPr b="1" lang="en-GB"/>
              <a:t>TLBT</a:t>
            </a:r>
            <a:r>
              <a:rPr lang="en-GB"/>
              <a:t>: TLB tag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ct val="110000"/>
              <a:buChar char="▪"/>
            </a:pPr>
            <a:r>
              <a:rPr b="1" lang="en-GB"/>
              <a:t>VPO</a:t>
            </a:r>
            <a:r>
              <a:rPr lang="en-GB"/>
              <a:t>: Virtual page offset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ct val="110000"/>
              <a:buChar char="▪"/>
            </a:pPr>
            <a:r>
              <a:rPr b="1" lang="en-GB"/>
              <a:t>VPN</a:t>
            </a:r>
            <a:r>
              <a:rPr lang="en-GB"/>
              <a:t>: Virtual page number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SzPct val="59999"/>
              <a:buChar char="⬛"/>
            </a:pPr>
            <a:r>
              <a:rPr lang="en-GB"/>
              <a:t>Components of the physical address (PA)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ct val="110000"/>
              <a:buChar char="▪"/>
            </a:pPr>
            <a:r>
              <a:rPr b="1" lang="en-GB"/>
              <a:t>PPO</a:t>
            </a:r>
            <a:r>
              <a:rPr lang="en-GB"/>
              <a:t>: Physical page offset (same as VPO)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ct val="110000"/>
              <a:buChar char="▪"/>
            </a:pPr>
            <a:r>
              <a:rPr b="1" lang="en-GB"/>
              <a:t>PPN:</a:t>
            </a:r>
            <a:r>
              <a:rPr lang="en-GB"/>
              <a:t> Physical page number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ct val="110000"/>
              <a:buChar char="▪"/>
            </a:pPr>
            <a:r>
              <a:rPr b="1" lang="en-GB"/>
              <a:t>CO</a:t>
            </a:r>
            <a:r>
              <a:rPr lang="en-GB"/>
              <a:t>: Byte offset within cache line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ct val="110000"/>
              <a:buChar char="▪"/>
            </a:pPr>
            <a:r>
              <a:rPr b="1" lang="en-GB"/>
              <a:t>CI:</a:t>
            </a:r>
            <a:r>
              <a:rPr lang="en-GB"/>
              <a:t> Cache index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ct val="110000"/>
              <a:buChar char="▪"/>
            </a:pPr>
            <a:r>
              <a:rPr b="1" lang="en-GB"/>
              <a:t>CT</a:t>
            </a:r>
            <a:r>
              <a:rPr lang="en-GB"/>
              <a:t>: Cache tag</a:t>
            </a:r>
            <a:endParaRPr/>
          </a:p>
          <a:p>
            <a:pPr indent="-258318" lvl="0" marL="342900" rtl="0" algn="l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SzPct val="59999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"/>
          <p:cNvSpPr txBox="1"/>
          <p:nvPr>
            <p:ph type="title"/>
          </p:nvPr>
        </p:nvSpPr>
        <p:spPr>
          <a:xfrm>
            <a:off x="381000" y="510647"/>
            <a:ext cx="7308850" cy="5730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Simple Memory System Example</a:t>
            </a:r>
            <a:endParaRPr/>
          </a:p>
        </p:txBody>
      </p:sp>
      <p:sp>
        <p:nvSpPr>
          <p:cNvPr id="86" name="Google Shape;86;p4"/>
          <p:cNvSpPr txBox="1"/>
          <p:nvPr>
            <p:ph idx="1" type="body"/>
          </p:nvPr>
        </p:nvSpPr>
        <p:spPr>
          <a:xfrm>
            <a:off x="379413" y="1220788"/>
            <a:ext cx="8307387" cy="15827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GB"/>
              <a:t>Addressing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GB"/>
              <a:t>14-bit virtual addresses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GB"/>
              <a:t>12-bit physical address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GB"/>
              <a:t>Page size = 64 bytes</a:t>
            </a:r>
            <a:endParaRPr/>
          </a:p>
        </p:txBody>
      </p:sp>
      <p:sp>
        <p:nvSpPr>
          <p:cNvPr id="87" name="Google Shape;87;p4"/>
          <p:cNvSpPr/>
          <p:nvPr/>
        </p:nvSpPr>
        <p:spPr>
          <a:xfrm>
            <a:off x="960438" y="3395662"/>
            <a:ext cx="487500" cy="30480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960438" y="3090862"/>
            <a:ext cx="487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1447800" y="3395662"/>
            <a:ext cx="487500" cy="30480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1447800" y="3090862"/>
            <a:ext cx="487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1935163" y="3395662"/>
            <a:ext cx="487500" cy="30480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1935163" y="3090862"/>
            <a:ext cx="487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2422525" y="3395662"/>
            <a:ext cx="487500" cy="30480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2422525" y="3090862"/>
            <a:ext cx="487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2909888" y="3395662"/>
            <a:ext cx="487500" cy="30480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2909888" y="3090862"/>
            <a:ext cx="487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3397250" y="3395662"/>
            <a:ext cx="487500" cy="30480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3397250" y="3090862"/>
            <a:ext cx="487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3884613" y="3395662"/>
            <a:ext cx="487500" cy="30480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3884613" y="3090862"/>
            <a:ext cx="487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4371975" y="3395662"/>
            <a:ext cx="487500" cy="30480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4371975" y="3090862"/>
            <a:ext cx="487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4859338" y="3395662"/>
            <a:ext cx="487500" cy="304800"/>
          </a:xfrm>
          <a:prstGeom prst="rect">
            <a:avLst/>
          </a:prstGeom>
          <a:solidFill>
            <a:srgbClr val="D5D5F4"/>
          </a:solidFill>
          <a:ln cap="flat" cmpd="sng" w="9525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4859338" y="3090862"/>
            <a:ext cx="487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5346700" y="3395662"/>
            <a:ext cx="487500" cy="304800"/>
          </a:xfrm>
          <a:prstGeom prst="rect">
            <a:avLst/>
          </a:prstGeom>
          <a:solidFill>
            <a:srgbClr val="D5D5F4"/>
          </a:solidFill>
          <a:ln cap="flat" cmpd="sng" w="9525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5346700" y="3090862"/>
            <a:ext cx="487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5834063" y="3395662"/>
            <a:ext cx="487500" cy="304800"/>
          </a:xfrm>
          <a:prstGeom prst="rect">
            <a:avLst/>
          </a:prstGeom>
          <a:solidFill>
            <a:srgbClr val="D5D5F4"/>
          </a:solidFill>
          <a:ln cap="flat" cmpd="sng" w="9525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5834063" y="3090862"/>
            <a:ext cx="487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6321425" y="3395662"/>
            <a:ext cx="487500" cy="304800"/>
          </a:xfrm>
          <a:prstGeom prst="rect">
            <a:avLst/>
          </a:prstGeom>
          <a:solidFill>
            <a:srgbClr val="D5D5F4"/>
          </a:solidFill>
          <a:ln cap="flat" cmpd="sng" w="9525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6321425" y="3090862"/>
            <a:ext cx="487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6808788" y="3395662"/>
            <a:ext cx="487500" cy="304800"/>
          </a:xfrm>
          <a:prstGeom prst="rect">
            <a:avLst/>
          </a:prstGeom>
          <a:solidFill>
            <a:srgbClr val="D5D5F4"/>
          </a:solidFill>
          <a:ln cap="flat" cmpd="sng" w="9525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6808788" y="3090862"/>
            <a:ext cx="487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7296150" y="3395662"/>
            <a:ext cx="487500" cy="304800"/>
          </a:xfrm>
          <a:prstGeom prst="rect">
            <a:avLst/>
          </a:prstGeom>
          <a:solidFill>
            <a:srgbClr val="D5D5F4"/>
          </a:solidFill>
          <a:ln cap="flat" cmpd="sng" w="9525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7296150" y="3090862"/>
            <a:ext cx="487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1935163" y="5432425"/>
            <a:ext cx="487363" cy="304800"/>
          </a:xfrm>
          <a:prstGeom prst="rect">
            <a:avLst/>
          </a:prstGeom>
          <a:solidFill>
            <a:srgbClr val="D5F1CF"/>
          </a:solidFill>
          <a:ln cap="flat" cmpd="sng" w="9525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1935163" y="5127625"/>
            <a:ext cx="487363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2422525" y="5432425"/>
            <a:ext cx="487363" cy="304800"/>
          </a:xfrm>
          <a:prstGeom prst="rect">
            <a:avLst/>
          </a:prstGeom>
          <a:solidFill>
            <a:srgbClr val="D5F1CF"/>
          </a:solidFill>
          <a:ln cap="flat" cmpd="sng" w="9525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2422525" y="5127625"/>
            <a:ext cx="487363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2909888" y="5432425"/>
            <a:ext cx="487363" cy="304800"/>
          </a:xfrm>
          <a:prstGeom prst="rect">
            <a:avLst/>
          </a:prstGeom>
          <a:solidFill>
            <a:srgbClr val="D5F1CF"/>
          </a:solidFill>
          <a:ln cap="flat" cmpd="sng" w="9525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2909888" y="5127625"/>
            <a:ext cx="487363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3397250" y="5432425"/>
            <a:ext cx="487363" cy="304800"/>
          </a:xfrm>
          <a:prstGeom prst="rect">
            <a:avLst/>
          </a:prstGeom>
          <a:solidFill>
            <a:srgbClr val="D5F1CF"/>
          </a:solidFill>
          <a:ln cap="flat" cmpd="sng" w="9525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3397250" y="5127625"/>
            <a:ext cx="487363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3884613" y="5432425"/>
            <a:ext cx="487363" cy="304800"/>
          </a:xfrm>
          <a:prstGeom prst="rect">
            <a:avLst/>
          </a:prstGeom>
          <a:solidFill>
            <a:srgbClr val="D5F1CF"/>
          </a:solidFill>
          <a:ln cap="flat" cmpd="sng" w="9525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3884613" y="5127625"/>
            <a:ext cx="487363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4371975" y="5432425"/>
            <a:ext cx="487363" cy="304800"/>
          </a:xfrm>
          <a:prstGeom prst="rect">
            <a:avLst/>
          </a:prstGeom>
          <a:solidFill>
            <a:srgbClr val="D5F1CF"/>
          </a:solidFill>
          <a:ln cap="flat" cmpd="sng" w="9525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4371975" y="5127625"/>
            <a:ext cx="487363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4859338" y="5432425"/>
            <a:ext cx="487363" cy="304800"/>
          </a:xfrm>
          <a:prstGeom prst="rect">
            <a:avLst/>
          </a:prstGeom>
          <a:solidFill>
            <a:srgbClr val="D5D5F4"/>
          </a:solidFill>
          <a:ln cap="flat" cmpd="sng" w="9525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4859338" y="5127625"/>
            <a:ext cx="487363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5346700" y="5432425"/>
            <a:ext cx="487363" cy="304800"/>
          </a:xfrm>
          <a:prstGeom prst="rect">
            <a:avLst/>
          </a:prstGeom>
          <a:solidFill>
            <a:srgbClr val="D5D5F4"/>
          </a:solidFill>
          <a:ln cap="flat" cmpd="sng" w="9525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5346700" y="5127625"/>
            <a:ext cx="487363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5834063" y="5432425"/>
            <a:ext cx="487363" cy="304800"/>
          </a:xfrm>
          <a:prstGeom prst="rect">
            <a:avLst/>
          </a:prstGeom>
          <a:solidFill>
            <a:srgbClr val="D5D5F4"/>
          </a:solidFill>
          <a:ln cap="flat" cmpd="sng" w="9525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5834063" y="5127625"/>
            <a:ext cx="487363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6321425" y="5432425"/>
            <a:ext cx="487363" cy="304800"/>
          </a:xfrm>
          <a:prstGeom prst="rect">
            <a:avLst/>
          </a:prstGeom>
          <a:solidFill>
            <a:srgbClr val="D5D5F4"/>
          </a:solidFill>
          <a:ln cap="flat" cmpd="sng" w="9525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6321425" y="5127625"/>
            <a:ext cx="487363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6808788" y="5432425"/>
            <a:ext cx="487363" cy="304800"/>
          </a:xfrm>
          <a:prstGeom prst="rect">
            <a:avLst/>
          </a:prstGeom>
          <a:solidFill>
            <a:srgbClr val="D5D5F4"/>
          </a:solidFill>
          <a:ln cap="flat" cmpd="sng" w="9525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6808788" y="5127625"/>
            <a:ext cx="487363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7296150" y="5432425"/>
            <a:ext cx="487363" cy="304800"/>
          </a:xfrm>
          <a:prstGeom prst="rect">
            <a:avLst/>
          </a:prstGeom>
          <a:solidFill>
            <a:srgbClr val="D5D5F4"/>
          </a:solidFill>
          <a:ln cap="flat" cmpd="sng" w="9525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7296150" y="5127625"/>
            <a:ext cx="487363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9" name="Google Shape;139;p4"/>
          <p:cNvGrpSpPr/>
          <p:nvPr/>
        </p:nvGrpSpPr>
        <p:grpSpPr>
          <a:xfrm>
            <a:off x="4859337" y="3860800"/>
            <a:ext cx="2924174" cy="476250"/>
            <a:chOff x="3061" y="2261"/>
            <a:chExt cx="1842" cy="300"/>
          </a:xfrm>
        </p:grpSpPr>
        <p:cxnSp>
          <p:nvCxnSpPr>
            <p:cNvPr id="140" name="Google Shape;140;p4"/>
            <p:cNvCxnSpPr/>
            <p:nvPr/>
          </p:nvCxnSpPr>
          <p:spPr>
            <a:xfrm>
              <a:off x="3061" y="2352"/>
              <a:ext cx="1842" cy="1"/>
            </a:xfrm>
            <a:prstGeom prst="straightConnector1">
              <a:avLst/>
            </a:prstGeom>
            <a:noFill/>
            <a:ln cap="flat" cmpd="sng" w="9525">
              <a:solidFill>
                <a:srgbClr val="000066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141" name="Google Shape;141;p4"/>
            <p:cNvSpPr txBox="1"/>
            <p:nvPr/>
          </p:nvSpPr>
          <p:spPr>
            <a:xfrm>
              <a:off x="3768" y="2261"/>
              <a:ext cx="300" cy="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4275" lIns="90350" spcFirstLastPara="1" rIns="90350" wrap="square" tIns="44275">
              <a:spAutoFit/>
            </a:bodyPr>
            <a:lstStyle/>
            <a:p>
              <a:pPr indent="0" lvl="0" marL="0" marR="0" rtl="0" algn="l">
                <a:lnSpc>
                  <a:spcPct val="8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2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VPO</a:t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2" name="Google Shape;142;p4"/>
          <p:cNvGrpSpPr/>
          <p:nvPr/>
        </p:nvGrpSpPr>
        <p:grpSpPr>
          <a:xfrm>
            <a:off x="4876801" y="5813425"/>
            <a:ext cx="2924176" cy="333375"/>
            <a:chOff x="3072" y="3312"/>
            <a:chExt cx="1842" cy="210"/>
          </a:xfrm>
        </p:grpSpPr>
        <p:cxnSp>
          <p:nvCxnSpPr>
            <p:cNvPr id="143" name="Google Shape;143;p4"/>
            <p:cNvCxnSpPr/>
            <p:nvPr/>
          </p:nvCxnSpPr>
          <p:spPr>
            <a:xfrm>
              <a:off x="3072" y="3403"/>
              <a:ext cx="1842" cy="1"/>
            </a:xfrm>
            <a:prstGeom prst="straightConnector1">
              <a:avLst/>
            </a:prstGeom>
            <a:noFill/>
            <a:ln cap="flat" cmpd="sng" w="9525">
              <a:solidFill>
                <a:srgbClr val="000066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144" name="Google Shape;144;p4"/>
            <p:cNvSpPr txBox="1"/>
            <p:nvPr/>
          </p:nvSpPr>
          <p:spPr>
            <a:xfrm>
              <a:off x="3779" y="3312"/>
              <a:ext cx="368" cy="21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4275" lIns="90350" spcFirstLastPara="1" rIns="90350" wrap="square" tIns="44275">
              <a:spAutoFit/>
            </a:bodyPr>
            <a:lstStyle/>
            <a:p>
              <a:pPr indent="0" lvl="0" marL="0" marR="0" rtl="0" algn="l">
                <a:lnSpc>
                  <a:spcPct val="8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PPO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5" name="Google Shape;145;p4"/>
          <p:cNvGrpSpPr/>
          <p:nvPr/>
        </p:nvGrpSpPr>
        <p:grpSpPr>
          <a:xfrm>
            <a:off x="1981200" y="5813425"/>
            <a:ext cx="2924176" cy="333375"/>
            <a:chOff x="1248" y="3312"/>
            <a:chExt cx="1842" cy="210"/>
          </a:xfrm>
        </p:grpSpPr>
        <p:cxnSp>
          <p:nvCxnSpPr>
            <p:cNvPr id="146" name="Google Shape;146;p4"/>
            <p:cNvCxnSpPr/>
            <p:nvPr/>
          </p:nvCxnSpPr>
          <p:spPr>
            <a:xfrm>
              <a:off x="1248" y="3403"/>
              <a:ext cx="1842" cy="1"/>
            </a:xfrm>
            <a:prstGeom prst="straightConnector1">
              <a:avLst/>
            </a:prstGeom>
            <a:noFill/>
            <a:ln cap="flat" cmpd="sng" w="9525">
              <a:solidFill>
                <a:srgbClr val="000066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147" name="Google Shape;147;p4"/>
            <p:cNvSpPr txBox="1"/>
            <p:nvPr/>
          </p:nvSpPr>
          <p:spPr>
            <a:xfrm>
              <a:off x="1955" y="3312"/>
              <a:ext cx="366" cy="21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4275" lIns="90350" spcFirstLastPara="1" rIns="90350" wrap="square" tIns="44275">
              <a:spAutoFit/>
            </a:bodyPr>
            <a:lstStyle/>
            <a:p>
              <a:pPr indent="0" lvl="0" marL="0" marR="0" rtl="0" algn="l">
                <a:lnSpc>
                  <a:spcPct val="8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PPN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8" name="Google Shape;148;p4"/>
          <p:cNvGrpSpPr/>
          <p:nvPr/>
        </p:nvGrpSpPr>
        <p:grpSpPr>
          <a:xfrm>
            <a:off x="960438" y="3852862"/>
            <a:ext cx="3916363" cy="476250"/>
            <a:chOff x="605" y="2256"/>
            <a:chExt cx="2467" cy="300"/>
          </a:xfrm>
        </p:grpSpPr>
        <p:cxnSp>
          <p:nvCxnSpPr>
            <p:cNvPr id="149" name="Google Shape;149;p4"/>
            <p:cNvCxnSpPr/>
            <p:nvPr/>
          </p:nvCxnSpPr>
          <p:spPr>
            <a:xfrm>
              <a:off x="605" y="2347"/>
              <a:ext cx="2467" cy="1"/>
            </a:xfrm>
            <a:prstGeom prst="straightConnector1">
              <a:avLst/>
            </a:prstGeom>
            <a:noFill/>
            <a:ln cap="flat" cmpd="sng" w="9525">
              <a:solidFill>
                <a:srgbClr val="000066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150" name="Google Shape;150;p4"/>
            <p:cNvSpPr txBox="1"/>
            <p:nvPr/>
          </p:nvSpPr>
          <p:spPr>
            <a:xfrm>
              <a:off x="1553" y="2256"/>
              <a:ext cx="300" cy="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4275" lIns="90350" spcFirstLastPara="1" rIns="90350" wrap="square" tIns="44275">
              <a:spAutoFit/>
            </a:bodyPr>
            <a:lstStyle/>
            <a:p>
              <a:pPr indent="0" lvl="0" marL="0" marR="0" rtl="0" algn="l">
                <a:lnSpc>
                  <a:spcPct val="8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3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VPN</a:t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1" name="Google Shape;151;p4"/>
          <p:cNvSpPr txBox="1"/>
          <p:nvPr/>
        </p:nvSpPr>
        <p:spPr>
          <a:xfrm>
            <a:off x="1657352" y="4289425"/>
            <a:ext cx="21744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sp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Virtual Page Number</a:t>
            </a:r>
            <a:endParaRPr b="1" i="0" sz="18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4"/>
          <p:cNvSpPr txBox="1"/>
          <p:nvPr/>
        </p:nvSpPr>
        <p:spPr>
          <a:xfrm>
            <a:off x="5291668" y="4278312"/>
            <a:ext cx="19767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sp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Virtual Page Offset</a:t>
            </a:r>
            <a:endParaRPr b="1" i="0" sz="18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4"/>
          <p:cNvSpPr txBox="1"/>
          <p:nvPr/>
        </p:nvSpPr>
        <p:spPr>
          <a:xfrm>
            <a:off x="2203983" y="6162675"/>
            <a:ext cx="2289280" cy="333210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sp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Physical Page Number</a:t>
            </a:r>
            <a:endParaRPr b="1" i="0" sz="18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4"/>
          <p:cNvSpPr txBox="1"/>
          <p:nvPr/>
        </p:nvSpPr>
        <p:spPr>
          <a:xfrm>
            <a:off x="5232399" y="6194425"/>
            <a:ext cx="2091469" cy="333210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sp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Physical Page Offset</a:t>
            </a:r>
            <a:endParaRPr b="1" i="0" sz="18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5"/>
          <p:cNvSpPr txBox="1"/>
          <p:nvPr>
            <p:ph type="title"/>
          </p:nvPr>
        </p:nvSpPr>
        <p:spPr>
          <a:xfrm>
            <a:off x="457200" y="457200"/>
            <a:ext cx="6694487" cy="5730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1. Simple Memory System TLB</a:t>
            </a:r>
            <a:endParaRPr/>
          </a:p>
        </p:txBody>
      </p:sp>
      <p:sp>
        <p:nvSpPr>
          <p:cNvPr id="161" name="Google Shape;161;p5"/>
          <p:cNvSpPr txBox="1"/>
          <p:nvPr>
            <p:ph idx="1" type="body"/>
          </p:nvPr>
        </p:nvSpPr>
        <p:spPr>
          <a:xfrm>
            <a:off x="455613" y="1179512"/>
            <a:ext cx="8307387" cy="522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GB"/>
              <a:t>16 entries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GB"/>
              <a:t>4-way associative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Font typeface="Noto Sans Symbols"/>
              <a:buNone/>
            </a:pPr>
            <a:r>
              <a:t/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Font typeface="Noto Sans Symbols"/>
              <a:buNone/>
            </a:pPr>
            <a:r>
              <a:t/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t/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162" name="Google Shape;162;p5"/>
          <p:cNvSpPr/>
          <p:nvPr/>
        </p:nvSpPr>
        <p:spPr>
          <a:xfrm>
            <a:off x="1125538" y="3275012"/>
            <a:ext cx="487363" cy="304800"/>
          </a:xfrm>
          <a:prstGeom prst="rect">
            <a:avLst/>
          </a:prstGeom>
          <a:solidFill>
            <a:srgbClr val="E5E5E5"/>
          </a:solidFill>
          <a:ln cap="flat" cmpd="sng" w="9525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63" name="Google Shape;163;p5"/>
          <p:cNvSpPr/>
          <p:nvPr/>
        </p:nvSpPr>
        <p:spPr>
          <a:xfrm>
            <a:off x="1125538" y="2970212"/>
            <a:ext cx="487363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1612900" y="3275012"/>
            <a:ext cx="487363" cy="304800"/>
          </a:xfrm>
          <a:prstGeom prst="rect">
            <a:avLst/>
          </a:prstGeom>
          <a:solidFill>
            <a:srgbClr val="E5E5E5"/>
          </a:solidFill>
          <a:ln cap="flat" cmpd="sng" w="9525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65" name="Google Shape;165;p5"/>
          <p:cNvSpPr/>
          <p:nvPr/>
        </p:nvSpPr>
        <p:spPr>
          <a:xfrm>
            <a:off x="1612900" y="2970212"/>
            <a:ext cx="487363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2100263" y="3275012"/>
            <a:ext cx="487363" cy="304800"/>
          </a:xfrm>
          <a:prstGeom prst="rect">
            <a:avLst/>
          </a:prstGeom>
          <a:solidFill>
            <a:srgbClr val="E5E5E5"/>
          </a:solidFill>
          <a:ln cap="flat" cmpd="sng" w="9525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67" name="Google Shape;167;p5"/>
          <p:cNvSpPr/>
          <p:nvPr/>
        </p:nvSpPr>
        <p:spPr>
          <a:xfrm>
            <a:off x="2100263" y="2970212"/>
            <a:ext cx="487363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2587625" y="3275012"/>
            <a:ext cx="487363" cy="304800"/>
          </a:xfrm>
          <a:prstGeom prst="rect">
            <a:avLst/>
          </a:prstGeom>
          <a:solidFill>
            <a:srgbClr val="E5E5E5"/>
          </a:solidFill>
          <a:ln cap="flat" cmpd="sng" w="9525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69" name="Google Shape;169;p5"/>
          <p:cNvSpPr/>
          <p:nvPr/>
        </p:nvSpPr>
        <p:spPr>
          <a:xfrm>
            <a:off x="2587625" y="2970212"/>
            <a:ext cx="487363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5"/>
          <p:cNvSpPr/>
          <p:nvPr/>
        </p:nvSpPr>
        <p:spPr>
          <a:xfrm>
            <a:off x="3074988" y="3275012"/>
            <a:ext cx="487363" cy="304800"/>
          </a:xfrm>
          <a:prstGeom prst="rect">
            <a:avLst/>
          </a:prstGeom>
          <a:solidFill>
            <a:srgbClr val="E5E5E5"/>
          </a:solidFill>
          <a:ln cap="flat" cmpd="sng" w="9525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71" name="Google Shape;171;p5"/>
          <p:cNvSpPr/>
          <p:nvPr/>
        </p:nvSpPr>
        <p:spPr>
          <a:xfrm>
            <a:off x="3074988" y="2970212"/>
            <a:ext cx="487363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5"/>
          <p:cNvSpPr/>
          <p:nvPr/>
        </p:nvSpPr>
        <p:spPr>
          <a:xfrm>
            <a:off x="3562350" y="3275012"/>
            <a:ext cx="487363" cy="304800"/>
          </a:xfrm>
          <a:prstGeom prst="rect">
            <a:avLst/>
          </a:prstGeom>
          <a:solidFill>
            <a:srgbClr val="E5E5E5"/>
          </a:solidFill>
          <a:ln cap="flat" cmpd="sng" w="9525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73" name="Google Shape;173;p5"/>
          <p:cNvSpPr/>
          <p:nvPr/>
        </p:nvSpPr>
        <p:spPr>
          <a:xfrm>
            <a:off x="3562350" y="2970212"/>
            <a:ext cx="487363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5"/>
          <p:cNvSpPr/>
          <p:nvPr/>
        </p:nvSpPr>
        <p:spPr>
          <a:xfrm>
            <a:off x="4049713" y="3275012"/>
            <a:ext cx="487363" cy="30480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75" name="Google Shape;175;p5"/>
          <p:cNvSpPr/>
          <p:nvPr/>
        </p:nvSpPr>
        <p:spPr>
          <a:xfrm>
            <a:off x="4049713" y="2970212"/>
            <a:ext cx="487363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5"/>
          <p:cNvSpPr/>
          <p:nvPr/>
        </p:nvSpPr>
        <p:spPr>
          <a:xfrm>
            <a:off x="4537075" y="3275012"/>
            <a:ext cx="487363" cy="30480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77" name="Google Shape;177;p5"/>
          <p:cNvSpPr/>
          <p:nvPr/>
        </p:nvSpPr>
        <p:spPr>
          <a:xfrm>
            <a:off x="4537075" y="2970212"/>
            <a:ext cx="487363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5"/>
          <p:cNvSpPr/>
          <p:nvPr/>
        </p:nvSpPr>
        <p:spPr>
          <a:xfrm>
            <a:off x="5024438" y="3275012"/>
            <a:ext cx="487363" cy="304800"/>
          </a:xfrm>
          <a:prstGeom prst="rect">
            <a:avLst/>
          </a:prstGeom>
          <a:solidFill>
            <a:srgbClr val="D5D5F4"/>
          </a:solidFill>
          <a:ln cap="flat" cmpd="sng" w="9525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79" name="Google Shape;179;p5"/>
          <p:cNvSpPr/>
          <p:nvPr/>
        </p:nvSpPr>
        <p:spPr>
          <a:xfrm>
            <a:off x="5024438" y="2970212"/>
            <a:ext cx="487363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5"/>
          <p:cNvSpPr/>
          <p:nvPr/>
        </p:nvSpPr>
        <p:spPr>
          <a:xfrm>
            <a:off x="5511800" y="3275012"/>
            <a:ext cx="487363" cy="304800"/>
          </a:xfrm>
          <a:prstGeom prst="rect">
            <a:avLst/>
          </a:prstGeom>
          <a:solidFill>
            <a:srgbClr val="D5D5F4"/>
          </a:solidFill>
          <a:ln cap="flat" cmpd="sng" w="9525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81" name="Google Shape;181;p5"/>
          <p:cNvSpPr/>
          <p:nvPr/>
        </p:nvSpPr>
        <p:spPr>
          <a:xfrm>
            <a:off x="5511800" y="2970212"/>
            <a:ext cx="487363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5"/>
          <p:cNvSpPr/>
          <p:nvPr/>
        </p:nvSpPr>
        <p:spPr>
          <a:xfrm>
            <a:off x="5999163" y="3275012"/>
            <a:ext cx="487363" cy="304800"/>
          </a:xfrm>
          <a:prstGeom prst="rect">
            <a:avLst/>
          </a:prstGeom>
          <a:solidFill>
            <a:srgbClr val="D5D5F4"/>
          </a:solidFill>
          <a:ln cap="flat" cmpd="sng" w="9525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83" name="Google Shape;183;p5"/>
          <p:cNvSpPr/>
          <p:nvPr/>
        </p:nvSpPr>
        <p:spPr>
          <a:xfrm>
            <a:off x="5999163" y="2970212"/>
            <a:ext cx="487363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5"/>
          <p:cNvSpPr/>
          <p:nvPr/>
        </p:nvSpPr>
        <p:spPr>
          <a:xfrm>
            <a:off x="6486525" y="3275012"/>
            <a:ext cx="487363" cy="304800"/>
          </a:xfrm>
          <a:prstGeom prst="rect">
            <a:avLst/>
          </a:prstGeom>
          <a:solidFill>
            <a:srgbClr val="D5D5F4"/>
          </a:solidFill>
          <a:ln cap="flat" cmpd="sng" w="9525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85" name="Google Shape;185;p5"/>
          <p:cNvSpPr/>
          <p:nvPr/>
        </p:nvSpPr>
        <p:spPr>
          <a:xfrm>
            <a:off x="6486525" y="2970212"/>
            <a:ext cx="487363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5"/>
          <p:cNvSpPr/>
          <p:nvPr/>
        </p:nvSpPr>
        <p:spPr>
          <a:xfrm>
            <a:off x="6973888" y="3275012"/>
            <a:ext cx="487363" cy="304800"/>
          </a:xfrm>
          <a:prstGeom prst="rect">
            <a:avLst/>
          </a:prstGeom>
          <a:solidFill>
            <a:srgbClr val="D5D5F4"/>
          </a:solidFill>
          <a:ln cap="flat" cmpd="sng" w="9525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87" name="Google Shape;187;p5"/>
          <p:cNvSpPr/>
          <p:nvPr/>
        </p:nvSpPr>
        <p:spPr>
          <a:xfrm>
            <a:off x="6973888" y="2970212"/>
            <a:ext cx="487363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5"/>
          <p:cNvSpPr/>
          <p:nvPr/>
        </p:nvSpPr>
        <p:spPr>
          <a:xfrm>
            <a:off x="7461250" y="3275012"/>
            <a:ext cx="487363" cy="304800"/>
          </a:xfrm>
          <a:prstGeom prst="rect">
            <a:avLst/>
          </a:prstGeom>
          <a:solidFill>
            <a:srgbClr val="D5D5F4"/>
          </a:solidFill>
          <a:ln cap="flat" cmpd="sng" w="9525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89" name="Google Shape;189;p5"/>
          <p:cNvSpPr/>
          <p:nvPr/>
        </p:nvSpPr>
        <p:spPr>
          <a:xfrm>
            <a:off x="7461250" y="2970212"/>
            <a:ext cx="487363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0" name="Google Shape;190;p5"/>
          <p:cNvGrpSpPr/>
          <p:nvPr/>
        </p:nvGrpSpPr>
        <p:grpSpPr>
          <a:xfrm>
            <a:off x="5024437" y="3731683"/>
            <a:ext cx="2924175" cy="333375"/>
            <a:chOff x="3061" y="2140"/>
            <a:chExt cx="1842" cy="210"/>
          </a:xfrm>
        </p:grpSpPr>
        <p:cxnSp>
          <p:nvCxnSpPr>
            <p:cNvPr id="191" name="Google Shape;191;p5"/>
            <p:cNvCxnSpPr/>
            <p:nvPr/>
          </p:nvCxnSpPr>
          <p:spPr>
            <a:xfrm>
              <a:off x="3061" y="2231"/>
              <a:ext cx="1842" cy="1"/>
            </a:xfrm>
            <a:prstGeom prst="straightConnector1">
              <a:avLst/>
            </a:prstGeom>
            <a:noFill/>
            <a:ln cap="flat" cmpd="sng" w="9525">
              <a:solidFill>
                <a:srgbClr val="000066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192" name="Google Shape;192;p5"/>
            <p:cNvSpPr txBox="1"/>
            <p:nvPr/>
          </p:nvSpPr>
          <p:spPr>
            <a:xfrm>
              <a:off x="3768" y="2140"/>
              <a:ext cx="376" cy="21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4275" lIns="90350" spcFirstLastPara="1" rIns="90350" wrap="square" tIns="44275">
              <a:spAutoFit/>
            </a:bodyPr>
            <a:lstStyle/>
            <a:p>
              <a:pPr indent="0" lvl="0" marL="0" marR="0" rtl="0" algn="l">
                <a:lnSpc>
                  <a:spcPct val="8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VPO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3" name="Google Shape;193;p5"/>
          <p:cNvGrpSpPr/>
          <p:nvPr/>
        </p:nvGrpSpPr>
        <p:grpSpPr>
          <a:xfrm>
            <a:off x="1117071" y="3732212"/>
            <a:ext cx="3916362" cy="333375"/>
            <a:chOff x="605" y="2135"/>
            <a:chExt cx="2467" cy="210"/>
          </a:xfrm>
        </p:grpSpPr>
        <p:cxnSp>
          <p:nvCxnSpPr>
            <p:cNvPr id="194" name="Google Shape;194;p5"/>
            <p:cNvCxnSpPr/>
            <p:nvPr/>
          </p:nvCxnSpPr>
          <p:spPr>
            <a:xfrm>
              <a:off x="605" y="2226"/>
              <a:ext cx="2467" cy="1"/>
            </a:xfrm>
            <a:prstGeom prst="straightConnector1">
              <a:avLst/>
            </a:prstGeom>
            <a:noFill/>
            <a:ln cap="flat" cmpd="sng" w="9525">
              <a:solidFill>
                <a:srgbClr val="000066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195" name="Google Shape;195;p5"/>
            <p:cNvSpPr txBox="1"/>
            <p:nvPr/>
          </p:nvSpPr>
          <p:spPr>
            <a:xfrm>
              <a:off x="1553" y="2135"/>
              <a:ext cx="374" cy="21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4275" lIns="90350" spcFirstLastPara="1" rIns="90350" wrap="square" tIns="44275">
              <a:spAutoFit/>
            </a:bodyPr>
            <a:lstStyle/>
            <a:p>
              <a:pPr indent="0" lvl="0" marL="0" marR="0" rtl="0" algn="l">
                <a:lnSpc>
                  <a:spcPct val="8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VPN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6" name="Google Shape;196;p5"/>
          <p:cNvGrpSpPr/>
          <p:nvPr/>
        </p:nvGrpSpPr>
        <p:grpSpPr>
          <a:xfrm>
            <a:off x="4046538" y="2708803"/>
            <a:ext cx="992187" cy="306388"/>
            <a:chOff x="2445" y="1501"/>
            <a:chExt cx="625" cy="193"/>
          </a:xfrm>
        </p:grpSpPr>
        <p:cxnSp>
          <p:nvCxnSpPr>
            <p:cNvPr id="197" name="Google Shape;197;p5"/>
            <p:cNvCxnSpPr/>
            <p:nvPr/>
          </p:nvCxnSpPr>
          <p:spPr>
            <a:xfrm>
              <a:off x="2445" y="1579"/>
              <a:ext cx="625" cy="1"/>
            </a:xfrm>
            <a:prstGeom prst="straightConnector1">
              <a:avLst/>
            </a:prstGeom>
            <a:noFill/>
            <a:ln cap="flat" cmpd="sng" w="9525">
              <a:solidFill>
                <a:srgbClr val="000066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198" name="Google Shape;198;p5"/>
            <p:cNvSpPr txBox="1"/>
            <p:nvPr/>
          </p:nvSpPr>
          <p:spPr>
            <a:xfrm>
              <a:off x="2586" y="1501"/>
              <a:ext cx="340" cy="19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4275" lIns="90350" spcFirstLastPara="1" rIns="90350" wrap="square" tIns="44275">
              <a:spAutoFit/>
            </a:bodyPr>
            <a:lstStyle/>
            <a:p>
              <a:pPr indent="0" lvl="0" marL="0" marR="0" rtl="0" algn="ctr">
                <a:lnSpc>
                  <a:spcPct val="8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GB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TLBI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9" name="Google Shape;199;p5"/>
          <p:cNvGrpSpPr/>
          <p:nvPr/>
        </p:nvGrpSpPr>
        <p:grpSpPr>
          <a:xfrm>
            <a:off x="1125538" y="2705099"/>
            <a:ext cx="2925762" cy="306388"/>
            <a:chOff x="605" y="1488"/>
            <a:chExt cx="1843" cy="193"/>
          </a:xfrm>
        </p:grpSpPr>
        <p:cxnSp>
          <p:nvCxnSpPr>
            <p:cNvPr id="200" name="Google Shape;200;p5"/>
            <p:cNvCxnSpPr/>
            <p:nvPr/>
          </p:nvCxnSpPr>
          <p:spPr>
            <a:xfrm>
              <a:off x="605" y="1566"/>
              <a:ext cx="1843" cy="1"/>
            </a:xfrm>
            <a:prstGeom prst="straightConnector1">
              <a:avLst/>
            </a:prstGeom>
            <a:noFill/>
            <a:ln cap="flat" cmpd="sng" w="9525">
              <a:solidFill>
                <a:srgbClr val="000066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201" name="Google Shape;201;p5"/>
            <p:cNvSpPr txBox="1"/>
            <p:nvPr/>
          </p:nvSpPr>
          <p:spPr>
            <a:xfrm>
              <a:off x="1387" y="1488"/>
              <a:ext cx="367" cy="19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4275" lIns="90350" spcFirstLastPara="1" rIns="90350" wrap="square" tIns="44275">
              <a:spAutoFit/>
            </a:bodyPr>
            <a:lstStyle/>
            <a:p>
              <a:pPr indent="0" lvl="0" marL="0" marR="0" rtl="0" algn="ctr">
                <a:lnSpc>
                  <a:spcPct val="8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GB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TLBT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2" name="Google Shape;202;p5"/>
          <p:cNvSpPr/>
          <p:nvPr/>
        </p:nvSpPr>
        <p:spPr>
          <a:xfrm>
            <a:off x="8062912" y="6024563"/>
            <a:ext cx="625475" cy="325438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5"/>
          <p:cNvSpPr/>
          <p:nvPr/>
        </p:nvSpPr>
        <p:spPr>
          <a:xfrm>
            <a:off x="7432675" y="6024563"/>
            <a:ext cx="630238" cy="325438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5"/>
          <p:cNvSpPr/>
          <p:nvPr/>
        </p:nvSpPr>
        <p:spPr>
          <a:xfrm>
            <a:off x="6807200" y="6024563"/>
            <a:ext cx="625475" cy="325438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5"/>
          <p:cNvSpPr/>
          <p:nvPr/>
        </p:nvSpPr>
        <p:spPr>
          <a:xfrm>
            <a:off x="6178550" y="6024563"/>
            <a:ext cx="628650" cy="325438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5"/>
          <p:cNvSpPr/>
          <p:nvPr/>
        </p:nvSpPr>
        <p:spPr>
          <a:xfrm>
            <a:off x="5553075" y="6024563"/>
            <a:ext cx="625475" cy="325438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5"/>
          <p:cNvSpPr/>
          <p:nvPr/>
        </p:nvSpPr>
        <p:spPr>
          <a:xfrm>
            <a:off x="4926012" y="6024563"/>
            <a:ext cx="627063" cy="325438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5"/>
          <p:cNvSpPr/>
          <p:nvPr/>
        </p:nvSpPr>
        <p:spPr>
          <a:xfrm>
            <a:off x="4297362" y="6024563"/>
            <a:ext cx="628650" cy="325438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5"/>
          <p:cNvSpPr/>
          <p:nvPr/>
        </p:nvSpPr>
        <p:spPr>
          <a:xfrm>
            <a:off x="3670300" y="6024563"/>
            <a:ext cx="627063" cy="325438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5"/>
          <p:cNvSpPr/>
          <p:nvPr/>
        </p:nvSpPr>
        <p:spPr>
          <a:xfrm>
            <a:off x="3044825" y="6024563"/>
            <a:ext cx="625475" cy="325438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5"/>
          <p:cNvSpPr/>
          <p:nvPr/>
        </p:nvSpPr>
        <p:spPr>
          <a:xfrm>
            <a:off x="2416175" y="6024563"/>
            <a:ext cx="628650" cy="325438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5"/>
          <p:cNvSpPr/>
          <p:nvPr/>
        </p:nvSpPr>
        <p:spPr>
          <a:xfrm>
            <a:off x="1790700" y="6024563"/>
            <a:ext cx="625475" cy="325438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5"/>
          <p:cNvSpPr/>
          <p:nvPr/>
        </p:nvSpPr>
        <p:spPr>
          <a:xfrm>
            <a:off x="1160462" y="6024563"/>
            <a:ext cx="630238" cy="325438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5"/>
          <p:cNvSpPr/>
          <p:nvPr/>
        </p:nvSpPr>
        <p:spPr>
          <a:xfrm>
            <a:off x="534987" y="6024563"/>
            <a:ext cx="625475" cy="325438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5"/>
          <p:cNvSpPr/>
          <p:nvPr/>
        </p:nvSpPr>
        <p:spPr>
          <a:xfrm>
            <a:off x="8062912" y="5699125"/>
            <a:ext cx="625475" cy="325438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5"/>
          <p:cNvSpPr/>
          <p:nvPr/>
        </p:nvSpPr>
        <p:spPr>
          <a:xfrm>
            <a:off x="7432675" y="5699125"/>
            <a:ext cx="630238" cy="325438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5"/>
          <p:cNvSpPr/>
          <p:nvPr/>
        </p:nvSpPr>
        <p:spPr>
          <a:xfrm>
            <a:off x="6807200" y="5699125"/>
            <a:ext cx="625475" cy="325438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5"/>
          <p:cNvSpPr/>
          <p:nvPr/>
        </p:nvSpPr>
        <p:spPr>
          <a:xfrm>
            <a:off x="6178550" y="5699125"/>
            <a:ext cx="628650" cy="325438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5"/>
          <p:cNvSpPr/>
          <p:nvPr/>
        </p:nvSpPr>
        <p:spPr>
          <a:xfrm>
            <a:off x="5553075" y="5699125"/>
            <a:ext cx="625475" cy="325438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5"/>
          <p:cNvSpPr/>
          <p:nvPr/>
        </p:nvSpPr>
        <p:spPr>
          <a:xfrm>
            <a:off x="4926012" y="5699125"/>
            <a:ext cx="627063" cy="325438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5"/>
          <p:cNvSpPr/>
          <p:nvPr/>
        </p:nvSpPr>
        <p:spPr>
          <a:xfrm>
            <a:off x="4297362" y="5699125"/>
            <a:ext cx="628650" cy="325438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5"/>
          <p:cNvSpPr/>
          <p:nvPr/>
        </p:nvSpPr>
        <p:spPr>
          <a:xfrm>
            <a:off x="3670300" y="5699125"/>
            <a:ext cx="627063" cy="325438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5"/>
          <p:cNvSpPr/>
          <p:nvPr/>
        </p:nvSpPr>
        <p:spPr>
          <a:xfrm>
            <a:off x="3044825" y="5699125"/>
            <a:ext cx="625475" cy="325438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5"/>
          <p:cNvSpPr/>
          <p:nvPr/>
        </p:nvSpPr>
        <p:spPr>
          <a:xfrm>
            <a:off x="2416175" y="5699125"/>
            <a:ext cx="628650" cy="325438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5"/>
          <p:cNvSpPr/>
          <p:nvPr/>
        </p:nvSpPr>
        <p:spPr>
          <a:xfrm>
            <a:off x="1790700" y="5699125"/>
            <a:ext cx="625475" cy="325438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5"/>
          <p:cNvSpPr/>
          <p:nvPr/>
        </p:nvSpPr>
        <p:spPr>
          <a:xfrm>
            <a:off x="1160462" y="5699125"/>
            <a:ext cx="630238" cy="325438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5"/>
          <p:cNvSpPr/>
          <p:nvPr/>
        </p:nvSpPr>
        <p:spPr>
          <a:xfrm>
            <a:off x="534987" y="5699125"/>
            <a:ext cx="625475" cy="325438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5"/>
          <p:cNvSpPr/>
          <p:nvPr/>
        </p:nvSpPr>
        <p:spPr>
          <a:xfrm>
            <a:off x="8062912" y="5375275"/>
            <a:ext cx="62547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5"/>
          <p:cNvSpPr/>
          <p:nvPr/>
        </p:nvSpPr>
        <p:spPr>
          <a:xfrm>
            <a:off x="7432675" y="5375275"/>
            <a:ext cx="63023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5"/>
          <p:cNvSpPr/>
          <p:nvPr/>
        </p:nvSpPr>
        <p:spPr>
          <a:xfrm>
            <a:off x="6807200" y="5375275"/>
            <a:ext cx="62547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5"/>
          <p:cNvSpPr/>
          <p:nvPr/>
        </p:nvSpPr>
        <p:spPr>
          <a:xfrm>
            <a:off x="6178550" y="5375275"/>
            <a:ext cx="6286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5"/>
          <p:cNvSpPr/>
          <p:nvPr/>
        </p:nvSpPr>
        <p:spPr>
          <a:xfrm>
            <a:off x="5553075" y="5375275"/>
            <a:ext cx="62547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5"/>
          <p:cNvSpPr/>
          <p:nvPr/>
        </p:nvSpPr>
        <p:spPr>
          <a:xfrm>
            <a:off x="4926012" y="5375275"/>
            <a:ext cx="62706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5"/>
          <p:cNvSpPr/>
          <p:nvPr/>
        </p:nvSpPr>
        <p:spPr>
          <a:xfrm>
            <a:off x="4297362" y="5375275"/>
            <a:ext cx="6286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5"/>
          <p:cNvSpPr/>
          <p:nvPr/>
        </p:nvSpPr>
        <p:spPr>
          <a:xfrm>
            <a:off x="3670300" y="5375275"/>
            <a:ext cx="62706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5"/>
          <p:cNvSpPr/>
          <p:nvPr/>
        </p:nvSpPr>
        <p:spPr>
          <a:xfrm>
            <a:off x="3044825" y="5375275"/>
            <a:ext cx="62547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5"/>
          <p:cNvSpPr/>
          <p:nvPr/>
        </p:nvSpPr>
        <p:spPr>
          <a:xfrm>
            <a:off x="2416175" y="5375275"/>
            <a:ext cx="6286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5"/>
          <p:cNvSpPr/>
          <p:nvPr/>
        </p:nvSpPr>
        <p:spPr>
          <a:xfrm>
            <a:off x="1790700" y="5375275"/>
            <a:ext cx="62547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5"/>
          <p:cNvSpPr/>
          <p:nvPr/>
        </p:nvSpPr>
        <p:spPr>
          <a:xfrm>
            <a:off x="1160462" y="5375275"/>
            <a:ext cx="63023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5"/>
          <p:cNvSpPr/>
          <p:nvPr/>
        </p:nvSpPr>
        <p:spPr>
          <a:xfrm>
            <a:off x="534987" y="5375275"/>
            <a:ext cx="62547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5"/>
          <p:cNvSpPr/>
          <p:nvPr/>
        </p:nvSpPr>
        <p:spPr>
          <a:xfrm>
            <a:off x="8062912" y="5049838"/>
            <a:ext cx="625475" cy="325438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5"/>
          <p:cNvSpPr/>
          <p:nvPr/>
        </p:nvSpPr>
        <p:spPr>
          <a:xfrm>
            <a:off x="7432675" y="5049838"/>
            <a:ext cx="630238" cy="325438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5"/>
          <p:cNvSpPr/>
          <p:nvPr/>
        </p:nvSpPr>
        <p:spPr>
          <a:xfrm>
            <a:off x="6807200" y="5049838"/>
            <a:ext cx="625475" cy="325438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5"/>
          <p:cNvSpPr/>
          <p:nvPr/>
        </p:nvSpPr>
        <p:spPr>
          <a:xfrm>
            <a:off x="6178550" y="5049838"/>
            <a:ext cx="628650" cy="325438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5"/>
          <p:cNvSpPr/>
          <p:nvPr/>
        </p:nvSpPr>
        <p:spPr>
          <a:xfrm>
            <a:off x="5553075" y="5049838"/>
            <a:ext cx="625475" cy="325438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5"/>
          <p:cNvSpPr/>
          <p:nvPr/>
        </p:nvSpPr>
        <p:spPr>
          <a:xfrm>
            <a:off x="4926012" y="5049838"/>
            <a:ext cx="627063" cy="325438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5"/>
          <p:cNvSpPr/>
          <p:nvPr/>
        </p:nvSpPr>
        <p:spPr>
          <a:xfrm>
            <a:off x="4297362" y="5049838"/>
            <a:ext cx="628650" cy="325438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5"/>
          <p:cNvSpPr/>
          <p:nvPr/>
        </p:nvSpPr>
        <p:spPr>
          <a:xfrm>
            <a:off x="3670300" y="5049838"/>
            <a:ext cx="627063" cy="325438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5"/>
          <p:cNvSpPr/>
          <p:nvPr/>
        </p:nvSpPr>
        <p:spPr>
          <a:xfrm>
            <a:off x="3044825" y="5049838"/>
            <a:ext cx="625475" cy="325438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5"/>
          <p:cNvSpPr/>
          <p:nvPr/>
        </p:nvSpPr>
        <p:spPr>
          <a:xfrm>
            <a:off x="2416175" y="5049838"/>
            <a:ext cx="628650" cy="325438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5"/>
          <p:cNvSpPr/>
          <p:nvPr/>
        </p:nvSpPr>
        <p:spPr>
          <a:xfrm>
            <a:off x="1790700" y="5049838"/>
            <a:ext cx="625475" cy="325438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5"/>
          <p:cNvSpPr/>
          <p:nvPr/>
        </p:nvSpPr>
        <p:spPr>
          <a:xfrm>
            <a:off x="1160462" y="5049838"/>
            <a:ext cx="630238" cy="325438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5"/>
          <p:cNvSpPr/>
          <p:nvPr/>
        </p:nvSpPr>
        <p:spPr>
          <a:xfrm>
            <a:off x="534987" y="5049838"/>
            <a:ext cx="625475" cy="325438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5"/>
          <p:cNvSpPr/>
          <p:nvPr/>
        </p:nvSpPr>
        <p:spPr>
          <a:xfrm>
            <a:off x="8062912" y="4724400"/>
            <a:ext cx="625475" cy="325438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1" lang="en-GB" sz="1400" u="none" cap="none" strike="noStrike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Valid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5"/>
          <p:cNvSpPr/>
          <p:nvPr/>
        </p:nvSpPr>
        <p:spPr>
          <a:xfrm>
            <a:off x="7432675" y="4724400"/>
            <a:ext cx="630238" cy="325438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1" lang="en-GB" sz="1400" u="none" cap="none" strike="noStrike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PPN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5"/>
          <p:cNvSpPr/>
          <p:nvPr/>
        </p:nvSpPr>
        <p:spPr>
          <a:xfrm>
            <a:off x="6807200" y="4724400"/>
            <a:ext cx="625475" cy="325438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1" lang="en-GB" sz="1400" u="none" cap="none" strike="noStrike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Tag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5"/>
          <p:cNvSpPr/>
          <p:nvPr/>
        </p:nvSpPr>
        <p:spPr>
          <a:xfrm>
            <a:off x="6178550" y="4724400"/>
            <a:ext cx="628650" cy="325438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1" lang="en-GB" sz="1400" u="none" cap="none" strike="noStrike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Valid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5"/>
          <p:cNvSpPr/>
          <p:nvPr/>
        </p:nvSpPr>
        <p:spPr>
          <a:xfrm>
            <a:off x="5553075" y="4724400"/>
            <a:ext cx="625475" cy="325438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1" lang="en-GB" sz="1400" u="none" cap="none" strike="noStrike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PPN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5"/>
          <p:cNvSpPr/>
          <p:nvPr/>
        </p:nvSpPr>
        <p:spPr>
          <a:xfrm>
            <a:off x="4926012" y="4724400"/>
            <a:ext cx="627063" cy="325438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1" lang="en-GB" sz="1400" u="none" cap="none" strike="noStrike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Tag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5"/>
          <p:cNvSpPr/>
          <p:nvPr/>
        </p:nvSpPr>
        <p:spPr>
          <a:xfrm>
            <a:off x="4297362" y="4724400"/>
            <a:ext cx="628650" cy="325438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1" lang="en-GB" sz="1400" u="none" cap="none" strike="noStrike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Valid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5"/>
          <p:cNvSpPr/>
          <p:nvPr/>
        </p:nvSpPr>
        <p:spPr>
          <a:xfrm>
            <a:off x="3670300" y="4724400"/>
            <a:ext cx="627063" cy="325438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1" lang="en-GB" sz="1400" u="none" cap="none" strike="noStrike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PPN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5"/>
          <p:cNvSpPr/>
          <p:nvPr/>
        </p:nvSpPr>
        <p:spPr>
          <a:xfrm>
            <a:off x="3044825" y="4724400"/>
            <a:ext cx="625475" cy="325438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1" lang="en-GB" sz="1400" u="none" cap="none" strike="noStrike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Tag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5"/>
          <p:cNvSpPr/>
          <p:nvPr/>
        </p:nvSpPr>
        <p:spPr>
          <a:xfrm>
            <a:off x="2416175" y="4724400"/>
            <a:ext cx="628650" cy="325438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1" lang="en-GB" sz="1400" u="none" cap="none" strike="noStrike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Valid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5"/>
          <p:cNvSpPr/>
          <p:nvPr/>
        </p:nvSpPr>
        <p:spPr>
          <a:xfrm>
            <a:off x="1790700" y="4724400"/>
            <a:ext cx="625475" cy="325438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1" lang="en-GB" sz="1400" u="none" cap="none" strike="noStrike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PPN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5"/>
          <p:cNvSpPr/>
          <p:nvPr/>
        </p:nvSpPr>
        <p:spPr>
          <a:xfrm>
            <a:off x="1160462" y="4724400"/>
            <a:ext cx="630238" cy="325438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1" lang="en-GB" sz="1400" u="none" cap="none" strike="noStrike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Tag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5"/>
          <p:cNvSpPr/>
          <p:nvPr/>
        </p:nvSpPr>
        <p:spPr>
          <a:xfrm>
            <a:off x="534987" y="4724400"/>
            <a:ext cx="625475" cy="325438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1" lang="en-GB" sz="1400" u="none" cap="none" strike="noStrike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Set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7" name="Google Shape;267;p5"/>
          <p:cNvCxnSpPr/>
          <p:nvPr/>
        </p:nvCxnSpPr>
        <p:spPr>
          <a:xfrm>
            <a:off x="534987" y="5049838"/>
            <a:ext cx="8153401" cy="1588"/>
          </a:xfrm>
          <a:prstGeom prst="straightConnector1">
            <a:avLst/>
          </a:prstGeom>
          <a:noFill/>
          <a:ln cap="flat" cmpd="sng" w="12600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68" name="Google Shape;268;p5"/>
          <p:cNvCxnSpPr/>
          <p:nvPr/>
        </p:nvCxnSpPr>
        <p:spPr>
          <a:xfrm>
            <a:off x="534987" y="5375275"/>
            <a:ext cx="8153401" cy="1588"/>
          </a:xfrm>
          <a:prstGeom prst="straightConnector1">
            <a:avLst/>
          </a:prstGeom>
          <a:noFill/>
          <a:ln cap="flat" cmpd="sng" w="12600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69" name="Google Shape;269;p5"/>
          <p:cNvCxnSpPr/>
          <p:nvPr/>
        </p:nvCxnSpPr>
        <p:spPr>
          <a:xfrm>
            <a:off x="534987" y="5699125"/>
            <a:ext cx="8153401" cy="1588"/>
          </a:xfrm>
          <a:prstGeom prst="straightConnector1">
            <a:avLst/>
          </a:prstGeom>
          <a:noFill/>
          <a:ln cap="flat" cmpd="sng" w="12600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0" name="Google Shape;270;p5"/>
          <p:cNvCxnSpPr/>
          <p:nvPr/>
        </p:nvCxnSpPr>
        <p:spPr>
          <a:xfrm>
            <a:off x="534987" y="6024563"/>
            <a:ext cx="8153401" cy="1588"/>
          </a:xfrm>
          <a:prstGeom prst="straightConnector1">
            <a:avLst/>
          </a:prstGeom>
          <a:noFill/>
          <a:ln cap="flat" cmpd="sng" w="12600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1" name="Google Shape;271;p5"/>
          <p:cNvCxnSpPr/>
          <p:nvPr/>
        </p:nvCxnSpPr>
        <p:spPr>
          <a:xfrm>
            <a:off x="1790700" y="4724400"/>
            <a:ext cx="1588" cy="1625601"/>
          </a:xfrm>
          <a:prstGeom prst="straightConnector1">
            <a:avLst/>
          </a:prstGeom>
          <a:noFill/>
          <a:ln cap="flat" cmpd="sng" w="12600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2" name="Google Shape;272;p5"/>
          <p:cNvCxnSpPr/>
          <p:nvPr/>
        </p:nvCxnSpPr>
        <p:spPr>
          <a:xfrm>
            <a:off x="2416175" y="4724400"/>
            <a:ext cx="1588" cy="1625601"/>
          </a:xfrm>
          <a:prstGeom prst="straightConnector1">
            <a:avLst/>
          </a:prstGeom>
          <a:noFill/>
          <a:ln cap="flat" cmpd="sng" w="12600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3" name="Google Shape;273;p5"/>
          <p:cNvCxnSpPr/>
          <p:nvPr/>
        </p:nvCxnSpPr>
        <p:spPr>
          <a:xfrm>
            <a:off x="3670300" y="4724400"/>
            <a:ext cx="1588" cy="1625601"/>
          </a:xfrm>
          <a:prstGeom prst="straightConnector1">
            <a:avLst/>
          </a:prstGeom>
          <a:noFill/>
          <a:ln cap="flat" cmpd="sng" w="12600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4" name="Google Shape;274;p5"/>
          <p:cNvCxnSpPr/>
          <p:nvPr/>
        </p:nvCxnSpPr>
        <p:spPr>
          <a:xfrm>
            <a:off x="4297362" y="4724400"/>
            <a:ext cx="1588" cy="1625601"/>
          </a:xfrm>
          <a:prstGeom prst="straightConnector1">
            <a:avLst/>
          </a:prstGeom>
          <a:noFill/>
          <a:ln cap="flat" cmpd="sng" w="12600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5" name="Google Shape;275;p5"/>
          <p:cNvCxnSpPr/>
          <p:nvPr/>
        </p:nvCxnSpPr>
        <p:spPr>
          <a:xfrm>
            <a:off x="5553075" y="4724400"/>
            <a:ext cx="1588" cy="1625601"/>
          </a:xfrm>
          <a:prstGeom prst="straightConnector1">
            <a:avLst/>
          </a:prstGeom>
          <a:noFill/>
          <a:ln cap="flat" cmpd="sng" w="12600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6" name="Google Shape;276;p5"/>
          <p:cNvCxnSpPr/>
          <p:nvPr/>
        </p:nvCxnSpPr>
        <p:spPr>
          <a:xfrm>
            <a:off x="6178550" y="4724400"/>
            <a:ext cx="1588" cy="1625601"/>
          </a:xfrm>
          <a:prstGeom prst="straightConnector1">
            <a:avLst/>
          </a:prstGeom>
          <a:noFill/>
          <a:ln cap="flat" cmpd="sng" w="12600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7" name="Google Shape;277;p5"/>
          <p:cNvCxnSpPr/>
          <p:nvPr/>
        </p:nvCxnSpPr>
        <p:spPr>
          <a:xfrm>
            <a:off x="7432675" y="4724400"/>
            <a:ext cx="1588" cy="1625601"/>
          </a:xfrm>
          <a:prstGeom prst="straightConnector1">
            <a:avLst/>
          </a:prstGeom>
          <a:noFill/>
          <a:ln cap="flat" cmpd="sng" w="12600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8" name="Google Shape;278;p5"/>
          <p:cNvCxnSpPr/>
          <p:nvPr/>
        </p:nvCxnSpPr>
        <p:spPr>
          <a:xfrm>
            <a:off x="8062912" y="4724400"/>
            <a:ext cx="1588" cy="1625601"/>
          </a:xfrm>
          <a:prstGeom prst="straightConnector1">
            <a:avLst/>
          </a:prstGeom>
          <a:noFill/>
          <a:ln cap="flat" cmpd="sng" w="12600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9" name="Google Shape;279;p5"/>
          <p:cNvCxnSpPr/>
          <p:nvPr/>
        </p:nvCxnSpPr>
        <p:spPr>
          <a:xfrm>
            <a:off x="1160462" y="4724400"/>
            <a:ext cx="1588" cy="1625601"/>
          </a:xfrm>
          <a:prstGeom prst="straightConnector1">
            <a:avLst/>
          </a:prstGeom>
          <a:noFill/>
          <a:ln cap="flat" cmpd="sng" w="28575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80" name="Google Shape;280;p5"/>
          <p:cNvCxnSpPr/>
          <p:nvPr/>
        </p:nvCxnSpPr>
        <p:spPr>
          <a:xfrm>
            <a:off x="3044825" y="4724400"/>
            <a:ext cx="1588" cy="1625601"/>
          </a:xfrm>
          <a:prstGeom prst="straightConnector1">
            <a:avLst/>
          </a:prstGeom>
          <a:noFill/>
          <a:ln cap="flat" cmpd="sng" w="28575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81" name="Google Shape;281;p5"/>
          <p:cNvCxnSpPr/>
          <p:nvPr/>
        </p:nvCxnSpPr>
        <p:spPr>
          <a:xfrm>
            <a:off x="534987" y="4724400"/>
            <a:ext cx="1588" cy="1625601"/>
          </a:xfrm>
          <a:prstGeom prst="straightConnector1">
            <a:avLst/>
          </a:prstGeom>
          <a:noFill/>
          <a:ln cap="flat" cmpd="sng" w="28575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82" name="Google Shape;282;p5"/>
          <p:cNvCxnSpPr/>
          <p:nvPr/>
        </p:nvCxnSpPr>
        <p:spPr>
          <a:xfrm>
            <a:off x="4926012" y="4724400"/>
            <a:ext cx="1588" cy="1625601"/>
          </a:xfrm>
          <a:prstGeom prst="straightConnector1">
            <a:avLst/>
          </a:prstGeom>
          <a:noFill/>
          <a:ln cap="flat" cmpd="sng" w="28575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83" name="Google Shape;283;p5"/>
          <p:cNvCxnSpPr/>
          <p:nvPr/>
        </p:nvCxnSpPr>
        <p:spPr>
          <a:xfrm>
            <a:off x="6807200" y="4724400"/>
            <a:ext cx="1588" cy="1625601"/>
          </a:xfrm>
          <a:prstGeom prst="straightConnector1">
            <a:avLst/>
          </a:prstGeom>
          <a:noFill/>
          <a:ln cap="flat" cmpd="sng" w="28575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84" name="Google Shape;284;p5"/>
          <p:cNvCxnSpPr/>
          <p:nvPr/>
        </p:nvCxnSpPr>
        <p:spPr>
          <a:xfrm>
            <a:off x="534987" y="4724400"/>
            <a:ext cx="8153401" cy="1588"/>
          </a:xfrm>
          <a:prstGeom prst="straightConnector1">
            <a:avLst/>
          </a:prstGeom>
          <a:noFill/>
          <a:ln cap="flat" cmpd="sng" w="28575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85" name="Google Shape;285;p5"/>
          <p:cNvCxnSpPr/>
          <p:nvPr/>
        </p:nvCxnSpPr>
        <p:spPr>
          <a:xfrm>
            <a:off x="8688388" y="4724400"/>
            <a:ext cx="1588" cy="1625601"/>
          </a:xfrm>
          <a:prstGeom prst="straightConnector1">
            <a:avLst/>
          </a:prstGeom>
          <a:noFill/>
          <a:ln cap="flat" cmpd="sng" w="28575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86" name="Google Shape;286;p5"/>
          <p:cNvCxnSpPr/>
          <p:nvPr/>
        </p:nvCxnSpPr>
        <p:spPr>
          <a:xfrm>
            <a:off x="534987" y="6350001"/>
            <a:ext cx="8153401" cy="1588"/>
          </a:xfrm>
          <a:prstGeom prst="straightConnector1">
            <a:avLst/>
          </a:prstGeom>
          <a:noFill/>
          <a:ln cap="flat" cmpd="sng" w="28575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6"/>
          <p:cNvSpPr txBox="1"/>
          <p:nvPr>
            <p:ph type="title"/>
          </p:nvPr>
        </p:nvSpPr>
        <p:spPr>
          <a:xfrm>
            <a:off x="431799" y="241300"/>
            <a:ext cx="8110538" cy="10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2. Simple Memory System Page Table</a:t>
            </a:r>
            <a:endParaRPr/>
          </a:p>
        </p:txBody>
      </p:sp>
      <p:sp>
        <p:nvSpPr>
          <p:cNvPr id="293" name="Google Shape;293;p6"/>
          <p:cNvSpPr txBox="1"/>
          <p:nvPr>
            <p:ph idx="1" type="body"/>
          </p:nvPr>
        </p:nvSpPr>
        <p:spPr>
          <a:xfrm>
            <a:off x="421745" y="1298575"/>
            <a:ext cx="8307387" cy="454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0" lang="en-GB" sz="2000"/>
              <a:t>Only show first 16 entries (out of 256)</a:t>
            </a:r>
            <a:endParaRPr/>
          </a:p>
        </p:txBody>
      </p:sp>
      <p:sp>
        <p:nvSpPr>
          <p:cNvPr id="294" name="Google Shape;294;p6"/>
          <p:cNvSpPr/>
          <p:nvPr/>
        </p:nvSpPr>
        <p:spPr>
          <a:xfrm>
            <a:off x="6110288" y="4781551"/>
            <a:ext cx="692150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6"/>
          <p:cNvSpPr/>
          <p:nvPr/>
        </p:nvSpPr>
        <p:spPr>
          <a:xfrm>
            <a:off x="5418138" y="4781551"/>
            <a:ext cx="692150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6"/>
          <p:cNvSpPr/>
          <p:nvPr/>
        </p:nvSpPr>
        <p:spPr>
          <a:xfrm>
            <a:off x="4724400" y="4781551"/>
            <a:ext cx="693738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0F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6"/>
          <p:cNvSpPr/>
          <p:nvPr/>
        </p:nvSpPr>
        <p:spPr>
          <a:xfrm>
            <a:off x="6110288" y="4475163"/>
            <a:ext cx="692150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6"/>
          <p:cNvSpPr/>
          <p:nvPr/>
        </p:nvSpPr>
        <p:spPr>
          <a:xfrm>
            <a:off x="5418138" y="4475163"/>
            <a:ext cx="692150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6"/>
          <p:cNvSpPr/>
          <p:nvPr/>
        </p:nvSpPr>
        <p:spPr>
          <a:xfrm>
            <a:off x="4724400" y="4475163"/>
            <a:ext cx="693738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0E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6"/>
          <p:cNvSpPr/>
          <p:nvPr/>
        </p:nvSpPr>
        <p:spPr>
          <a:xfrm>
            <a:off x="6110288" y="4168776"/>
            <a:ext cx="692150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6"/>
          <p:cNvSpPr/>
          <p:nvPr/>
        </p:nvSpPr>
        <p:spPr>
          <a:xfrm>
            <a:off x="5418138" y="4168776"/>
            <a:ext cx="692150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6"/>
          <p:cNvSpPr/>
          <p:nvPr/>
        </p:nvSpPr>
        <p:spPr>
          <a:xfrm>
            <a:off x="4724400" y="4168776"/>
            <a:ext cx="693738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0D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6"/>
          <p:cNvSpPr/>
          <p:nvPr/>
        </p:nvSpPr>
        <p:spPr>
          <a:xfrm>
            <a:off x="6110288" y="3860801"/>
            <a:ext cx="692150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6"/>
          <p:cNvSpPr/>
          <p:nvPr/>
        </p:nvSpPr>
        <p:spPr>
          <a:xfrm>
            <a:off x="5418138" y="3860801"/>
            <a:ext cx="692150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6"/>
          <p:cNvSpPr/>
          <p:nvPr/>
        </p:nvSpPr>
        <p:spPr>
          <a:xfrm>
            <a:off x="4724400" y="3860801"/>
            <a:ext cx="693738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0C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6"/>
          <p:cNvSpPr/>
          <p:nvPr/>
        </p:nvSpPr>
        <p:spPr>
          <a:xfrm>
            <a:off x="6110288" y="3552826"/>
            <a:ext cx="692150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6"/>
          <p:cNvSpPr/>
          <p:nvPr/>
        </p:nvSpPr>
        <p:spPr>
          <a:xfrm>
            <a:off x="5418138" y="3552826"/>
            <a:ext cx="692150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6"/>
          <p:cNvSpPr/>
          <p:nvPr/>
        </p:nvSpPr>
        <p:spPr>
          <a:xfrm>
            <a:off x="4724400" y="3552826"/>
            <a:ext cx="693738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0B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6"/>
          <p:cNvSpPr/>
          <p:nvPr/>
        </p:nvSpPr>
        <p:spPr>
          <a:xfrm>
            <a:off x="6110288" y="3246438"/>
            <a:ext cx="692150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6"/>
          <p:cNvSpPr/>
          <p:nvPr/>
        </p:nvSpPr>
        <p:spPr>
          <a:xfrm>
            <a:off x="5418138" y="3246438"/>
            <a:ext cx="692150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6"/>
          <p:cNvSpPr/>
          <p:nvPr/>
        </p:nvSpPr>
        <p:spPr>
          <a:xfrm>
            <a:off x="4724400" y="3246438"/>
            <a:ext cx="693738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0A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6"/>
          <p:cNvSpPr/>
          <p:nvPr/>
        </p:nvSpPr>
        <p:spPr>
          <a:xfrm>
            <a:off x="6110288" y="2940051"/>
            <a:ext cx="692150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6"/>
          <p:cNvSpPr/>
          <p:nvPr/>
        </p:nvSpPr>
        <p:spPr>
          <a:xfrm>
            <a:off x="5418138" y="2940051"/>
            <a:ext cx="692150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6"/>
          <p:cNvSpPr/>
          <p:nvPr/>
        </p:nvSpPr>
        <p:spPr>
          <a:xfrm>
            <a:off x="4724400" y="2940051"/>
            <a:ext cx="693738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6"/>
          <p:cNvSpPr/>
          <p:nvPr/>
        </p:nvSpPr>
        <p:spPr>
          <a:xfrm>
            <a:off x="6110288" y="2632076"/>
            <a:ext cx="692150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6"/>
          <p:cNvSpPr/>
          <p:nvPr/>
        </p:nvSpPr>
        <p:spPr>
          <a:xfrm>
            <a:off x="5418138" y="2632076"/>
            <a:ext cx="692150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6"/>
          <p:cNvSpPr/>
          <p:nvPr/>
        </p:nvSpPr>
        <p:spPr>
          <a:xfrm>
            <a:off x="4724400" y="2632076"/>
            <a:ext cx="693738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6"/>
          <p:cNvSpPr/>
          <p:nvPr/>
        </p:nvSpPr>
        <p:spPr>
          <a:xfrm>
            <a:off x="6110288" y="2325688"/>
            <a:ext cx="692150" cy="306388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1" lang="en-GB" sz="1600" u="none" cap="none" strike="noStrike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Valid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6"/>
          <p:cNvSpPr/>
          <p:nvPr/>
        </p:nvSpPr>
        <p:spPr>
          <a:xfrm>
            <a:off x="5418138" y="2325688"/>
            <a:ext cx="692150" cy="306388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1" lang="en-GB" sz="1600" u="none" cap="none" strike="noStrike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PPN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6"/>
          <p:cNvSpPr/>
          <p:nvPr/>
        </p:nvSpPr>
        <p:spPr>
          <a:xfrm>
            <a:off x="4724400" y="2325688"/>
            <a:ext cx="693738" cy="306388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1" lang="en-GB" sz="1600" u="none" cap="none" strike="noStrike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VPN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1" name="Google Shape;321;p6"/>
          <p:cNvCxnSpPr/>
          <p:nvPr/>
        </p:nvCxnSpPr>
        <p:spPr>
          <a:xfrm>
            <a:off x="4724400" y="2632076"/>
            <a:ext cx="2103120" cy="1588"/>
          </a:xfrm>
          <a:prstGeom prst="straightConnector1">
            <a:avLst/>
          </a:prstGeom>
          <a:noFill/>
          <a:ln cap="flat" cmpd="sng" w="12600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22" name="Google Shape;322;p6"/>
          <p:cNvCxnSpPr/>
          <p:nvPr/>
        </p:nvCxnSpPr>
        <p:spPr>
          <a:xfrm>
            <a:off x="4724400" y="2940051"/>
            <a:ext cx="2103120" cy="1588"/>
          </a:xfrm>
          <a:prstGeom prst="straightConnector1">
            <a:avLst/>
          </a:prstGeom>
          <a:noFill/>
          <a:ln cap="flat" cmpd="sng" w="12600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23" name="Google Shape;323;p6"/>
          <p:cNvCxnSpPr/>
          <p:nvPr/>
        </p:nvCxnSpPr>
        <p:spPr>
          <a:xfrm>
            <a:off x="4724400" y="3249611"/>
            <a:ext cx="2103120" cy="1588"/>
          </a:xfrm>
          <a:prstGeom prst="straightConnector1">
            <a:avLst/>
          </a:prstGeom>
          <a:noFill/>
          <a:ln cap="flat" cmpd="sng" w="12600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24" name="Google Shape;324;p6"/>
          <p:cNvCxnSpPr/>
          <p:nvPr/>
        </p:nvCxnSpPr>
        <p:spPr>
          <a:xfrm>
            <a:off x="4724400" y="3552826"/>
            <a:ext cx="2103120" cy="1588"/>
          </a:xfrm>
          <a:prstGeom prst="straightConnector1">
            <a:avLst/>
          </a:prstGeom>
          <a:noFill/>
          <a:ln cap="flat" cmpd="sng" w="12600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25" name="Google Shape;325;p6"/>
          <p:cNvCxnSpPr/>
          <p:nvPr/>
        </p:nvCxnSpPr>
        <p:spPr>
          <a:xfrm>
            <a:off x="4724400" y="3860801"/>
            <a:ext cx="2103120" cy="1588"/>
          </a:xfrm>
          <a:prstGeom prst="straightConnector1">
            <a:avLst/>
          </a:prstGeom>
          <a:noFill/>
          <a:ln cap="flat" cmpd="sng" w="12600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26" name="Google Shape;326;p6"/>
          <p:cNvCxnSpPr/>
          <p:nvPr/>
        </p:nvCxnSpPr>
        <p:spPr>
          <a:xfrm>
            <a:off x="4724400" y="4157135"/>
            <a:ext cx="2103120" cy="1588"/>
          </a:xfrm>
          <a:prstGeom prst="straightConnector1">
            <a:avLst/>
          </a:prstGeom>
          <a:noFill/>
          <a:ln cap="flat" cmpd="sng" w="12600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27" name="Google Shape;327;p6"/>
          <p:cNvCxnSpPr/>
          <p:nvPr/>
        </p:nvCxnSpPr>
        <p:spPr>
          <a:xfrm>
            <a:off x="4724400" y="4475163"/>
            <a:ext cx="2103120" cy="1588"/>
          </a:xfrm>
          <a:prstGeom prst="straightConnector1">
            <a:avLst/>
          </a:prstGeom>
          <a:noFill/>
          <a:ln cap="flat" cmpd="sng" w="12600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28" name="Google Shape;328;p6"/>
          <p:cNvCxnSpPr/>
          <p:nvPr/>
        </p:nvCxnSpPr>
        <p:spPr>
          <a:xfrm>
            <a:off x="4724400" y="4781551"/>
            <a:ext cx="2103120" cy="1588"/>
          </a:xfrm>
          <a:prstGeom prst="straightConnector1">
            <a:avLst/>
          </a:prstGeom>
          <a:noFill/>
          <a:ln cap="flat" cmpd="sng" w="12600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29" name="Google Shape;329;p6"/>
          <p:cNvCxnSpPr/>
          <p:nvPr/>
        </p:nvCxnSpPr>
        <p:spPr>
          <a:xfrm>
            <a:off x="5418138" y="2325688"/>
            <a:ext cx="1588" cy="2763838"/>
          </a:xfrm>
          <a:prstGeom prst="straightConnector1">
            <a:avLst/>
          </a:prstGeom>
          <a:noFill/>
          <a:ln cap="flat" cmpd="sng" w="12600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30" name="Google Shape;330;p6"/>
          <p:cNvCxnSpPr/>
          <p:nvPr/>
        </p:nvCxnSpPr>
        <p:spPr>
          <a:xfrm>
            <a:off x="6110288" y="2325688"/>
            <a:ext cx="1588" cy="2763838"/>
          </a:xfrm>
          <a:prstGeom prst="straightConnector1">
            <a:avLst/>
          </a:prstGeom>
          <a:noFill/>
          <a:ln cap="flat" cmpd="sng" w="12600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31" name="Google Shape;331;p6"/>
          <p:cNvCxnSpPr/>
          <p:nvPr/>
        </p:nvCxnSpPr>
        <p:spPr>
          <a:xfrm>
            <a:off x="4724400" y="2325688"/>
            <a:ext cx="2103120" cy="1588"/>
          </a:xfrm>
          <a:prstGeom prst="straightConnector1">
            <a:avLst/>
          </a:prstGeom>
          <a:noFill/>
          <a:ln cap="flat" cmpd="sng" w="12700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32" name="Google Shape;332;p6"/>
          <p:cNvCxnSpPr/>
          <p:nvPr/>
        </p:nvCxnSpPr>
        <p:spPr>
          <a:xfrm>
            <a:off x="6810905" y="2325688"/>
            <a:ext cx="1588" cy="2763838"/>
          </a:xfrm>
          <a:prstGeom prst="straightConnector1">
            <a:avLst/>
          </a:prstGeom>
          <a:noFill/>
          <a:ln cap="flat" cmpd="sng" w="12700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33" name="Google Shape;333;p6"/>
          <p:cNvCxnSpPr/>
          <p:nvPr/>
        </p:nvCxnSpPr>
        <p:spPr>
          <a:xfrm>
            <a:off x="4724400" y="5089526"/>
            <a:ext cx="2103120" cy="1588"/>
          </a:xfrm>
          <a:prstGeom prst="straightConnector1">
            <a:avLst/>
          </a:prstGeom>
          <a:noFill/>
          <a:ln cap="flat" cmpd="sng" w="12700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34" name="Google Shape;334;p6"/>
          <p:cNvCxnSpPr/>
          <p:nvPr/>
        </p:nvCxnSpPr>
        <p:spPr>
          <a:xfrm>
            <a:off x="4724400" y="2333095"/>
            <a:ext cx="1588" cy="2763838"/>
          </a:xfrm>
          <a:prstGeom prst="straightConnector1">
            <a:avLst/>
          </a:prstGeom>
          <a:noFill/>
          <a:ln cap="flat" cmpd="sng" w="12700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35" name="Google Shape;335;p6"/>
          <p:cNvSpPr/>
          <p:nvPr/>
        </p:nvSpPr>
        <p:spPr>
          <a:xfrm>
            <a:off x="3290888" y="4781551"/>
            <a:ext cx="692150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6"/>
          <p:cNvSpPr/>
          <p:nvPr/>
        </p:nvSpPr>
        <p:spPr>
          <a:xfrm>
            <a:off x="2598738" y="4781551"/>
            <a:ext cx="692150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6"/>
          <p:cNvSpPr/>
          <p:nvPr/>
        </p:nvSpPr>
        <p:spPr>
          <a:xfrm>
            <a:off x="1905000" y="4781551"/>
            <a:ext cx="693738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6"/>
          <p:cNvSpPr/>
          <p:nvPr/>
        </p:nvSpPr>
        <p:spPr>
          <a:xfrm>
            <a:off x="3290888" y="4475163"/>
            <a:ext cx="692150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6"/>
          <p:cNvSpPr/>
          <p:nvPr/>
        </p:nvSpPr>
        <p:spPr>
          <a:xfrm>
            <a:off x="2598738" y="4475163"/>
            <a:ext cx="692150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6"/>
          <p:cNvSpPr/>
          <p:nvPr/>
        </p:nvSpPr>
        <p:spPr>
          <a:xfrm>
            <a:off x="1905000" y="4475163"/>
            <a:ext cx="693738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6"/>
          <p:cNvSpPr/>
          <p:nvPr/>
        </p:nvSpPr>
        <p:spPr>
          <a:xfrm>
            <a:off x="3290888" y="4168776"/>
            <a:ext cx="692150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6"/>
          <p:cNvSpPr/>
          <p:nvPr/>
        </p:nvSpPr>
        <p:spPr>
          <a:xfrm>
            <a:off x="2598738" y="4168776"/>
            <a:ext cx="692150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6"/>
          <p:cNvSpPr/>
          <p:nvPr/>
        </p:nvSpPr>
        <p:spPr>
          <a:xfrm>
            <a:off x="1905000" y="4168776"/>
            <a:ext cx="693738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6"/>
          <p:cNvSpPr/>
          <p:nvPr/>
        </p:nvSpPr>
        <p:spPr>
          <a:xfrm>
            <a:off x="3290888" y="3860801"/>
            <a:ext cx="692150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6"/>
          <p:cNvSpPr/>
          <p:nvPr/>
        </p:nvSpPr>
        <p:spPr>
          <a:xfrm>
            <a:off x="2598738" y="3860801"/>
            <a:ext cx="692150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6"/>
          <p:cNvSpPr/>
          <p:nvPr/>
        </p:nvSpPr>
        <p:spPr>
          <a:xfrm>
            <a:off x="1905000" y="3860801"/>
            <a:ext cx="693738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6"/>
          <p:cNvSpPr/>
          <p:nvPr/>
        </p:nvSpPr>
        <p:spPr>
          <a:xfrm>
            <a:off x="3290888" y="3552826"/>
            <a:ext cx="692150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6"/>
          <p:cNvSpPr/>
          <p:nvPr/>
        </p:nvSpPr>
        <p:spPr>
          <a:xfrm>
            <a:off x="2598738" y="3552826"/>
            <a:ext cx="692150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6"/>
          <p:cNvSpPr/>
          <p:nvPr/>
        </p:nvSpPr>
        <p:spPr>
          <a:xfrm>
            <a:off x="1905000" y="3552826"/>
            <a:ext cx="693738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6"/>
          <p:cNvSpPr/>
          <p:nvPr/>
        </p:nvSpPr>
        <p:spPr>
          <a:xfrm>
            <a:off x="3290888" y="3246438"/>
            <a:ext cx="692150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6"/>
          <p:cNvSpPr/>
          <p:nvPr/>
        </p:nvSpPr>
        <p:spPr>
          <a:xfrm>
            <a:off x="2598738" y="3246438"/>
            <a:ext cx="692150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6"/>
          <p:cNvSpPr/>
          <p:nvPr/>
        </p:nvSpPr>
        <p:spPr>
          <a:xfrm>
            <a:off x="1905000" y="3246438"/>
            <a:ext cx="693738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6"/>
          <p:cNvSpPr/>
          <p:nvPr/>
        </p:nvSpPr>
        <p:spPr>
          <a:xfrm>
            <a:off x="3290888" y="2940051"/>
            <a:ext cx="692150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6"/>
          <p:cNvSpPr/>
          <p:nvPr/>
        </p:nvSpPr>
        <p:spPr>
          <a:xfrm>
            <a:off x="2598738" y="2940051"/>
            <a:ext cx="692150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6"/>
          <p:cNvSpPr/>
          <p:nvPr/>
        </p:nvSpPr>
        <p:spPr>
          <a:xfrm>
            <a:off x="1905000" y="2940051"/>
            <a:ext cx="693738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6"/>
          <p:cNvSpPr/>
          <p:nvPr/>
        </p:nvSpPr>
        <p:spPr>
          <a:xfrm>
            <a:off x="3290888" y="2632076"/>
            <a:ext cx="692150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6"/>
          <p:cNvSpPr/>
          <p:nvPr/>
        </p:nvSpPr>
        <p:spPr>
          <a:xfrm>
            <a:off x="2598738" y="2632076"/>
            <a:ext cx="692150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6"/>
          <p:cNvSpPr/>
          <p:nvPr/>
        </p:nvSpPr>
        <p:spPr>
          <a:xfrm>
            <a:off x="1905000" y="2632076"/>
            <a:ext cx="693738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6"/>
          <p:cNvSpPr/>
          <p:nvPr/>
        </p:nvSpPr>
        <p:spPr>
          <a:xfrm>
            <a:off x="3290888" y="2325688"/>
            <a:ext cx="692150" cy="306388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1" lang="en-GB" sz="1600" u="none" cap="none" strike="noStrike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Valid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6"/>
          <p:cNvSpPr/>
          <p:nvPr/>
        </p:nvSpPr>
        <p:spPr>
          <a:xfrm>
            <a:off x="2598738" y="2325688"/>
            <a:ext cx="692150" cy="306388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1" lang="en-GB" sz="1600" u="none" cap="none" strike="noStrike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PPN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6"/>
          <p:cNvSpPr/>
          <p:nvPr/>
        </p:nvSpPr>
        <p:spPr>
          <a:xfrm>
            <a:off x="1905000" y="2325688"/>
            <a:ext cx="693738" cy="306388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1" lang="en-GB" sz="1600" u="none" cap="none" strike="noStrike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VPN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2" name="Google Shape;362;p6"/>
          <p:cNvCxnSpPr/>
          <p:nvPr/>
        </p:nvCxnSpPr>
        <p:spPr>
          <a:xfrm>
            <a:off x="1905000" y="2632076"/>
            <a:ext cx="2075688" cy="1588"/>
          </a:xfrm>
          <a:prstGeom prst="straightConnector1">
            <a:avLst/>
          </a:prstGeom>
          <a:noFill/>
          <a:ln cap="flat" cmpd="sng" w="12600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63" name="Google Shape;363;p6"/>
          <p:cNvCxnSpPr/>
          <p:nvPr/>
        </p:nvCxnSpPr>
        <p:spPr>
          <a:xfrm>
            <a:off x="1905000" y="2940051"/>
            <a:ext cx="2075688" cy="1588"/>
          </a:xfrm>
          <a:prstGeom prst="straightConnector1">
            <a:avLst/>
          </a:prstGeom>
          <a:noFill/>
          <a:ln cap="flat" cmpd="sng" w="12600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64" name="Google Shape;364;p6"/>
          <p:cNvCxnSpPr/>
          <p:nvPr/>
        </p:nvCxnSpPr>
        <p:spPr>
          <a:xfrm>
            <a:off x="1905000" y="3249611"/>
            <a:ext cx="2075688" cy="1588"/>
          </a:xfrm>
          <a:prstGeom prst="straightConnector1">
            <a:avLst/>
          </a:prstGeom>
          <a:noFill/>
          <a:ln cap="flat" cmpd="sng" w="12600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65" name="Google Shape;365;p6"/>
          <p:cNvCxnSpPr/>
          <p:nvPr/>
        </p:nvCxnSpPr>
        <p:spPr>
          <a:xfrm>
            <a:off x="1905000" y="3552826"/>
            <a:ext cx="2075688" cy="1588"/>
          </a:xfrm>
          <a:prstGeom prst="straightConnector1">
            <a:avLst/>
          </a:prstGeom>
          <a:noFill/>
          <a:ln cap="flat" cmpd="sng" w="12600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66" name="Google Shape;366;p6"/>
          <p:cNvCxnSpPr/>
          <p:nvPr/>
        </p:nvCxnSpPr>
        <p:spPr>
          <a:xfrm>
            <a:off x="1905000" y="3860801"/>
            <a:ext cx="2075688" cy="1588"/>
          </a:xfrm>
          <a:prstGeom prst="straightConnector1">
            <a:avLst/>
          </a:prstGeom>
          <a:noFill/>
          <a:ln cap="flat" cmpd="sng" w="12600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67" name="Google Shape;367;p6"/>
          <p:cNvCxnSpPr/>
          <p:nvPr/>
        </p:nvCxnSpPr>
        <p:spPr>
          <a:xfrm>
            <a:off x="1905000" y="4172478"/>
            <a:ext cx="2075688" cy="1588"/>
          </a:xfrm>
          <a:prstGeom prst="straightConnector1">
            <a:avLst/>
          </a:prstGeom>
          <a:noFill/>
          <a:ln cap="flat" cmpd="sng" w="12600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68" name="Google Shape;368;p6"/>
          <p:cNvCxnSpPr/>
          <p:nvPr/>
        </p:nvCxnSpPr>
        <p:spPr>
          <a:xfrm>
            <a:off x="1905000" y="4475163"/>
            <a:ext cx="2075688" cy="1588"/>
          </a:xfrm>
          <a:prstGeom prst="straightConnector1">
            <a:avLst/>
          </a:prstGeom>
          <a:noFill/>
          <a:ln cap="flat" cmpd="sng" w="12600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69" name="Google Shape;369;p6"/>
          <p:cNvCxnSpPr/>
          <p:nvPr/>
        </p:nvCxnSpPr>
        <p:spPr>
          <a:xfrm>
            <a:off x="1905000" y="4781551"/>
            <a:ext cx="2075688" cy="1588"/>
          </a:xfrm>
          <a:prstGeom prst="straightConnector1">
            <a:avLst/>
          </a:prstGeom>
          <a:noFill/>
          <a:ln cap="flat" cmpd="sng" w="12600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70" name="Google Shape;370;p6"/>
          <p:cNvCxnSpPr/>
          <p:nvPr/>
        </p:nvCxnSpPr>
        <p:spPr>
          <a:xfrm>
            <a:off x="2589212" y="2325688"/>
            <a:ext cx="1588" cy="2763838"/>
          </a:xfrm>
          <a:prstGeom prst="straightConnector1">
            <a:avLst/>
          </a:prstGeom>
          <a:noFill/>
          <a:ln cap="flat" cmpd="sng" w="12600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71" name="Google Shape;371;p6"/>
          <p:cNvCxnSpPr/>
          <p:nvPr/>
        </p:nvCxnSpPr>
        <p:spPr>
          <a:xfrm>
            <a:off x="3290888" y="2325688"/>
            <a:ext cx="1588" cy="2763838"/>
          </a:xfrm>
          <a:prstGeom prst="straightConnector1">
            <a:avLst/>
          </a:prstGeom>
          <a:noFill/>
          <a:ln cap="flat" cmpd="sng" w="12600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72" name="Google Shape;372;p6"/>
          <p:cNvCxnSpPr/>
          <p:nvPr/>
        </p:nvCxnSpPr>
        <p:spPr>
          <a:xfrm>
            <a:off x="1905000" y="2325688"/>
            <a:ext cx="1588" cy="2763838"/>
          </a:xfrm>
          <a:prstGeom prst="straightConnector1">
            <a:avLst/>
          </a:prstGeom>
          <a:noFill/>
          <a:ln cap="flat" cmpd="sng" w="12700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73" name="Google Shape;373;p6"/>
          <p:cNvCxnSpPr/>
          <p:nvPr/>
        </p:nvCxnSpPr>
        <p:spPr>
          <a:xfrm>
            <a:off x="1905000" y="2325688"/>
            <a:ext cx="2075688" cy="1588"/>
          </a:xfrm>
          <a:prstGeom prst="straightConnector1">
            <a:avLst/>
          </a:prstGeom>
          <a:noFill/>
          <a:ln cap="flat" cmpd="sng" w="12700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74" name="Google Shape;374;p6"/>
          <p:cNvCxnSpPr/>
          <p:nvPr/>
        </p:nvCxnSpPr>
        <p:spPr>
          <a:xfrm>
            <a:off x="1905000" y="5089526"/>
            <a:ext cx="2075688" cy="1588"/>
          </a:xfrm>
          <a:prstGeom prst="straightConnector1">
            <a:avLst/>
          </a:prstGeom>
          <a:noFill/>
          <a:ln cap="flat" cmpd="sng" w="12700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75" name="Google Shape;375;p6"/>
          <p:cNvCxnSpPr/>
          <p:nvPr/>
        </p:nvCxnSpPr>
        <p:spPr>
          <a:xfrm>
            <a:off x="3989386" y="2316480"/>
            <a:ext cx="1588" cy="2788920"/>
          </a:xfrm>
          <a:prstGeom prst="straightConnector1">
            <a:avLst/>
          </a:prstGeom>
          <a:noFill/>
          <a:ln cap="flat" cmpd="sng" w="12700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7"/>
          <p:cNvSpPr txBox="1"/>
          <p:nvPr>
            <p:ph type="title"/>
          </p:nvPr>
        </p:nvSpPr>
        <p:spPr>
          <a:xfrm>
            <a:off x="385284" y="417512"/>
            <a:ext cx="7285038" cy="573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3. Simple Memory System Cache</a:t>
            </a:r>
            <a:endParaRPr/>
          </a:p>
        </p:txBody>
      </p:sp>
      <p:sp>
        <p:nvSpPr>
          <p:cNvPr id="382" name="Google Shape;382;p7"/>
          <p:cNvSpPr txBox="1"/>
          <p:nvPr>
            <p:ph idx="1" type="body"/>
          </p:nvPr>
        </p:nvSpPr>
        <p:spPr>
          <a:xfrm>
            <a:off x="379413" y="1068387"/>
            <a:ext cx="8307387" cy="14462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GB"/>
              <a:t>16 lines, 4-byte block size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GB"/>
              <a:t>Physically addressed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GB"/>
              <a:t>Direct mapped</a:t>
            </a:r>
            <a:endParaRPr/>
          </a:p>
        </p:txBody>
      </p:sp>
      <p:sp>
        <p:nvSpPr>
          <p:cNvPr id="383" name="Google Shape;383;p7"/>
          <p:cNvSpPr/>
          <p:nvPr/>
        </p:nvSpPr>
        <p:spPr>
          <a:xfrm>
            <a:off x="1711325" y="3125787"/>
            <a:ext cx="487363" cy="304800"/>
          </a:xfrm>
          <a:prstGeom prst="rect">
            <a:avLst/>
          </a:prstGeom>
          <a:solidFill>
            <a:srgbClr val="D5F1CF"/>
          </a:solidFill>
          <a:ln cap="flat" cmpd="sng" w="9525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384" name="Google Shape;384;p7"/>
          <p:cNvSpPr/>
          <p:nvPr/>
        </p:nvSpPr>
        <p:spPr>
          <a:xfrm>
            <a:off x="1711325" y="2820987"/>
            <a:ext cx="487363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7"/>
          <p:cNvSpPr/>
          <p:nvPr/>
        </p:nvSpPr>
        <p:spPr>
          <a:xfrm>
            <a:off x="2198688" y="3125787"/>
            <a:ext cx="487363" cy="304800"/>
          </a:xfrm>
          <a:prstGeom prst="rect">
            <a:avLst/>
          </a:prstGeom>
          <a:solidFill>
            <a:srgbClr val="D5F1CF"/>
          </a:solidFill>
          <a:ln cap="flat" cmpd="sng" w="9525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386" name="Google Shape;386;p7"/>
          <p:cNvSpPr/>
          <p:nvPr/>
        </p:nvSpPr>
        <p:spPr>
          <a:xfrm>
            <a:off x="2198688" y="2820987"/>
            <a:ext cx="487363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7"/>
          <p:cNvSpPr/>
          <p:nvPr/>
        </p:nvSpPr>
        <p:spPr>
          <a:xfrm>
            <a:off x="2686051" y="3125787"/>
            <a:ext cx="487363" cy="304800"/>
          </a:xfrm>
          <a:prstGeom prst="rect">
            <a:avLst/>
          </a:prstGeom>
          <a:solidFill>
            <a:srgbClr val="D5F1CF"/>
          </a:solidFill>
          <a:ln cap="flat" cmpd="sng" w="9525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388" name="Google Shape;388;p7"/>
          <p:cNvSpPr/>
          <p:nvPr/>
        </p:nvSpPr>
        <p:spPr>
          <a:xfrm>
            <a:off x="2686051" y="2820987"/>
            <a:ext cx="487363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7"/>
          <p:cNvSpPr/>
          <p:nvPr/>
        </p:nvSpPr>
        <p:spPr>
          <a:xfrm>
            <a:off x="3173414" y="3125787"/>
            <a:ext cx="487363" cy="304800"/>
          </a:xfrm>
          <a:prstGeom prst="rect">
            <a:avLst/>
          </a:prstGeom>
          <a:solidFill>
            <a:srgbClr val="D5F1CF"/>
          </a:solidFill>
          <a:ln cap="flat" cmpd="sng" w="9525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390" name="Google Shape;390;p7"/>
          <p:cNvSpPr/>
          <p:nvPr/>
        </p:nvSpPr>
        <p:spPr>
          <a:xfrm>
            <a:off x="3173414" y="2820987"/>
            <a:ext cx="487363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7"/>
          <p:cNvSpPr/>
          <p:nvPr/>
        </p:nvSpPr>
        <p:spPr>
          <a:xfrm>
            <a:off x="3660777" y="3125787"/>
            <a:ext cx="487363" cy="304800"/>
          </a:xfrm>
          <a:prstGeom prst="rect">
            <a:avLst/>
          </a:prstGeom>
          <a:solidFill>
            <a:srgbClr val="D5F1CF"/>
          </a:solidFill>
          <a:ln cap="flat" cmpd="sng" w="9525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392" name="Google Shape;392;p7"/>
          <p:cNvSpPr/>
          <p:nvPr/>
        </p:nvSpPr>
        <p:spPr>
          <a:xfrm>
            <a:off x="3660777" y="2820987"/>
            <a:ext cx="487363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7"/>
          <p:cNvSpPr/>
          <p:nvPr/>
        </p:nvSpPr>
        <p:spPr>
          <a:xfrm>
            <a:off x="4148140" y="3125787"/>
            <a:ext cx="487363" cy="304800"/>
          </a:xfrm>
          <a:prstGeom prst="rect">
            <a:avLst/>
          </a:prstGeom>
          <a:solidFill>
            <a:srgbClr val="D5F1CF"/>
          </a:solidFill>
          <a:ln cap="flat" cmpd="sng" w="9525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394" name="Google Shape;394;p7"/>
          <p:cNvSpPr/>
          <p:nvPr/>
        </p:nvSpPr>
        <p:spPr>
          <a:xfrm>
            <a:off x="4148140" y="2820987"/>
            <a:ext cx="487363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7"/>
          <p:cNvSpPr/>
          <p:nvPr/>
        </p:nvSpPr>
        <p:spPr>
          <a:xfrm>
            <a:off x="4635503" y="3125787"/>
            <a:ext cx="487363" cy="304800"/>
          </a:xfrm>
          <a:prstGeom prst="rect">
            <a:avLst/>
          </a:prstGeom>
          <a:solidFill>
            <a:srgbClr val="D5D5F4"/>
          </a:solidFill>
          <a:ln cap="flat" cmpd="sng" w="9525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396" name="Google Shape;396;p7"/>
          <p:cNvSpPr/>
          <p:nvPr/>
        </p:nvSpPr>
        <p:spPr>
          <a:xfrm>
            <a:off x="4635503" y="2820987"/>
            <a:ext cx="487363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7"/>
          <p:cNvSpPr/>
          <p:nvPr/>
        </p:nvSpPr>
        <p:spPr>
          <a:xfrm>
            <a:off x="5122866" y="3125787"/>
            <a:ext cx="487363" cy="304800"/>
          </a:xfrm>
          <a:prstGeom prst="rect">
            <a:avLst/>
          </a:prstGeom>
          <a:solidFill>
            <a:srgbClr val="D5D5F4"/>
          </a:solidFill>
          <a:ln cap="flat" cmpd="sng" w="9525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398" name="Google Shape;398;p7"/>
          <p:cNvSpPr/>
          <p:nvPr/>
        </p:nvSpPr>
        <p:spPr>
          <a:xfrm>
            <a:off x="5122866" y="2820987"/>
            <a:ext cx="487363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7"/>
          <p:cNvSpPr/>
          <p:nvPr/>
        </p:nvSpPr>
        <p:spPr>
          <a:xfrm>
            <a:off x="5610229" y="3125787"/>
            <a:ext cx="487363" cy="304800"/>
          </a:xfrm>
          <a:prstGeom prst="rect">
            <a:avLst/>
          </a:prstGeom>
          <a:solidFill>
            <a:srgbClr val="D5D5F4"/>
          </a:solidFill>
          <a:ln cap="flat" cmpd="sng" w="9525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400" name="Google Shape;400;p7"/>
          <p:cNvSpPr/>
          <p:nvPr/>
        </p:nvSpPr>
        <p:spPr>
          <a:xfrm>
            <a:off x="5610229" y="2820987"/>
            <a:ext cx="487363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7"/>
          <p:cNvSpPr/>
          <p:nvPr/>
        </p:nvSpPr>
        <p:spPr>
          <a:xfrm>
            <a:off x="6097591" y="3125787"/>
            <a:ext cx="487363" cy="304800"/>
          </a:xfrm>
          <a:prstGeom prst="rect">
            <a:avLst/>
          </a:prstGeom>
          <a:solidFill>
            <a:srgbClr val="D5D5F4"/>
          </a:solidFill>
          <a:ln cap="flat" cmpd="sng" w="9525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402" name="Google Shape;402;p7"/>
          <p:cNvSpPr/>
          <p:nvPr/>
        </p:nvSpPr>
        <p:spPr>
          <a:xfrm>
            <a:off x="6097591" y="2820987"/>
            <a:ext cx="487363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7"/>
          <p:cNvSpPr/>
          <p:nvPr/>
        </p:nvSpPr>
        <p:spPr>
          <a:xfrm>
            <a:off x="6584953" y="3125787"/>
            <a:ext cx="487363" cy="304800"/>
          </a:xfrm>
          <a:prstGeom prst="rect">
            <a:avLst/>
          </a:prstGeom>
          <a:solidFill>
            <a:srgbClr val="ACACEA"/>
          </a:solidFill>
          <a:ln cap="flat" cmpd="sng" w="9525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404" name="Google Shape;404;p7"/>
          <p:cNvSpPr/>
          <p:nvPr/>
        </p:nvSpPr>
        <p:spPr>
          <a:xfrm>
            <a:off x="6584953" y="2820987"/>
            <a:ext cx="487363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7"/>
          <p:cNvSpPr/>
          <p:nvPr/>
        </p:nvSpPr>
        <p:spPr>
          <a:xfrm>
            <a:off x="7072312" y="3125787"/>
            <a:ext cx="487363" cy="304800"/>
          </a:xfrm>
          <a:prstGeom prst="rect">
            <a:avLst/>
          </a:prstGeom>
          <a:solidFill>
            <a:srgbClr val="ACACEA"/>
          </a:solidFill>
          <a:ln cap="flat" cmpd="sng" w="9525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406" name="Google Shape;406;p7"/>
          <p:cNvSpPr/>
          <p:nvPr/>
        </p:nvSpPr>
        <p:spPr>
          <a:xfrm>
            <a:off x="7072312" y="2820987"/>
            <a:ext cx="487363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7" name="Google Shape;407;p7"/>
          <p:cNvGrpSpPr/>
          <p:nvPr/>
        </p:nvGrpSpPr>
        <p:grpSpPr>
          <a:xfrm>
            <a:off x="4652964" y="3478212"/>
            <a:ext cx="2924175" cy="333375"/>
            <a:chOff x="2931" y="2156"/>
            <a:chExt cx="1842" cy="210"/>
          </a:xfrm>
        </p:grpSpPr>
        <p:cxnSp>
          <p:nvCxnSpPr>
            <p:cNvPr id="408" name="Google Shape;408;p7"/>
            <p:cNvCxnSpPr/>
            <p:nvPr/>
          </p:nvCxnSpPr>
          <p:spPr>
            <a:xfrm>
              <a:off x="2931" y="2247"/>
              <a:ext cx="1842" cy="1"/>
            </a:xfrm>
            <a:prstGeom prst="straightConnector1">
              <a:avLst/>
            </a:prstGeom>
            <a:noFill/>
            <a:ln cap="flat" cmpd="sng" w="9525">
              <a:solidFill>
                <a:srgbClr val="000066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409" name="Google Shape;409;p7"/>
            <p:cNvSpPr txBox="1"/>
            <p:nvPr/>
          </p:nvSpPr>
          <p:spPr>
            <a:xfrm>
              <a:off x="3638" y="2156"/>
              <a:ext cx="368" cy="21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4275" lIns="90350" spcFirstLastPara="1" rIns="90350" wrap="square" tIns="44275">
              <a:spAutoFit/>
            </a:bodyPr>
            <a:lstStyle/>
            <a:p>
              <a:pPr indent="0" lvl="0" marL="0" marR="0" rtl="0" algn="l">
                <a:lnSpc>
                  <a:spcPct val="8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PPO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10" name="Google Shape;410;p7"/>
          <p:cNvGrpSpPr/>
          <p:nvPr/>
        </p:nvGrpSpPr>
        <p:grpSpPr>
          <a:xfrm>
            <a:off x="1757364" y="3478212"/>
            <a:ext cx="2924175" cy="333375"/>
            <a:chOff x="1107" y="2156"/>
            <a:chExt cx="1842" cy="210"/>
          </a:xfrm>
        </p:grpSpPr>
        <p:cxnSp>
          <p:nvCxnSpPr>
            <p:cNvPr id="411" name="Google Shape;411;p7"/>
            <p:cNvCxnSpPr/>
            <p:nvPr/>
          </p:nvCxnSpPr>
          <p:spPr>
            <a:xfrm>
              <a:off x="1107" y="2247"/>
              <a:ext cx="1842" cy="1"/>
            </a:xfrm>
            <a:prstGeom prst="straightConnector1">
              <a:avLst/>
            </a:prstGeom>
            <a:noFill/>
            <a:ln cap="flat" cmpd="sng" w="9525">
              <a:solidFill>
                <a:srgbClr val="000066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412" name="Google Shape;412;p7"/>
            <p:cNvSpPr txBox="1"/>
            <p:nvPr/>
          </p:nvSpPr>
          <p:spPr>
            <a:xfrm>
              <a:off x="1814" y="2156"/>
              <a:ext cx="366" cy="21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4275" lIns="90350" spcFirstLastPara="1" rIns="90350" wrap="square" tIns="44275">
              <a:spAutoFit/>
            </a:bodyPr>
            <a:lstStyle/>
            <a:p>
              <a:pPr indent="0" lvl="0" marL="0" marR="0" rtl="0" algn="l">
                <a:lnSpc>
                  <a:spcPct val="8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PPN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13" name="Google Shape;413;p7"/>
          <p:cNvGrpSpPr/>
          <p:nvPr/>
        </p:nvGrpSpPr>
        <p:grpSpPr>
          <a:xfrm>
            <a:off x="6556382" y="2523067"/>
            <a:ext cx="992189" cy="306388"/>
            <a:chOff x="4130" y="1501"/>
            <a:chExt cx="625" cy="193"/>
          </a:xfrm>
        </p:grpSpPr>
        <p:cxnSp>
          <p:nvCxnSpPr>
            <p:cNvPr id="414" name="Google Shape;414;p7"/>
            <p:cNvCxnSpPr/>
            <p:nvPr/>
          </p:nvCxnSpPr>
          <p:spPr>
            <a:xfrm>
              <a:off x="4130" y="1579"/>
              <a:ext cx="625" cy="1"/>
            </a:xfrm>
            <a:prstGeom prst="straightConnector1">
              <a:avLst/>
            </a:prstGeom>
            <a:noFill/>
            <a:ln cap="flat" cmpd="sng" w="9525">
              <a:solidFill>
                <a:srgbClr val="000066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415" name="Google Shape;415;p7"/>
            <p:cNvSpPr txBox="1"/>
            <p:nvPr/>
          </p:nvSpPr>
          <p:spPr>
            <a:xfrm>
              <a:off x="4316" y="1501"/>
              <a:ext cx="271" cy="19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4275" lIns="90350" spcFirstLastPara="1" rIns="90350" wrap="square" tIns="44275">
              <a:spAutoFit/>
            </a:bodyPr>
            <a:lstStyle/>
            <a:p>
              <a:pPr indent="0" lvl="0" marL="0" marR="0" rtl="0" algn="ctr">
                <a:lnSpc>
                  <a:spcPct val="8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GB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16" name="Google Shape;416;p7"/>
          <p:cNvGrpSpPr/>
          <p:nvPr/>
        </p:nvGrpSpPr>
        <p:grpSpPr>
          <a:xfrm>
            <a:off x="4627033" y="2519363"/>
            <a:ext cx="1927225" cy="306388"/>
            <a:chOff x="2920" y="1488"/>
            <a:chExt cx="1214" cy="193"/>
          </a:xfrm>
        </p:grpSpPr>
        <p:cxnSp>
          <p:nvCxnSpPr>
            <p:cNvPr id="417" name="Google Shape;417;p7"/>
            <p:cNvCxnSpPr/>
            <p:nvPr/>
          </p:nvCxnSpPr>
          <p:spPr>
            <a:xfrm>
              <a:off x="2920" y="1566"/>
              <a:ext cx="1214" cy="1"/>
            </a:xfrm>
            <a:prstGeom prst="straightConnector1">
              <a:avLst/>
            </a:prstGeom>
            <a:noFill/>
            <a:ln cap="flat" cmpd="sng" w="9525">
              <a:solidFill>
                <a:srgbClr val="000066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418" name="Google Shape;418;p7"/>
            <p:cNvSpPr txBox="1"/>
            <p:nvPr/>
          </p:nvSpPr>
          <p:spPr>
            <a:xfrm>
              <a:off x="3460" y="1488"/>
              <a:ext cx="218" cy="19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4275" lIns="90350" spcFirstLastPara="1" rIns="90350" wrap="square" tIns="44275">
              <a:spAutoFit/>
            </a:bodyPr>
            <a:lstStyle/>
            <a:p>
              <a:pPr indent="0" lvl="0" marL="0" marR="0" rtl="0" algn="ctr">
                <a:lnSpc>
                  <a:spcPct val="8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GB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CI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19" name="Google Shape;419;p7"/>
          <p:cNvGrpSpPr/>
          <p:nvPr/>
        </p:nvGrpSpPr>
        <p:grpSpPr>
          <a:xfrm>
            <a:off x="1711325" y="2514600"/>
            <a:ext cx="2894013" cy="306388"/>
            <a:chOff x="1078" y="1501"/>
            <a:chExt cx="1823" cy="193"/>
          </a:xfrm>
        </p:grpSpPr>
        <p:cxnSp>
          <p:nvCxnSpPr>
            <p:cNvPr id="420" name="Google Shape;420;p7"/>
            <p:cNvCxnSpPr/>
            <p:nvPr/>
          </p:nvCxnSpPr>
          <p:spPr>
            <a:xfrm>
              <a:off x="1078" y="1579"/>
              <a:ext cx="1823" cy="1"/>
            </a:xfrm>
            <a:prstGeom prst="straightConnector1">
              <a:avLst/>
            </a:prstGeom>
            <a:noFill/>
            <a:ln cap="flat" cmpd="sng" w="9525">
              <a:solidFill>
                <a:srgbClr val="000066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421" name="Google Shape;421;p7"/>
            <p:cNvSpPr txBox="1"/>
            <p:nvPr/>
          </p:nvSpPr>
          <p:spPr>
            <a:xfrm>
              <a:off x="1928" y="1501"/>
              <a:ext cx="248" cy="19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4275" lIns="90350" spcFirstLastPara="1" rIns="90350" wrap="square" tIns="44275">
              <a:spAutoFit/>
            </a:bodyPr>
            <a:lstStyle/>
            <a:p>
              <a:pPr indent="0" lvl="0" marL="0" marR="0" rtl="0" algn="ctr">
                <a:lnSpc>
                  <a:spcPct val="8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GB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22" name="Google Shape;422;p7"/>
          <p:cNvSpPr/>
          <p:nvPr/>
        </p:nvSpPr>
        <p:spPr>
          <a:xfrm>
            <a:off x="3875088" y="6350000"/>
            <a:ext cx="620713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7"/>
          <p:cNvSpPr/>
          <p:nvPr/>
        </p:nvSpPr>
        <p:spPr>
          <a:xfrm>
            <a:off x="3255963" y="6350000"/>
            <a:ext cx="619125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7"/>
          <p:cNvSpPr/>
          <p:nvPr/>
        </p:nvSpPr>
        <p:spPr>
          <a:xfrm>
            <a:off x="2635250" y="6350000"/>
            <a:ext cx="620713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7"/>
          <p:cNvSpPr/>
          <p:nvPr/>
        </p:nvSpPr>
        <p:spPr>
          <a:xfrm>
            <a:off x="2012950" y="6350000"/>
            <a:ext cx="622300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7"/>
          <p:cNvSpPr/>
          <p:nvPr/>
        </p:nvSpPr>
        <p:spPr>
          <a:xfrm>
            <a:off x="1392238" y="6350000"/>
            <a:ext cx="620713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7"/>
          <p:cNvSpPr/>
          <p:nvPr/>
        </p:nvSpPr>
        <p:spPr>
          <a:xfrm>
            <a:off x="773113" y="6350000"/>
            <a:ext cx="619125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7"/>
          <p:cNvSpPr/>
          <p:nvPr/>
        </p:nvSpPr>
        <p:spPr>
          <a:xfrm>
            <a:off x="152400" y="6350000"/>
            <a:ext cx="620713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7"/>
          <p:cNvSpPr/>
          <p:nvPr/>
        </p:nvSpPr>
        <p:spPr>
          <a:xfrm>
            <a:off x="3875088" y="6069013"/>
            <a:ext cx="620713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7"/>
          <p:cNvSpPr/>
          <p:nvPr/>
        </p:nvSpPr>
        <p:spPr>
          <a:xfrm>
            <a:off x="3255963" y="6069013"/>
            <a:ext cx="619125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7"/>
          <p:cNvSpPr/>
          <p:nvPr/>
        </p:nvSpPr>
        <p:spPr>
          <a:xfrm>
            <a:off x="2635250" y="6069013"/>
            <a:ext cx="620713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7"/>
          <p:cNvSpPr/>
          <p:nvPr/>
        </p:nvSpPr>
        <p:spPr>
          <a:xfrm>
            <a:off x="2012950" y="6069013"/>
            <a:ext cx="622300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7"/>
          <p:cNvSpPr/>
          <p:nvPr/>
        </p:nvSpPr>
        <p:spPr>
          <a:xfrm>
            <a:off x="1392238" y="6069013"/>
            <a:ext cx="620713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7"/>
          <p:cNvSpPr/>
          <p:nvPr/>
        </p:nvSpPr>
        <p:spPr>
          <a:xfrm>
            <a:off x="773113" y="6069013"/>
            <a:ext cx="619125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7"/>
          <p:cNvSpPr/>
          <p:nvPr/>
        </p:nvSpPr>
        <p:spPr>
          <a:xfrm>
            <a:off x="152400" y="6069013"/>
            <a:ext cx="620713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7"/>
          <p:cNvSpPr/>
          <p:nvPr/>
        </p:nvSpPr>
        <p:spPr>
          <a:xfrm>
            <a:off x="3875088" y="5788025"/>
            <a:ext cx="620713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7"/>
          <p:cNvSpPr/>
          <p:nvPr/>
        </p:nvSpPr>
        <p:spPr>
          <a:xfrm>
            <a:off x="3255963" y="5788025"/>
            <a:ext cx="619125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7"/>
          <p:cNvSpPr/>
          <p:nvPr/>
        </p:nvSpPr>
        <p:spPr>
          <a:xfrm>
            <a:off x="2635250" y="5788025"/>
            <a:ext cx="620713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7"/>
          <p:cNvSpPr/>
          <p:nvPr/>
        </p:nvSpPr>
        <p:spPr>
          <a:xfrm>
            <a:off x="2012950" y="5788025"/>
            <a:ext cx="622300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7"/>
          <p:cNvSpPr/>
          <p:nvPr/>
        </p:nvSpPr>
        <p:spPr>
          <a:xfrm>
            <a:off x="1392238" y="5788025"/>
            <a:ext cx="620713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7"/>
          <p:cNvSpPr/>
          <p:nvPr/>
        </p:nvSpPr>
        <p:spPr>
          <a:xfrm>
            <a:off x="773113" y="5788025"/>
            <a:ext cx="619125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7"/>
          <p:cNvSpPr/>
          <p:nvPr/>
        </p:nvSpPr>
        <p:spPr>
          <a:xfrm>
            <a:off x="152400" y="5788025"/>
            <a:ext cx="620713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7"/>
          <p:cNvSpPr/>
          <p:nvPr/>
        </p:nvSpPr>
        <p:spPr>
          <a:xfrm>
            <a:off x="3875088" y="5481638"/>
            <a:ext cx="620713" cy="306388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7"/>
          <p:cNvSpPr/>
          <p:nvPr/>
        </p:nvSpPr>
        <p:spPr>
          <a:xfrm>
            <a:off x="3255963" y="5481638"/>
            <a:ext cx="619125" cy="306388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7"/>
          <p:cNvSpPr/>
          <p:nvPr/>
        </p:nvSpPr>
        <p:spPr>
          <a:xfrm>
            <a:off x="2635250" y="5481638"/>
            <a:ext cx="620713" cy="306388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7"/>
          <p:cNvSpPr/>
          <p:nvPr/>
        </p:nvSpPr>
        <p:spPr>
          <a:xfrm>
            <a:off x="2012950" y="5481638"/>
            <a:ext cx="622300" cy="306388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7"/>
          <p:cNvSpPr/>
          <p:nvPr/>
        </p:nvSpPr>
        <p:spPr>
          <a:xfrm>
            <a:off x="1392238" y="5481638"/>
            <a:ext cx="620713" cy="306388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7"/>
          <p:cNvSpPr/>
          <p:nvPr/>
        </p:nvSpPr>
        <p:spPr>
          <a:xfrm>
            <a:off x="773113" y="5481638"/>
            <a:ext cx="619125" cy="306388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7"/>
          <p:cNvSpPr/>
          <p:nvPr/>
        </p:nvSpPr>
        <p:spPr>
          <a:xfrm>
            <a:off x="152400" y="5481638"/>
            <a:ext cx="620713" cy="306388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7"/>
          <p:cNvSpPr/>
          <p:nvPr/>
        </p:nvSpPr>
        <p:spPr>
          <a:xfrm>
            <a:off x="3875088" y="5200650"/>
            <a:ext cx="620713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7"/>
          <p:cNvSpPr/>
          <p:nvPr/>
        </p:nvSpPr>
        <p:spPr>
          <a:xfrm>
            <a:off x="3255963" y="5200650"/>
            <a:ext cx="619125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7"/>
          <p:cNvSpPr/>
          <p:nvPr/>
        </p:nvSpPr>
        <p:spPr>
          <a:xfrm>
            <a:off x="2635250" y="5200650"/>
            <a:ext cx="620713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7"/>
          <p:cNvSpPr/>
          <p:nvPr/>
        </p:nvSpPr>
        <p:spPr>
          <a:xfrm>
            <a:off x="2012950" y="5200650"/>
            <a:ext cx="622300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7"/>
          <p:cNvSpPr/>
          <p:nvPr/>
        </p:nvSpPr>
        <p:spPr>
          <a:xfrm>
            <a:off x="1392238" y="5200650"/>
            <a:ext cx="620713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7"/>
          <p:cNvSpPr/>
          <p:nvPr/>
        </p:nvSpPr>
        <p:spPr>
          <a:xfrm>
            <a:off x="773113" y="5200650"/>
            <a:ext cx="619125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7"/>
          <p:cNvSpPr/>
          <p:nvPr/>
        </p:nvSpPr>
        <p:spPr>
          <a:xfrm>
            <a:off x="152400" y="5200650"/>
            <a:ext cx="620713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7"/>
          <p:cNvSpPr/>
          <p:nvPr/>
        </p:nvSpPr>
        <p:spPr>
          <a:xfrm>
            <a:off x="3875088" y="4919663"/>
            <a:ext cx="620713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7"/>
          <p:cNvSpPr/>
          <p:nvPr/>
        </p:nvSpPr>
        <p:spPr>
          <a:xfrm>
            <a:off x="3255963" y="4919663"/>
            <a:ext cx="619125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7"/>
          <p:cNvSpPr/>
          <p:nvPr/>
        </p:nvSpPr>
        <p:spPr>
          <a:xfrm>
            <a:off x="2635250" y="4919663"/>
            <a:ext cx="620713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7"/>
          <p:cNvSpPr/>
          <p:nvPr/>
        </p:nvSpPr>
        <p:spPr>
          <a:xfrm>
            <a:off x="2012950" y="4919663"/>
            <a:ext cx="622300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7"/>
          <p:cNvSpPr/>
          <p:nvPr/>
        </p:nvSpPr>
        <p:spPr>
          <a:xfrm>
            <a:off x="1392238" y="4919663"/>
            <a:ext cx="620713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7"/>
          <p:cNvSpPr/>
          <p:nvPr/>
        </p:nvSpPr>
        <p:spPr>
          <a:xfrm>
            <a:off x="773113" y="4919663"/>
            <a:ext cx="619125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7"/>
          <p:cNvSpPr/>
          <p:nvPr/>
        </p:nvSpPr>
        <p:spPr>
          <a:xfrm>
            <a:off x="152400" y="4919663"/>
            <a:ext cx="620713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7"/>
          <p:cNvSpPr/>
          <p:nvPr/>
        </p:nvSpPr>
        <p:spPr>
          <a:xfrm>
            <a:off x="3875088" y="4638675"/>
            <a:ext cx="620713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7"/>
          <p:cNvSpPr/>
          <p:nvPr/>
        </p:nvSpPr>
        <p:spPr>
          <a:xfrm>
            <a:off x="3255963" y="4638675"/>
            <a:ext cx="619125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7"/>
          <p:cNvSpPr/>
          <p:nvPr/>
        </p:nvSpPr>
        <p:spPr>
          <a:xfrm>
            <a:off x="2635250" y="4638675"/>
            <a:ext cx="620713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7"/>
          <p:cNvSpPr/>
          <p:nvPr/>
        </p:nvSpPr>
        <p:spPr>
          <a:xfrm>
            <a:off x="2012950" y="4638675"/>
            <a:ext cx="622300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7"/>
          <p:cNvSpPr/>
          <p:nvPr/>
        </p:nvSpPr>
        <p:spPr>
          <a:xfrm>
            <a:off x="1392238" y="4638675"/>
            <a:ext cx="620713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7"/>
          <p:cNvSpPr/>
          <p:nvPr/>
        </p:nvSpPr>
        <p:spPr>
          <a:xfrm>
            <a:off x="773113" y="4638675"/>
            <a:ext cx="619125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7"/>
          <p:cNvSpPr/>
          <p:nvPr/>
        </p:nvSpPr>
        <p:spPr>
          <a:xfrm>
            <a:off x="152400" y="4638675"/>
            <a:ext cx="620713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7"/>
          <p:cNvSpPr/>
          <p:nvPr/>
        </p:nvSpPr>
        <p:spPr>
          <a:xfrm>
            <a:off x="3875088" y="4357688"/>
            <a:ext cx="620713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7"/>
          <p:cNvSpPr/>
          <p:nvPr/>
        </p:nvSpPr>
        <p:spPr>
          <a:xfrm>
            <a:off x="3255963" y="4357688"/>
            <a:ext cx="619125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7"/>
          <p:cNvSpPr/>
          <p:nvPr/>
        </p:nvSpPr>
        <p:spPr>
          <a:xfrm>
            <a:off x="2635250" y="4357688"/>
            <a:ext cx="620713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7"/>
          <p:cNvSpPr/>
          <p:nvPr/>
        </p:nvSpPr>
        <p:spPr>
          <a:xfrm>
            <a:off x="2012950" y="4357688"/>
            <a:ext cx="622300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7"/>
          <p:cNvSpPr/>
          <p:nvPr/>
        </p:nvSpPr>
        <p:spPr>
          <a:xfrm>
            <a:off x="1392238" y="4357688"/>
            <a:ext cx="620713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7"/>
          <p:cNvSpPr/>
          <p:nvPr/>
        </p:nvSpPr>
        <p:spPr>
          <a:xfrm>
            <a:off x="773113" y="4357688"/>
            <a:ext cx="619125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7"/>
          <p:cNvSpPr/>
          <p:nvPr/>
        </p:nvSpPr>
        <p:spPr>
          <a:xfrm>
            <a:off x="152400" y="4357688"/>
            <a:ext cx="620713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7"/>
          <p:cNvSpPr/>
          <p:nvPr/>
        </p:nvSpPr>
        <p:spPr>
          <a:xfrm>
            <a:off x="3875088" y="4076700"/>
            <a:ext cx="620713" cy="280988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1" lang="en-GB" sz="1400" u="none" cap="none" strike="noStrike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B3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7"/>
          <p:cNvSpPr/>
          <p:nvPr/>
        </p:nvSpPr>
        <p:spPr>
          <a:xfrm>
            <a:off x="3255963" y="4076700"/>
            <a:ext cx="619125" cy="280988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1" lang="en-GB" sz="1400" u="none" cap="none" strike="noStrike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B2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7"/>
          <p:cNvSpPr/>
          <p:nvPr/>
        </p:nvSpPr>
        <p:spPr>
          <a:xfrm>
            <a:off x="2635250" y="4076700"/>
            <a:ext cx="620713" cy="280988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1" lang="en-GB" sz="1400" u="none" cap="none" strike="noStrike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B1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7"/>
          <p:cNvSpPr/>
          <p:nvPr/>
        </p:nvSpPr>
        <p:spPr>
          <a:xfrm>
            <a:off x="2012950" y="4076700"/>
            <a:ext cx="622300" cy="280988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1" lang="en-GB" sz="1400" u="none" cap="none" strike="noStrike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B0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7"/>
          <p:cNvSpPr/>
          <p:nvPr/>
        </p:nvSpPr>
        <p:spPr>
          <a:xfrm>
            <a:off x="1392238" y="4076700"/>
            <a:ext cx="620713" cy="280988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1" lang="en-GB" sz="1400" u="none" cap="none" strike="noStrike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Valid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7"/>
          <p:cNvSpPr/>
          <p:nvPr/>
        </p:nvSpPr>
        <p:spPr>
          <a:xfrm>
            <a:off x="773113" y="4076700"/>
            <a:ext cx="619125" cy="280988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1" lang="en-GB" sz="1400" u="none" cap="none" strike="noStrike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Tag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7"/>
          <p:cNvSpPr/>
          <p:nvPr/>
        </p:nvSpPr>
        <p:spPr>
          <a:xfrm>
            <a:off x="152400" y="4076700"/>
            <a:ext cx="620713" cy="280988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1" lang="en-GB" sz="1400" u="none" cap="none" strike="noStrike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Idx</a:t>
            </a:r>
            <a:endParaRPr b="1" i="1" sz="1400" u="none" cap="none" strike="noStrike">
              <a:solidFill>
                <a:srgbClr val="99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85" name="Google Shape;485;p7"/>
          <p:cNvCxnSpPr/>
          <p:nvPr/>
        </p:nvCxnSpPr>
        <p:spPr>
          <a:xfrm>
            <a:off x="152400" y="4357688"/>
            <a:ext cx="4325112" cy="1588"/>
          </a:xfrm>
          <a:prstGeom prst="straightConnector1">
            <a:avLst/>
          </a:prstGeom>
          <a:noFill/>
          <a:ln cap="flat" cmpd="sng" w="12600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86" name="Google Shape;486;p7"/>
          <p:cNvCxnSpPr/>
          <p:nvPr/>
        </p:nvCxnSpPr>
        <p:spPr>
          <a:xfrm>
            <a:off x="152400" y="4638675"/>
            <a:ext cx="4325112" cy="1588"/>
          </a:xfrm>
          <a:prstGeom prst="straightConnector1">
            <a:avLst/>
          </a:prstGeom>
          <a:noFill/>
          <a:ln cap="flat" cmpd="sng" w="12600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87" name="Google Shape;487;p7"/>
          <p:cNvCxnSpPr/>
          <p:nvPr/>
        </p:nvCxnSpPr>
        <p:spPr>
          <a:xfrm>
            <a:off x="152400" y="4919663"/>
            <a:ext cx="4325112" cy="1588"/>
          </a:xfrm>
          <a:prstGeom prst="straightConnector1">
            <a:avLst/>
          </a:prstGeom>
          <a:noFill/>
          <a:ln cap="flat" cmpd="sng" w="12600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88" name="Google Shape;488;p7"/>
          <p:cNvCxnSpPr/>
          <p:nvPr/>
        </p:nvCxnSpPr>
        <p:spPr>
          <a:xfrm>
            <a:off x="152400" y="5200650"/>
            <a:ext cx="4325112" cy="1588"/>
          </a:xfrm>
          <a:prstGeom prst="straightConnector1">
            <a:avLst/>
          </a:prstGeom>
          <a:noFill/>
          <a:ln cap="flat" cmpd="sng" w="12600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89" name="Google Shape;489;p7"/>
          <p:cNvCxnSpPr/>
          <p:nvPr/>
        </p:nvCxnSpPr>
        <p:spPr>
          <a:xfrm>
            <a:off x="152400" y="5484812"/>
            <a:ext cx="4325112" cy="1588"/>
          </a:xfrm>
          <a:prstGeom prst="straightConnector1">
            <a:avLst/>
          </a:prstGeom>
          <a:noFill/>
          <a:ln cap="flat" cmpd="sng" w="12600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90" name="Google Shape;490;p7"/>
          <p:cNvCxnSpPr/>
          <p:nvPr/>
        </p:nvCxnSpPr>
        <p:spPr>
          <a:xfrm>
            <a:off x="152400" y="5788025"/>
            <a:ext cx="4325112" cy="1588"/>
          </a:xfrm>
          <a:prstGeom prst="straightConnector1">
            <a:avLst/>
          </a:prstGeom>
          <a:noFill/>
          <a:ln cap="flat" cmpd="sng" w="12600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91" name="Google Shape;491;p7"/>
          <p:cNvCxnSpPr/>
          <p:nvPr/>
        </p:nvCxnSpPr>
        <p:spPr>
          <a:xfrm>
            <a:off x="152400" y="6069013"/>
            <a:ext cx="4325112" cy="1588"/>
          </a:xfrm>
          <a:prstGeom prst="straightConnector1">
            <a:avLst/>
          </a:prstGeom>
          <a:noFill/>
          <a:ln cap="flat" cmpd="sng" w="12600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92" name="Google Shape;492;p7"/>
          <p:cNvCxnSpPr/>
          <p:nvPr/>
        </p:nvCxnSpPr>
        <p:spPr>
          <a:xfrm>
            <a:off x="152400" y="6350000"/>
            <a:ext cx="4325112" cy="1588"/>
          </a:xfrm>
          <a:prstGeom prst="straightConnector1">
            <a:avLst/>
          </a:prstGeom>
          <a:noFill/>
          <a:ln cap="flat" cmpd="sng" w="12600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93" name="Google Shape;493;p7"/>
          <p:cNvCxnSpPr/>
          <p:nvPr/>
        </p:nvCxnSpPr>
        <p:spPr>
          <a:xfrm>
            <a:off x="773113" y="4076700"/>
            <a:ext cx="1588" cy="2554288"/>
          </a:xfrm>
          <a:prstGeom prst="straightConnector1">
            <a:avLst/>
          </a:prstGeom>
          <a:noFill/>
          <a:ln cap="flat" cmpd="sng" w="12600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94" name="Google Shape;494;p7"/>
          <p:cNvCxnSpPr/>
          <p:nvPr/>
        </p:nvCxnSpPr>
        <p:spPr>
          <a:xfrm>
            <a:off x="1392238" y="4076700"/>
            <a:ext cx="1588" cy="2554288"/>
          </a:xfrm>
          <a:prstGeom prst="straightConnector1">
            <a:avLst/>
          </a:prstGeom>
          <a:noFill/>
          <a:ln cap="flat" cmpd="sng" w="12600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95" name="Google Shape;495;p7"/>
          <p:cNvCxnSpPr/>
          <p:nvPr/>
        </p:nvCxnSpPr>
        <p:spPr>
          <a:xfrm>
            <a:off x="2012950" y="4076700"/>
            <a:ext cx="1588" cy="2554288"/>
          </a:xfrm>
          <a:prstGeom prst="straightConnector1">
            <a:avLst/>
          </a:prstGeom>
          <a:noFill/>
          <a:ln cap="flat" cmpd="sng" w="12600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96" name="Google Shape;496;p7"/>
          <p:cNvCxnSpPr/>
          <p:nvPr/>
        </p:nvCxnSpPr>
        <p:spPr>
          <a:xfrm>
            <a:off x="2635250" y="4076700"/>
            <a:ext cx="1588" cy="2554288"/>
          </a:xfrm>
          <a:prstGeom prst="straightConnector1">
            <a:avLst/>
          </a:prstGeom>
          <a:noFill/>
          <a:ln cap="flat" cmpd="sng" w="12600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97" name="Google Shape;497;p7"/>
          <p:cNvCxnSpPr/>
          <p:nvPr/>
        </p:nvCxnSpPr>
        <p:spPr>
          <a:xfrm>
            <a:off x="3255963" y="4076700"/>
            <a:ext cx="1588" cy="2554288"/>
          </a:xfrm>
          <a:prstGeom prst="straightConnector1">
            <a:avLst/>
          </a:prstGeom>
          <a:noFill/>
          <a:ln cap="flat" cmpd="sng" w="12600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98" name="Google Shape;498;p7"/>
          <p:cNvCxnSpPr/>
          <p:nvPr/>
        </p:nvCxnSpPr>
        <p:spPr>
          <a:xfrm>
            <a:off x="3875088" y="4076700"/>
            <a:ext cx="1588" cy="2554288"/>
          </a:xfrm>
          <a:prstGeom prst="straightConnector1">
            <a:avLst/>
          </a:prstGeom>
          <a:noFill/>
          <a:ln cap="flat" cmpd="sng" w="12600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99" name="Google Shape;499;p7"/>
          <p:cNvCxnSpPr/>
          <p:nvPr/>
        </p:nvCxnSpPr>
        <p:spPr>
          <a:xfrm>
            <a:off x="152400" y="4076700"/>
            <a:ext cx="1588" cy="2554288"/>
          </a:xfrm>
          <a:prstGeom prst="straightConnector1">
            <a:avLst/>
          </a:prstGeom>
          <a:noFill/>
          <a:ln cap="flat" cmpd="sng" w="28575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00" name="Google Shape;500;p7"/>
          <p:cNvCxnSpPr/>
          <p:nvPr/>
        </p:nvCxnSpPr>
        <p:spPr>
          <a:xfrm>
            <a:off x="152400" y="4076700"/>
            <a:ext cx="4325112" cy="1588"/>
          </a:xfrm>
          <a:prstGeom prst="straightConnector1">
            <a:avLst/>
          </a:prstGeom>
          <a:noFill/>
          <a:ln cap="flat" cmpd="sng" w="28575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01" name="Google Shape;501;p7"/>
          <p:cNvCxnSpPr/>
          <p:nvPr/>
        </p:nvCxnSpPr>
        <p:spPr>
          <a:xfrm>
            <a:off x="152400" y="6630988"/>
            <a:ext cx="4325112" cy="1588"/>
          </a:xfrm>
          <a:prstGeom prst="straightConnector1">
            <a:avLst/>
          </a:prstGeom>
          <a:noFill/>
          <a:ln cap="flat" cmpd="sng" w="28575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02" name="Google Shape;502;p7"/>
          <p:cNvCxnSpPr/>
          <p:nvPr/>
        </p:nvCxnSpPr>
        <p:spPr>
          <a:xfrm>
            <a:off x="4487333" y="4083579"/>
            <a:ext cx="1588" cy="2554288"/>
          </a:xfrm>
          <a:prstGeom prst="straightConnector1">
            <a:avLst/>
          </a:prstGeom>
          <a:noFill/>
          <a:ln cap="flat" cmpd="sng" w="28575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03" name="Google Shape;503;p7"/>
          <p:cNvSpPr/>
          <p:nvPr/>
        </p:nvSpPr>
        <p:spPr>
          <a:xfrm>
            <a:off x="8370888" y="6350000"/>
            <a:ext cx="620713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7"/>
          <p:cNvSpPr/>
          <p:nvPr/>
        </p:nvSpPr>
        <p:spPr>
          <a:xfrm>
            <a:off x="7751763" y="6350000"/>
            <a:ext cx="619125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7"/>
          <p:cNvSpPr/>
          <p:nvPr/>
        </p:nvSpPr>
        <p:spPr>
          <a:xfrm>
            <a:off x="7131050" y="6350000"/>
            <a:ext cx="620713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7"/>
          <p:cNvSpPr/>
          <p:nvPr/>
        </p:nvSpPr>
        <p:spPr>
          <a:xfrm>
            <a:off x="6508750" y="6350000"/>
            <a:ext cx="622300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7"/>
          <p:cNvSpPr/>
          <p:nvPr/>
        </p:nvSpPr>
        <p:spPr>
          <a:xfrm>
            <a:off x="5888038" y="6350000"/>
            <a:ext cx="620713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7"/>
          <p:cNvSpPr/>
          <p:nvPr/>
        </p:nvSpPr>
        <p:spPr>
          <a:xfrm>
            <a:off x="5268913" y="6350000"/>
            <a:ext cx="619125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7"/>
          <p:cNvSpPr/>
          <p:nvPr/>
        </p:nvSpPr>
        <p:spPr>
          <a:xfrm>
            <a:off x="4648200" y="6350000"/>
            <a:ext cx="620713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7"/>
          <p:cNvSpPr/>
          <p:nvPr/>
        </p:nvSpPr>
        <p:spPr>
          <a:xfrm>
            <a:off x="8370888" y="6069013"/>
            <a:ext cx="620713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7"/>
          <p:cNvSpPr/>
          <p:nvPr/>
        </p:nvSpPr>
        <p:spPr>
          <a:xfrm>
            <a:off x="7751763" y="6069013"/>
            <a:ext cx="619125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7"/>
          <p:cNvSpPr/>
          <p:nvPr/>
        </p:nvSpPr>
        <p:spPr>
          <a:xfrm>
            <a:off x="7131050" y="6069013"/>
            <a:ext cx="620713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7"/>
          <p:cNvSpPr/>
          <p:nvPr/>
        </p:nvSpPr>
        <p:spPr>
          <a:xfrm>
            <a:off x="6508750" y="6069013"/>
            <a:ext cx="622300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7"/>
          <p:cNvSpPr/>
          <p:nvPr/>
        </p:nvSpPr>
        <p:spPr>
          <a:xfrm>
            <a:off x="5888038" y="6069013"/>
            <a:ext cx="620713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7"/>
          <p:cNvSpPr/>
          <p:nvPr/>
        </p:nvSpPr>
        <p:spPr>
          <a:xfrm>
            <a:off x="5268913" y="6069013"/>
            <a:ext cx="619125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7"/>
          <p:cNvSpPr/>
          <p:nvPr/>
        </p:nvSpPr>
        <p:spPr>
          <a:xfrm>
            <a:off x="4648200" y="6069013"/>
            <a:ext cx="620713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7"/>
          <p:cNvSpPr/>
          <p:nvPr/>
        </p:nvSpPr>
        <p:spPr>
          <a:xfrm>
            <a:off x="8370888" y="5788025"/>
            <a:ext cx="620713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7"/>
          <p:cNvSpPr/>
          <p:nvPr/>
        </p:nvSpPr>
        <p:spPr>
          <a:xfrm>
            <a:off x="7751763" y="5788025"/>
            <a:ext cx="619125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7"/>
          <p:cNvSpPr/>
          <p:nvPr/>
        </p:nvSpPr>
        <p:spPr>
          <a:xfrm>
            <a:off x="7131050" y="5788025"/>
            <a:ext cx="620713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7"/>
          <p:cNvSpPr/>
          <p:nvPr/>
        </p:nvSpPr>
        <p:spPr>
          <a:xfrm>
            <a:off x="6508750" y="5788025"/>
            <a:ext cx="622300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7"/>
          <p:cNvSpPr/>
          <p:nvPr/>
        </p:nvSpPr>
        <p:spPr>
          <a:xfrm>
            <a:off x="5888038" y="5788025"/>
            <a:ext cx="620713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7"/>
          <p:cNvSpPr/>
          <p:nvPr/>
        </p:nvSpPr>
        <p:spPr>
          <a:xfrm>
            <a:off x="5268913" y="5788025"/>
            <a:ext cx="619125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7"/>
          <p:cNvSpPr/>
          <p:nvPr/>
        </p:nvSpPr>
        <p:spPr>
          <a:xfrm>
            <a:off x="4648200" y="5788025"/>
            <a:ext cx="620713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7"/>
          <p:cNvSpPr/>
          <p:nvPr/>
        </p:nvSpPr>
        <p:spPr>
          <a:xfrm>
            <a:off x="8370888" y="5481638"/>
            <a:ext cx="620713" cy="306388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7"/>
          <p:cNvSpPr/>
          <p:nvPr/>
        </p:nvSpPr>
        <p:spPr>
          <a:xfrm>
            <a:off x="7751763" y="5481638"/>
            <a:ext cx="619125" cy="306388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7"/>
          <p:cNvSpPr/>
          <p:nvPr/>
        </p:nvSpPr>
        <p:spPr>
          <a:xfrm>
            <a:off x="7131050" y="5481638"/>
            <a:ext cx="620713" cy="306388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p7"/>
          <p:cNvSpPr/>
          <p:nvPr/>
        </p:nvSpPr>
        <p:spPr>
          <a:xfrm>
            <a:off x="6508750" y="5481638"/>
            <a:ext cx="622300" cy="306388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7"/>
          <p:cNvSpPr/>
          <p:nvPr/>
        </p:nvSpPr>
        <p:spPr>
          <a:xfrm>
            <a:off x="5888038" y="5481638"/>
            <a:ext cx="620713" cy="306388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7"/>
          <p:cNvSpPr/>
          <p:nvPr/>
        </p:nvSpPr>
        <p:spPr>
          <a:xfrm>
            <a:off x="5268913" y="5481638"/>
            <a:ext cx="619125" cy="306388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7"/>
          <p:cNvSpPr/>
          <p:nvPr/>
        </p:nvSpPr>
        <p:spPr>
          <a:xfrm>
            <a:off x="4648200" y="5481638"/>
            <a:ext cx="620713" cy="306388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7"/>
          <p:cNvSpPr/>
          <p:nvPr/>
        </p:nvSpPr>
        <p:spPr>
          <a:xfrm>
            <a:off x="8370888" y="5200650"/>
            <a:ext cx="620713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7"/>
          <p:cNvSpPr/>
          <p:nvPr/>
        </p:nvSpPr>
        <p:spPr>
          <a:xfrm>
            <a:off x="7751763" y="5200650"/>
            <a:ext cx="619125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7"/>
          <p:cNvSpPr/>
          <p:nvPr/>
        </p:nvSpPr>
        <p:spPr>
          <a:xfrm>
            <a:off x="7131050" y="5200650"/>
            <a:ext cx="620713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7"/>
          <p:cNvSpPr/>
          <p:nvPr/>
        </p:nvSpPr>
        <p:spPr>
          <a:xfrm>
            <a:off x="6508750" y="5200650"/>
            <a:ext cx="622300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p7"/>
          <p:cNvSpPr/>
          <p:nvPr/>
        </p:nvSpPr>
        <p:spPr>
          <a:xfrm>
            <a:off x="5888038" y="5200650"/>
            <a:ext cx="620713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7"/>
          <p:cNvSpPr/>
          <p:nvPr/>
        </p:nvSpPr>
        <p:spPr>
          <a:xfrm>
            <a:off x="5268913" y="5200650"/>
            <a:ext cx="619125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7"/>
          <p:cNvSpPr/>
          <p:nvPr/>
        </p:nvSpPr>
        <p:spPr>
          <a:xfrm>
            <a:off x="4648200" y="5200650"/>
            <a:ext cx="620713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7"/>
          <p:cNvSpPr/>
          <p:nvPr/>
        </p:nvSpPr>
        <p:spPr>
          <a:xfrm>
            <a:off x="8370888" y="4919663"/>
            <a:ext cx="620713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7"/>
          <p:cNvSpPr/>
          <p:nvPr/>
        </p:nvSpPr>
        <p:spPr>
          <a:xfrm>
            <a:off x="7751763" y="4919663"/>
            <a:ext cx="619125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7"/>
          <p:cNvSpPr/>
          <p:nvPr/>
        </p:nvSpPr>
        <p:spPr>
          <a:xfrm>
            <a:off x="7131050" y="4919663"/>
            <a:ext cx="620713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7"/>
          <p:cNvSpPr/>
          <p:nvPr/>
        </p:nvSpPr>
        <p:spPr>
          <a:xfrm>
            <a:off x="6508750" y="4919663"/>
            <a:ext cx="622300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7"/>
          <p:cNvSpPr/>
          <p:nvPr/>
        </p:nvSpPr>
        <p:spPr>
          <a:xfrm>
            <a:off x="5888038" y="4919663"/>
            <a:ext cx="620713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7"/>
          <p:cNvSpPr/>
          <p:nvPr/>
        </p:nvSpPr>
        <p:spPr>
          <a:xfrm>
            <a:off x="5268913" y="4919663"/>
            <a:ext cx="619125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7"/>
          <p:cNvSpPr/>
          <p:nvPr/>
        </p:nvSpPr>
        <p:spPr>
          <a:xfrm>
            <a:off x="4648200" y="4919663"/>
            <a:ext cx="620713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7"/>
          <p:cNvSpPr/>
          <p:nvPr/>
        </p:nvSpPr>
        <p:spPr>
          <a:xfrm>
            <a:off x="8370888" y="4638675"/>
            <a:ext cx="620713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7"/>
          <p:cNvSpPr/>
          <p:nvPr/>
        </p:nvSpPr>
        <p:spPr>
          <a:xfrm>
            <a:off x="7751763" y="4638675"/>
            <a:ext cx="619125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7"/>
          <p:cNvSpPr/>
          <p:nvPr/>
        </p:nvSpPr>
        <p:spPr>
          <a:xfrm>
            <a:off x="7131050" y="4638675"/>
            <a:ext cx="620713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7"/>
          <p:cNvSpPr/>
          <p:nvPr/>
        </p:nvSpPr>
        <p:spPr>
          <a:xfrm>
            <a:off x="6508750" y="4638675"/>
            <a:ext cx="622300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p7"/>
          <p:cNvSpPr/>
          <p:nvPr/>
        </p:nvSpPr>
        <p:spPr>
          <a:xfrm>
            <a:off x="5888038" y="4638675"/>
            <a:ext cx="620713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p7"/>
          <p:cNvSpPr/>
          <p:nvPr/>
        </p:nvSpPr>
        <p:spPr>
          <a:xfrm>
            <a:off x="5268913" y="4638675"/>
            <a:ext cx="619125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7"/>
          <p:cNvSpPr/>
          <p:nvPr/>
        </p:nvSpPr>
        <p:spPr>
          <a:xfrm>
            <a:off x="4648200" y="4638675"/>
            <a:ext cx="620713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p7"/>
          <p:cNvSpPr/>
          <p:nvPr/>
        </p:nvSpPr>
        <p:spPr>
          <a:xfrm>
            <a:off x="8370888" y="4357688"/>
            <a:ext cx="620713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p7"/>
          <p:cNvSpPr/>
          <p:nvPr/>
        </p:nvSpPr>
        <p:spPr>
          <a:xfrm>
            <a:off x="7751763" y="4357688"/>
            <a:ext cx="619125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7"/>
          <p:cNvSpPr/>
          <p:nvPr/>
        </p:nvSpPr>
        <p:spPr>
          <a:xfrm>
            <a:off x="7131050" y="4357688"/>
            <a:ext cx="620713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7"/>
          <p:cNvSpPr/>
          <p:nvPr/>
        </p:nvSpPr>
        <p:spPr>
          <a:xfrm>
            <a:off x="6508750" y="4357688"/>
            <a:ext cx="622300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p7"/>
          <p:cNvSpPr/>
          <p:nvPr/>
        </p:nvSpPr>
        <p:spPr>
          <a:xfrm>
            <a:off x="5888038" y="4357688"/>
            <a:ext cx="620713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p7"/>
          <p:cNvSpPr/>
          <p:nvPr/>
        </p:nvSpPr>
        <p:spPr>
          <a:xfrm>
            <a:off x="5268913" y="4357688"/>
            <a:ext cx="619125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p7"/>
          <p:cNvSpPr/>
          <p:nvPr/>
        </p:nvSpPr>
        <p:spPr>
          <a:xfrm>
            <a:off x="4648200" y="4357688"/>
            <a:ext cx="620713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7"/>
          <p:cNvSpPr/>
          <p:nvPr/>
        </p:nvSpPr>
        <p:spPr>
          <a:xfrm>
            <a:off x="8370888" y="4076700"/>
            <a:ext cx="620713" cy="280988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1" lang="en-GB" sz="1400" u="none" cap="none" strike="noStrike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B3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p7"/>
          <p:cNvSpPr/>
          <p:nvPr/>
        </p:nvSpPr>
        <p:spPr>
          <a:xfrm>
            <a:off x="7751763" y="4076700"/>
            <a:ext cx="619125" cy="280988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1" lang="en-GB" sz="1400" u="none" cap="none" strike="noStrike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B2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p7"/>
          <p:cNvSpPr/>
          <p:nvPr/>
        </p:nvSpPr>
        <p:spPr>
          <a:xfrm>
            <a:off x="7131050" y="4076700"/>
            <a:ext cx="620713" cy="280988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1" lang="en-GB" sz="1400" u="none" cap="none" strike="noStrike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B1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p7"/>
          <p:cNvSpPr/>
          <p:nvPr/>
        </p:nvSpPr>
        <p:spPr>
          <a:xfrm>
            <a:off x="6508750" y="4076700"/>
            <a:ext cx="622300" cy="280988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1" lang="en-GB" sz="1400" u="none" cap="none" strike="noStrike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B0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7"/>
          <p:cNvSpPr/>
          <p:nvPr/>
        </p:nvSpPr>
        <p:spPr>
          <a:xfrm>
            <a:off x="5888038" y="4076700"/>
            <a:ext cx="620713" cy="280988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1" lang="en-GB" sz="1400" u="none" cap="none" strike="noStrike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Valid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p7"/>
          <p:cNvSpPr/>
          <p:nvPr/>
        </p:nvSpPr>
        <p:spPr>
          <a:xfrm>
            <a:off x="5268913" y="4076700"/>
            <a:ext cx="619125" cy="280988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1" lang="en-GB" sz="1400" u="none" cap="none" strike="noStrike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Tag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7"/>
          <p:cNvSpPr/>
          <p:nvPr/>
        </p:nvSpPr>
        <p:spPr>
          <a:xfrm>
            <a:off x="4648200" y="4076700"/>
            <a:ext cx="620713" cy="280988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1" lang="en-GB" sz="1400" u="none" cap="none" strike="noStrike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Idx</a:t>
            </a:r>
            <a:endParaRPr b="1" i="1" sz="1400" u="none" cap="none" strike="noStrike">
              <a:solidFill>
                <a:srgbClr val="99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66" name="Google Shape;566;p7"/>
          <p:cNvCxnSpPr/>
          <p:nvPr/>
        </p:nvCxnSpPr>
        <p:spPr>
          <a:xfrm>
            <a:off x="4666488" y="4357688"/>
            <a:ext cx="4325112" cy="1588"/>
          </a:xfrm>
          <a:prstGeom prst="straightConnector1">
            <a:avLst/>
          </a:prstGeom>
          <a:noFill/>
          <a:ln cap="flat" cmpd="sng" w="12600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67" name="Google Shape;567;p7"/>
          <p:cNvCxnSpPr/>
          <p:nvPr/>
        </p:nvCxnSpPr>
        <p:spPr>
          <a:xfrm>
            <a:off x="4666488" y="4638675"/>
            <a:ext cx="4325112" cy="1588"/>
          </a:xfrm>
          <a:prstGeom prst="straightConnector1">
            <a:avLst/>
          </a:prstGeom>
          <a:noFill/>
          <a:ln cap="flat" cmpd="sng" w="12600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68" name="Google Shape;568;p7"/>
          <p:cNvCxnSpPr/>
          <p:nvPr/>
        </p:nvCxnSpPr>
        <p:spPr>
          <a:xfrm>
            <a:off x="4666488" y="4919663"/>
            <a:ext cx="4325112" cy="1588"/>
          </a:xfrm>
          <a:prstGeom prst="straightConnector1">
            <a:avLst/>
          </a:prstGeom>
          <a:noFill/>
          <a:ln cap="flat" cmpd="sng" w="12600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69" name="Google Shape;569;p7"/>
          <p:cNvCxnSpPr/>
          <p:nvPr/>
        </p:nvCxnSpPr>
        <p:spPr>
          <a:xfrm>
            <a:off x="4666488" y="5200650"/>
            <a:ext cx="4325112" cy="1588"/>
          </a:xfrm>
          <a:prstGeom prst="straightConnector1">
            <a:avLst/>
          </a:prstGeom>
          <a:noFill/>
          <a:ln cap="flat" cmpd="sng" w="12600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70" name="Google Shape;570;p7"/>
          <p:cNvCxnSpPr/>
          <p:nvPr/>
        </p:nvCxnSpPr>
        <p:spPr>
          <a:xfrm>
            <a:off x="4666488" y="5484812"/>
            <a:ext cx="4325112" cy="1588"/>
          </a:xfrm>
          <a:prstGeom prst="straightConnector1">
            <a:avLst/>
          </a:prstGeom>
          <a:noFill/>
          <a:ln cap="flat" cmpd="sng" w="12600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71" name="Google Shape;571;p7"/>
          <p:cNvCxnSpPr/>
          <p:nvPr/>
        </p:nvCxnSpPr>
        <p:spPr>
          <a:xfrm>
            <a:off x="4666488" y="5788025"/>
            <a:ext cx="4325112" cy="1588"/>
          </a:xfrm>
          <a:prstGeom prst="straightConnector1">
            <a:avLst/>
          </a:prstGeom>
          <a:noFill/>
          <a:ln cap="flat" cmpd="sng" w="12600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72" name="Google Shape;572;p7"/>
          <p:cNvCxnSpPr/>
          <p:nvPr/>
        </p:nvCxnSpPr>
        <p:spPr>
          <a:xfrm>
            <a:off x="4666488" y="6069013"/>
            <a:ext cx="4325112" cy="1588"/>
          </a:xfrm>
          <a:prstGeom prst="straightConnector1">
            <a:avLst/>
          </a:prstGeom>
          <a:noFill/>
          <a:ln cap="flat" cmpd="sng" w="12600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73" name="Google Shape;573;p7"/>
          <p:cNvCxnSpPr/>
          <p:nvPr/>
        </p:nvCxnSpPr>
        <p:spPr>
          <a:xfrm>
            <a:off x="4666488" y="6350000"/>
            <a:ext cx="4325112" cy="1588"/>
          </a:xfrm>
          <a:prstGeom prst="straightConnector1">
            <a:avLst/>
          </a:prstGeom>
          <a:noFill/>
          <a:ln cap="flat" cmpd="sng" w="12600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74" name="Google Shape;574;p7"/>
          <p:cNvCxnSpPr/>
          <p:nvPr/>
        </p:nvCxnSpPr>
        <p:spPr>
          <a:xfrm>
            <a:off x="5268913" y="4076700"/>
            <a:ext cx="1588" cy="2554288"/>
          </a:xfrm>
          <a:prstGeom prst="straightConnector1">
            <a:avLst/>
          </a:prstGeom>
          <a:noFill/>
          <a:ln cap="flat" cmpd="sng" w="12600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75" name="Google Shape;575;p7"/>
          <p:cNvCxnSpPr/>
          <p:nvPr/>
        </p:nvCxnSpPr>
        <p:spPr>
          <a:xfrm>
            <a:off x="5888038" y="4076700"/>
            <a:ext cx="1588" cy="2554288"/>
          </a:xfrm>
          <a:prstGeom prst="straightConnector1">
            <a:avLst/>
          </a:prstGeom>
          <a:noFill/>
          <a:ln cap="flat" cmpd="sng" w="12600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76" name="Google Shape;576;p7"/>
          <p:cNvCxnSpPr/>
          <p:nvPr/>
        </p:nvCxnSpPr>
        <p:spPr>
          <a:xfrm>
            <a:off x="6508750" y="4076700"/>
            <a:ext cx="1588" cy="2554288"/>
          </a:xfrm>
          <a:prstGeom prst="straightConnector1">
            <a:avLst/>
          </a:prstGeom>
          <a:noFill/>
          <a:ln cap="flat" cmpd="sng" w="12600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77" name="Google Shape;577;p7"/>
          <p:cNvCxnSpPr/>
          <p:nvPr/>
        </p:nvCxnSpPr>
        <p:spPr>
          <a:xfrm>
            <a:off x="7131050" y="4076700"/>
            <a:ext cx="1588" cy="2554288"/>
          </a:xfrm>
          <a:prstGeom prst="straightConnector1">
            <a:avLst/>
          </a:prstGeom>
          <a:noFill/>
          <a:ln cap="flat" cmpd="sng" w="12600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78" name="Google Shape;578;p7"/>
          <p:cNvCxnSpPr/>
          <p:nvPr/>
        </p:nvCxnSpPr>
        <p:spPr>
          <a:xfrm>
            <a:off x="7751763" y="4076700"/>
            <a:ext cx="1588" cy="2554288"/>
          </a:xfrm>
          <a:prstGeom prst="straightConnector1">
            <a:avLst/>
          </a:prstGeom>
          <a:noFill/>
          <a:ln cap="flat" cmpd="sng" w="12600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79" name="Google Shape;579;p7"/>
          <p:cNvCxnSpPr/>
          <p:nvPr/>
        </p:nvCxnSpPr>
        <p:spPr>
          <a:xfrm>
            <a:off x="8370888" y="4076700"/>
            <a:ext cx="1588" cy="2554288"/>
          </a:xfrm>
          <a:prstGeom prst="straightConnector1">
            <a:avLst/>
          </a:prstGeom>
          <a:noFill/>
          <a:ln cap="flat" cmpd="sng" w="12600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80" name="Google Shape;580;p7"/>
          <p:cNvCxnSpPr/>
          <p:nvPr/>
        </p:nvCxnSpPr>
        <p:spPr>
          <a:xfrm>
            <a:off x="4666488" y="4076700"/>
            <a:ext cx="4325112" cy="1588"/>
          </a:xfrm>
          <a:prstGeom prst="straightConnector1">
            <a:avLst/>
          </a:prstGeom>
          <a:noFill/>
          <a:ln cap="flat" cmpd="sng" w="28575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81" name="Google Shape;581;p7"/>
          <p:cNvCxnSpPr/>
          <p:nvPr/>
        </p:nvCxnSpPr>
        <p:spPr>
          <a:xfrm>
            <a:off x="8991601" y="4076700"/>
            <a:ext cx="1588" cy="2554288"/>
          </a:xfrm>
          <a:prstGeom prst="straightConnector1">
            <a:avLst/>
          </a:prstGeom>
          <a:noFill/>
          <a:ln cap="flat" cmpd="sng" w="28575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82" name="Google Shape;582;p7"/>
          <p:cNvCxnSpPr/>
          <p:nvPr/>
        </p:nvCxnSpPr>
        <p:spPr>
          <a:xfrm>
            <a:off x="4666488" y="6630988"/>
            <a:ext cx="4325112" cy="1588"/>
          </a:xfrm>
          <a:prstGeom prst="straightConnector1">
            <a:avLst/>
          </a:prstGeom>
          <a:noFill/>
          <a:ln cap="flat" cmpd="sng" w="28575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83" name="Google Shape;583;p7"/>
          <p:cNvCxnSpPr/>
          <p:nvPr/>
        </p:nvCxnSpPr>
        <p:spPr>
          <a:xfrm>
            <a:off x="4648200" y="4083579"/>
            <a:ext cx="1588" cy="2554288"/>
          </a:xfrm>
          <a:prstGeom prst="straightConnector1">
            <a:avLst/>
          </a:prstGeom>
          <a:noFill/>
          <a:ln cap="flat" cmpd="sng" w="28575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8"/>
          <p:cNvSpPr txBox="1"/>
          <p:nvPr>
            <p:ph type="title"/>
          </p:nvPr>
        </p:nvSpPr>
        <p:spPr>
          <a:xfrm>
            <a:off x="381000" y="493713"/>
            <a:ext cx="7345363" cy="5730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Address Translation Example #1</a:t>
            </a:r>
            <a:endParaRPr/>
          </a:p>
        </p:txBody>
      </p:sp>
      <p:sp>
        <p:nvSpPr>
          <p:cNvPr id="590" name="Google Shape;590;p8"/>
          <p:cNvSpPr txBox="1"/>
          <p:nvPr>
            <p:ph idx="1" type="body"/>
          </p:nvPr>
        </p:nvSpPr>
        <p:spPr>
          <a:xfrm>
            <a:off x="381000" y="1371600"/>
            <a:ext cx="8307387" cy="5333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222250" rtl="0" algn="l">
              <a:lnSpc>
                <a:spcPct val="73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GB"/>
              <a:t>Virtual Address: </a:t>
            </a:r>
            <a:r>
              <a:rPr lang="en-GB">
                <a:latin typeface="Courier New"/>
                <a:ea typeface="Courier New"/>
                <a:cs typeface="Courier New"/>
                <a:sym typeface="Courier New"/>
              </a:rPr>
              <a:t>0x03D4</a:t>
            </a:r>
            <a:endParaRPr/>
          </a:p>
          <a:p>
            <a:pPr indent="-222250" lvl="0" marL="2222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Noto Sans Symbols"/>
              <a:buNone/>
            </a:pPr>
            <a:r>
              <a:t/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-222250" lvl="0" marL="2222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Noto Sans Symbols"/>
              <a:buNone/>
            </a:pPr>
            <a:r>
              <a:t/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-220663" lvl="1" marL="55880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Noto Sans Symbols"/>
              <a:buNone/>
            </a:pPr>
            <a:r>
              <a:t/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-220663" lvl="1" marL="558800" rtl="0" algn="l">
              <a:lnSpc>
                <a:spcPct val="78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Noto Sans Symbols"/>
              <a:buNone/>
            </a:pPr>
            <a:r>
              <a:t/>
            </a:r>
            <a:endParaRPr sz="1600"/>
          </a:p>
          <a:p>
            <a:pPr indent="-220663" lvl="1" marL="558800" rtl="0" algn="l">
              <a:lnSpc>
                <a:spcPct val="78000"/>
              </a:lnSpc>
              <a:spcBef>
                <a:spcPts val="500"/>
              </a:spcBef>
              <a:spcAft>
                <a:spcPts val="0"/>
              </a:spcAft>
              <a:buSzPts val="1050"/>
              <a:buFont typeface="Noto Sans Symbols"/>
              <a:buNone/>
            </a:pPr>
            <a:r>
              <a:t/>
            </a:r>
            <a:endParaRPr sz="1400"/>
          </a:p>
          <a:p>
            <a:pPr indent="-220663" lvl="1" marL="558800" rtl="0" algn="l">
              <a:lnSpc>
                <a:spcPct val="78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Noto Sans Symbols"/>
              <a:buNone/>
            </a:pPr>
            <a:r>
              <a:t/>
            </a:r>
            <a:endParaRPr sz="1600"/>
          </a:p>
          <a:p>
            <a:pPr indent="-220663" lvl="1" marL="558800" rtl="0" algn="l">
              <a:lnSpc>
                <a:spcPct val="78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Noto Sans Symbols"/>
              <a:buNone/>
            </a:pPr>
            <a:r>
              <a:rPr lang="en-GB" sz="1600"/>
              <a:t>VPN ___	TLBI ___	TLBT ____	          TLB Hit? __	Page Fault? __        PPN: ____</a:t>
            </a:r>
            <a:endParaRPr/>
          </a:p>
          <a:p>
            <a:pPr indent="-222250" lvl="0" marL="222250" rtl="0" algn="l">
              <a:lnSpc>
                <a:spcPct val="73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Noto Sans Symbols"/>
              <a:buNone/>
            </a:pPr>
            <a:r>
              <a:t/>
            </a:r>
            <a:endParaRPr/>
          </a:p>
          <a:p>
            <a:pPr indent="-222250" lvl="0" marL="222250" rtl="0" algn="l">
              <a:lnSpc>
                <a:spcPct val="73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Noto Sans Symbols"/>
              <a:buNone/>
            </a:pPr>
            <a:r>
              <a:rPr lang="en-GB"/>
              <a:t>Physical Address</a:t>
            </a:r>
            <a:endParaRPr/>
          </a:p>
          <a:p>
            <a:pPr indent="-220663" lvl="1" marL="558800" rtl="0" algn="l">
              <a:lnSpc>
                <a:spcPct val="78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Noto Sans Symbols"/>
              <a:buNone/>
            </a:pPr>
            <a:r>
              <a:t/>
            </a:r>
            <a:endParaRPr/>
          </a:p>
          <a:p>
            <a:pPr indent="-220663" lvl="1" marL="558800" rtl="0" algn="l">
              <a:lnSpc>
                <a:spcPct val="78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Noto Sans Symbols"/>
              <a:buNone/>
            </a:pPr>
            <a:r>
              <a:t/>
            </a:r>
            <a:endParaRPr/>
          </a:p>
          <a:p>
            <a:pPr indent="-220663" lvl="1" marL="558800" rtl="0" algn="l">
              <a:lnSpc>
                <a:spcPct val="78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Noto Sans Symbols"/>
              <a:buNone/>
            </a:pPr>
            <a:r>
              <a:t/>
            </a:r>
            <a:endParaRPr/>
          </a:p>
          <a:p>
            <a:pPr indent="-220663" lvl="1" marL="558800" rtl="0" algn="l">
              <a:lnSpc>
                <a:spcPct val="78000"/>
              </a:lnSpc>
              <a:spcBef>
                <a:spcPts val="320"/>
              </a:spcBef>
              <a:spcAft>
                <a:spcPts val="0"/>
              </a:spcAft>
              <a:buSzPts val="1200"/>
              <a:buFont typeface="Noto Sans Symbols"/>
              <a:buNone/>
            </a:pPr>
            <a:r>
              <a:t/>
            </a:r>
            <a:endParaRPr sz="1600"/>
          </a:p>
          <a:p>
            <a:pPr indent="-220663" lvl="1" marL="558800" rtl="0" algn="l">
              <a:lnSpc>
                <a:spcPct val="78000"/>
              </a:lnSpc>
              <a:spcBef>
                <a:spcPts val="320"/>
              </a:spcBef>
              <a:spcAft>
                <a:spcPts val="0"/>
              </a:spcAft>
              <a:buSzPts val="1200"/>
              <a:buFont typeface="Noto Sans Symbols"/>
              <a:buNone/>
            </a:pPr>
            <a:r>
              <a:t/>
            </a:r>
            <a:endParaRPr sz="1600"/>
          </a:p>
          <a:p>
            <a:pPr indent="-220663" lvl="1" marL="558800" rtl="0" algn="l">
              <a:lnSpc>
                <a:spcPct val="78000"/>
              </a:lnSpc>
              <a:spcBef>
                <a:spcPts val="320"/>
              </a:spcBef>
              <a:spcAft>
                <a:spcPts val="0"/>
              </a:spcAft>
              <a:buSzPts val="1200"/>
              <a:buFont typeface="Noto Sans Symbols"/>
              <a:buNone/>
            </a:pPr>
            <a:r>
              <a:t/>
            </a:r>
            <a:endParaRPr sz="1600"/>
          </a:p>
          <a:p>
            <a:pPr indent="-220663" lvl="1" marL="558800" rtl="0" algn="l">
              <a:lnSpc>
                <a:spcPct val="78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Noto Sans Symbols"/>
              <a:buNone/>
            </a:pPr>
            <a:r>
              <a:rPr lang="en-GB" sz="1600"/>
              <a:t>	CO ___	CI___	CT ____	     Hit? __              Byte: ____</a:t>
            </a:r>
            <a:endParaRPr/>
          </a:p>
          <a:p>
            <a:pPr indent="-220663" lvl="1" marL="558800" rtl="0" algn="l">
              <a:lnSpc>
                <a:spcPct val="78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Noto Sans Symbols"/>
              <a:buNone/>
            </a:pPr>
            <a:r>
              <a:t/>
            </a:r>
            <a:endParaRPr sz="1600"/>
          </a:p>
        </p:txBody>
      </p:sp>
      <p:sp>
        <p:nvSpPr>
          <p:cNvPr id="591" name="Google Shape;591;p8"/>
          <p:cNvSpPr/>
          <p:nvPr/>
        </p:nvSpPr>
        <p:spPr>
          <a:xfrm>
            <a:off x="1089025" y="2459011"/>
            <a:ext cx="487363" cy="304800"/>
          </a:xfrm>
          <a:prstGeom prst="rect">
            <a:avLst/>
          </a:prstGeom>
          <a:solidFill>
            <a:srgbClr val="E5E5E5"/>
          </a:solidFill>
          <a:ln cap="flat" cmpd="sng" w="9525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592" name="Google Shape;592;p8"/>
          <p:cNvSpPr/>
          <p:nvPr/>
        </p:nvSpPr>
        <p:spPr>
          <a:xfrm>
            <a:off x="1089025" y="2154211"/>
            <a:ext cx="487363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3300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p8"/>
          <p:cNvSpPr/>
          <p:nvPr/>
        </p:nvSpPr>
        <p:spPr>
          <a:xfrm>
            <a:off x="1576387" y="2459011"/>
            <a:ext cx="487363" cy="304800"/>
          </a:xfrm>
          <a:prstGeom prst="rect">
            <a:avLst/>
          </a:prstGeom>
          <a:solidFill>
            <a:srgbClr val="E5E5E5"/>
          </a:solidFill>
          <a:ln cap="flat" cmpd="sng" w="9525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594" name="Google Shape;594;p8"/>
          <p:cNvSpPr/>
          <p:nvPr/>
        </p:nvSpPr>
        <p:spPr>
          <a:xfrm>
            <a:off x="1576387" y="2154211"/>
            <a:ext cx="487363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3300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p8"/>
          <p:cNvSpPr/>
          <p:nvPr/>
        </p:nvSpPr>
        <p:spPr>
          <a:xfrm>
            <a:off x="2063750" y="2459011"/>
            <a:ext cx="487363" cy="304800"/>
          </a:xfrm>
          <a:prstGeom prst="rect">
            <a:avLst/>
          </a:prstGeom>
          <a:solidFill>
            <a:srgbClr val="E5E5E5"/>
          </a:solidFill>
          <a:ln cap="flat" cmpd="sng" w="9525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596" name="Google Shape;596;p8"/>
          <p:cNvSpPr/>
          <p:nvPr/>
        </p:nvSpPr>
        <p:spPr>
          <a:xfrm>
            <a:off x="2063750" y="2154211"/>
            <a:ext cx="487363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3300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p8"/>
          <p:cNvSpPr/>
          <p:nvPr/>
        </p:nvSpPr>
        <p:spPr>
          <a:xfrm>
            <a:off x="2551112" y="2459011"/>
            <a:ext cx="487363" cy="304800"/>
          </a:xfrm>
          <a:prstGeom prst="rect">
            <a:avLst/>
          </a:prstGeom>
          <a:solidFill>
            <a:srgbClr val="E5E5E5"/>
          </a:solidFill>
          <a:ln cap="flat" cmpd="sng" w="9525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598" name="Google Shape;598;p8"/>
          <p:cNvSpPr/>
          <p:nvPr/>
        </p:nvSpPr>
        <p:spPr>
          <a:xfrm>
            <a:off x="2551112" y="2154211"/>
            <a:ext cx="487363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3300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p8"/>
          <p:cNvSpPr/>
          <p:nvPr/>
        </p:nvSpPr>
        <p:spPr>
          <a:xfrm>
            <a:off x="3038475" y="2459011"/>
            <a:ext cx="487363" cy="304800"/>
          </a:xfrm>
          <a:prstGeom prst="rect">
            <a:avLst/>
          </a:prstGeom>
          <a:solidFill>
            <a:srgbClr val="E5E5E5"/>
          </a:solidFill>
          <a:ln cap="flat" cmpd="sng" w="9525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600" name="Google Shape;600;p8"/>
          <p:cNvSpPr/>
          <p:nvPr/>
        </p:nvSpPr>
        <p:spPr>
          <a:xfrm>
            <a:off x="3038475" y="2154211"/>
            <a:ext cx="487363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330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p8"/>
          <p:cNvSpPr/>
          <p:nvPr/>
        </p:nvSpPr>
        <p:spPr>
          <a:xfrm>
            <a:off x="3525837" y="2459011"/>
            <a:ext cx="487363" cy="304800"/>
          </a:xfrm>
          <a:prstGeom prst="rect">
            <a:avLst/>
          </a:prstGeom>
          <a:solidFill>
            <a:srgbClr val="E5E5E5"/>
          </a:solidFill>
          <a:ln cap="flat" cmpd="sng" w="9525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602" name="Google Shape;602;p8"/>
          <p:cNvSpPr/>
          <p:nvPr/>
        </p:nvSpPr>
        <p:spPr>
          <a:xfrm>
            <a:off x="3525837" y="2154211"/>
            <a:ext cx="487363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330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" name="Google Shape;603;p8"/>
          <p:cNvSpPr/>
          <p:nvPr/>
        </p:nvSpPr>
        <p:spPr>
          <a:xfrm>
            <a:off x="4013200" y="2459011"/>
            <a:ext cx="487363" cy="30480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604" name="Google Shape;604;p8"/>
          <p:cNvSpPr/>
          <p:nvPr/>
        </p:nvSpPr>
        <p:spPr>
          <a:xfrm>
            <a:off x="4013200" y="2154211"/>
            <a:ext cx="487363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330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p8"/>
          <p:cNvSpPr/>
          <p:nvPr/>
        </p:nvSpPr>
        <p:spPr>
          <a:xfrm>
            <a:off x="4500562" y="2459011"/>
            <a:ext cx="487363" cy="30480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606" name="Google Shape;606;p8"/>
          <p:cNvSpPr/>
          <p:nvPr/>
        </p:nvSpPr>
        <p:spPr>
          <a:xfrm>
            <a:off x="4500562" y="2154211"/>
            <a:ext cx="487363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330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8"/>
          <p:cNvSpPr/>
          <p:nvPr/>
        </p:nvSpPr>
        <p:spPr>
          <a:xfrm>
            <a:off x="4987925" y="2459011"/>
            <a:ext cx="487363" cy="304800"/>
          </a:xfrm>
          <a:prstGeom prst="rect">
            <a:avLst/>
          </a:prstGeom>
          <a:solidFill>
            <a:srgbClr val="D5D5F4"/>
          </a:solidFill>
          <a:ln cap="flat" cmpd="sng" w="9525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608" name="Google Shape;608;p8"/>
          <p:cNvSpPr/>
          <p:nvPr/>
        </p:nvSpPr>
        <p:spPr>
          <a:xfrm>
            <a:off x="4987925" y="2154211"/>
            <a:ext cx="487363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330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p8"/>
          <p:cNvSpPr/>
          <p:nvPr/>
        </p:nvSpPr>
        <p:spPr>
          <a:xfrm>
            <a:off x="5475287" y="2459011"/>
            <a:ext cx="487363" cy="304800"/>
          </a:xfrm>
          <a:prstGeom prst="rect">
            <a:avLst/>
          </a:prstGeom>
          <a:solidFill>
            <a:srgbClr val="D5D5F4"/>
          </a:solidFill>
          <a:ln cap="flat" cmpd="sng" w="9525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610" name="Google Shape;610;p8"/>
          <p:cNvSpPr/>
          <p:nvPr/>
        </p:nvSpPr>
        <p:spPr>
          <a:xfrm>
            <a:off x="5475287" y="2154211"/>
            <a:ext cx="487363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33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p8"/>
          <p:cNvSpPr/>
          <p:nvPr/>
        </p:nvSpPr>
        <p:spPr>
          <a:xfrm>
            <a:off x="5962650" y="2459011"/>
            <a:ext cx="487363" cy="304800"/>
          </a:xfrm>
          <a:prstGeom prst="rect">
            <a:avLst/>
          </a:prstGeom>
          <a:solidFill>
            <a:srgbClr val="D5D5F4"/>
          </a:solidFill>
          <a:ln cap="flat" cmpd="sng" w="9525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612" name="Google Shape;612;p8"/>
          <p:cNvSpPr/>
          <p:nvPr/>
        </p:nvSpPr>
        <p:spPr>
          <a:xfrm>
            <a:off x="5962650" y="2154211"/>
            <a:ext cx="487363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33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p8"/>
          <p:cNvSpPr/>
          <p:nvPr/>
        </p:nvSpPr>
        <p:spPr>
          <a:xfrm>
            <a:off x="6450012" y="2459011"/>
            <a:ext cx="487363" cy="304800"/>
          </a:xfrm>
          <a:prstGeom prst="rect">
            <a:avLst/>
          </a:prstGeom>
          <a:solidFill>
            <a:srgbClr val="D5D5F4"/>
          </a:solidFill>
          <a:ln cap="flat" cmpd="sng" w="9525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614" name="Google Shape;614;p8"/>
          <p:cNvSpPr/>
          <p:nvPr/>
        </p:nvSpPr>
        <p:spPr>
          <a:xfrm>
            <a:off x="6450012" y="2154211"/>
            <a:ext cx="487363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33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p8"/>
          <p:cNvSpPr/>
          <p:nvPr/>
        </p:nvSpPr>
        <p:spPr>
          <a:xfrm>
            <a:off x="6937375" y="2459011"/>
            <a:ext cx="487363" cy="304800"/>
          </a:xfrm>
          <a:prstGeom prst="rect">
            <a:avLst/>
          </a:prstGeom>
          <a:solidFill>
            <a:srgbClr val="D5D5F4"/>
          </a:solidFill>
          <a:ln cap="flat" cmpd="sng" w="9525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616" name="Google Shape;616;p8"/>
          <p:cNvSpPr/>
          <p:nvPr/>
        </p:nvSpPr>
        <p:spPr>
          <a:xfrm>
            <a:off x="6937375" y="2154211"/>
            <a:ext cx="487363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33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8"/>
          <p:cNvSpPr/>
          <p:nvPr/>
        </p:nvSpPr>
        <p:spPr>
          <a:xfrm>
            <a:off x="7424737" y="2459011"/>
            <a:ext cx="487363" cy="304800"/>
          </a:xfrm>
          <a:prstGeom prst="rect">
            <a:avLst/>
          </a:prstGeom>
          <a:solidFill>
            <a:srgbClr val="D5D5F4"/>
          </a:solidFill>
          <a:ln cap="flat" cmpd="sng" w="9525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618" name="Google Shape;618;p8"/>
          <p:cNvSpPr/>
          <p:nvPr/>
        </p:nvSpPr>
        <p:spPr>
          <a:xfrm>
            <a:off x="7424737" y="2154211"/>
            <a:ext cx="487363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33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19" name="Google Shape;619;p8"/>
          <p:cNvGrpSpPr/>
          <p:nvPr/>
        </p:nvGrpSpPr>
        <p:grpSpPr>
          <a:xfrm>
            <a:off x="4987924" y="2924149"/>
            <a:ext cx="2924175" cy="333375"/>
            <a:chOff x="3085" y="1661"/>
            <a:chExt cx="1842" cy="210"/>
          </a:xfrm>
        </p:grpSpPr>
        <p:cxnSp>
          <p:nvCxnSpPr>
            <p:cNvPr id="620" name="Google Shape;620;p8"/>
            <p:cNvCxnSpPr/>
            <p:nvPr/>
          </p:nvCxnSpPr>
          <p:spPr>
            <a:xfrm>
              <a:off x="3085" y="1752"/>
              <a:ext cx="1842" cy="1"/>
            </a:xfrm>
            <a:prstGeom prst="straightConnector1">
              <a:avLst/>
            </a:prstGeom>
            <a:noFill/>
            <a:ln cap="flat" cmpd="sng" w="9525">
              <a:solidFill>
                <a:srgbClr val="000066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621" name="Google Shape;621;p8"/>
            <p:cNvSpPr txBox="1"/>
            <p:nvPr/>
          </p:nvSpPr>
          <p:spPr>
            <a:xfrm>
              <a:off x="3792" y="1661"/>
              <a:ext cx="376" cy="21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4275" lIns="90350" spcFirstLastPara="1" rIns="90350" wrap="square" tIns="44275">
              <a:spAutoFit/>
            </a:bodyPr>
            <a:lstStyle/>
            <a:p>
              <a:pPr indent="0" lvl="0" marL="0" marR="0" rtl="0" algn="l">
                <a:lnSpc>
                  <a:spcPct val="8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003300"/>
                  </a:solidFill>
                  <a:latin typeface="Calibri"/>
                  <a:ea typeface="Calibri"/>
                  <a:cs typeface="Calibri"/>
                  <a:sym typeface="Calibri"/>
                </a:rPr>
                <a:t>VPO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22" name="Google Shape;622;p8"/>
          <p:cNvGrpSpPr/>
          <p:nvPr/>
        </p:nvGrpSpPr>
        <p:grpSpPr>
          <a:xfrm>
            <a:off x="1089025" y="2916211"/>
            <a:ext cx="3916362" cy="333375"/>
            <a:chOff x="629" y="1656"/>
            <a:chExt cx="2467" cy="210"/>
          </a:xfrm>
        </p:grpSpPr>
        <p:cxnSp>
          <p:nvCxnSpPr>
            <p:cNvPr id="623" name="Google Shape;623;p8"/>
            <p:cNvCxnSpPr/>
            <p:nvPr/>
          </p:nvCxnSpPr>
          <p:spPr>
            <a:xfrm>
              <a:off x="629" y="1747"/>
              <a:ext cx="2467" cy="1"/>
            </a:xfrm>
            <a:prstGeom prst="straightConnector1">
              <a:avLst/>
            </a:prstGeom>
            <a:noFill/>
            <a:ln cap="flat" cmpd="sng" w="9525">
              <a:solidFill>
                <a:srgbClr val="000066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624" name="Google Shape;624;p8"/>
            <p:cNvSpPr txBox="1"/>
            <p:nvPr/>
          </p:nvSpPr>
          <p:spPr>
            <a:xfrm>
              <a:off x="1577" y="1656"/>
              <a:ext cx="374" cy="21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4275" lIns="90350" spcFirstLastPara="1" rIns="90350" wrap="square" tIns="44275">
              <a:spAutoFit/>
            </a:bodyPr>
            <a:lstStyle/>
            <a:p>
              <a:pPr indent="0" lvl="0" marL="0" marR="0" rtl="0" algn="l">
                <a:lnSpc>
                  <a:spcPct val="8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003300"/>
                  </a:solidFill>
                  <a:latin typeface="Calibri"/>
                  <a:ea typeface="Calibri"/>
                  <a:cs typeface="Calibri"/>
                  <a:sym typeface="Calibri"/>
                </a:rPr>
                <a:t>VPN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25" name="Google Shape;625;p8"/>
          <p:cNvCxnSpPr/>
          <p:nvPr/>
        </p:nvCxnSpPr>
        <p:spPr>
          <a:xfrm>
            <a:off x="4010025" y="2015040"/>
            <a:ext cx="992187" cy="1588"/>
          </a:xfrm>
          <a:prstGeom prst="straightConnector1">
            <a:avLst/>
          </a:prstGeom>
          <a:noFill/>
          <a:ln cap="flat" cmpd="sng" w="9525">
            <a:solidFill>
              <a:srgbClr val="000066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626" name="Google Shape;626;p8"/>
          <p:cNvSpPr txBox="1"/>
          <p:nvPr/>
        </p:nvSpPr>
        <p:spPr>
          <a:xfrm>
            <a:off x="4233862" y="1891215"/>
            <a:ext cx="539750" cy="3063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4275" lIns="90350" spcFirstLastPara="1" rIns="90350" wrap="square" tIns="44275">
            <a:sp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rgbClr val="003300"/>
                </a:solidFill>
                <a:latin typeface="Calibri"/>
                <a:ea typeface="Calibri"/>
                <a:cs typeface="Calibri"/>
                <a:sym typeface="Calibri"/>
              </a:rPr>
              <a:t>TLBI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27" name="Google Shape;627;p8"/>
          <p:cNvCxnSpPr/>
          <p:nvPr/>
        </p:nvCxnSpPr>
        <p:spPr>
          <a:xfrm>
            <a:off x="1089025" y="2011336"/>
            <a:ext cx="2927350" cy="1588"/>
          </a:xfrm>
          <a:prstGeom prst="straightConnector1">
            <a:avLst/>
          </a:prstGeom>
          <a:noFill/>
          <a:ln cap="flat" cmpd="sng" w="9525">
            <a:solidFill>
              <a:srgbClr val="000066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628" name="Google Shape;628;p8"/>
          <p:cNvSpPr txBox="1"/>
          <p:nvPr/>
        </p:nvSpPr>
        <p:spPr>
          <a:xfrm>
            <a:off x="2332038" y="1887511"/>
            <a:ext cx="582613" cy="3063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4275" lIns="90350" spcFirstLastPara="1" rIns="90350" wrap="square" tIns="44275">
            <a:sp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rgbClr val="003300"/>
                </a:solidFill>
                <a:latin typeface="Calibri"/>
                <a:ea typeface="Calibri"/>
                <a:cs typeface="Calibri"/>
                <a:sym typeface="Calibri"/>
              </a:rPr>
              <a:t>TLBT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p8"/>
          <p:cNvSpPr/>
          <p:nvPr/>
        </p:nvSpPr>
        <p:spPr>
          <a:xfrm>
            <a:off x="2071687" y="5175250"/>
            <a:ext cx="487363" cy="304800"/>
          </a:xfrm>
          <a:prstGeom prst="rect">
            <a:avLst/>
          </a:prstGeom>
          <a:solidFill>
            <a:srgbClr val="D5F1CF"/>
          </a:solidFill>
          <a:ln cap="flat" cmpd="sng" w="9525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630" name="Google Shape;630;p8"/>
          <p:cNvSpPr/>
          <p:nvPr/>
        </p:nvSpPr>
        <p:spPr>
          <a:xfrm>
            <a:off x="2071687" y="4870450"/>
            <a:ext cx="487363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3300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1" name="Google Shape;631;p8"/>
          <p:cNvSpPr/>
          <p:nvPr/>
        </p:nvSpPr>
        <p:spPr>
          <a:xfrm>
            <a:off x="2559050" y="5175250"/>
            <a:ext cx="487363" cy="304800"/>
          </a:xfrm>
          <a:prstGeom prst="rect">
            <a:avLst/>
          </a:prstGeom>
          <a:solidFill>
            <a:srgbClr val="D5F1CF"/>
          </a:solidFill>
          <a:ln cap="flat" cmpd="sng" w="9525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632" name="Google Shape;632;p8"/>
          <p:cNvSpPr/>
          <p:nvPr/>
        </p:nvSpPr>
        <p:spPr>
          <a:xfrm>
            <a:off x="2559050" y="4870450"/>
            <a:ext cx="487363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3300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" name="Google Shape;633;p8"/>
          <p:cNvSpPr/>
          <p:nvPr/>
        </p:nvSpPr>
        <p:spPr>
          <a:xfrm>
            <a:off x="3046412" y="5175250"/>
            <a:ext cx="487363" cy="304800"/>
          </a:xfrm>
          <a:prstGeom prst="rect">
            <a:avLst/>
          </a:prstGeom>
          <a:solidFill>
            <a:srgbClr val="D5F1CF"/>
          </a:solidFill>
          <a:ln cap="flat" cmpd="sng" w="9525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634" name="Google Shape;634;p8"/>
          <p:cNvSpPr/>
          <p:nvPr/>
        </p:nvSpPr>
        <p:spPr>
          <a:xfrm>
            <a:off x="3046412" y="4870450"/>
            <a:ext cx="487363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330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5" name="Google Shape;635;p8"/>
          <p:cNvSpPr/>
          <p:nvPr/>
        </p:nvSpPr>
        <p:spPr>
          <a:xfrm>
            <a:off x="3533775" y="5175250"/>
            <a:ext cx="487363" cy="304800"/>
          </a:xfrm>
          <a:prstGeom prst="rect">
            <a:avLst/>
          </a:prstGeom>
          <a:solidFill>
            <a:srgbClr val="D5F1CF"/>
          </a:solidFill>
          <a:ln cap="flat" cmpd="sng" w="9525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636" name="Google Shape;636;p8"/>
          <p:cNvSpPr/>
          <p:nvPr/>
        </p:nvSpPr>
        <p:spPr>
          <a:xfrm>
            <a:off x="3533775" y="4870450"/>
            <a:ext cx="487363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330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p8"/>
          <p:cNvSpPr/>
          <p:nvPr/>
        </p:nvSpPr>
        <p:spPr>
          <a:xfrm>
            <a:off x="4021137" y="5175250"/>
            <a:ext cx="487363" cy="304800"/>
          </a:xfrm>
          <a:prstGeom prst="rect">
            <a:avLst/>
          </a:prstGeom>
          <a:solidFill>
            <a:srgbClr val="D5F1CF"/>
          </a:solidFill>
          <a:ln cap="flat" cmpd="sng" w="9525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638" name="Google Shape;638;p8"/>
          <p:cNvSpPr/>
          <p:nvPr/>
        </p:nvSpPr>
        <p:spPr>
          <a:xfrm>
            <a:off x="4021137" y="4870450"/>
            <a:ext cx="487363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330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9" name="Google Shape;639;p8"/>
          <p:cNvSpPr/>
          <p:nvPr/>
        </p:nvSpPr>
        <p:spPr>
          <a:xfrm>
            <a:off x="4508500" y="5175250"/>
            <a:ext cx="487363" cy="304800"/>
          </a:xfrm>
          <a:prstGeom prst="rect">
            <a:avLst/>
          </a:prstGeom>
          <a:solidFill>
            <a:srgbClr val="D5F1CF"/>
          </a:solidFill>
          <a:ln cap="flat" cmpd="sng" w="9525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640" name="Google Shape;640;p8"/>
          <p:cNvSpPr/>
          <p:nvPr/>
        </p:nvSpPr>
        <p:spPr>
          <a:xfrm>
            <a:off x="4508500" y="4870450"/>
            <a:ext cx="487363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330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p8"/>
          <p:cNvSpPr/>
          <p:nvPr/>
        </p:nvSpPr>
        <p:spPr>
          <a:xfrm>
            <a:off x="4995862" y="5175250"/>
            <a:ext cx="487363" cy="304800"/>
          </a:xfrm>
          <a:prstGeom prst="rect">
            <a:avLst/>
          </a:prstGeom>
          <a:solidFill>
            <a:srgbClr val="D5D5F4"/>
          </a:solidFill>
          <a:ln cap="flat" cmpd="sng" w="9525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642" name="Google Shape;642;p8"/>
          <p:cNvSpPr/>
          <p:nvPr/>
        </p:nvSpPr>
        <p:spPr>
          <a:xfrm>
            <a:off x="4995862" y="4870450"/>
            <a:ext cx="487363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330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" name="Google Shape;643;p8"/>
          <p:cNvSpPr/>
          <p:nvPr/>
        </p:nvSpPr>
        <p:spPr>
          <a:xfrm>
            <a:off x="5483225" y="5175250"/>
            <a:ext cx="487363" cy="304800"/>
          </a:xfrm>
          <a:prstGeom prst="rect">
            <a:avLst/>
          </a:prstGeom>
          <a:solidFill>
            <a:srgbClr val="D5D5F4"/>
          </a:solidFill>
          <a:ln cap="flat" cmpd="sng" w="9525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644" name="Google Shape;644;p8"/>
          <p:cNvSpPr/>
          <p:nvPr/>
        </p:nvSpPr>
        <p:spPr>
          <a:xfrm>
            <a:off x="5483225" y="4870450"/>
            <a:ext cx="487363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33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5" name="Google Shape;645;p8"/>
          <p:cNvSpPr/>
          <p:nvPr/>
        </p:nvSpPr>
        <p:spPr>
          <a:xfrm>
            <a:off x="5970587" y="5175250"/>
            <a:ext cx="487363" cy="304800"/>
          </a:xfrm>
          <a:prstGeom prst="rect">
            <a:avLst/>
          </a:prstGeom>
          <a:solidFill>
            <a:srgbClr val="D5D5F4"/>
          </a:solidFill>
          <a:ln cap="flat" cmpd="sng" w="9525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646" name="Google Shape;646;p8"/>
          <p:cNvSpPr/>
          <p:nvPr/>
        </p:nvSpPr>
        <p:spPr>
          <a:xfrm>
            <a:off x="5970587" y="4870450"/>
            <a:ext cx="487363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33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7" name="Google Shape;647;p8"/>
          <p:cNvSpPr/>
          <p:nvPr/>
        </p:nvSpPr>
        <p:spPr>
          <a:xfrm>
            <a:off x="6457950" y="5175250"/>
            <a:ext cx="487363" cy="304800"/>
          </a:xfrm>
          <a:prstGeom prst="rect">
            <a:avLst/>
          </a:prstGeom>
          <a:solidFill>
            <a:srgbClr val="D5D5F4"/>
          </a:solidFill>
          <a:ln cap="flat" cmpd="sng" w="9525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648" name="Google Shape;648;p8"/>
          <p:cNvSpPr/>
          <p:nvPr/>
        </p:nvSpPr>
        <p:spPr>
          <a:xfrm>
            <a:off x="6457950" y="4870450"/>
            <a:ext cx="487363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33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p8"/>
          <p:cNvSpPr/>
          <p:nvPr/>
        </p:nvSpPr>
        <p:spPr>
          <a:xfrm>
            <a:off x="6945312" y="5175250"/>
            <a:ext cx="487363" cy="304800"/>
          </a:xfrm>
          <a:prstGeom prst="rect">
            <a:avLst/>
          </a:prstGeom>
          <a:solidFill>
            <a:srgbClr val="D5D5F4"/>
          </a:solidFill>
          <a:ln cap="flat" cmpd="sng" w="9525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650" name="Google Shape;650;p8"/>
          <p:cNvSpPr/>
          <p:nvPr/>
        </p:nvSpPr>
        <p:spPr>
          <a:xfrm>
            <a:off x="6945312" y="4870450"/>
            <a:ext cx="487363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33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1" name="Google Shape;651;p8"/>
          <p:cNvSpPr/>
          <p:nvPr/>
        </p:nvSpPr>
        <p:spPr>
          <a:xfrm>
            <a:off x="7432675" y="5175250"/>
            <a:ext cx="487363" cy="304800"/>
          </a:xfrm>
          <a:prstGeom prst="rect">
            <a:avLst/>
          </a:prstGeom>
          <a:solidFill>
            <a:srgbClr val="D5D5F4"/>
          </a:solidFill>
          <a:ln cap="flat" cmpd="sng" w="9525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652" name="Google Shape;652;p8"/>
          <p:cNvSpPr/>
          <p:nvPr/>
        </p:nvSpPr>
        <p:spPr>
          <a:xfrm>
            <a:off x="7432675" y="4870450"/>
            <a:ext cx="487363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33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53" name="Google Shape;653;p8"/>
          <p:cNvGrpSpPr/>
          <p:nvPr/>
        </p:nvGrpSpPr>
        <p:grpSpPr>
          <a:xfrm>
            <a:off x="5004858" y="5564717"/>
            <a:ext cx="2924175" cy="333375"/>
            <a:chOff x="3101" y="3292"/>
            <a:chExt cx="1842" cy="210"/>
          </a:xfrm>
        </p:grpSpPr>
        <p:cxnSp>
          <p:nvCxnSpPr>
            <p:cNvPr id="654" name="Google Shape;654;p8"/>
            <p:cNvCxnSpPr/>
            <p:nvPr/>
          </p:nvCxnSpPr>
          <p:spPr>
            <a:xfrm>
              <a:off x="3101" y="3383"/>
              <a:ext cx="1842" cy="1"/>
            </a:xfrm>
            <a:prstGeom prst="straightConnector1">
              <a:avLst/>
            </a:prstGeom>
            <a:noFill/>
            <a:ln cap="flat" cmpd="sng" w="9525">
              <a:solidFill>
                <a:srgbClr val="000066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655" name="Google Shape;655;p8"/>
            <p:cNvSpPr txBox="1"/>
            <p:nvPr/>
          </p:nvSpPr>
          <p:spPr>
            <a:xfrm>
              <a:off x="3808" y="3292"/>
              <a:ext cx="368" cy="21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4275" lIns="90350" spcFirstLastPara="1" rIns="90350" wrap="square" tIns="44275">
              <a:spAutoFit/>
            </a:bodyPr>
            <a:lstStyle/>
            <a:p>
              <a:pPr indent="0" lvl="0" marL="0" marR="0" rtl="0" algn="l">
                <a:lnSpc>
                  <a:spcPct val="8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PPO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56" name="Google Shape;656;p8"/>
          <p:cNvGrpSpPr/>
          <p:nvPr/>
        </p:nvGrpSpPr>
        <p:grpSpPr>
          <a:xfrm>
            <a:off x="2092324" y="5556250"/>
            <a:ext cx="2924175" cy="333375"/>
            <a:chOff x="1277" y="3292"/>
            <a:chExt cx="1842" cy="210"/>
          </a:xfrm>
        </p:grpSpPr>
        <p:cxnSp>
          <p:nvCxnSpPr>
            <p:cNvPr id="657" name="Google Shape;657;p8"/>
            <p:cNvCxnSpPr/>
            <p:nvPr/>
          </p:nvCxnSpPr>
          <p:spPr>
            <a:xfrm>
              <a:off x="1277" y="3383"/>
              <a:ext cx="1842" cy="1"/>
            </a:xfrm>
            <a:prstGeom prst="straightConnector1">
              <a:avLst/>
            </a:prstGeom>
            <a:noFill/>
            <a:ln cap="flat" cmpd="sng" w="9525">
              <a:solidFill>
                <a:srgbClr val="000066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658" name="Google Shape;658;p8"/>
            <p:cNvSpPr txBox="1"/>
            <p:nvPr/>
          </p:nvSpPr>
          <p:spPr>
            <a:xfrm>
              <a:off x="1984" y="3292"/>
              <a:ext cx="366" cy="21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4275" lIns="90350" spcFirstLastPara="1" rIns="90350" wrap="square" tIns="44275">
              <a:spAutoFit/>
            </a:bodyPr>
            <a:lstStyle/>
            <a:p>
              <a:pPr indent="0" lvl="0" marL="0" marR="0" rtl="0" algn="l">
                <a:lnSpc>
                  <a:spcPct val="8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PPN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59" name="Google Shape;659;p8"/>
          <p:cNvGrpSpPr/>
          <p:nvPr/>
        </p:nvGrpSpPr>
        <p:grpSpPr>
          <a:xfrm>
            <a:off x="6925204" y="4516438"/>
            <a:ext cx="992188" cy="306388"/>
            <a:chOff x="4300" y="2637"/>
            <a:chExt cx="625" cy="193"/>
          </a:xfrm>
        </p:grpSpPr>
        <p:cxnSp>
          <p:nvCxnSpPr>
            <p:cNvPr id="660" name="Google Shape;660;p8"/>
            <p:cNvCxnSpPr/>
            <p:nvPr/>
          </p:nvCxnSpPr>
          <p:spPr>
            <a:xfrm>
              <a:off x="4300" y="2715"/>
              <a:ext cx="625" cy="1"/>
            </a:xfrm>
            <a:prstGeom prst="straightConnector1">
              <a:avLst/>
            </a:prstGeom>
            <a:noFill/>
            <a:ln cap="flat" cmpd="sng" w="9525">
              <a:solidFill>
                <a:srgbClr val="000066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661" name="Google Shape;661;p8"/>
            <p:cNvSpPr txBox="1"/>
            <p:nvPr/>
          </p:nvSpPr>
          <p:spPr>
            <a:xfrm>
              <a:off x="4486" y="2637"/>
              <a:ext cx="271" cy="19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4275" lIns="90350" spcFirstLastPara="1" rIns="90350" wrap="square" tIns="44275">
              <a:spAutoFit/>
            </a:bodyPr>
            <a:lstStyle/>
            <a:p>
              <a:pPr indent="0" lvl="0" marL="0" marR="0" rtl="0" algn="ctr">
                <a:lnSpc>
                  <a:spcPct val="8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GB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62" name="Google Shape;662;p8"/>
          <p:cNvGrpSpPr/>
          <p:nvPr/>
        </p:nvGrpSpPr>
        <p:grpSpPr>
          <a:xfrm>
            <a:off x="4987395" y="4512734"/>
            <a:ext cx="1927225" cy="306388"/>
            <a:chOff x="3090" y="2624"/>
            <a:chExt cx="1214" cy="193"/>
          </a:xfrm>
        </p:grpSpPr>
        <p:cxnSp>
          <p:nvCxnSpPr>
            <p:cNvPr id="663" name="Google Shape;663;p8"/>
            <p:cNvCxnSpPr/>
            <p:nvPr/>
          </p:nvCxnSpPr>
          <p:spPr>
            <a:xfrm>
              <a:off x="3090" y="2702"/>
              <a:ext cx="1214" cy="1"/>
            </a:xfrm>
            <a:prstGeom prst="straightConnector1">
              <a:avLst/>
            </a:prstGeom>
            <a:noFill/>
            <a:ln cap="flat" cmpd="sng" w="9525">
              <a:solidFill>
                <a:srgbClr val="000066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664" name="Google Shape;664;p8"/>
            <p:cNvSpPr txBox="1"/>
            <p:nvPr/>
          </p:nvSpPr>
          <p:spPr>
            <a:xfrm>
              <a:off x="3629" y="2624"/>
              <a:ext cx="218" cy="19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4275" lIns="90350" spcFirstLastPara="1" rIns="90350" wrap="square" tIns="44275">
              <a:spAutoFit/>
            </a:bodyPr>
            <a:lstStyle/>
            <a:p>
              <a:pPr indent="0" lvl="0" marL="0" marR="0" rtl="0" algn="ctr">
                <a:lnSpc>
                  <a:spcPct val="8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GB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CI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65" name="Google Shape;665;p8"/>
          <p:cNvGrpSpPr/>
          <p:nvPr/>
        </p:nvGrpSpPr>
        <p:grpSpPr>
          <a:xfrm>
            <a:off x="2071687" y="4516438"/>
            <a:ext cx="2894013" cy="306388"/>
            <a:chOff x="1248" y="2637"/>
            <a:chExt cx="1823" cy="193"/>
          </a:xfrm>
        </p:grpSpPr>
        <p:cxnSp>
          <p:nvCxnSpPr>
            <p:cNvPr id="666" name="Google Shape;666;p8"/>
            <p:cNvCxnSpPr/>
            <p:nvPr/>
          </p:nvCxnSpPr>
          <p:spPr>
            <a:xfrm>
              <a:off x="1248" y="2715"/>
              <a:ext cx="1823" cy="1"/>
            </a:xfrm>
            <a:prstGeom prst="straightConnector1">
              <a:avLst/>
            </a:prstGeom>
            <a:noFill/>
            <a:ln cap="flat" cmpd="sng" w="9525">
              <a:solidFill>
                <a:srgbClr val="000066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667" name="Google Shape;667;p8"/>
            <p:cNvSpPr txBox="1"/>
            <p:nvPr/>
          </p:nvSpPr>
          <p:spPr>
            <a:xfrm>
              <a:off x="2098" y="2637"/>
              <a:ext cx="248" cy="19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4275" lIns="90350" spcFirstLastPara="1" rIns="90350" wrap="square" tIns="44275">
              <a:spAutoFit/>
            </a:bodyPr>
            <a:lstStyle/>
            <a:p>
              <a:pPr indent="0" lvl="0" marL="0" marR="0" rtl="0" algn="ctr">
                <a:lnSpc>
                  <a:spcPct val="8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GB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8" name="Google Shape;668;p8"/>
          <p:cNvSpPr txBox="1"/>
          <p:nvPr/>
        </p:nvSpPr>
        <p:spPr>
          <a:xfrm>
            <a:off x="7558087" y="2449487"/>
            <a:ext cx="209550" cy="338138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45700" spcFirstLastPara="1" rIns="45700" wrap="square" tIns="46800">
            <a:sp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9" name="Google Shape;669;p8"/>
          <p:cNvSpPr txBox="1"/>
          <p:nvPr/>
        </p:nvSpPr>
        <p:spPr>
          <a:xfrm>
            <a:off x="7070725" y="2447899"/>
            <a:ext cx="209550" cy="338138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45700" spcFirstLastPara="1" rIns="45700" wrap="square" tIns="46800">
            <a:sp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0" name="Google Shape;670;p8"/>
          <p:cNvSpPr txBox="1"/>
          <p:nvPr/>
        </p:nvSpPr>
        <p:spPr>
          <a:xfrm>
            <a:off x="6584950" y="2447899"/>
            <a:ext cx="209550" cy="338138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45700" spcFirstLastPara="1" rIns="45700" wrap="square" tIns="46800">
            <a:sp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1" name="Google Shape;671;p8"/>
          <p:cNvSpPr txBox="1"/>
          <p:nvPr/>
        </p:nvSpPr>
        <p:spPr>
          <a:xfrm>
            <a:off x="6097587" y="2447899"/>
            <a:ext cx="209550" cy="338138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45700" spcFirstLastPara="1" rIns="45700" wrap="square" tIns="46800">
            <a:sp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2" name="Google Shape;672;p8"/>
          <p:cNvSpPr txBox="1"/>
          <p:nvPr/>
        </p:nvSpPr>
        <p:spPr>
          <a:xfrm>
            <a:off x="5611812" y="2447899"/>
            <a:ext cx="209550" cy="338138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45700" spcFirstLastPara="1" rIns="45700" wrap="square" tIns="46800">
            <a:sp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3" name="Google Shape;673;p8"/>
          <p:cNvSpPr txBox="1"/>
          <p:nvPr/>
        </p:nvSpPr>
        <p:spPr>
          <a:xfrm>
            <a:off x="5124450" y="2447899"/>
            <a:ext cx="209550" cy="338138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45700" spcFirstLastPara="1" rIns="45700" wrap="square" tIns="46800">
            <a:sp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4" name="Google Shape;674;p8"/>
          <p:cNvSpPr txBox="1"/>
          <p:nvPr/>
        </p:nvSpPr>
        <p:spPr>
          <a:xfrm>
            <a:off x="4638675" y="2449487"/>
            <a:ext cx="209550" cy="338138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45700" spcFirstLastPara="1" rIns="45700" wrap="square" tIns="46800">
            <a:sp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5" name="Google Shape;675;p8"/>
          <p:cNvSpPr txBox="1"/>
          <p:nvPr/>
        </p:nvSpPr>
        <p:spPr>
          <a:xfrm>
            <a:off x="4151312" y="2449487"/>
            <a:ext cx="209550" cy="338138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45700" spcFirstLastPara="1" rIns="45700" wrap="square" tIns="46800">
            <a:sp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6" name="Google Shape;676;p8"/>
          <p:cNvSpPr txBox="1"/>
          <p:nvPr/>
        </p:nvSpPr>
        <p:spPr>
          <a:xfrm>
            <a:off x="3665537" y="2449487"/>
            <a:ext cx="209550" cy="338138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45700" spcFirstLastPara="1" rIns="45700" wrap="square" tIns="46800">
            <a:sp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7" name="Google Shape;677;p8"/>
          <p:cNvSpPr txBox="1"/>
          <p:nvPr/>
        </p:nvSpPr>
        <p:spPr>
          <a:xfrm>
            <a:off x="3178175" y="2449487"/>
            <a:ext cx="209550" cy="338138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45700" spcFirstLastPara="1" rIns="45700" wrap="square" tIns="46800">
            <a:sp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8" name="Google Shape;678;p8"/>
          <p:cNvSpPr txBox="1"/>
          <p:nvPr/>
        </p:nvSpPr>
        <p:spPr>
          <a:xfrm>
            <a:off x="2692400" y="2449487"/>
            <a:ext cx="209550" cy="338138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45700" spcFirstLastPara="1" rIns="45700" wrap="square" tIns="46800">
            <a:sp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9" name="Google Shape;679;p8"/>
          <p:cNvSpPr txBox="1"/>
          <p:nvPr/>
        </p:nvSpPr>
        <p:spPr>
          <a:xfrm>
            <a:off x="2205037" y="2449487"/>
            <a:ext cx="209550" cy="338138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45700" spcFirstLastPara="1" rIns="45700" wrap="square" tIns="46800">
            <a:sp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0" name="Google Shape;680;p8"/>
          <p:cNvSpPr txBox="1"/>
          <p:nvPr/>
        </p:nvSpPr>
        <p:spPr>
          <a:xfrm>
            <a:off x="1719262" y="2449487"/>
            <a:ext cx="209550" cy="338138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45700" spcFirstLastPara="1" rIns="45700" wrap="square" tIns="46800">
            <a:sp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1" name="Google Shape;681;p8"/>
          <p:cNvSpPr txBox="1"/>
          <p:nvPr/>
        </p:nvSpPr>
        <p:spPr>
          <a:xfrm>
            <a:off x="1233487" y="2449487"/>
            <a:ext cx="209550" cy="338138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45700" spcFirstLastPara="1" rIns="45700" wrap="square" tIns="46800">
            <a:sp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2" name="Google Shape;682;p8"/>
          <p:cNvSpPr txBox="1"/>
          <p:nvPr/>
        </p:nvSpPr>
        <p:spPr>
          <a:xfrm>
            <a:off x="1143000" y="3437965"/>
            <a:ext cx="490538" cy="31115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45700" spcFirstLastPara="1" rIns="45700" wrap="square" tIns="46800">
            <a:sp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0x0F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3" name="Google Shape;683;p8"/>
          <p:cNvSpPr txBox="1"/>
          <p:nvPr/>
        </p:nvSpPr>
        <p:spPr>
          <a:xfrm>
            <a:off x="2489808" y="3437965"/>
            <a:ext cx="394599" cy="316113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45700" spcFirstLastPara="1" rIns="45700" wrap="square" tIns="46800">
            <a:sp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0x3</a:t>
            </a:r>
            <a:endParaRPr b="1" i="0" sz="16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8"/>
          <p:cNvSpPr txBox="1"/>
          <p:nvPr/>
        </p:nvSpPr>
        <p:spPr>
          <a:xfrm>
            <a:off x="3454401" y="3437965"/>
            <a:ext cx="500063" cy="31115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45700" spcFirstLastPara="1" rIns="45700" wrap="square" tIns="46800">
            <a:sp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0x03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5" name="Google Shape;685;p8"/>
          <p:cNvSpPr txBox="1"/>
          <p:nvPr/>
        </p:nvSpPr>
        <p:spPr>
          <a:xfrm>
            <a:off x="5142732" y="3437939"/>
            <a:ext cx="199735" cy="311176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45700" spcFirstLastPara="1" rIns="45700" wrap="square" tIns="46800">
            <a:sp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6" name="Google Shape;686;p8"/>
          <p:cNvSpPr txBox="1"/>
          <p:nvPr/>
        </p:nvSpPr>
        <p:spPr>
          <a:xfrm>
            <a:off x="6781800" y="3437965"/>
            <a:ext cx="227012" cy="31115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45700" spcFirstLastPara="1" rIns="45700" wrap="square" tIns="46800">
            <a:sp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 b="1" i="0" sz="16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8"/>
          <p:cNvSpPr txBox="1"/>
          <p:nvPr/>
        </p:nvSpPr>
        <p:spPr>
          <a:xfrm>
            <a:off x="7746470" y="3437965"/>
            <a:ext cx="525462" cy="31115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45700" spcFirstLastPara="1" rIns="45700" wrap="square" tIns="46800">
            <a:sp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0x0D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88" name="Google Shape;688;p8"/>
          <p:cNvGrpSpPr/>
          <p:nvPr/>
        </p:nvGrpSpPr>
        <p:grpSpPr>
          <a:xfrm>
            <a:off x="2215620" y="5173133"/>
            <a:ext cx="5576888" cy="339725"/>
            <a:chOff x="1344" y="3030"/>
            <a:chExt cx="3513" cy="214"/>
          </a:xfrm>
        </p:grpSpPr>
        <p:sp>
          <p:nvSpPr>
            <p:cNvPr id="689" name="Google Shape;689;p8"/>
            <p:cNvSpPr txBox="1"/>
            <p:nvPr/>
          </p:nvSpPr>
          <p:spPr>
            <a:xfrm>
              <a:off x="4725" y="3031"/>
              <a:ext cx="132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45700" spcFirstLastPara="1" rIns="45700" wrap="square" tIns="46800">
              <a:spAutoFit/>
            </a:bodyPr>
            <a:lstStyle/>
            <a:p>
              <a:pPr indent="0" lvl="0" marL="0" marR="0" rtl="0" algn="ctr">
                <a:lnSpc>
                  <a:spcPct val="8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0" name="Google Shape;690;p8"/>
            <p:cNvSpPr txBox="1"/>
            <p:nvPr/>
          </p:nvSpPr>
          <p:spPr>
            <a:xfrm>
              <a:off x="4417" y="3030"/>
              <a:ext cx="132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45700" spcFirstLastPara="1" rIns="45700" wrap="square" tIns="46800">
              <a:spAutoFit/>
            </a:bodyPr>
            <a:lstStyle/>
            <a:p>
              <a:pPr indent="0" lvl="0" marL="0" marR="0" rtl="0" algn="ctr">
                <a:lnSpc>
                  <a:spcPct val="8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1" name="Google Shape;691;p8"/>
            <p:cNvSpPr txBox="1"/>
            <p:nvPr/>
          </p:nvSpPr>
          <p:spPr>
            <a:xfrm>
              <a:off x="3802" y="3030"/>
              <a:ext cx="132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45700" spcFirstLastPara="1" rIns="45700" wrap="square" tIns="46800">
              <a:spAutoFit/>
            </a:bodyPr>
            <a:lstStyle/>
            <a:p>
              <a:pPr indent="0" lvl="0" marL="0" marR="0" rtl="0" algn="ctr">
                <a:lnSpc>
                  <a:spcPct val="8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2" name="Google Shape;692;p8"/>
            <p:cNvSpPr txBox="1"/>
            <p:nvPr/>
          </p:nvSpPr>
          <p:spPr>
            <a:xfrm>
              <a:off x="2880" y="3030"/>
              <a:ext cx="132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45700" spcFirstLastPara="1" rIns="45700" wrap="square" tIns="46800">
              <a:spAutoFit/>
            </a:bodyPr>
            <a:lstStyle/>
            <a:p>
              <a:pPr indent="0" lvl="0" marL="0" marR="0" rtl="0" algn="ctr">
                <a:lnSpc>
                  <a:spcPct val="8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3" name="Google Shape;693;p8"/>
            <p:cNvSpPr txBox="1"/>
            <p:nvPr/>
          </p:nvSpPr>
          <p:spPr>
            <a:xfrm>
              <a:off x="2573" y="3030"/>
              <a:ext cx="132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45700" spcFirstLastPara="1" rIns="45700" wrap="square" tIns="46800">
              <a:spAutoFit/>
            </a:bodyPr>
            <a:lstStyle/>
            <a:p>
              <a:pPr indent="0" lvl="0" marL="0" marR="0" rtl="0" algn="ctr">
                <a:lnSpc>
                  <a:spcPct val="8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4" name="Google Shape;694;p8"/>
            <p:cNvSpPr txBox="1"/>
            <p:nvPr/>
          </p:nvSpPr>
          <p:spPr>
            <a:xfrm>
              <a:off x="2265" y="3030"/>
              <a:ext cx="132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45700" spcFirstLastPara="1" rIns="45700" wrap="square" tIns="46800">
              <a:spAutoFit/>
            </a:bodyPr>
            <a:lstStyle/>
            <a:p>
              <a:pPr indent="0" lvl="0" marL="0" marR="0" rtl="0" algn="ctr">
                <a:lnSpc>
                  <a:spcPct val="8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5" name="Google Shape;695;p8"/>
            <p:cNvSpPr txBox="1"/>
            <p:nvPr/>
          </p:nvSpPr>
          <p:spPr>
            <a:xfrm>
              <a:off x="1651" y="3030"/>
              <a:ext cx="132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45700" spcFirstLastPara="1" rIns="45700" wrap="square" tIns="46800">
              <a:spAutoFit/>
            </a:bodyPr>
            <a:lstStyle/>
            <a:p>
              <a:pPr indent="0" lvl="0" marL="0" marR="0" rtl="0" algn="ctr">
                <a:lnSpc>
                  <a:spcPct val="8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6" name="Google Shape;696;p8"/>
            <p:cNvSpPr txBox="1"/>
            <p:nvPr/>
          </p:nvSpPr>
          <p:spPr>
            <a:xfrm>
              <a:off x="4110" y="3030"/>
              <a:ext cx="132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45700" spcFirstLastPara="1" rIns="45700" wrap="square" tIns="46800">
              <a:spAutoFit/>
            </a:bodyPr>
            <a:lstStyle/>
            <a:p>
              <a:pPr indent="0" lvl="0" marL="0" marR="0" rtl="0" algn="ctr">
                <a:lnSpc>
                  <a:spcPct val="8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7" name="Google Shape;697;p8"/>
            <p:cNvSpPr txBox="1"/>
            <p:nvPr/>
          </p:nvSpPr>
          <p:spPr>
            <a:xfrm>
              <a:off x="3495" y="3030"/>
              <a:ext cx="132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45700" spcFirstLastPara="1" rIns="45700" wrap="square" tIns="46800">
              <a:spAutoFit/>
            </a:bodyPr>
            <a:lstStyle/>
            <a:p>
              <a:pPr indent="0" lvl="0" marL="0" marR="0" rtl="0" algn="ctr">
                <a:lnSpc>
                  <a:spcPct val="8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8" name="Google Shape;698;p8"/>
            <p:cNvSpPr txBox="1"/>
            <p:nvPr/>
          </p:nvSpPr>
          <p:spPr>
            <a:xfrm>
              <a:off x="3188" y="3030"/>
              <a:ext cx="132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45700" spcFirstLastPara="1" rIns="45700" wrap="square" tIns="46800">
              <a:spAutoFit/>
            </a:bodyPr>
            <a:lstStyle/>
            <a:p>
              <a:pPr indent="0" lvl="0" marL="0" marR="0" rtl="0" algn="ctr">
                <a:lnSpc>
                  <a:spcPct val="8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9" name="Google Shape;699;p8"/>
            <p:cNvSpPr txBox="1"/>
            <p:nvPr/>
          </p:nvSpPr>
          <p:spPr>
            <a:xfrm>
              <a:off x="1957" y="3030"/>
              <a:ext cx="132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45700" spcFirstLastPara="1" rIns="45700" wrap="square" tIns="46800">
              <a:spAutoFit/>
            </a:bodyPr>
            <a:lstStyle/>
            <a:p>
              <a:pPr indent="0" lvl="0" marL="0" marR="0" rtl="0" algn="ctr">
                <a:lnSpc>
                  <a:spcPct val="8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0" name="Google Shape;700;p8"/>
            <p:cNvSpPr txBox="1"/>
            <p:nvPr/>
          </p:nvSpPr>
          <p:spPr>
            <a:xfrm>
              <a:off x="1344" y="3030"/>
              <a:ext cx="132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45700" spcFirstLastPara="1" rIns="45700" wrap="square" tIns="46800">
              <a:spAutoFit/>
            </a:bodyPr>
            <a:lstStyle/>
            <a:p>
              <a:pPr indent="0" lvl="0" marL="0" marR="0" rtl="0" algn="ctr">
                <a:lnSpc>
                  <a:spcPct val="8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01" name="Google Shape;701;p8"/>
          <p:cNvSpPr txBox="1"/>
          <p:nvPr/>
        </p:nvSpPr>
        <p:spPr>
          <a:xfrm>
            <a:off x="1374773" y="5992801"/>
            <a:ext cx="196850" cy="31115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45700" spcFirstLastPara="1" rIns="45700" wrap="square" tIns="46800">
            <a:sp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2" name="Google Shape;702;p8"/>
          <p:cNvSpPr txBox="1"/>
          <p:nvPr/>
        </p:nvSpPr>
        <p:spPr>
          <a:xfrm>
            <a:off x="2271712" y="5992801"/>
            <a:ext cx="395288" cy="31115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45700" spcFirstLastPara="1" rIns="45700" wrap="square" tIns="46800">
            <a:sp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0x5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3" name="Google Shape;703;p8"/>
          <p:cNvSpPr txBox="1"/>
          <p:nvPr/>
        </p:nvSpPr>
        <p:spPr>
          <a:xfrm>
            <a:off x="3259139" y="5992801"/>
            <a:ext cx="525463" cy="31115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45700" spcFirstLastPara="1" rIns="45700" wrap="square" tIns="46800">
            <a:sp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0x0D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4" name="Google Shape;704;p8"/>
          <p:cNvSpPr txBox="1"/>
          <p:nvPr/>
        </p:nvSpPr>
        <p:spPr>
          <a:xfrm>
            <a:off x="4580467" y="5992801"/>
            <a:ext cx="200025" cy="31115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45700" spcFirstLastPara="1" rIns="45700" wrap="square" tIns="46800">
            <a:sp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5" name="Google Shape;705;p8"/>
          <p:cNvSpPr txBox="1"/>
          <p:nvPr/>
        </p:nvSpPr>
        <p:spPr>
          <a:xfrm>
            <a:off x="5850466" y="5992801"/>
            <a:ext cx="500063" cy="31115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45700" spcFirstLastPara="1" rIns="45700" wrap="square" tIns="46800">
            <a:sp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0x36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9"/>
          <p:cNvSpPr txBox="1"/>
          <p:nvPr>
            <p:ph type="title"/>
          </p:nvPr>
        </p:nvSpPr>
        <p:spPr>
          <a:xfrm>
            <a:off x="381000" y="493713"/>
            <a:ext cx="7345363" cy="5730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Address Translation Example #2</a:t>
            </a:r>
            <a:endParaRPr/>
          </a:p>
        </p:txBody>
      </p:sp>
      <p:sp>
        <p:nvSpPr>
          <p:cNvPr id="712" name="Google Shape;712;p9"/>
          <p:cNvSpPr txBox="1"/>
          <p:nvPr>
            <p:ph idx="1" type="body"/>
          </p:nvPr>
        </p:nvSpPr>
        <p:spPr>
          <a:xfrm>
            <a:off x="381000" y="1371600"/>
            <a:ext cx="8307387" cy="5333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222250" rtl="0" algn="l">
              <a:lnSpc>
                <a:spcPct val="73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GB"/>
              <a:t>Virtual Address: </a:t>
            </a:r>
            <a:r>
              <a:rPr lang="en-GB">
                <a:latin typeface="Courier New"/>
                <a:ea typeface="Courier New"/>
                <a:cs typeface="Courier New"/>
                <a:sym typeface="Courier New"/>
              </a:rPr>
              <a:t>0x0020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-222250" lvl="0" marL="2222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Noto Sans Symbols"/>
              <a:buNone/>
            </a:pPr>
            <a:r>
              <a:t/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-222250" lvl="0" marL="2222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Noto Sans Symbols"/>
              <a:buNone/>
            </a:pPr>
            <a:r>
              <a:t/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-220663" lvl="1" marL="55880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Noto Sans Symbols"/>
              <a:buNone/>
            </a:pPr>
            <a:r>
              <a:t/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-220663" lvl="1" marL="558800" rtl="0" algn="l">
              <a:lnSpc>
                <a:spcPct val="78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Noto Sans Symbols"/>
              <a:buNone/>
            </a:pPr>
            <a:r>
              <a:t/>
            </a:r>
            <a:endParaRPr sz="1600"/>
          </a:p>
          <a:p>
            <a:pPr indent="-220663" lvl="1" marL="558800" rtl="0" algn="l">
              <a:lnSpc>
                <a:spcPct val="78000"/>
              </a:lnSpc>
              <a:spcBef>
                <a:spcPts val="500"/>
              </a:spcBef>
              <a:spcAft>
                <a:spcPts val="0"/>
              </a:spcAft>
              <a:buSzPts val="1050"/>
              <a:buFont typeface="Noto Sans Symbols"/>
              <a:buNone/>
            </a:pPr>
            <a:r>
              <a:t/>
            </a:r>
            <a:endParaRPr sz="1400"/>
          </a:p>
          <a:p>
            <a:pPr indent="-220663" lvl="1" marL="558800" rtl="0" algn="l">
              <a:lnSpc>
                <a:spcPct val="78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Noto Sans Symbols"/>
              <a:buNone/>
            </a:pPr>
            <a:r>
              <a:t/>
            </a:r>
            <a:endParaRPr sz="1600"/>
          </a:p>
          <a:p>
            <a:pPr indent="-220663" lvl="1" marL="558800" rtl="0" algn="l">
              <a:lnSpc>
                <a:spcPct val="78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Noto Sans Symbols"/>
              <a:buNone/>
            </a:pPr>
            <a:r>
              <a:rPr lang="en-GB" sz="1600"/>
              <a:t>VPN ___	TLBI ___	TLBT ____	          TLB Hit? __	Page Fault? __        PPN: ____</a:t>
            </a:r>
            <a:endParaRPr/>
          </a:p>
          <a:p>
            <a:pPr indent="-222250" lvl="0" marL="222250" rtl="0" algn="l">
              <a:lnSpc>
                <a:spcPct val="73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Noto Sans Symbols"/>
              <a:buNone/>
            </a:pPr>
            <a:r>
              <a:t/>
            </a:r>
            <a:endParaRPr/>
          </a:p>
          <a:p>
            <a:pPr indent="-222250" lvl="0" marL="222250" rtl="0" algn="l">
              <a:lnSpc>
                <a:spcPct val="73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Noto Sans Symbols"/>
              <a:buNone/>
            </a:pPr>
            <a:r>
              <a:rPr lang="en-GB"/>
              <a:t>Physical Address</a:t>
            </a:r>
            <a:endParaRPr/>
          </a:p>
          <a:p>
            <a:pPr indent="-220663" lvl="1" marL="558800" rtl="0" algn="l">
              <a:lnSpc>
                <a:spcPct val="78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Noto Sans Symbols"/>
              <a:buNone/>
            </a:pPr>
            <a:r>
              <a:t/>
            </a:r>
            <a:endParaRPr/>
          </a:p>
          <a:p>
            <a:pPr indent="-220663" lvl="1" marL="558800" rtl="0" algn="l">
              <a:lnSpc>
                <a:spcPct val="78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Noto Sans Symbols"/>
              <a:buNone/>
            </a:pPr>
            <a:r>
              <a:t/>
            </a:r>
            <a:endParaRPr/>
          </a:p>
          <a:p>
            <a:pPr indent="-220663" lvl="1" marL="558800" rtl="0" algn="l">
              <a:lnSpc>
                <a:spcPct val="78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Noto Sans Symbols"/>
              <a:buNone/>
            </a:pPr>
            <a:r>
              <a:t/>
            </a:r>
            <a:endParaRPr/>
          </a:p>
          <a:p>
            <a:pPr indent="-220663" lvl="1" marL="558800" rtl="0" algn="l">
              <a:lnSpc>
                <a:spcPct val="78000"/>
              </a:lnSpc>
              <a:spcBef>
                <a:spcPts val="320"/>
              </a:spcBef>
              <a:spcAft>
                <a:spcPts val="0"/>
              </a:spcAft>
              <a:buSzPts val="1200"/>
              <a:buFont typeface="Noto Sans Symbols"/>
              <a:buNone/>
            </a:pPr>
            <a:r>
              <a:t/>
            </a:r>
            <a:endParaRPr sz="1600"/>
          </a:p>
          <a:p>
            <a:pPr indent="-220663" lvl="1" marL="558800" rtl="0" algn="l">
              <a:lnSpc>
                <a:spcPct val="78000"/>
              </a:lnSpc>
              <a:spcBef>
                <a:spcPts val="320"/>
              </a:spcBef>
              <a:spcAft>
                <a:spcPts val="0"/>
              </a:spcAft>
              <a:buSzPts val="1200"/>
              <a:buFont typeface="Noto Sans Symbols"/>
              <a:buNone/>
            </a:pPr>
            <a:r>
              <a:t/>
            </a:r>
            <a:endParaRPr sz="1600"/>
          </a:p>
          <a:p>
            <a:pPr indent="-220663" lvl="1" marL="558800" rtl="0" algn="l">
              <a:lnSpc>
                <a:spcPct val="78000"/>
              </a:lnSpc>
              <a:spcBef>
                <a:spcPts val="320"/>
              </a:spcBef>
              <a:spcAft>
                <a:spcPts val="0"/>
              </a:spcAft>
              <a:buSzPts val="1200"/>
              <a:buFont typeface="Noto Sans Symbols"/>
              <a:buNone/>
            </a:pPr>
            <a:r>
              <a:t/>
            </a:r>
            <a:endParaRPr sz="1600"/>
          </a:p>
          <a:p>
            <a:pPr indent="-220663" lvl="1" marL="558800" rtl="0" algn="l">
              <a:lnSpc>
                <a:spcPct val="78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Noto Sans Symbols"/>
              <a:buNone/>
            </a:pPr>
            <a:r>
              <a:rPr lang="en-GB" sz="1600"/>
              <a:t>	CO___	CI___	CT ____	     Hit? __              Byte: ____</a:t>
            </a:r>
            <a:endParaRPr/>
          </a:p>
          <a:p>
            <a:pPr indent="-220663" lvl="1" marL="558800" rtl="0" algn="l">
              <a:lnSpc>
                <a:spcPct val="78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Noto Sans Symbols"/>
              <a:buNone/>
            </a:pPr>
            <a:r>
              <a:t/>
            </a:r>
            <a:endParaRPr sz="1600"/>
          </a:p>
        </p:txBody>
      </p:sp>
      <p:sp>
        <p:nvSpPr>
          <p:cNvPr id="713" name="Google Shape;713;p9"/>
          <p:cNvSpPr/>
          <p:nvPr/>
        </p:nvSpPr>
        <p:spPr>
          <a:xfrm>
            <a:off x="1089025" y="2459011"/>
            <a:ext cx="487363" cy="304800"/>
          </a:xfrm>
          <a:prstGeom prst="rect">
            <a:avLst/>
          </a:prstGeom>
          <a:solidFill>
            <a:srgbClr val="E5E5E5"/>
          </a:solidFill>
          <a:ln cap="flat" cmpd="sng" w="9525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714" name="Google Shape;714;p9"/>
          <p:cNvSpPr/>
          <p:nvPr/>
        </p:nvSpPr>
        <p:spPr>
          <a:xfrm>
            <a:off x="1089025" y="2154211"/>
            <a:ext cx="487363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3300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5" name="Google Shape;715;p9"/>
          <p:cNvSpPr/>
          <p:nvPr/>
        </p:nvSpPr>
        <p:spPr>
          <a:xfrm>
            <a:off x="1576387" y="2459011"/>
            <a:ext cx="487363" cy="304800"/>
          </a:xfrm>
          <a:prstGeom prst="rect">
            <a:avLst/>
          </a:prstGeom>
          <a:solidFill>
            <a:srgbClr val="E5E5E5"/>
          </a:solidFill>
          <a:ln cap="flat" cmpd="sng" w="9525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716" name="Google Shape;716;p9"/>
          <p:cNvSpPr/>
          <p:nvPr/>
        </p:nvSpPr>
        <p:spPr>
          <a:xfrm>
            <a:off x="1576387" y="2154211"/>
            <a:ext cx="487363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3300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7" name="Google Shape;717;p9"/>
          <p:cNvSpPr/>
          <p:nvPr/>
        </p:nvSpPr>
        <p:spPr>
          <a:xfrm>
            <a:off x="2063750" y="2459011"/>
            <a:ext cx="487363" cy="304800"/>
          </a:xfrm>
          <a:prstGeom prst="rect">
            <a:avLst/>
          </a:prstGeom>
          <a:solidFill>
            <a:srgbClr val="E5E5E5"/>
          </a:solidFill>
          <a:ln cap="flat" cmpd="sng" w="9525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718" name="Google Shape;718;p9"/>
          <p:cNvSpPr/>
          <p:nvPr/>
        </p:nvSpPr>
        <p:spPr>
          <a:xfrm>
            <a:off x="2063750" y="2154211"/>
            <a:ext cx="487363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3300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9" name="Google Shape;719;p9"/>
          <p:cNvSpPr/>
          <p:nvPr/>
        </p:nvSpPr>
        <p:spPr>
          <a:xfrm>
            <a:off x="2551112" y="2459011"/>
            <a:ext cx="487363" cy="304800"/>
          </a:xfrm>
          <a:prstGeom prst="rect">
            <a:avLst/>
          </a:prstGeom>
          <a:solidFill>
            <a:srgbClr val="E5E5E5"/>
          </a:solidFill>
          <a:ln cap="flat" cmpd="sng" w="9525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720" name="Google Shape;720;p9"/>
          <p:cNvSpPr/>
          <p:nvPr/>
        </p:nvSpPr>
        <p:spPr>
          <a:xfrm>
            <a:off x="2551112" y="2154211"/>
            <a:ext cx="487363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3300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1" name="Google Shape;721;p9"/>
          <p:cNvSpPr/>
          <p:nvPr/>
        </p:nvSpPr>
        <p:spPr>
          <a:xfrm>
            <a:off x="3038475" y="2459011"/>
            <a:ext cx="487363" cy="304800"/>
          </a:xfrm>
          <a:prstGeom prst="rect">
            <a:avLst/>
          </a:prstGeom>
          <a:solidFill>
            <a:srgbClr val="E5E5E5"/>
          </a:solidFill>
          <a:ln cap="flat" cmpd="sng" w="9525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722" name="Google Shape;722;p9"/>
          <p:cNvSpPr/>
          <p:nvPr/>
        </p:nvSpPr>
        <p:spPr>
          <a:xfrm>
            <a:off x="3038475" y="2154211"/>
            <a:ext cx="487363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330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3" name="Google Shape;723;p9"/>
          <p:cNvSpPr/>
          <p:nvPr/>
        </p:nvSpPr>
        <p:spPr>
          <a:xfrm>
            <a:off x="3525837" y="2459011"/>
            <a:ext cx="487363" cy="304800"/>
          </a:xfrm>
          <a:prstGeom prst="rect">
            <a:avLst/>
          </a:prstGeom>
          <a:solidFill>
            <a:srgbClr val="E5E5E5"/>
          </a:solidFill>
          <a:ln cap="flat" cmpd="sng" w="9525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724" name="Google Shape;724;p9"/>
          <p:cNvSpPr/>
          <p:nvPr/>
        </p:nvSpPr>
        <p:spPr>
          <a:xfrm>
            <a:off x="3525837" y="2154211"/>
            <a:ext cx="487363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330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5" name="Google Shape;725;p9"/>
          <p:cNvSpPr/>
          <p:nvPr/>
        </p:nvSpPr>
        <p:spPr>
          <a:xfrm>
            <a:off x="4013200" y="2459011"/>
            <a:ext cx="487363" cy="30480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726" name="Google Shape;726;p9"/>
          <p:cNvSpPr/>
          <p:nvPr/>
        </p:nvSpPr>
        <p:spPr>
          <a:xfrm>
            <a:off x="4013200" y="2154211"/>
            <a:ext cx="487363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330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7" name="Google Shape;727;p9"/>
          <p:cNvSpPr/>
          <p:nvPr/>
        </p:nvSpPr>
        <p:spPr>
          <a:xfrm>
            <a:off x="4500562" y="2459011"/>
            <a:ext cx="487363" cy="30480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728" name="Google Shape;728;p9"/>
          <p:cNvSpPr/>
          <p:nvPr/>
        </p:nvSpPr>
        <p:spPr>
          <a:xfrm>
            <a:off x="4500562" y="2154211"/>
            <a:ext cx="487363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330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9" name="Google Shape;729;p9"/>
          <p:cNvSpPr/>
          <p:nvPr/>
        </p:nvSpPr>
        <p:spPr>
          <a:xfrm>
            <a:off x="4987925" y="2459011"/>
            <a:ext cx="487363" cy="304800"/>
          </a:xfrm>
          <a:prstGeom prst="rect">
            <a:avLst/>
          </a:prstGeom>
          <a:solidFill>
            <a:srgbClr val="D5D5F4"/>
          </a:solidFill>
          <a:ln cap="flat" cmpd="sng" w="9525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730" name="Google Shape;730;p9"/>
          <p:cNvSpPr/>
          <p:nvPr/>
        </p:nvSpPr>
        <p:spPr>
          <a:xfrm>
            <a:off x="4987925" y="2154211"/>
            <a:ext cx="487363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330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1" name="Google Shape;731;p9"/>
          <p:cNvSpPr/>
          <p:nvPr/>
        </p:nvSpPr>
        <p:spPr>
          <a:xfrm>
            <a:off x="5475287" y="2459011"/>
            <a:ext cx="487363" cy="304800"/>
          </a:xfrm>
          <a:prstGeom prst="rect">
            <a:avLst/>
          </a:prstGeom>
          <a:solidFill>
            <a:srgbClr val="D5D5F4"/>
          </a:solidFill>
          <a:ln cap="flat" cmpd="sng" w="9525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732" name="Google Shape;732;p9"/>
          <p:cNvSpPr/>
          <p:nvPr/>
        </p:nvSpPr>
        <p:spPr>
          <a:xfrm>
            <a:off x="5475287" y="2154211"/>
            <a:ext cx="487363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33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3" name="Google Shape;733;p9"/>
          <p:cNvSpPr/>
          <p:nvPr/>
        </p:nvSpPr>
        <p:spPr>
          <a:xfrm>
            <a:off x="5962650" y="2459011"/>
            <a:ext cx="487363" cy="304800"/>
          </a:xfrm>
          <a:prstGeom prst="rect">
            <a:avLst/>
          </a:prstGeom>
          <a:solidFill>
            <a:srgbClr val="D5D5F4"/>
          </a:solidFill>
          <a:ln cap="flat" cmpd="sng" w="9525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734" name="Google Shape;734;p9"/>
          <p:cNvSpPr/>
          <p:nvPr/>
        </p:nvSpPr>
        <p:spPr>
          <a:xfrm>
            <a:off x="5962650" y="2154211"/>
            <a:ext cx="487363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33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5" name="Google Shape;735;p9"/>
          <p:cNvSpPr/>
          <p:nvPr/>
        </p:nvSpPr>
        <p:spPr>
          <a:xfrm>
            <a:off x="6450012" y="2459011"/>
            <a:ext cx="487363" cy="304800"/>
          </a:xfrm>
          <a:prstGeom prst="rect">
            <a:avLst/>
          </a:prstGeom>
          <a:solidFill>
            <a:srgbClr val="D5D5F4"/>
          </a:solidFill>
          <a:ln cap="flat" cmpd="sng" w="9525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736" name="Google Shape;736;p9"/>
          <p:cNvSpPr/>
          <p:nvPr/>
        </p:nvSpPr>
        <p:spPr>
          <a:xfrm>
            <a:off x="6450012" y="2154211"/>
            <a:ext cx="487363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33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7" name="Google Shape;737;p9"/>
          <p:cNvSpPr/>
          <p:nvPr/>
        </p:nvSpPr>
        <p:spPr>
          <a:xfrm>
            <a:off x="6937375" y="2459011"/>
            <a:ext cx="487363" cy="304800"/>
          </a:xfrm>
          <a:prstGeom prst="rect">
            <a:avLst/>
          </a:prstGeom>
          <a:solidFill>
            <a:srgbClr val="D5D5F4"/>
          </a:solidFill>
          <a:ln cap="flat" cmpd="sng" w="9525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738" name="Google Shape;738;p9"/>
          <p:cNvSpPr/>
          <p:nvPr/>
        </p:nvSpPr>
        <p:spPr>
          <a:xfrm>
            <a:off x="6937375" y="2154211"/>
            <a:ext cx="487363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33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9" name="Google Shape;739;p9"/>
          <p:cNvSpPr/>
          <p:nvPr/>
        </p:nvSpPr>
        <p:spPr>
          <a:xfrm>
            <a:off x="7424737" y="2459011"/>
            <a:ext cx="487363" cy="304800"/>
          </a:xfrm>
          <a:prstGeom prst="rect">
            <a:avLst/>
          </a:prstGeom>
          <a:solidFill>
            <a:srgbClr val="D5D5F4"/>
          </a:solidFill>
          <a:ln cap="flat" cmpd="sng" w="9525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740" name="Google Shape;740;p9"/>
          <p:cNvSpPr/>
          <p:nvPr/>
        </p:nvSpPr>
        <p:spPr>
          <a:xfrm>
            <a:off x="7424737" y="2154211"/>
            <a:ext cx="487363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33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41" name="Google Shape;741;p9"/>
          <p:cNvGrpSpPr/>
          <p:nvPr/>
        </p:nvGrpSpPr>
        <p:grpSpPr>
          <a:xfrm>
            <a:off x="4987924" y="2924149"/>
            <a:ext cx="2924175" cy="333375"/>
            <a:chOff x="3085" y="1661"/>
            <a:chExt cx="1842" cy="210"/>
          </a:xfrm>
        </p:grpSpPr>
        <p:cxnSp>
          <p:nvCxnSpPr>
            <p:cNvPr id="742" name="Google Shape;742;p9"/>
            <p:cNvCxnSpPr/>
            <p:nvPr/>
          </p:nvCxnSpPr>
          <p:spPr>
            <a:xfrm>
              <a:off x="3085" y="1752"/>
              <a:ext cx="1842" cy="1"/>
            </a:xfrm>
            <a:prstGeom prst="straightConnector1">
              <a:avLst/>
            </a:prstGeom>
            <a:noFill/>
            <a:ln cap="flat" cmpd="sng" w="9525">
              <a:solidFill>
                <a:srgbClr val="000066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743" name="Google Shape;743;p9"/>
            <p:cNvSpPr txBox="1"/>
            <p:nvPr/>
          </p:nvSpPr>
          <p:spPr>
            <a:xfrm>
              <a:off x="3792" y="1661"/>
              <a:ext cx="376" cy="21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4275" lIns="90350" spcFirstLastPara="1" rIns="90350" wrap="square" tIns="44275">
              <a:spAutoFit/>
            </a:bodyPr>
            <a:lstStyle/>
            <a:p>
              <a:pPr indent="0" lvl="0" marL="0" marR="0" rtl="0" algn="l">
                <a:lnSpc>
                  <a:spcPct val="8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003300"/>
                  </a:solidFill>
                  <a:latin typeface="Calibri"/>
                  <a:ea typeface="Calibri"/>
                  <a:cs typeface="Calibri"/>
                  <a:sym typeface="Calibri"/>
                </a:rPr>
                <a:t>VPO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44" name="Google Shape;744;p9"/>
          <p:cNvGrpSpPr/>
          <p:nvPr/>
        </p:nvGrpSpPr>
        <p:grpSpPr>
          <a:xfrm>
            <a:off x="1089025" y="2916211"/>
            <a:ext cx="3916362" cy="333375"/>
            <a:chOff x="629" y="1656"/>
            <a:chExt cx="2467" cy="210"/>
          </a:xfrm>
        </p:grpSpPr>
        <p:cxnSp>
          <p:nvCxnSpPr>
            <p:cNvPr id="745" name="Google Shape;745;p9"/>
            <p:cNvCxnSpPr/>
            <p:nvPr/>
          </p:nvCxnSpPr>
          <p:spPr>
            <a:xfrm>
              <a:off x="629" y="1747"/>
              <a:ext cx="2467" cy="1"/>
            </a:xfrm>
            <a:prstGeom prst="straightConnector1">
              <a:avLst/>
            </a:prstGeom>
            <a:noFill/>
            <a:ln cap="flat" cmpd="sng" w="9525">
              <a:solidFill>
                <a:srgbClr val="000066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746" name="Google Shape;746;p9"/>
            <p:cNvSpPr txBox="1"/>
            <p:nvPr/>
          </p:nvSpPr>
          <p:spPr>
            <a:xfrm>
              <a:off x="1577" y="1656"/>
              <a:ext cx="374" cy="21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4275" lIns="90350" spcFirstLastPara="1" rIns="90350" wrap="square" tIns="44275">
              <a:spAutoFit/>
            </a:bodyPr>
            <a:lstStyle/>
            <a:p>
              <a:pPr indent="0" lvl="0" marL="0" marR="0" rtl="0" algn="l">
                <a:lnSpc>
                  <a:spcPct val="8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003300"/>
                  </a:solidFill>
                  <a:latin typeface="Calibri"/>
                  <a:ea typeface="Calibri"/>
                  <a:cs typeface="Calibri"/>
                  <a:sym typeface="Calibri"/>
                </a:rPr>
                <a:t>VPN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747" name="Google Shape;747;p9"/>
          <p:cNvCxnSpPr/>
          <p:nvPr/>
        </p:nvCxnSpPr>
        <p:spPr>
          <a:xfrm>
            <a:off x="4010025" y="2015040"/>
            <a:ext cx="992187" cy="1588"/>
          </a:xfrm>
          <a:prstGeom prst="straightConnector1">
            <a:avLst/>
          </a:prstGeom>
          <a:noFill/>
          <a:ln cap="flat" cmpd="sng" w="9525">
            <a:solidFill>
              <a:srgbClr val="000066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748" name="Google Shape;748;p9"/>
          <p:cNvSpPr txBox="1"/>
          <p:nvPr/>
        </p:nvSpPr>
        <p:spPr>
          <a:xfrm>
            <a:off x="4233862" y="1891215"/>
            <a:ext cx="539750" cy="3063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4275" lIns="90350" spcFirstLastPara="1" rIns="90350" wrap="square" tIns="44275">
            <a:sp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rgbClr val="003300"/>
                </a:solidFill>
                <a:latin typeface="Calibri"/>
                <a:ea typeface="Calibri"/>
                <a:cs typeface="Calibri"/>
                <a:sym typeface="Calibri"/>
              </a:rPr>
              <a:t>TLBI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49" name="Google Shape;749;p9"/>
          <p:cNvCxnSpPr/>
          <p:nvPr/>
        </p:nvCxnSpPr>
        <p:spPr>
          <a:xfrm>
            <a:off x="1089025" y="2011336"/>
            <a:ext cx="2927350" cy="1588"/>
          </a:xfrm>
          <a:prstGeom prst="straightConnector1">
            <a:avLst/>
          </a:prstGeom>
          <a:noFill/>
          <a:ln cap="flat" cmpd="sng" w="9525">
            <a:solidFill>
              <a:srgbClr val="000066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750" name="Google Shape;750;p9"/>
          <p:cNvSpPr txBox="1"/>
          <p:nvPr/>
        </p:nvSpPr>
        <p:spPr>
          <a:xfrm>
            <a:off x="2332038" y="1887511"/>
            <a:ext cx="582613" cy="3063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4275" lIns="90350" spcFirstLastPara="1" rIns="90350" wrap="square" tIns="44275">
            <a:sp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rgbClr val="003300"/>
                </a:solidFill>
                <a:latin typeface="Calibri"/>
                <a:ea typeface="Calibri"/>
                <a:cs typeface="Calibri"/>
                <a:sym typeface="Calibri"/>
              </a:rPr>
              <a:t>TLBT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1" name="Google Shape;751;p9"/>
          <p:cNvSpPr/>
          <p:nvPr/>
        </p:nvSpPr>
        <p:spPr>
          <a:xfrm>
            <a:off x="2071687" y="5175250"/>
            <a:ext cx="487363" cy="304800"/>
          </a:xfrm>
          <a:prstGeom prst="rect">
            <a:avLst/>
          </a:prstGeom>
          <a:solidFill>
            <a:srgbClr val="D5F1CF"/>
          </a:solidFill>
          <a:ln cap="flat" cmpd="sng" w="9525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752" name="Google Shape;752;p9"/>
          <p:cNvSpPr/>
          <p:nvPr/>
        </p:nvSpPr>
        <p:spPr>
          <a:xfrm>
            <a:off x="2071687" y="4870450"/>
            <a:ext cx="487363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3300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3" name="Google Shape;753;p9"/>
          <p:cNvSpPr/>
          <p:nvPr/>
        </p:nvSpPr>
        <p:spPr>
          <a:xfrm>
            <a:off x="2559050" y="5175250"/>
            <a:ext cx="487363" cy="304800"/>
          </a:xfrm>
          <a:prstGeom prst="rect">
            <a:avLst/>
          </a:prstGeom>
          <a:solidFill>
            <a:srgbClr val="D5F1CF"/>
          </a:solidFill>
          <a:ln cap="flat" cmpd="sng" w="9525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754" name="Google Shape;754;p9"/>
          <p:cNvSpPr/>
          <p:nvPr/>
        </p:nvSpPr>
        <p:spPr>
          <a:xfrm>
            <a:off x="2559050" y="4870450"/>
            <a:ext cx="487363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3300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5" name="Google Shape;755;p9"/>
          <p:cNvSpPr/>
          <p:nvPr/>
        </p:nvSpPr>
        <p:spPr>
          <a:xfrm>
            <a:off x="3046412" y="5175250"/>
            <a:ext cx="487363" cy="304800"/>
          </a:xfrm>
          <a:prstGeom prst="rect">
            <a:avLst/>
          </a:prstGeom>
          <a:solidFill>
            <a:srgbClr val="D5F1CF"/>
          </a:solidFill>
          <a:ln cap="flat" cmpd="sng" w="9525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756" name="Google Shape;756;p9"/>
          <p:cNvSpPr/>
          <p:nvPr/>
        </p:nvSpPr>
        <p:spPr>
          <a:xfrm>
            <a:off x="3046412" y="4870450"/>
            <a:ext cx="487363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330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7" name="Google Shape;757;p9"/>
          <p:cNvSpPr/>
          <p:nvPr/>
        </p:nvSpPr>
        <p:spPr>
          <a:xfrm>
            <a:off x="3533775" y="5175250"/>
            <a:ext cx="487363" cy="304800"/>
          </a:xfrm>
          <a:prstGeom prst="rect">
            <a:avLst/>
          </a:prstGeom>
          <a:solidFill>
            <a:srgbClr val="D5F1CF"/>
          </a:solidFill>
          <a:ln cap="flat" cmpd="sng" w="9525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758" name="Google Shape;758;p9"/>
          <p:cNvSpPr/>
          <p:nvPr/>
        </p:nvSpPr>
        <p:spPr>
          <a:xfrm>
            <a:off x="3533775" y="4870450"/>
            <a:ext cx="487363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330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9" name="Google Shape;759;p9"/>
          <p:cNvSpPr/>
          <p:nvPr/>
        </p:nvSpPr>
        <p:spPr>
          <a:xfrm>
            <a:off x="4021137" y="5175250"/>
            <a:ext cx="487363" cy="304800"/>
          </a:xfrm>
          <a:prstGeom prst="rect">
            <a:avLst/>
          </a:prstGeom>
          <a:solidFill>
            <a:srgbClr val="D5F1CF"/>
          </a:solidFill>
          <a:ln cap="flat" cmpd="sng" w="9525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760" name="Google Shape;760;p9"/>
          <p:cNvSpPr/>
          <p:nvPr/>
        </p:nvSpPr>
        <p:spPr>
          <a:xfrm>
            <a:off x="4021137" y="4870450"/>
            <a:ext cx="487363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330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1" name="Google Shape;761;p9"/>
          <p:cNvSpPr/>
          <p:nvPr/>
        </p:nvSpPr>
        <p:spPr>
          <a:xfrm>
            <a:off x="4508500" y="5175250"/>
            <a:ext cx="487363" cy="304800"/>
          </a:xfrm>
          <a:prstGeom prst="rect">
            <a:avLst/>
          </a:prstGeom>
          <a:solidFill>
            <a:srgbClr val="D5F1CF"/>
          </a:solidFill>
          <a:ln cap="flat" cmpd="sng" w="9525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762" name="Google Shape;762;p9"/>
          <p:cNvSpPr/>
          <p:nvPr/>
        </p:nvSpPr>
        <p:spPr>
          <a:xfrm>
            <a:off x="4508500" y="4870450"/>
            <a:ext cx="487363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330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3" name="Google Shape;763;p9"/>
          <p:cNvSpPr/>
          <p:nvPr/>
        </p:nvSpPr>
        <p:spPr>
          <a:xfrm>
            <a:off x="4995862" y="5175250"/>
            <a:ext cx="487363" cy="304800"/>
          </a:xfrm>
          <a:prstGeom prst="rect">
            <a:avLst/>
          </a:prstGeom>
          <a:solidFill>
            <a:srgbClr val="D5D5F4"/>
          </a:solidFill>
          <a:ln cap="flat" cmpd="sng" w="9525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764" name="Google Shape;764;p9"/>
          <p:cNvSpPr/>
          <p:nvPr/>
        </p:nvSpPr>
        <p:spPr>
          <a:xfrm>
            <a:off x="4995862" y="4870450"/>
            <a:ext cx="487363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330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5" name="Google Shape;765;p9"/>
          <p:cNvSpPr/>
          <p:nvPr/>
        </p:nvSpPr>
        <p:spPr>
          <a:xfrm>
            <a:off x="5483225" y="5175250"/>
            <a:ext cx="487363" cy="304800"/>
          </a:xfrm>
          <a:prstGeom prst="rect">
            <a:avLst/>
          </a:prstGeom>
          <a:solidFill>
            <a:srgbClr val="D5D5F4"/>
          </a:solidFill>
          <a:ln cap="flat" cmpd="sng" w="9525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766" name="Google Shape;766;p9"/>
          <p:cNvSpPr/>
          <p:nvPr/>
        </p:nvSpPr>
        <p:spPr>
          <a:xfrm>
            <a:off x="5483225" y="4870450"/>
            <a:ext cx="487363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33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7" name="Google Shape;767;p9"/>
          <p:cNvSpPr/>
          <p:nvPr/>
        </p:nvSpPr>
        <p:spPr>
          <a:xfrm>
            <a:off x="5970587" y="5175250"/>
            <a:ext cx="487363" cy="304800"/>
          </a:xfrm>
          <a:prstGeom prst="rect">
            <a:avLst/>
          </a:prstGeom>
          <a:solidFill>
            <a:srgbClr val="D5D5F4"/>
          </a:solidFill>
          <a:ln cap="flat" cmpd="sng" w="9525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768" name="Google Shape;768;p9"/>
          <p:cNvSpPr/>
          <p:nvPr/>
        </p:nvSpPr>
        <p:spPr>
          <a:xfrm>
            <a:off x="5970587" y="4870450"/>
            <a:ext cx="487363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33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9" name="Google Shape;769;p9"/>
          <p:cNvSpPr/>
          <p:nvPr/>
        </p:nvSpPr>
        <p:spPr>
          <a:xfrm>
            <a:off x="6457950" y="5175250"/>
            <a:ext cx="487363" cy="304800"/>
          </a:xfrm>
          <a:prstGeom prst="rect">
            <a:avLst/>
          </a:prstGeom>
          <a:solidFill>
            <a:srgbClr val="D5D5F4"/>
          </a:solidFill>
          <a:ln cap="flat" cmpd="sng" w="9525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770" name="Google Shape;770;p9"/>
          <p:cNvSpPr/>
          <p:nvPr/>
        </p:nvSpPr>
        <p:spPr>
          <a:xfrm>
            <a:off x="6457950" y="4870450"/>
            <a:ext cx="487363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33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1" name="Google Shape;771;p9"/>
          <p:cNvSpPr/>
          <p:nvPr/>
        </p:nvSpPr>
        <p:spPr>
          <a:xfrm>
            <a:off x="6945312" y="5175250"/>
            <a:ext cx="487363" cy="304800"/>
          </a:xfrm>
          <a:prstGeom prst="rect">
            <a:avLst/>
          </a:prstGeom>
          <a:solidFill>
            <a:srgbClr val="D5D5F4"/>
          </a:solidFill>
          <a:ln cap="flat" cmpd="sng" w="9525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772" name="Google Shape;772;p9"/>
          <p:cNvSpPr/>
          <p:nvPr/>
        </p:nvSpPr>
        <p:spPr>
          <a:xfrm>
            <a:off x="6945312" y="4870450"/>
            <a:ext cx="487363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33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3" name="Google Shape;773;p9"/>
          <p:cNvSpPr/>
          <p:nvPr/>
        </p:nvSpPr>
        <p:spPr>
          <a:xfrm>
            <a:off x="7432675" y="5175250"/>
            <a:ext cx="487363" cy="304800"/>
          </a:xfrm>
          <a:prstGeom prst="rect">
            <a:avLst/>
          </a:prstGeom>
          <a:solidFill>
            <a:srgbClr val="D5D5F4"/>
          </a:solidFill>
          <a:ln cap="flat" cmpd="sng" w="9525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774" name="Google Shape;774;p9"/>
          <p:cNvSpPr/>
          <p:nvPr/>
        </p:nvSpPr>
        <p:spPr>
          <a:xfrm>
            <a:off x="7432675" y="4870450"/>
            <a:ext cx="487363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33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75" name="Google Shape;775;p9"/>
          <p:cNvGrpSpPr/>
          <p:nvPr/>
        </p:nvGrpSpPr>
        <p:grpSpPr>
          <a:xfrm>
            <a:off x="5004858" y="5564717"/>
            <a:ext cx="2924175" cy="333375"/>
            <a:chOff x="3101" y="3292"/>
            <a:chExt cx="1842" cy="210"/>
          </a:xfrm>
        </p:grpSpPr>
        <p:cxnSp>
          <p:nvCxnSpPr>
            <p:cNvPr id="776" name="Google Shape;776;p9"/>
            <p:cNvCxnSpPr/>
            <p:nvPr/>
          </p:nvCxnSpPr>
          <p:spPr>
            <a:xfrm>
              <a:off x="3101" y="3383"/>
              <a:ext cx="1842" cy="1"/>
            </a:xfrm>
            <a:prstGeom prst="straightConnector1">
              <a:avLst/>
            </a:prstGeom>
            <a:noFill/>
            <a:ln cap="flat" cmpd="sng" w="9525">
              <a:solidFill>
                <a:srgbClr val="000066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777" name="Google Shape;777;p9"/>
            <p:cNvSpPr txBox="1"/>
            <p:nvPr/>
          </p:nvSpPr>
          <p:spPr>
            <a:xfrm>
              <a:off x="3808" y="3292"/>
              <a:ext cx="368" cy="21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4275" lIns="90350" spcFirstLastPara="1" rIns="90350" wrap="square" tIns="44275">
              <a:spAutoFit/>
            </a:bodyPr>
            <a:lstStyle/>
            <a:p>
              <a:pPr indent="0" lvl="0" marL="0" marR="0" rtl="0" algn="l">
                <a:lnSpc>
                  <a:spcPct val="8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PPO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78" name="Google Shape;778;p9"/>
          <p:cNvGrpSpPr/>
          <p:nvPr/>
        </p:nvGrpSpPr>
        <p:grpSpPr>
          <a:xfrm>
            <a:off x="2092324" y="5556250"/>
            <a:ext cx="2924175" cy="333375"/>
            <a:chOff x="1277" y="3292"/>
            <a:chExt cx="1842" cy="210"/>
          </a:xfrm>
        </p:grpSpPr>
        <p:cxnSp>
          <p:nvCxnSpPr>
            <p:cNvPr id="779" name="Google Shape;779;p9"/>
            <p:cNvCxnSpPr/>
            <p:nvPr/>
          </p:nvCxnSpPr>
          <p:spPr>
            <a:xfrm>
              <a:off x="1277" y="3383"/>
              <a:ext cx="1842" cy="1"/>
            </a:xfrm>
            <a:prstGeom prst="straightConnector1">
              <a:avLst/>
            </a:prstGeom>
            <a:noFill/>
            <a:ln cap="flat" cmpd="sng" w="9525">
              <a:solidFill>
                <a:srgbClr val="000066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780" name="Google Shape;780;p9"/>
            <p:cNvSpPr txBox="1"/>
            <p:nvPr/>
          </p:nvSpPr>
          <p:spPr>
            <a:xfrm>
              <a:off x="1984" y="3292"/>
              <a:ext cx="366" cy="21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4275" lIns="90350" spcFirstLastPara="1" rIns="90350" wrap="square" tIns="44275">
              <a:spAutoFit/>
            </a:bodyPr>
            <a:lstStyle/>
            <a:p>
              <a:pPr indent="0" lvl="0" marL="0" marR="0" rtl="0" algn="l">
                <a:lnSpc>
                  <a:spcPct val="8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PPN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81" name="Google Shape;781;p9"/>
          <p:cNvGrpSpPr/>
          <p:nvPr/>
        </p:nvGrpSpPr>
        <p:grpSpPr>
          <a:xfrm>
            <a:off x="6925204" y="4516438"/>
            <a:ext cx="992188" cy="306388"/>
            <a:chOff x="4300" y="2637"/>
            <a:chExt cx="625" cy="193"/>
          </a:xfrm>
        </p:grpSpPr>
        <p:cxnSp>
          <p:nvCxnSpPr>
            <p:cNvPr id="782" name="Google Shape;782;p9"/>
            <p:cNvCxnSpPr/>
            <p:nvPr/>
          </p:nvCxnSpPr>
          <p:spPr>
            <a:xfrm>
              <a:off x="4300" y="2715"/>
              <a:ext cx="625" cy="1"/>
            </a:xfrm>
            <a:prstGeom prst="straightConnector1">
              <a:avLst/>
            </a:prstGeom>
            <a:noFill/>
            <a:ln cap="flat" cmpd="sng" w="9525">
              <a:solidFill>
                <a:srgbClr val="000066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783" name="Google Shape;783;p9"/>
            <p:cNvSpPr txBox="1"/>
            <p:nvPr/>
          </p:nvSpPr>
          <p:spPr>
            <a:xfrm>
              <a:off x="4486" y="2637"/>
              <a:ext cx="271" cy="19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4275" lIns="90350" spcFirstLastPara="1" rIns="90350" wrap="square" tIns="44275">
              <a:spAutoFit/>
            </a:bodyPr>
            <a:lstStyle/>
            <a:p>
              <a:pPr indent="0" lvl="0" marL="0" marR="0" rtl="0" algn="ctr">
                <a:lnSpc>
                  <a:spcPct val="8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GB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84" name="Google Shape;784;p9"/>
          <p:cNvGrpSpPr/>
          <p:nvPr/>
        </p:nvGrpSpPr>
        <p:grpSpPr>
          <a:xfrm>
            <a:off x="4987395" y="4512734"/>
            <a:ext cx="1927225" cy="306388"/>
            <a:chOff x="3090" y="2624"/>
            <a:chExt cx="1214" cy="193"/>
          </a:xfrm>
        </p:grpSpPr>
        <p:cxnSp>
          <p:nvCxnSpPr>
            <p:cNvPr id="785" name="Google Shape;785;p9"/>
            <p:cNvCxnSpPr/>
            <p:nvPr/>
          </p:nvCxnSpPr>
          <p:spPr>
            <a:xfrm>
              <a:off x="3090" y="2702"/>
              <a:ext cx="1214" cy="1"/>
            </a:xfrm>
            <a:prstGeom prst="straightConnector1">
              <a:avLst/>
            </a:prstGeom>
            <a:noFill/>
            <a:ln cap="flat" cmpd="sng" w="9525">
              <a:solidFill>
                <a:srgbClr val="000066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786" name="Google Shape;786;p9"/>
            <p:cNvSpPr txBox="1"/>
            <p:nvPr/>
          </p:nvSpPr>
          <p:spPr>
            <a:xfrm>
              <a:off x="3629" y="2624"/>
              <a:ext cx="218" cy="19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4275" lIns="90350" spcFirstLastPara="1" rIns="90350" wrap="square" tIns="44275">
              <a:spAutoFit/>
            </a:bodyPr>
            <a:lstStyle/>
            <a:p>
              <a:pPr indent="0" lvl="0" marL="0" marR="0" rtl="0" algn="ctr">
                <a:lnSpc>
                  <a:spcPct val="8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GB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CI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87" name="Google Shape;787;p9"/>
          <p:cNvGrpSpPr/>
          <p:nvPr/>
        </p:nvGrpSpPr>
        <p:grpSpPr>
          <a:xfrm>
            <a:off x="2071687" y="4516438"/>
            <a:ext cx="2894013" cy="306388"/>
            <a:chOff x="1248" y="2637"/>
            <a:chExt cx="1823" cy="193"/>
          </a:xfrm>
        </p:grpSpPr>
        <p:cxnSp>
          <p:nvCxnSpPr>
            <p:cNvPr id="788" name="Google Shape;788;p9"/>
            <p:cNvCxnSpPr/>
            <p:nvPr/>
          </p:nvCxnSpPr>
          <p:spPr>
            <a:xfrm>
              <a:off x="1248" y="2715"/>
              <a:ext cx="1823" cy="1"/>
            </a:xfrm>
            <a:prstGeom prst="straightConnector1">
              <a:avLst/>
            </a:prstGeom>
            <a:noFill/>
            <a:ln cap="flat" cmpd="sng" w="9525">
              <a:solidFill>
                <a:srgbClr val="000066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789" name="Google Shape;789;p9"/>
            <p:cNvSpPr txBox="1"/>
            <p:nvPr/>
          </p:nvSpPr>
          <p:spPr>
            <a:xfrm>
              <a:off x="2098" y="2637"/>
              <a:ext cx="248" cy="19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4275" lIns="90350" spcFirstLastPara="1" rIns="90350" wrap="square" tIns="44275">
              <a:spAutoFit/>
            </a:bodyPr>
            <a:lstStyle/>
            <a:p>
              <a:pPr indent="0" lvl="0" marL="0" marR="0" rtl="0" algn="ctr">
                <a:lnSpc>
                  <a:spcPct val="8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GB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90" name="Google Shape;790;p9"/>
          <p:cNvSpPr txBox="1"/>
          <p:nvPr/>
        </p:nvSpPr>
        <p:spPr>
          <a:xfrm>
            <a:off x="7558087" y="2449487"/>
            <a:ext cx="209550" cy="338138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45700" spcFirstLastPara="1" rIns="45700" wrap="square" tIns="46800">
            <a:sp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1" name="Google Shape;791;p9"/>
          <p:cNvSpPr txBox="1"/>
          <p:nvPr/>
        </p:nvSpPr>
        <p:spPr>
          <a:xfrm>
            <a:off x="7070725" y="2447899"/>
            <a:ext cx="209550" cy="338138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45700" spcFirstLastPara="1" rIns="45700" wrap="square" tIns="46800">
            <a:sp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2" name="Google Shape;792;p9"/>
          <p:cNvSpPr txBox="1"/>
          <p:nvPr/>
        </p:nvSpPr>
        <p:spPr>
          <a:xfrm>
            <a:off x="6584950" y="2447899"/>
            <a:ext cx="209353" cy="338299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45700" spcFirstLastPara="1" rIns="45700" wrap="square" tIns="46800">
            <a:sp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1" i="0" sz="1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9"/>
          <p:cNvSpPr txBox="1"/>
          <p:nvPr/>
        </p:nvSpPr>
        <p:spPr>
          <a:xfrm>
            <a:off x="6097587" y="2447899"/>
            <a:ext cx="209550" cy="338138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45700" spcFirstLastPara="1" rIns="45700" wrap="square" tIns="46800">
            <a:sp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4" name="Google Shape;794;p9"/>
          <p:cNvSpPr txBox="1"/>
          <p:nvPr/>
        </p:nvSpPr>
        <p:spPr>
          <a:xfrm>
            <a:off x="5611812" y="2447899"/>
            <a:ext cx="209353" cy="338299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45700" spcFirstLastPara="1" rIns="45700" wrap="square" tIns="46800">
            <a:sp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1" i="0" sz="1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9"/>
          <p:cNvSpPr txBox="1"/>
          <p:nvPr/>
        </p:nvSpPr>
        <p:spPr>
          <a:xfrm>
            <a:off x="5124450" y="2447899"/>
            <a:ext cx="209353" cy="338299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45700" spcFirstLastPara="1" rIns="45700" wrap="square" tIns="46800">
            <a:sp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1" i="0" sz="1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6" name="Google Shape;796;p9"/>
          <p:cNvSpPr txBox="1"/>
          <p:nvPr/>
        </p:nvSpPr>
        <p:spPr>
          <a:xfrm>
            <a:off x="4638675" y="2449487"/>
            <a:ext cx="209353" cy="338299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45700" spcFirstLastPara="1" rIns="45700" wrap="square" tIns="46800">
            <a:sp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1" i="0" sz="1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7" name="Google Shape;797;p9"/>
          <p:cNvSpPr txBox="1"/>
          <p:nvPr/>
        </p:nvSpPr>
        <p:spPr>
          <a:xfrm>
            <a:off x="4151312" y="2449487"/>
            <a:ext cx="209353" cy="338299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45700" spcFirstLastPara="1" rIns="45700" wrap="square" tIns="46800">
            <a:sp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1" i="0" sz="1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p9"/>
          <p:cNvSpPr txBox="1"/>
          <p:nvPr/>
        </p:nvSpPr>
        <p:spPr>
          <a:xfrm>
            <a:off x="3665537" y="2449487"/>
            <a:ext cx="209353" cy="338299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45700" spcFirstLastPara="1" rIns="45700" wrap="square" tIns="46800">
            <a:sp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1" i="0" sz="1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9" name="Google Shape;799;p9"/>
          <p:cNvSpPr txBox="1"/>
          <p:nvPr/>
        </p:nvSpPr>
        <p:spPr>
          <a:xfrm>
            <a:off x="3178175" y="2449487"/>
            <a:ext cx="209353" cy="338299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45700" spcFirstLastPara="1" rIns="45700" wrap="square" tIns="46800">
            <a:sp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1" i="0" sz="1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0" name="Google Shape;800;p9"/>
          <p:cNvSpPr txBox="1"/>
          <p:nvPr/>
        </p:nvSpPr>
        <p:spPr>
          <a:xfrm>
            <a:off x="2692400" y="2449487"/>
            <a:ext cx="209550" cy="338138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45700" spcFirstLastPara="1" rIns="45700" wrap="square" tIns="46800">
            <a:sp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1" name="Google Shape;801;p9"/>
          <p:cNvSpPr txBox="1"/>
          <p:nvPr/>
        </p:nvSpPr>
        <p:spPr>
          <a:xfrm>
            <a:off x="2205037" y="2449487"/>
            <a:ext cx="209550" cy="338138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45700" spcFirstLastPara="1" rIns="45700" wrap="square" tIns="46800">
            <a:sp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2" name="Google Shape;802;p9"/>
          <p:cNvSpPr txBox="1"/>
          <p:nvPr/>
        </p:nvSpPr>
        <p:spPr>
          <a:xfrm>
            <a:off x="1719262" y="2449487"/>
            <a:ext cx="209550" cy="338138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45700" spcFirstLastPara="1" rIns="45700" wrap="square" tIns="46800">
            <a:sp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3" name="Google Shape;803;p9"/>
          <p:cNvSpPr txBox="1"/>
          <p:nvPr/>
        </p:nvSpPr>
        <p:spPr>
          <a:xfrm>
            <a:off x="1233487" y="2449487"/>
            <a:ext cx="209550" cy="338138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45700" spcFirstLastPara="1" rIns="45700" wrap="square" tIns="46800">
            <a:sp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4" name="Google Shape;804;p9"/>
          <p:cNvSpPr txBox="1"/>
          <p:nvPr/>
        </p:nvSpPr>
        <p:spPr>
          <a:xfrm>
            <a:off x="1143000" y="3437965"/>
            <a:ext cx="499497" cy="311176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45700" spcFirstLastPara="1" rIns="45700" wrap="square" tIns="46800">
            <a:sp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0x00</a:t>
            </a:r>
            <a:endParaRPr b="1" i="0" sz="16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5" name="Google Shape;805;p9"/>
          <p:cNvSpPr txBox="1"/>
          <p:nvPr/>
        </p:nvSpPr>
        <p:spPr>
          <a:xfrm>
            <a:off x="2588682" y="3437965"/>
            <a:ext cx="196500" cy="3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45700" spcFirstLastPara="1" rIns="45700" wrap="square" tIns="46800">
            <a:sp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1" i="0" sz="16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6" name="Google Shape;806;p9"/>
          <p:cNvSpPr txBox="1"/>
          <p:nvPr/>
        </p:nvSpPr>
        <p:spPr>
          <a:xfrm>
            <a:off x="3454401" y="3437965"/>
            <a:ext cx="499497" cy="311176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45700" spcFirstLastPara="1" rIns="45700" wrap="square" tIns="46800">
            <a:sp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0x00</a:t>
            </a:r>
            <a:endParaRPr b="1" i="0" sz="16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p9"/>
          <p:cNvSpPr txBox="1"/>
          <p:nvPr/>
        </p:nvSpPr>
        <p:spPr>
          <a:xfrm>
            <a:off x="5142732" y="3437939"/>
            <a:ext cx="226985" cy="311176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45700" spcFirstLastPara="1" rIns="45700" wrap="square" tIns="46800">
            <a:sp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 b="1" i="0" sz="16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8" name="Google Shape;808;p9"/>
          <p:cNvSpPr txBox="1"/>
          <p:nvPr/>
        </p:nvSpPr>
        <p:spPr>
          <a:xfrm>
            <a:off x="6781800" y="3437965"/>
            <a:ext cx="227012" cy="31115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45700" spcFirstLastPara="1" rIns="45700" wrap="square" tIns="46800">
            <a:sp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 b="1" i="0" sz="16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9" name="Google Shape;809;p9"/>
          <p:cNvSpPr txBox="1"/>
          <p:nvPr/>
        </p:nvSpPr>
        <p:spPr>
          <a:xfrm>
            <a:off x="7746470" y="3437965"/>
            <a:ext cx="499497" cy="311176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45700" spcFirstLastPara="1" rIns="45700" wrap="square" tIns="46800">
            <a:sp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0x28</a:t>
            </a:r>
            <a:endParaRPr b="1" i="0" sz="16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10" name="Google Shape;810;p9"/>
          <p:cNvGrpSpPr/>
          <p:nvPr/>
        </p:nvGrpSpPr>
        <p:grpSpPr>
          <a:xfrm>
            <a:off x="2215620" y="5173133"/>
            <a:ext cx="5576888" cy="339725"/>
            <a:chOff x="1344" y="3030"/>
            <a:chExt cx="3513" cy="214"/>
          </a:xfrm>
        </p:grpSpPr>
        <p:sp>
          <p:nvSpPr>
            <p:cNvPr id="811" name="Google Shape;811;p9"/>
            <p:cNvSpPr txBox="1"/>
            <p:nvPr/>
          </p:nvSpPr>
          <p:spPr>
            <a:xfrm>
              <a:off x="4725" y="3031"/>
              <a:ext cx="132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45700" spcFirstLastPara="1" rIns="45700" wrap="square" tIns="46800">
              <a:spAutoFit/>
            </a:bodyPr>
            <a:lstStyle/>
            <a:p>
              <a:pPr indent="0" lvl="0" marL="0" marR="0" rtl="0" algn="ctr">
                <a:lnSpc>
                  <a:spcPct val="8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2" name="Google Shape;812;p9"/>
            <p:cNvSpPr txBox="1"/>
            <p:nvPr/>
          </p:nvSpPr>
          <p:spPr>
            <a:xfrm>
              <a:off x="4417" y="3030"/>
              <a:ext cx="132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45700" spcFirstLastPara="1" rIns="45700" wrap="square" tIns="46800">
              <a:spAutoFit/>
            </a:bodyPr>
            <a:lstStyle/>
            <a:p>
              <a:pPr indent="0" lvl="0" marL="0" marR="0" rtl="0" algn="ctr">
                <a:lnSpc>
                  <a:spcPct val="8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3" name="Google Shape;813;p9"/>
            <p:cNvSpPr txBox="1"/>
            <p:nvPr/>
          </p:nvSpPr>
          <p:spPr>
            <a:xfrm>
              <a:off x="3802" y="3030"/>
              <a:ext cx="132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45700" spcFirstLastPara="1" rIns="45700" wrap="square" tIns="46800">
              <a:spAutoFit/>
            </a:bodyPr>
            <a:lstStyle/>
            <a:p>
              <a:pPr indent="0" lvl="0" marL="0" marR="0" rtl="0" algn="ctr">
                <a:lnSpc>
                  <a:spcPct val="8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4" name="Google Shape;814;p9"/>
            <p:cNvSpPr txBox="1"/>
            <p:nvPr/>
          </p:nvSpPr>
          <p:spPr>
            <a:xfrm>
              <a:off x="2880" y="3030"/>
              <a:ext cx="132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45700" spcFirstLastPara="1" rIns="45700" wrap="square" tIns="46800">
              <a:spAutoFit/>
            </a:bodyPr>
            <a:lstStyle/>
            <a:p>
              <a:pPr indent="0" lvl="0" marL="0" marR="0" rtl="0" algn="ctr">
                <a:lnSpc>
                  <a:spcPct val="8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0</a:t>
              </a:r>
              <a:endParaRPr b="1" i="0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5" name="Google Shape;815;p9"/>
            <p:cNvSpPr txBox="1"/>
            <p:nvPr/>
          </p:nvSpPr>
          <p:spPr>
            <a:xfrm>
              <a:off x="2573" y="3030"/>
              <a:ext cx="132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45700" spcFirstLastPara="1" rIns="45700" wrap="square" tIns="46800">
              <a:spAutoFit/>
            </a:bodyPr>
            <a:lstStyle/>
            <a:p>
              <a:pPr indent="0" lvl="0" marL="0" marR="0" rtl="0" algn="ctr">
                <a:lnSpc>
                  <a:spcPct val="8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6" name="Google Shape;816;p9"/>
            <p:cNvSpPr txBox="1"/>
            <p:nvPr/>
          </p:nvSpPr>
          <p:spPr>
            <a:xfrm>
              <a:off x="2265" y="3030"/>
              <a:ext cx="132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45700" spcFirstLastPara="1" rIns="45700" wrap="square" tIns="46800">
              <a:spAutoFit/>
            </a:bodyPr>
            <a:lstStyle/>
            <a:p>
              <a:pPr indent="0" lvl="0" marL="0" marR="0" rtl="0" algn="ctr">
                <a:lnSpc>
                  <a:spcPct val="8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0</a:t>
              </a:r>
              <a:endParaRPr b="1" i="0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7" name="Google Shape;817;p9"/>
            <p:cNvSpPr txBox="1"/>
            <p:nvPr/>
          </p:nvSpPr>
          <p:spPr>
            <a:xfrm>
              <a:off x="1651" y="3030"/>
              <a:ext cx="132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45700" spcFirstLastPara="1" rIns="45700" wrap="square" tIns="46800">
              <a:spAutoFit/>
            </a:bodyPr>
            <a:lstStyle/>
            <a:p>
              <a:pPr indent="0" lvl="0" marL="0" marR="0" rtl="0" algn="ctr">
                <a:lnSpc>
                  <a:spcPct val="8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8" name="Google Shape;818;p9"/>
            <p:cNvSpPr txBox="1"/>
            <p:nvPr/>
          </p:nvSpPr>
          <p:spPr>
            <a:xfrm>
              <a:off x="4110" y="3030"/>
              <a:ext cx="132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45700" spcFirstLastPara="1" rIns="45700" wrap="square" tIns="46800">
              <a:spAutoFit/>
            </a:bodyPr>
            <a:lstStyle/>
            <a:p>
              <a:pPr indent="0" lvl="0" marL="0" marR="0" rtl="0" algn="ctr">
                <a:lnSpc>
                  <a:spcPct val="8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0</a:t>
              </a:r>
              <a:endParaRPr b="1" i="0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9" name="Google Shape;819;p9"/>
            <p:cNvSpPr txBox="1"/>
            <p:nvPr/>
          </p:nvSpPr>
          <p:spPr>
            <a:xfrm>
              <a:off x="3495" y="3030"/>
              <a:ext cx="132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45700" spcFirstLastPara="1" rIns="45700" wrap="square" tIns="46800">
              <a:spAutoFit/>
            </a:bodyPr>
            <a:lstStyle/>
            <a:p>
              <a:pPr indent="0" lvl="0" marL="0" marR="0" rtl="0" algn="ctr">
                <a:lnSpc>
                  <a:spcPct val="8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0</a:t>
              </a:r>
              <a:endParaRPr b="1" i="0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0" name="Google Shape;820;p9"/>
            <p:cNvSpPr txBox="1"/>
            <p:nvPr/>
          </p:nvSpPr>
          <p:spPr>
            <a:xfrm>
              <a:off x="3188" y="3030"/>
              <a:ext cx="132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45700" spcFirstLastPara="1" rIns="45700" wrap="square" tIns="46800">
              <a:spAutoFit/>
            </a:bodyPr>
            <a:lstStyle/>
            <a:p>
              <a:pPr indent="0" lvl="0" marL="0" marR="0" rtl="0" algn="ctr">
                <a:lnSpc>
                  <a:spcPct val="8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1" i="0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1" name="Google Shape;821;p9"/>
            <p:cNvSpPr txBox="1"/>
            <p:nvPr/>
          </p:nvSpPr>
          <p:spPr>
            <a:xfrm>
              <a:off x="1957" y="3030"/>
              <a:ext cx="132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45700" spcFirstLastPara="1" rIns="45700" wrap="square" tIns="46800">
              <a:spAutoFit/>
            </a:bodyPr>
            <a:lstStyle/>
            <a:p>
              <a:pPr indent="0" lvl="0" marL="0" marR="0" rtl="0" algn="ctr">
                <a:lnSpc>
                  <a:spcPct val="8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2" name="Google Shape;822;p9"/>
            <p:cNvSpPr txBox="1"/>
            <p:nvPr/>
          </p:nvSpPr>
          <p:spPr>
            <a:xfrm>
              <a:off x="1344" y="3030"/>
              <a:ext cx="132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45700" spcFirstLastPara="1" rIns="45700" wrap="square" tIns="46800">
              <a:spAutoFit/>
            </a:bodyPr>
            <a:lstStyle/>
            <a:p>
              <a:pPr indent="0" lvl="0" marL="0" marR="0" rtl="0" algn="ctr">
                <a:lnSpc>
                  <a:spcPct val="8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1" i="0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23" name="Google Shape;823;p9"/>
          <p:cNvSpPr txBox="1"/>
          <p:nvPr/>
        </p:nvSpPr>
        <p:spPr>
          <a:xfrm>
            <a:off x="1352551" y="5992801"/>
            <a:ext cx="196850" cy="31115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45700" spcFirstLastPara="1" rIns="45700" wrap="square" tIns="46800">
            <a:sp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4" name="Google Shape;824;p9"/>
          <p:cNvSpPr txBox="1"/>
          <p:nvPr/>
        </p:nvSpPr>
        <p:spPr>
          <a:xfrm>
            <a:off x="2271712" y="5992801"/>
            <a:ext cx="395301" cy="311176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45700" spcFirstLastPara="1" rIns="45700" wrap="square" tIns="46800">
            <a:sp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0x8</a:t>
            </a:r>
            <a:endParaRPr b="1" i="0" sz="16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5" name="Google Shape;825;p9"/>
          <p:cNvSpPr txBox="1"/>
          <p:nvPr/>
        </p:nvSpPr>
        <p:spPr>
          <a:xfrm>
            <a:off x="3259139" y="5992801"/>
            <a:ext cx="499497" cy="311176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45700" spcFirstLastPara="1" rIns="45700" wrap="square" tIns="46800">
            <a:sp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0x28</a:t>
            </a:r>
            <a:endParaRPr b="1" i="0" sz="16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6" name="Google Shape;826;p9"/>
          <p:cNvSpPr txBox="1"/>
          <p:nvPr/>
        </p:nvSpPr>
        <p:spPr>
          <a:xfrm>
            <a:off x="4580467" y="5992801"/>
            <a:ext cx="226985" cy="311176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45700" spcFirstLastPara="1" rIns="45700" wrap="square" tIns="46800">
            <a:sp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 b="1" i="0" sz="16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7" name="Google Shape;827;p9"/>
          <p:cNvSpPr txBox="1"/>
          <p:nvPr/>
        </p:nvSpPr>
        <p:spPr>
          <a:xfrm>
            <a:off x="5850466" y="5992801"/>
            <a:ext cx="541175" cy="311176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45700" spcFirstLastPara="1" rIns="45700" wrap="square" tIns="46800">
            <a:sp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Mem</a:t>
            </a:r>
            <a:endParaRPr b="1" i="0" sz="16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10"/>
          <p:cNvSpPr txBox="1"/>
          <p:nvPr>
            <p:ph type="title"/>
          </p:nvPr>
        </p:nvSpPr>
        <p:spPr>
          <a:xfrm>
            <a:off x="381000" y="493713"/>
            <a:ext cx="7345363" cy="5730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Address Translation Example #3</a:t>
            </a:r>
            <a:endParaRPr/>
          </a:p>
        </p:txBody>
      </p:sp>
      <p:sp>
        <p:nvSpPr>
          <p:cNvPr id="834" name="Google Shape;834;p10"/>
          <p:cNvSpPr txBox="1"/>
          <p:nvPr>
            <p:ph idx="1" type="body"/>
          </p:nvPr>
        </p:nvSpPr>
        <p:spPr>
          <a:xfrm>
            <a:off x="381000" y="1371600"/>
            <a:ext cx="8307387" cy="5333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222250" rtl="0" algn="l">
              <a:lnSpc>
                <a:spcPct val="73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GB"/>
              <a:t>Virtual Address: </a:t>
            </a:r>
            <a:r>
              <a:rPr lang="en-GB">
                <a:latin typeface="Courier New"/>
                <a:ea typeface="Courier New"/>
                <a:cs typeface="Courier New"/>
                <a:sym typeface="Courier New"/>
              </a:rPr>
              <a:t>0x0020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-222250" lvl="0" marL="2222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Noto Sans Symbols"/>
              <a:buNone/>
            </a:pPr>
            <a:r>
              <a:t/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-222250" lvl="0" marL="2222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Noto Sans Symbols"/>
              <a:buNone/>
            </a:pPr>
            <a:r>
              <a:t/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-220663" lvl="1" marL="55880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Noto Sans Symbols"/>
              <a:buNone/>
            </a:pPr>
            <a:r>
              <a:t/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-220663" lvl="1" marL="558800" rtl="0" algn="l">
              <a:lnSpc>
                <a:spcPct val="78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Noto Sans Symbols"/>
              <a:buNone/>
            </a:pPr>
            <a:r>
              <a:t/>
            </a:r>
            <a:endParaRPr sz="1600"/>
          </a:p>
          <a:p>
            <a:pPr indent="-220663" lvl="1" marL="558800" rtl="0" algn="l">
              <a:lnSpc>
                <a:spcPct val="78000"/>
              </a:lnSpc>
              <a:spcBef>
                <a:spcPts val="500"/>
              </a:spcBef>
              <a:spcAft>
                <a:spcPts val="0"/>
              </a:spcAft>
              <a:buSzPts val="1050"/>
              <a:buFont typeface="Noto Sans Symbols"/>
              <a:buNone/>
            </a:pPr>
            <a:r>
              <a:t/>
            </a:r>
            <a:endParaRPr sz="1400"/>
          </a:p>
          <a:p>
            <a:pPr indent="-220663" lvl="1" marL="558800" rtl="0" algn="l">
              <a:lnSpc>
                <a:spcPct val="78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Noto Sans Symbols"/>
              <a:buNone/>
            </a:pPr>
            <a:r>
              <a:t/>
            </a:r>
            <a:endParaRPr sz="1600"/>
          </a:p>
          <a:p>
            <a:pPr indent="-220663" lvl="1" marL="558800" rtl="0" algn="l">
              <a:lnSpc>
                <a:spcPct val="78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Noto Sans Symbols"/>
              <a:buNone/>
            </a:pPr>
            <a:r>
              <a:rPr lang="en-GB" sz="1600"/>
              <a:t>VPN ___	TLBI ___	TLBT ____	          TLB Hit? __	Page Fault? __        PPN: ____</a:t>
            </a:r>
            <a:endParaRPr/>
          </a:p>
          <a:p>
            <a:pPr indent="-222250" lvl="0" marL="222250" rtl="0" algn="l">
              <a:lnSpc>
                <a:spcPct val="73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Noto Sans Symbols"/>
              <a:buNone/>
            </a:pPr>
            <a:r>
              <a:t/>
            </a:r>
            <a:endParaRPr/>
          </a:p>
          <a:p>
            <a:pPr indent="-222250" lvl="0" marL="222250" rtl="0" algn="l">
              <a:lnSpc>
                <a:spcPct val="73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Noto Sans Symbols"/>
              <a:buNone/>
            </a:pPr>
            <a:r>
              <a:rPr lang="en-GB"/>
              <a:t>Physical Address</a:t>
            </a:r>
            <a:endParaRPr/>
          </a:p>
          <a:p>
            <a:pPr indent="-220663" lvl="1" marL="558800" rtl="0" algn="l">
              <a:lnSpc>
                <a:spcPct val="78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Noto Sans Symbols"/>
              <a:buNone/>
            </a:pPr>
            <a:r>
              <a:t/>
            </a:r>
            <a:endParaRPr/>
          </a:p>
          <a:p>
            <a:pPr indent="-220663" lvl="1" marL="558800" rtl="0" algn="l">
              <a:lnSpc>
                <a:spcPct val="78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Noto Sans Symbols"/>
              <a:buNone/>
            </a:pPr>
            <a:r>
              <a:t/>
            </a:r>
            <a:endParaRPr/>
          </a:p>
          <a:p>
            <a:pPr indent="-220663" lvl="1" marL="558800" rtl="0" algn="l">
              <a:lnSpc>
                <a:spcPct val="78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Noto Sans Symbols"/>
              <a:buNone/>
            </a:pPr>
            <a:r>
              <a:t/>
            </a:r>
            <a:endParaRPr/>
          </a:p>
          <a:p>
            <a:pPr indent="-220663" lvl="1" marL="558800" rtl="0" algn="l">
              <a:lnSpc>
                <a:spcPct val="78000"/>
              </a:lnSpc>
              <a:spcBef>
                <a:spcPts val="320"/>
              </a:spcBef>
              <a:spcAft>
                <a:spcPts val="0"/>
              </a:spcAft>
              <a:buSzPts val="1200"/>
              <a:buFont typeface="Noto Sans Symbols"/>
              <a:buNone/>
            </a:pPr>
            <a:r>
              <a:t/>
            </a:r>
            <a:endParaRPr sz="1600"/>
          </a:p>
          <a:p>
            <a:pPr indent="-220663" lvl="1" marL="558800" rtl="0" algn="l">
              <a:lnSpc>
                <a:spcPct val="78000"/>
              </a:lnSpc>
              <a:spcBef>
                <a:spcPts val="320"/>
              </a:spcBef>
              <a:spcAft>
                <a:spcPts val="0"/>
              </a:spcAft>
              <a:buSzPts val="1200"/>
              <a:buFont typeface="Noto Sans Symbols"/>
              <a:buNone/>
            </a:pPr>
            <a:r>
              <a:t/>
            </a:r>
            <a:endParaRPr sz="1600"/>
          </a:p>
          <a:p>
            <a:pPr indent="-220663" lvl="1" marL="558800" rtl="0" algn="l">
              <a:lnSpc>
                <a:spcPct val="78000"/>
              </a:lnSpc>
              <a:spcBef>
                <a:spcPts val="320"/>
              </a:spcBef>
              <a:spcAft>
                <a:spcPts val="0"/>
              </a:spcAft>
              <a:buSzPts val="1200"/>
              <a:buFont typeface="Noto Sans Symbols"/>
              <a:buNone/>
            </a:pPr>
            <a:r>
              <a:t/>
            </a:r>
            <a:endParaRPr sz="1600"/>
          </a:p>
          <a:p>
            <a:pPr indent="-220663" lvl="1" marL="558800" rtl="0" algn="l">
              <a:lnSpc>
                <a:spcPct val="78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Noto Sans Symbols"/>
              <a:buNone/>
            </a:pPr>
            <a:r>
              <a:rPr lang="en-GB" sz="1600"/>
              <a:t>	CO___	CI___	CT ____	     Hit? __              Byte: ____</a:t>
            </a:r>
            <a:endParaRPr/>
          </a:p>
          <a:p>
            <a:pPr indent="-220663" lvl="1" marL="558800" rtl="0" algn="l">
              <a:lnSpc>
                <a:spcPct val="78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Noto Sans Symbols"/>
              <a:buNone/>
            </a:pPr>
            <a:r>
              <a:t/>
            </a:r>
            <a:endParaRPr sz="1600"/>
          </a:p>
        </p:txBody>
      </p:sp>
      <p:sp>
        <p:nvSpPr>
          <p:cNvPr id="835" name="Google Shape;835;p10"/>
          <p:cNvSpPr/>
          <p:nvPr/>
        </p:nvSpPr>
        <p:spPr>
          <a:xfrm>
            <a:off x="1089025" y="2459011"/>
            <a:ext cx="487363" cy="304800"/>
          </a:xfrm>
          <a:prstGeom prst="rect">
            <a:avLst/>
          </a:prstGeom>
          <a:solidFill>
            <a:srgbClr val="E5E5E5"/>
          </a:solidFill>
          <a:ln cap="flat" cmpd="sng" w="9525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836" name="Google Shape;836;p10"/>
          <p:cNvSpPr/>
          <p:nvPr/>
        </p:nvSpPr>
        <p:spPr>
          <a:xfrm>
            <a:off x="1089025" y="2154211"/>
            <a:ext cx="487363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3300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7" name="Google Shape;837;p10"/>
          <p:cNvSpPr/>
          <p:nvPr/>
        </p:nvSpPr>
        <p:spPr>
          <a:xfrm>
            <a:off x="1576387" y="2459011"/>
            <a:ext cx="487363" cy="304800"/>
          </a:xfrm>
          <a:prstGeom prst="rect">
            <a:avLst/>
          </a:prstGeom>
          <a:solidFill>
            <a:srgbClr val="E5E5E5"/>
          </a:solidFill>
          <a:ln cap="flat" cmpd="sng" w="9525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838" name="Google Shape;838;p10"/>
          <p:cNvSpPr/>
          <p:nvPr/>
        </p:nvSpPr>
        <p:spPr>
          <a:xfrm>
            <a:off x="1576387" y="2154211"/>
            <a:ext cx="487363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3300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9" name="Google Shape;839;p10"/>
          <p:cNvSpPr/>
          <p:nvPr/>
        </p:nvSpPr>
        <p:spPr>
          <a:xfrm>
            <a:off x="2063750" y="2459011"/>
            <a:ext cx="487363" cy="304800"/>
          </a:xfrm>
          <a:prstGeom prst="rect">
            <a:avLst/>
          </a:prstGeom>
          <a:solidFill>
            <a:srgbClr val="E5E5E5"/>
          </a:solidFill>
          <a:ln cap="flat" cmpd="sng" w="9525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840" name="Google Shape;840;p10"/>
          <p:cNvSpPr/>
          <p:nvPr/>
        </p:nvSpPr>
        <p:spPr>
          <a:xfrm>
            <a:off x="2063750" y="2154211"/>
            <a:ext cx="487363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3300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1" name="Google Shape;841;p10"/>
          <p:cNvSpPr/>
          <p:nvPr/>
        </p:nvSpPr>
        <p:spPr>
          <a:xfrm>
            <a:off x="2551112" y="2459011"/>
            <a:ext cx="487363" cy="304800"/>
          </a:xfrm>
          <a:prstGeom prst="rect">
            <a:avLst/>
          </a:prstGeom>
          <a:solidFill>
            <a:srgbClr val="E5E5E5"/>
          </a:solidFill>
          <a:ln cap="flat" cmpd="sng" w="9525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842" name="Google Shape;842;p10"/>
          <p:cNvSpPr/>
          <p:nvPr/>
        </p:nvSpPr>
        <p:spPr>
          <a:xfrm>
            <a:off x="2551112" y="2154211"/>
            <a:ext cx="487363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3300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3" name="Google Shape;843;p10"/>
          <p:cNvSpPr/>
          <p:nvPr/>
        </p:nvSpPr>
        <p:spPr>
          <a:xfrm>
            <a:off x="3038475" y="2459011"/>
            <a:ext cx="487363" cy="304800"/>
          </a:xfrm>
          <a:prstGeom prst="rect">
            <a:avLst/>
          </a:prstGeom>
          <a:solidFill>
            <a:srgbClr val="E5E5E5"/>
          </a:solidFill>
          <a:ln cap="flat" cmpd="sng" w="9525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844" name="Google Shape;844;p10"/>
          <p:cNvSpPr/>
          <p:nvPr/>
        </p:nvSpPr>
        <p:spPr>
          <a:xfrm>
            <a:off x="3038475" y="2154211"/>
            <a:ext cx="487363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330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5" name="Google Shape;845;p10"/>
          <p:cNvSpPr/>
          <p:nvPr/>
        </p:nvSpPr>
        <p:spPr>
          <a:xfrm>
            <a:off x="3525837" y="2459011"/>
            <a:ext cx="487363" cy="304800"/>
          </a:xfrm>
          <a:prstGeom prst="rect">
            <a:avLst/>
          </a:prstGeom>
          <a:solidFill>
            <a:srgbClr val="E5E5E5"/>
          </a:solidFill>
          <a:ln cap="flat" cmpd="sng" w="9525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846" name="Google Shape;846;p10"/>
          <p:cNvSpPr/>
          <p:nvPr/>
        </p:nvSpPr>
        <p:spPr>
          <a:xfrm>
            <a:off x="3525837" y="2154211"/>
            <a:ext cx="487363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330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7" name="Google Shape;847;p10"/>
          <p:cNvSpPr/>
          <p:nvPr/>
        </p:nvSpPr>
        <p:spPr>
          <a:xfrm>
            <a:off x="4013200" y="2459011"/>
            <a:ext cx="487363" cy="30480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848" name="Google Shape;848;p10"/>
          <p:cNvSpPr/>
          <p:nvPr/>
        </p:nvSpPr>
        <p:spPr>
          <a:xfrm>
            <a:off x="4013200" y="2154211"/>
            <a:ext cx="487363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330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9" name="Google Shape;849;p10"/>
          <p:cNvSpPr/>
          <p:nvPr/>
        </p:nvSpPr>
        <p:spPr>
          <a:xfrm>
            <a:off x="4500562" y="2459011"/>
            <a:ext cx="487363" cy="30480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850" name="Google Shape;850;p10"/>
          <p:cNvSpPr/>
          <p:nvPr/>
        </p:nvSpPr>
        <p:spPr>
          <a:xfrm>
            <a:off x="4500562" y="2154211"/>
            <a:ext cx="487363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330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1" name="Google Shape;851;p10"/>
          <p:cNvSpPr/>
          <p:nvPr/>
        </p:nvSpPr>
        <p:spPr>
          <a:xfrm>
            <a:off x="4987925" y="2459011"/>
            <a:ext cx="487363" cy="304800"/>
          </a:xfrm>
          <a:prstGeom prst="rect">
            <a:avLst/>
          </a:prstGeom>
          <a:solidFill>
            <a:srgbClr val="D5D5F4"/>
          </a:solidFill>
          <a:ln cap="flat" cmpd="sng" w="9525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852" name="Google Shape;852;p10"/>
          <p:cNvSpPr/>
          <p:nvPr/>
        </p:nvSpPr>
        <p:spPr>
          <a:xfrm>
            <a:off x="4987925" y="2154211"/>
            <a:ext cx="487363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330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3" name="Google Shape;853;p10"/>
          <p:cNvSpPr/>
          <p:nvPr/>
        </p:nvSpPr>
        <p:spPr>
          <a:xfrm>
            <a:off x="5475287" y="2459011"/>
            <a:ext cx="487363" cy="304800"/>
          </a:xfrm>
          <a:prstGeom prst="rect">
            <a:avLst/>
          </a:prstGeom>
          <a:solidFill>
            <a:srgbClr val="D5D5F4"/>
          </a:solidFill>
          <a:ln cap="flat" cmpd="sng" w="9525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854" name="Google Shape;854;p10"/>
          <p:cNvSpPr/>
          <p:nvPr/>
        </p:nvSpPr>
        <p:spPr>
          <a:xfrm>
            <a:off x="5475287" y="2154211"/>
            <a:ext cx="487363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33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5" name="Google Shape;855;p10"/>
          <p:cNvSpPr/>
          <p:nvPr/>
        </p:nvSpPr>
        <p:spPr>
          <a:xfrm>
            <a:off x="5962650" y="2459011"/>
            <a:ext cx="487363" cy="304800"/>
          </a:xfrm>
          <a:prstGeom prst="rect">
            <a:avLst/>
          </a:prstGeom>
          <a:solidFill>
            <a:srgbClr val="D5D5F4"/>
          </a:solidFill>
          <a:ln cap="flat" cmpd="sng" w="9525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856" name="Google Shape;856;p10"/>
          <p:cNvSpPr/>
          <p:nvPr/>
        </p:nvSpPr>
        <p:spPr>
          <a:xfrm>
            <a:off x="5962650" y="2154211"/>
            <a:ext cx="487363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33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7" name="Google Shape;857;p10"/>
          <p:cNvSpPr/>
          <p:nvPr/>
        </p:nvSpPr>
        <p:spPr>
          <a:xfrm>
            <a:off x="6450012" y="2459011"/>
            <a:ext cx="487363" cy="304800"/>
          </a:xfrm>
          <a:prstGeom prst="rect">
            <a:avLst/>
          </a:prstGeom>
          <a:solidFill>
            <a:srgbClr val="D5D5F4"/>
          </a:solidFill>
          <a:ln cap="flat" cmpd="sng" w="9525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858" name="Google Shape;858;p10"/>
          <p:cNvSpPr/>
          <p:nvPr/>
        </p:nvSpPr>
        <p:spPr>
          <a:xfrm>
            <a:off x="6450012" y="2154211"/>
            <a:ext cx="487363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33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9" name="Google Shape;859;p10"/>
          <p:cNvSpPr/>
          <p:nvPr/>
        </p:nvSpPr>
        <p:spPr>
          <a:xfrm>
            <a:off x="6937375" y="2459011"/>
            <a:ext cx="487363" cy="304800"/>
          </a:xfrm>
          <a:prstGeom prst="rect">
            <a:avLst/>
          </a:prstGeom>
          <a:solidFill>
            <a:srgbClr val="D5D5F4"/>
          </a:solidFill>
          <a:ln cap="flat" cmpd="sng" w="9525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860" name="Google Shape;860;p10"/>
          <p:cNvSpPr/>
          <p:nvPr/>
        </p:nvSpPr>
        <p:spPr>
          <a:xfrm>
            <a:off x="6937375" y="2154211"/>
            <a:ext cx="487363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33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1" name="Google Shape;861;p10"/>
          <p:cNvSpPr/>
          <p:nvPr/>
        </p:nvSpPr>
        <p:spPr>
          <a:xfrm>
            <a:off x="7424737" y="2459011"/>
            <a:ext cx="487363" cy="304800"/>
          </a:xfrm>
          <a:prstGeom prst="rect">
            <a:avLst/>
          </a:prstGeom>
          <a:solidFill>
            <a:srgbClr val="D5D5F4"/>
          </a:solidFill>
          <a:ln cap="flat" cmpd="sng" w="9525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862" name="Google Shape;862;p10"/>
          <p:cNvSpPr/>
          <p:nvPr/>
        </p:nvSpPr>
        <p:spPr>
          <a:xfrm>
            <a:off x="7424737" y="2154211"/>
            <a:ext cx="487363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33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63" name="Google Shape;863;p10"/>
          <p:cNvGrpSpPr/>
          <p:nvPr/>
        </p:nvGrpSpPr>
        <p:grpSpPr>
          <a:xfrm>
            <a:off x="4987924" y="2924149"/>
            <a:ext cx="2924175" cy="333375"/>
            <a:chOff x="3085" y="1661"/>
            <a:chExt cx="1842" cy="210"/>
          </a:xfrm>
        </p:grpSpPr>
        <p:cxnSp>
          <p:nvCxnSpPr>
            <p:cNvPr id="864" name="Google Shape;864;p10"/>
            <p:cNvCxnSpPr/>
            <p:nvPr/>
          </p:nvCxnSpPr>
          <p:spPr>
            <a:xfrm>
              <a:off x="3085" y="1752"/>
              <a:ext cx="1842" cy="1"/>
            </a:xfrm>
            <a:prstGeom prst="straightConnector1">
              <a:avLst/>
            </a:prstGeom>
            <a:noFill/>
            <a:ln cap="flat" cmpd="sng" w="9525">
              <a:solidFill>
                <a:srgbClr val="000066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865" name="Google Shape;865;p10"/>
            <p:cNvSpPr txBox="1"/>
            <p:nvPr/>
          </p:nvSpPr>
          <p:spPr>
            <a:xfrm>
              <a:off x="3792" y="1661"/>
              <a:ext cx="376" cy="21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4275" lIns="90350" spcFirstLastPara="1" rIns="90350" wrap="square" tIns="44275">
              <a:spAutoFit/>
            </a:bodyPr>
            <a:lstStyle/>
            <a:p>
              <a:pPr indent="0" lvl="0" marL="0" marR="0" rtl="0" algn="l">
                <a:lnSpc>
                  <a:spcPct val="8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003300"/>
                  </a:solidFill>
                  <a:latin typeface="Calibri"/>
                  <a:ea typeface="Calibri"/>
                  <a:cs typeface="Calibri"/>
                  <a:sym typeface="Calibri"/>
                </a:rPr>
                <a:t>VPO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66" name="Google Shape;866;p10"/>
          <p:cNvGrpSpPr/>
          <p:nvPr/>
        </p:nvGrpSpPr>
        <p:grpSpPr>
          <a:xfrm>
            <a:off x="1089025" y="2916211"/>
            <a:ext cx="3916362" cy="333375"/>
            <a:chOff x="629" y="1656"/>
            <a:chExt cx="2467" cy="210"/>
          </a:xfrm>
        </p:grpSpPr>
        <p:cxnSp>
          <p:nvCxnSpPr>
            <p:cNvPr id="867" name="Google Shape;867;p10"/>
            <p:cNvCxnSpPr/>
            <p:nvPr/>
          </p:nvCxnSpPr>
          <p:spPr>
            <a:xfrm>
              <a:off x="629" y="1747"/>
              <a:ext cx="2467" cy="1"/>
            </a:xfrm>
            <a:prstGeom prst="straightConnector1">
              <a:avLst/>
            </a:prstGeom>
            <a:noFill/>
            <a:ln cap="flat" cmpd="sng" w="9525">
              <a:solidFill>
                <a:srgbClr val="000066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868" name="Google Shape;868;p10"/>
            <p:cNvSpPr txBox="1"/>
            <p:nvPr/>
          </p:nvSpPr>
          <p:spPr>
            <a:xfrm>
              <a:off x="1577" y="1656"/>
              <a:ext cx="374" cy="21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4275" lIns="90350" spcFirstLastPara="1" rIns="90350" wrap="square" tIns="44275">
              <a:spAutoFit/>
            </a:bodyPr>
            <a:lstStyle/>
            <a:p>
              <a:pPr indent="0" lvl="0" marL="0" marR="0" rtl="0" algn="l">
                <a:lnSpc>
                  <a:spcPct val="8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003300"/>
                  </a:solidFill>
                  <a:latin typeface="Calibri"/>
                  <a:ea typeface="Calibri"/>
                  <a:cs typeface="Calibri"/>
                  <a:sym typeface="Calibri"/>
                </a:rPr>
                <a:t>VPN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869" name="Google Shape;869;p10"/>
          <p:cNvCxnSpPr/>
          <p:nvPr/>
        </p:nvCxnSpPr>
        <p:spPr>
          <a:xfrm>
            <a:off x="4010025" y="2015040"/>
            <a:ext cx="992187" cy="1588"/>
          </a:xfrm>
          <a:prstGeom prst="straightConnector1">
            <a:avLst/>
          </a:prstGeom>
          <a:noFill/>
          <a:ln cap="flat" cmpd="sng" w="9525">
            <a:solidFill>
              <a:srgbClr val="000066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870" name="Google Shape;870;p10"/>
          <p:cNvSpPr txBox="1"/>
          <p:nvPr/>
        </p:nvSpPr>
        <p:spPr>
          <a:xfrm>
            <a:off x="4233862" y="1891215"/>
            <a:ext cx="539750" cy="3063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4275" lIns="90350" spcFirstLastPara="1" rIns="90350" wrap="square" tIns="44275">
            <a:sp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rgbClr val="003300"/>
                </a:solidFill>
                <a:latin typeface="Calibri"/>
                <a:ea typeface="Calibri"/>
                <a:cs typeface="Calibri"/>
                <a:sym typeface="Calibri"/>
              </a:rPr>
              <a:t>TLBI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71" name="Google Shape;871;p10"/>
          <p:cNvCxnSpPr/>
          <p:nvPr/>
        </p:nvCxnSpPr>
        <p:spPr>
          <a:xfrm>
            <a:off x="1089025" y="2011336"/>
            <a:ext cx="2927350" cy="1588"/>
          </a:xfrm>
          <a:prstGeom prst="straightConnector1">
            <a:avLst/>
          </a:prstGeom>
          <a:noFill/>
          <a:ln cap="flat" cmpd="sng" w="9525">
            <a:solidFill>
              <a:srgbClr val="000066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872" name="Google Shape;872;p10"/>
          <p:cNvSpPr txBox="1"/>
          <p:nvPr/>
        </p:nvSpPr>
        <p:spPr>
          <a:xfrm>
            <a:off x="2332038" y="1887511"/>
            <a:ext cx="582613" cy="3063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4275" lIns="90350" spcFirstLastPara="1" rIns="90350" wrap="square" tIns="44275">
            <a:sp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rgbClr val="003300"/>
                </a:solidFill>
                <a:latin typeface="Calibri"/>
                <a:ea typeface="Calibri"/>
                <a:cs typeface="Calibri"/>
                <a:sym typeface="Calibri"/>
              </a:rPr>
              <a:t>TLBT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3" name="Google Shape;873;p10"/>
          <p:cNvSpPr/>
          <p:nvPr/>
        </p:nvSpPr>
        <p:spPr>
          <a:xfrm>
            <a:off x="2071687" y="5175250"/>
            <a:ext cx="487363" cy="304800"/>
          </a:xfrm>
          <a:prstGeom prst="rect">
            <a:avLst/>
          </a:prstGeom>
          <a:solidFill>
            <a:srgbClr val="D5F1CF"/>
          </a:solidFill>
          <a:ln cap="flat" cmpd="sng" w="9525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874" name="Google Shape;874;p10"/>
          <p:cNvSpPr/>
          <p:nvPr/>
        </p:nvSpPr>
        <p:spPr>
          <a:xfrm>
            <a:off x="2071687" y="4870450"/>
            <a:ext cx="487363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3300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5" name="Google Shape;875;p10"/>
          <p:cNvSpPr/>
          <p:nvPr/>
        </p:nvSpPr>
        <p:spPr>
          <a:xfrm>
            <a:off x="2559050" y="5175250"/>
            <a:ext cx="487363" cy="304800"/>
          </a:xfrm>
          <a:prstGeom prst="rect">
            <a:avLst/>
          </a:prstGeom>
          <a:solidFill>
            <a:srgbClr val="D5F1CF"/>
          </a:solidFill>
          <a:ln cap="flat" cmpd="sng" w="9525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876" name="Google Shape;876;p10"/>
          <p:cNvSpPr/>
          <p:nvPr/>
        </p:nvSpPr>
        <p:spPr>
          <a:xfrm>
            <a:off x="2559050" y="4870450"/>
            <a:ext cx="487363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3300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7" name="Google Shape;877;p10"/>
          <p:cNvSpPr/>
          <p:nvPr/>
        </p:nvSpPr>
        <p:spPr>
          <a:xfrm>
            <a:off x="3046412" y="5175250"/>
            <a:ext cx="487363" cy="304800"/>
          </a:xfrm>
          <a:prstGeom prst="rect">
            <a:avLst/>
          </a:prstGeom>
          <a:solidFill>
            <a:srgbClr val="D5F1CF"/>
          </a:solidFill>
          <a:ln cap="flat" cmpd="sng" w="9525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878" name="Google Shape;878;p10"/>
          <p:cNvSpPr/>
          <p:nvPr/>
        </p:nvSpPr>
        <p:spPr>
          <a:xfrm>
            <a:off x="3046412" y="4870450"/>
            <a:ext cx="487363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330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9" name="Google Shape;879;p10"/>
          <p:cNvSpPr/>
          <p:nvPr/>
        </p:nvSpPr>
        <p:spPr>
          <a:xfrm>
            <a:off x="3533775" y="5175250"/>
            <a:ext cx="487363" cy="304800"/>
          </a:xfrm>
          <a:prstGeom prst="rect">
            <a:avLst/>
          </a:prstGeom>
          <a:solidFill>
            <a:srgbClr val="D5F1CF"/>
          </a:solidFill>
          <a:ln cap="flat" cmpd="sng" w="9525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880" name="Google Shape;880;p10"/>
          <p:cNvSpPr/>
          <p:nvPr/>
        </p:nvSpPr>
        <p:spPr>
          <a:xfrm>
            <a:off x="3533775" y="4870450"/>
            <a:ext cx="487363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330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1" name="Google Shape;881;p10"/>
          <p:cNvSpPr/>
          <p:nvPr/>
        </p:nvSpPr>
        <p:spPr>
          <a:xfrm>
            <a:off x="4021137" y="5175250"/>
            <a:ext cx="487363" cy="304800"/>
          </a:xfrm>
          <a:prstGeom prst="rect">
            <a:avLst/>
          </a:prstGeom>
          <a:solidFill>
            <a:srgbClr val="D5F1CF"/>
          </a:solidFill>
          <a:ln cap="flat" cmpd="sng" w="9525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882" name="Google Shape;882;p10"/>
          <p:cNvSpPr/>
          <p:nvPr/>
        </p:nvSpPr>
        <p:spPr>
          <a:xfrm>
            <a:off x="4021137" y="4870450"/>
            <a:ext cx="487363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330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3" name="Google Shape;883;p10"/>
          <p:cNvSpPr/>
          <p:nvPr/>
        </p:nvSpPr>
        <p:spPr>
          <a:xfrm>
            <a:off x="4508500" y="5175250"/>
            <a:ext cx="487363" cy="304800"/>
          </a:xfrm>
          <a:prstGeom prst="rect">
            <a:avLst/>
          </a:prstGeom>
          <a:solidFill>
            <a:srgbClr val="D5F1CF"/>
          </a:solidFill>
          <a:ln cap="flat" cmpd="sng" w="9525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884" name="Google Shape;884;p10"/>
          <p:cNvSpPr/>
          <p:nvPr/>
        </p:nvSpPr>
        <p:spPr>
          <a:xfrm>
            <a:off x="4508500" y="4870450"/>
            <a:ext cx="487363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330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5" name="Google Shape;885;p10"/>
          <p:cNvSpPr/>
          <p:nvPr/>
        </p:nvSpPr>
        <p:spPr>
          <a:xfrm>
            <a:off x="4995862" y="5175250"/>
            <a:ext cx="487363" cy="304800"/>
          </a:xfrm>
          <a:prstGeom prst="rect">
            <a:avLst/>
          </a:prstGeom>
          <a:solidFill>
            <a:srgbClr val="D5D5F4"/>
          </a:solidFill>
          <a:ln cap="flat" cmpd="sng" w="9525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886" name="Google Shape;886;p10"/>
          <p:cNvSpPr/>
          <p:nvPr/>
        </p:nvSpPr>
        <p:spPr>
          <a:xfrm>
            <a:off x="4995862" y="4870450"/>
            <a:ext cx="487363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330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7" name="Google Shape;887;p10"/>
          <p:cNvSpPr/>
          <p:nvPr/>
        </p:nvSpPr>
        <p:spPr>
          <a:xfrm>
            <a:off x="5483225" y="5175250"/>
            <a:ext cx="487363" cy="304800"/>
          </a:xfrm>
          <a:prstGeom prst="rect">
            <a:avLst/>
          </a:prstGeom>
          <a:solidFill>
            <a:srgbClr val="D5D5F4"/>
          </a:solidFill>
          <a:ln cap="flat" cmpd="sng" w="9525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888" name="Google Shape;888;p10"/>
          <p:cNvSpPr/>
          <p:nvPr/>
        </p:nvSpPr>
        <p:spPr>
          <a:xfrm>
            <a:off x="5483225" y="4870450"/>
            <a:ext cx="487363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33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9" name="Google Shape;889;p10"/>
          <p:cNvSpPr/>
          <p:nvPr/>
        </p:nvSpPr>
        <p:spPr>
          <a:xfrm>
            <a:off x="5970587" y="5175250"/>
            <a:ext cx="487363" cy="304800"/>
          </a:xfrm>
          <a:prstGeom prst="rect">
            <a:avLst/>
          </a:prstGeom>
          <a:solidFill>
            <a:srgbClr val="D5D5F4"/>
          </a:solidFill>
          <a:ln cap="flat" cmpd="sng" w="9525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890" name="Google Shape;890;p10"/>
          <p:cNvSpPr/>
          <p:nvPr/>
        </p:nvSpPr>
        <p:spPr>
          <a:xfrm>
            <a:off x="5970587" y="4870450"/>
            <a:ext cx="487363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33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1" name="Google Shape;891;p10"/>
          <p:cNvSpPr/>
          <p:nvPr/>
        </p:nvSpPr>
        <p:spPr>
          <a:xfrm>
            <a:off x="6457950" y="5175250"/>
            <a:ext cx="487363" cy="304800"/>
          </a:xfrm>
          <a:prstGeom prst="rect">
            <a:avLst/>
          </a:prstGeom>
          <a:solidFill>
            <a:srgbClr val="D5D5F4"/>
          </a:solidFill>
          <a:ln cap="flat" cmpd="sng" w="9525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892" name="Google Shape;892;p10"/>
          <p:cNvSpPr/>
          <p:nvPr/>
        </p:nvSpPr>
        <p:spPr>
          <a:xfrm>
            <a:off x="6457950" y="4870450"/>
            <a:ext cx="487363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33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3" name="Google Shape;893;p10"/>
          <p:cNvSpPr/>
          <p:nvPr/>
        </p:nvSpPr>
        <p:spPr>
          <a:xfrm>
            <a:off x="6945312" y="5175250"/>
            <a:ext cx="487363" cy="304800"/>
          </a:xfrm>
          <a:prstGeom prst="rect">
            <a:avLst/>
          </a:prstGeom>
          <a:solidFill>
            <a:srgbClr val="D5D5F4"/>
          </a:solidFill>
          <a:ln cap="flat" cmpd="sng" w="9525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894" name="Google Shape;894;p10"/>
          <p:cNvSpPr/>
          <p:nvPr/>
        </p:nvSpPr>
        <p:spPr>
          <a:xfrm>
            <a:off x="6945312" y="4870450"/>
            <a:ext cx="487363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33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5" name="Google Shape;895;p10"/>
          <p:cNvSpPr/>
          <p:nvPr/>
        </p:nvSpPr>
        <p:spPr>
          <a:xfrm>
            <a:off x="7432675" y="5175250"/>
            <a:ext cx="487363" cy="304800"/>
          </a:xfrm>
          <a:prstGeom prst="rect">
            <a:avLst/>
          </a:prstGeom>
          <a:solidFill>
            <a:srgbClr val="D5D5F4"/>
          </a:solidFill>
          <a:ln cap="flat" cmpd="sng" w="9525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896" name="Google Shape;896;p10"/>
          <p:cNvSpPr/>
          <p:nvPr/>
        </p:nvSpPr>
        <p:spPr>
          <a:xfrm>
            <a:off x="7432675" y="4870450"/>
            <a:ext cx="487363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33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97" name="Google Shape;897;p10"/>
          <p:cNvGrpSpPr/>
          <p:nvPr/>
        </p:nvGrpSpPr>
        <p:grpSpPr>
          <a:xfrm>
            <a:off x="5004858" y="5564717"/>
            <a:ext cx="2924175" cy="333375"/>
            <a:chOff x="3101" y="3292"/>
            <a:chExt cx="1842" cy="210"/>
          </a:xfrm>
        </p:grpSpPr>
        <p:cxnSp>
          <p:nvCxnSpPr>
            <p:cNvPr id="898" name="Google Shape;898;p10"/>
            <p:cNvCxnSpPr/>
            <p:nvPr/>
          </p:nvCxnSpPr>
          <p:spPr>
            <a:xfrm>
              <a:off x="3101" y="3383"/>
              <a:ext cx="1842" cy="1"/>
            </a:xfrm>
            <a:prstGeom prst="straightConnector1">
              <a:avLst/>
            </a:prstGeom>
            <a:noFill/>
            <a:ln cap="flat" cmpd="sng" w="9525">
              <a:solidFill>
                <a:srgbClr val="000066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899" name="Google Shape;899;p10"/>
            <p:cNvSpPr txBox="1"/>
            <p:nvPr/>
          </p:nvSpPr>
          <p:spPr>
            <a:xfrm>
              <a:off x="3808" y="3292"/>
              <a:ext cx="368" cy="21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4275" lIns="90350" spcFirstLastPara="1" rIns="90350" wrap="square" tIns="44275">
              <a:spAutoFit/>
            </a:bodyPr>
            <a:lstStyle/>
            <a:p>
              <a:pPr indent="0" lvl="0" marL="0" marR="0" rtl="0" algn="l">
                <a:lnSpc>
                  <a:spcPct val="8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PPO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00" name="Google Shape;900;p10"/>
          <p:cNvGrpSpPr/>
          <p:nvPr/>
        </p:nvGrpSpPr>
        <p:grpSpPr>
          <a:xfrm>
            <a:off x="2092324" y="5556250"/>
            <a:ext cx="2924175" cy="333375"/>
            <a:chOff x="1277" y="3292"/>
            <a:chExt cx="1842" cy="210"/>
          </a:xfrm>
        </p:grpSpPr>
        <p:cxnSp>
          <p:nvCxnSpPr>
            <p:cNvPr id="901" name="Google Shape;901;p10"/>
            <p:cNvCxnSpPr/>
            <p:nvPr/>
          </p:nvCxnSpPr>
          <p:spPr>
            <a:xfrm>
              <a:off x="1277" y="3383"/>
              <a:ext cx="1842" cy="1"/>
            </a:xfrm>
            <a:prstGeom prst="straightConnector1">
              <a:avLst/>
            </a:prstGeom>
            <a:noFill/>
            <a:ln cap="flat" cmpd="sng" w="9525">
              <a:solidFill>
                <a:srgbClr val="000066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902" name="Google Shape;902;p10"/>
            <p:cNvSpPr txBox="1"/>
            <p:nvPr/>
          </p:nvSpPr>
          <p:spPr>
            <a:xfrm>
              <a:off x="1984" y="3292"/>
              <a:ext cx="366" cy="21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4275" lIns="90350" spcFirstLastPara="1" rIns="90350" wrap="square" tIns="44275">
              <a:spAutoFit/>
            </a:bodyPr>
            <a:lstStyle/>
            <a:p>
              <a:pPr indent="0" lvl="0" marL="0" marR="0" rtl="0" algn="l">
                <a:lnSpc>
                  <a:spcPct val="8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PPN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03" name="Google Shape;903;p10"/>
          <p:cNvGrpSpPr/>
          <p:nvPr/>
        </p:nvGrpSpPr>
        <p:grpSpPr>
          <a:xfrm>
            <a:off x="6925204" y="4516438"/>
            <a:ext cx="992188" cy="306388"/>
            <a:chOff x="4300" y="2637"/>
            <a:chExt cx="625" cy="193"/>
          </a:xfrm>
        </p:grpSpPr>
        <p:cxnSp>
          <p:nvCxnSpPr>
            <p:cNvPr id="904" name="Google Shape;904;p10"/>
            <p:cNvCxnSpPr/>
            <p:nvPr/>
          </p:nvCxnSpPr>
          <p:spPr>
            <a:xfrm>
              <a:off x="4300" y="2715"/>
              <a:ext cx="625" cy="1"/>
            </a:xfrm>
            <a:prstGeom prst="straightConnector1">
              <a:avLst/>
            </a:prstGeom>
            <a:noFill/>
            <a:ln cap="flat" cmpd="sng" w="9525">
              <a:solidFill>
                <a:srgbClr val="000066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905" name="Google Shape;905;p10"/>
            <p:cNvSpPr txBox="1"/>
            <p:nvPr/>
          </p:nvSpPr>
          <p:spPr>
            <a:xfrm>
              <a:off x="4486" y="2637"/>
              <a:ext cx="271" cy="19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4275" lIns="90350" spcFirstLastPara="1" rIns="90350" wrap="square" tIns="44275">
              <a:spAutoFit/>
            </a:bodyPr>
            <a:lstStyle/>
            <a:p>
              <a:pPr indent="0" lvl="0" marL="0" marR="0" rtl="0" algn="ctr">
                <a:lnSpc>
                  <a:spcPct val="8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GB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06" name="Google Shape;906;p10"/>
          <p:cNvGrpSpPr/>
          <p:nvPr/>
        </p:nvGrpSpPr>
        <p:grpSpPr>
          <a:xfrm>
            <a:off x="4987395" y="4512734"/>
            <a:ext cx="1927225" cy="306388"/>
            <a:chOff x="3090" y="2624"/>
            <a:chExt cx="1214" cy="193"/>
          </a:xfrm>
        </p:grpSpPr>
        <p:cxnSp>
          <p:nvCxnSpPr>
            <p:cNvPr id="907" name="Google Shape;907;p10"/>
            <p:cNvCxnSpPr/>
            <p:nvPr/>
          </p:nvCxnSpPr>
          <p:spPr>
            <a:xfrm>
              <a:off x="3090" y="2702"/>
              <a:ext cx="1214" cy="1"/>
            </a:xfrm>
            <a:prstGeom prst="straightConnector1">
              <a:avLst/>
            </a:prstGeom>
            <a:noFill/>
            <a:ln cap="flat" cmpd="sng" w="9525">
              <a:solidFill>
                <a:srgbClr val="000066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908" name="Google Shape;908;p10"/>
            <p:cNvSpPr txBox="1"/>
            <p:nvPr/>
          </p:nvSpPr>
          <p:spPr>
            <a:xfrm>
              <a:off x="3629" y="2624"/>
              <a:ext cx="218" cy="19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4275" lIns="90350" spcFirstLastPara="1" rIns="90350" wrap="square" tIns="44275">
              <a:spAutoFit/>
            </a:bodyPr>
            <a:lstStyle/>
            <a:p>
              <a:pPr indent="0" lvl="0" marL="0" marR="0" rtl="0" algn="ctr">
                <a:lnSpc>
                  <a:spcPct val="8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GB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CI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09" name="Google Shape;909;p10"/>
          <p:cNvGrpSpPr/>
          <p:nvPr/>
        </p:nvGrpSpPr>
        <p:grpSpPr>
          <a:xfrm>
            <a:off x="2071687" y="4516438"/>
            <a:ext cx="2894013" cy="306388"/>
            <a:chOff x="1248" y="2637"/>
            <a:chExt cx="1823" cy="193"/>
          </a:xfrm>
        </p:grpSpPr>
        <p:cxnSp>
          <p:nvCxnSpPr>
            <p:cNvPr id="910" name="Google Shape;910;p10"/>
            <p:cNvCxnSpPr/>
            <p:nvPr/>
          </p:nvCxnSpPr>
          <p:spPr>
            <a:xfrm>
              <a:off x="1248" y="2715"/>
              <a:ext cx="1823" cy="1"/>
            </a:xfrm>
            <a:prstGeom prst="straightConnector1">
              <a:avLst/>
            </a:prstGeom>
            <a:noFill/>
            <a:ln cap="flat" cmpd="sng" w="9525">
              <a:solidFill>
                <a:srgbClr val="000066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911" name="Google Shape;911;p10"/>
            <p:cNvSpPr txBox="1"/>
            <p:nvPr/>
          </p:nvSpPr>
          <p:spPr>
            <a:xfrm>
              <a:off x="2098" y="2637"/>
              <a:ext cx="248" cy="19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4275" lIns="90350" spcFirstLastPara="1" rIns="90350" wrap="square" tIns="44275">
              <a:spAutoFit/>
            </a:bodyPr>
            <a:lstStyle/>
            <a:p>
              <a:pPr indent="0" lvl="0" marL="0" marR="0" rtl="0" algn="ctr">
                <a:lnSpc>
                  <a:spcPct val="8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GB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12" name="Google Shape;912;p10"/>
          <p:cNvSpPr txBox="1"/>
          <p:nvPr/>
        </p:nvSpPr>
        <p:spPr>
          <a:xfrm>
            <a:off x="7558087" y="2449487"/>
            <a:ext cx="209550" cy="338138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45700" spcFirstLastPara="1" rIns="45700" wrap="square" tIns="46800">
            <a:sp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3" name="Google Shape;913;p10"/>
          <p:cNvSpPr txBox="1"/>
          <p:nvPr/>
        </p:nvSpPr>
        <p:spPr>
          <a:xfrm>
            <a:off x="7070725" y="2447899"/>
            <a:ext cx="209550" cy="338138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45700" spcFirstLastPara="1" rIns="45700" wrap="square" tIns="46800">
            <a:sp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4" name="Google Shape;914;p10"/>
          <p:cNvSpPr txBox="1"/>
          <p:nvPr/>
        </p:nvSpPr>
        <p:spPr>
          <a:xfrm>
            <a:off x="6584950" y="2447899"/>
            <a:ext cx="209353" cy="338299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45700" spcFirstLastPara="1" rIns="45700" wrap="square" tIns="46800">
            <a:sp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1" i="0" sz="1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5" name="Google Shape;915;p10"/>
          <p:cNvSpPr txBox="1"/>
          <p:nvPr/>
        </p:nvSpPr>
        <p:spPr>
          <a:xfrm>
            <a:off x="6097587" y="2447899"/>
            <a:ext cx="209550" cy="338138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45700" spcFirstLastPara="1" rIns="45700" wrap="square" tIns="46800">
            <a:sp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6" name="Google Shape;916;p10"/>
          <p:cNvSpPr txBox="1"/>
          <p:nvPr/>
        </p:nvSpPr>
        <p:spPr>
          <a:xfrm>
            <a:off x="5611812" y="2447899"/>
            <a:ext cx="209353" cy="338299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45700" spcFirstLastPara="1" rIns="45700" wrap="square" tIns="46800">
            <a:sp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1" i="0" sz="1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7" name="Google Shape;917;p10"/>
          <p:cNvSpPr txBox="1"/>
          <p:nvPr/>
        </p:nvSpPr>
        <p:spPr>
          <a:xfrm>
            <a:off x="5124450" y="2447899"/>
            <a:ext cx="209353" cy="338299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45700" spcFirstLastPara="1" rIns="45700" wrap="square" tIns="46800">
            <a:sp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1" i="0" sz="1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8" name="Google Shape;918;p10"/>
          <p:cNvSpPr txBox="1"/>
          <p:nvPr/>
        </p:nvSpPr>
        <p:spPr>
          <a:xfrm>
            <a:off x="4638675" y="2449487"/>
            <a:ext cx="209353" cy="338299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45700" spcFirstLastPara="1" rIns="45700" wrap="square" tIns="46800">
            <a:sp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1" i="0" sz="1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9" name="Google Shape;919;p10"/>
          <p:cNvSpPr txBox="1"/>
          <p:nvPr/>
        </p:nvSpPr>
        <p:spPr>
          <a:xfrm>
            <a:off x="4151312" y="2449487"/>
            <a:ext cx="209353" cy="338299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45700" spcFirstLastPara="1" rIns="45700" wrap="square" tIns="46800">
            <a:sp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1" i="0" sz="1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0" name="Google Shape;920;p10"/>
          <p:cNvSpPr txBox="1"/>
          <p:nvPr/>
        </p:nvSpPr>
        <p:spPr>
          <a:xfrm>
            <a:off x="3665537" y="2449487"/>
            <a:ext cx="209353" cy="338299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45700" spcFirstLastPara="1" rIns="45700" wrap="square" tIns="46800">
            <a:sp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1" i="0" sz="1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1" name="Google Shape;921;p10"/>
          <p:cNvSpPr txBox="1"/>
          <p:nvPr/>
        </p:nvSpPr>
        <p:spPr>
          <a:xfrm>
            <a:off x="3178175" y="2449487"/>
            <a:ext cx="209353" cy="338299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45700" spcFirstLastPara="1" rIns="45700" wrap="square" tIns="46800">
            <a:sp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1" i="0" sz="1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2" name="Google Shape;922;p10"/>
          <p:cNvSpPr txBox="1"/>
          <p:nvPr/>
        </p:nvSpPr>
        <p:spPr>
          <a:xfrm>
            <a:off x="2692400" y="2449487"/>
            <a:ext cx="209550" cy="338138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45700" spcFirstLastPara="1" rIns="45700" wrap="square" tIns="46800">
            <a:sp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3" name="Google Shape;923;p10"/>
          <p:cNvSpPr txBox="1"/>
          <p:nvPr/>
        </p:nvSpPr>
        <p:spPr>
          <a:xfrm>
            <a:off x="2205037" y="2449487"/>
            <a:ext cx="209550" cy="338138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45700" spcFirstLastPara="1" rIns="45700" wrap="square" tIns="46800">
            <a:sp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4" name="Google Shape;924;p10"/>
          <p:cNvSpPr txBox="1"/>
          <p:nvPr/>
        </p:nvSpPr>
        <p:spPr>
          <a:xfrm>
            <a:off x="1719262" y="2449487"/>
            <a:ext cx="209550" cy="338138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45700" spcFirstLastPara="1" rIns="45700" wrap="square" tIns="46800">
            <a:sp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5" name="Google Shape;925;p10"/>
          <p:cNvSpPr txBox="1"/>
          <p:nvPr/>
        </p:nvSpPr>
        <p:spPr>
          <a:xfrm>
            <a:off x="1233487" y="2449487"/>
            <a:ext cx="209550" cy="338138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45700" spcFirstLastPara="1" rIns="45700" wrap="square" tIns="46800">
            <a:sp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6" name="Google Shape;926;p10"/>
          <p:cNvSpPr txBox="1"/>
          <p:nvPr/>
        </p:nvSpPr>
        <p:spPr>
          <a:xfrm>
            <a:off x="1143000" y="3437965"/>
            <a:ext cx="499497" cy="311176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45700" spcFirstLastPara="1" rIns="45700" wrap="square" tIns="46800">
            <a:sp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0x00</a:t>
            </a:r>
            <a:endParaRPr b="1" i="0" sz="16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7" name="Google Shape;927;p10"/>
          <p:cNvSpPr txBox="1"/>
          <p:nvPr/>
        </p:nvSpPr>
        <p:spPr>
          <a:xfrm>
            <a:off x="2588682" y="3437965"/>
            <a:ext cx="196529" cy="311176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45700" spcFirstLastPara="1" rIns="45700" wrap="square" tIns="46800">
            <a:sp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1" i="0" sz="16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8" name="Google Shape;928;p10"/>
          <p:cNvSpPr txBox="1"/>
          <p:nvPr/>
        </p:nvSpPr>
        <p:spPr>
          <a:xfrm>
            <a:off x="3454401" y="3437965"/>
            <a:ext cx="499497" cy="311176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45700" spcFirstLastPara="1" rIns="45700" wrap="square" tIns="46800">
            <a:sp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0x00</a:t>
            </a:r>
            <a:endParaRPr b="1" i="0" sz="16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9" name="Google Shape;929;p10"/>
          <p:cNvSpPr txBox="1"/>
          <p:nvPr/>
        </p:nvSpPr>
        <p:spPr>
          <a:xfrm>
            <a:off x="5142732" y="3437939"/>
            <a:ext cx="226985" cy="311176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45700" spcFirstLastPara="1" rIns="45700" wrap="square" tIns="46800">
            <a:sp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 b="1" i="0" sz="16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0" name="Google Shape;930;p10"/>
          <p:cNvSpPr txBox="1"/>
          <p:nvPr/>
        </p:nvSpPr>
        <p:spPr>
          <a:xfrm>
            <a:off x="6781800" y="3437965"/>
            <a:ext cx="227012" cy="31115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45700" spcFirstLastPara="1" rIns="45700" wrap="square" tIns="46800">
            <a:sp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 b="1" i="0" sz="16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1" name="Google Shape;931;p10"/>
          <p:cNvSpPr txBox="1"/>
          <p:nvPr/>
        </p:nvSpPr>
        <p:spPr>
          <a:xfrm>
            <a:off x="7746470" y="3437965"/>
            <a:ext cx="499497" cy="311176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45700" spcFirstLastPara="1" rIns="45700" wrap="square" tIns="46800">
            <a:sp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0x28</a:t>
            </a:r>
            <a:endParaRPr b="1" i="0" sz="16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32" name="Google Shape;932;p10"/>
          <p:cNvGrpSpPr/>
          <p:nvPr/>
        </p:nvGrpSpPr>
        <p:grpSpPr>
          <a:xfrm>
            <a:off x="2215620" y="5173133"/>
            <a:ext cx="5576888" cy="339725"/>
            <a:chOff x="1344" y="3030"/>
            <a:chExt cx="3513" cy="214"/>
          </a:xfrm>
        </p:grpSpPr>
        <p:sp>
          <p:nvSpPr>
            <p:cNvPr id="933" name="Google Shape;933;p10"/>
            <p:cNvSpPr txBox="1"/>
            <p:nvPr/>
          </p:nvSpPr>
          <p:spPr>
            <a:xfrm>
              <a:off x="4725" y="3031"/>
              <a:ext cx="132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45700" spcFirstLastPara="1" rIns="45700" wrap="square" tIns="46800">
              <a:spAutoFit/>
            </a:bodyPr>
            <a:lstStyle/>
            <a:p>
              <a:pPr indent="0" lvl="0" marL="0" marR="0" rtl="0" algn="ctr">
                <a:lnSpc>
                  <a:spcPct val="8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4" name="Google Shape;934;p10"/>
            <p:cNvSpPr txBox="1"/>
            <p:nvPr/>
          </p:nvSpPr>
          <p:spPr>
            <a:xfrm>
              <a:off x="4417" y="3030"/>
              <a:ext cx="132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45700" spcFirstLastPara="1" rIns="45700" wrap="square" tIns="46800">
              <a:spAutoFit/>
            </a:bodyPr>
            <a:lstStyle/>
            <a:p>
              <a:pPr indent="0" lvl="0" marL="0" marR="0" rtl="0" algn="ctr">
                <a:lnSpc>
                  <a:spcPct val="8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5" name="Google Shape;935;p10"/>
            <p:cNvSpPr txBox="1"/>
            <p:nvPr/>
          </p:nvSpPr>
          <p:spPr>
            <a:xfrm>
              <a:off x="3802" y="3030"/>
              <a:ext cx="132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45700" spcFirstLastPara="1" rIns="45700" wrap="square" tIns="46800">
              <a:spAutoFit/>
            </a:bodyPr>
            <a:lstStyle/>
            <a:p>
              <a:pPr indent="0" lvl="0" marL="0" marR="0" rtl="0" algn="ctr">
                <a:lnSpc>
                  <a:spcPct val="8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6" name="Google Shape;936;p10"/>
            <p:cNvSpPr txBox="1"/>
            <p:nvPr/>
          </p:nvSpPr>
          <p:spPr>
            <a:xfrm>
              <a:off x="2880" y="3030"/>
              <a:ext cx="132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45700" spcFirstLastPara="1" rIns="45700" wrap="square" tIns="46800">
              <a:spAutoFit/>
            </a:bodyPr>
            <a:lstStyle/>
            <a:p>
              <a:pPr indent="0" lvl="0" marL="0" marR="0" rtl="0" algn="ctr">
                <a:lnSpc>
                  <a:spcPct val="8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0</a:t>
              </a:r>
              <a:endParaRPr b="1" i="0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7" name="Google Shape;937;p10"/>
            <p:cNvSpPr txBox="1"/>
            <p:nvPr/>
          </p:nvSpPr>
          <p:spPr>
            <a:xfrm>
              <a:off x="2573" y="3030"/>
              <a:ext cx="132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45700" spcFirstLastPara="1" rIns="45700" wrap="square" tIns="46800">
              <a:spAutoFit/>
            </a:bodyPr>
            <a:lstStyle/>
            <a:p>
              <a:pPr indent="0" lvl="0" marL="0" marR="0" rtl="0" algn="ctr">
                <a:lnSpc>
                  <a:spcPct val="8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8" name="Google Shape;938;p10"/>
            <p:cNvSpPr txBox="1"/>
            <p:nvPr/>
          </p:nvSpPr>
          <p:spPr>
            <a:xfrm>
              <a:off x="2265" y="3030"/>
              <a:ext cx="132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45700" spcFirstLastPara="1" rIns="45700" wrap="square" tIns="46800">
              <a:spAutoFit/>
            </a:bodyPr>
            <a:lstStyle/>
            <a:p>
              <a:pPr indent="0" lvl="0" marL="0" marR="0" rtl="0" algn="ctr">
                <a:lnSpc>
                  <a:spcPct val="8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0</a:t>
              </a:r>
              <a:endParaRPr b="1" i="0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9" name="Google Shape;939;p10"/>
            <p:cNvSpPr txBox="1"/>
            <p:nvPr/>
          </p:nvSpPr>
          <p:spPr>
            <a:xfrm>
              <a:off x="1651" y="3030"/>
              <a:ext cx="132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45700" spcFirstLastPara="1" rIns="45700" wrap="square" tIns="46800">
              <a:spAutoFit/>
            </a:bodyPr>
            <a:lstStyle/>
            <a:p>
              <a:pPr indent="0" lvl="0" marL="0" marR="0" rtl="0" algn="ctr">
                <a:lnSpc>
                  <a:spcPct val="8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0" name="Google Shape;940;p10"/>
            <p:cNvSpPr txBox="1"/>
            <p:nvPr/>
          </p:nvSpPr>
          <p:spPr>
            <a:xfrm>
              <a:off x="4110" y="3030"/>
              <a:ext cx="132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45700" spcFirstLastPara="1" rIns="45700" wrap="square" tIns="46800">
              <a:spAutoFit/>
            </a:bodyPr>
            <a:lstStyle/>
            <a:p>
              <a:pPr indent="0" lvl="0" marL="0" marR="0" rtl="0" algn="ctr">
                <a:lnSpc>
                  <a:spcPct val="8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0</a:t>
              </a:r>
              <a:endParaRPr b="1" i="0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1" name="Google Shape;941;p10"/>
            <p:cNvSpPr txBox="1"/>
            <p:nvPr/>
          </p:nvSpPr>
          <p:spPr>
            <a:xfrm>
              <a:off x="3495" y="3030"/>
              <a:ext cx="132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45700" spcFirstLastPara="1" rIns="45700" wrap="square" tIns="46800">
              <a:spAutoFit/>
            </a:bodyPr>
            <a:lstStyle/>
            <a:p>
              <a:pPr indent="0" lvl="0" marL="0" marR="0" rtl="0" algn="ctr">
                <a:lnSpc>
                  <a:spcPct val="8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0</a:t>
              </a:r>
              <a:endParaRPr b="1" i="0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2" name="Google Shape;942;p10"/>
            <p:cNvSpPr txBox="1"/>
            <p:nvPr/>
          </p:nvSpPr>
          <p:spPr>
            <a:xfrm>
              <a:off x="3188" y="3030"/>
              <a:ext cx="132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45700" spcFirstLastPara="1" rIns="45700" wrap="square" tIns="46800">
              <a:spAutoFit/>
            </a:bodyPr>
            <a:lstStyle/>
            <a:p>
              <a:pPr indent="0" lvl="0" marL="0" marR="0" rtl="0" algn="ctr">
                <a:lnSpc>
                  <a:spcPct val="8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1" i="0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3" name="Google Shape;943;p10"/>
            <p:cNvSpPr txBox="1"/>
            <p:nvPr/>
          </p:nvSpPr>
          <p:spPr>
            <a:xfrm>
              <a:off x="1957" y="3030"/>
              <a:ext cx="132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45700" spcFirstLastPara="1" rIns="45700" wrap="square" tIns="46800">
              <a:spAutoFit/>
            </a:bodyPr>
            <a:lstStyle/>
            <a:p>
              <a:pPr indent="0" lvl="0" marL="0" marR="0" rtl="0" algn="ctr">
                <a:lnSpc>
                  <a:spcPct val="8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4" name="Google Shape;944;p10"/>
            <p:cNvSpPr txBox="1"/>
            <p:nvPr/>
          </p:nvSpPr>
          <p:spPr>
            <a:xfrm>
              <a:off x="1344" y="3030"/>
              <a:ext cx="132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45700" spcFirstLastPara="1" rIns="45700" wrap="square" tIns="46800">
              <a:spAutoFit/>
            </a:bodyPr>
            <a:lstStyle/>
            <a:p>
              <a:pPr indent="0" lvl="0" marL="0" marR="0" rtl="0" algn="ctr">
                <a:lnSpc>
                  <a:spcPct val="8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1" i="0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45" name="Google Shape;945;p10"/>
          <p:cNvSpPr txBox="1"/>
          <p:nvPr/>
        </p:nvSpPr>
        <p:spPr>
          <a:xfrm>
            <a:off x="1352551" y="5992801"/>
            <a:ext cx="196850" cy="31115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45700" spcFirstLastPara="1" rIns="45700" wrap="square" tIns="46800">
            <a:sp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6" name="Google Shape;946;p10"/>
          <p:cNvSpPr txBox="1"/>
          <p:nvPr/>
        </p:nvSpPr>
        <p:spPr>
          <a:xfrm>
            <a:off x="2271712" y="5992801"/>
            <a:ext cx="395301" cy="311176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45700" spcFirstLastPara="1" rIns="45700" wrap="square" tIns="46800">
            <a:sp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0x8</a:t>
            </a:r>
            <a:endParaRPr b="1" i="0" sz="16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7" name="Google Shape;947;p10"/>
          <p:cNvSpPr txBox="1"/>
          <p:nvPr/>
        </p:nvSpPr>
        <p:spPr>
          <a:xfrm>
            <a:off x="3259139" y="5992801"/>
            <a:ext cx="499497" cy="311176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45700" spcFirstLastPara="1" rIns="45700" wrap="square" tIns="46800">
            <a:sp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0x28</a:t>
            </a:r>
            <a:endParaRPr b="1" i="0" sz="16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8" name="Google Shape;948;p10"/>
          <p:cNvSpPr txBox="1"/>
          <p:nvPr/>
        </p:nvSpPr>
        <p:spPr>
          <a:xfrm>
            <a:off x="4580467" y="5992801"/>
            <a:ext cx="226985" cy="311176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45700" spcFirstLastPara="1" rIns="45700" wrap="square" tIns="46800">
            <a:sp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 b="1" i="0" sz="16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9" name="Google Shape;949;p10"/>
          <p:cNvSpPr txBox="1"/>
          <p:nvPr/>
        </p:nvSpPr>
        <p:spPr>
          <a:xfrm>
            <a:off x="5850466" y="5992801"/>
            <a:ext cx="541175" cy="311176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45700" spcFirstLastPara="1" rIns="45700" wrap="square" tIns="46800">
            <a:sp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Mem</a:t>
            </a:r>
            <a:endParaRPr b="1" i="0" sz="16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p11"/>
          <p:cNvSpPr txBox="1"/>
          <p:nvPr>
            <p:ph type="title"/>
          </p:nvPr>
        </p:nvSpPr>
        <p:spPr>
          <a:xfrm>
            <a:off x="357018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Today		</a:t>
            </a:r>
            <a:endParaRPr/>
          </a:p>
        </p:txBody>
      </p:sp>
      <p:sp>
        <p:nvSpPr>
          <p:cNvPr id="955" name="Google Shape;955;p11"/>
          <p:cNvSpPr txBox="1"/>
          <p:nvPr>
            <p:ph idx="1" type="body"/>
          </p:nvPr>
        </p:nvSpPr>
        <p:spPr>
          <a:xfrm>
            <a:off x="396875" y="1362075"/>
            <a:ext cx="7896225" cy="4972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GB">
                <a:solidFill>
                  <a:srgbClr val="7F7F7F"/>
                </a:solidFill>
              </a:rPr>
              <a:t>Simple memory system example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GB"/>
              <a:t>Case study: Core i7/Linux memory system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GB">
                <a:solidFill>
                  <a:srgbClr val="7F7F7F"/>
                </a:solidFill>
              </a:rPr>
              <a:t>Memory mapping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9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p12"/>
          <p:cNvSpPr txBox="1"/>
          <p:nvPr>
            <p:ph type="title"/>
          </p:nvPr>
        </p:nvSpPr>
        <p:spPr>
          <a:xfrm>
            <a:off x="357018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Intel Core i7 Memory System</a:t>
            </a:r>
            <a:endParaRPr/>
          </a:p>
        </p:txBody>
      </p:sp>
      <p:sp>
        <p:nvSpPr>
          <p:cNvPr id="961" name="Google Shape;961;p12"/>
          <p:cNvSpPr/>
          <p:nvPr/>
        </p:nvSpPr>
        <p:spPr>
          <a:xfrm>
            <a:off x="512763" y="2600289"/>
            <a:ext cx="1481137" cy="470587"/>
          </a:xfrm>
          <a:prstGeom prst="rect">
            <a:avLst/>
          </a:prstGeom>
          <a:solidFill>
            <a:srgbClr val="F7F5CD"/>
          </a:solidFill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dir="2700000" dist="38100">
              <a:srgbClr val="000000">
                <a:alpha val="4235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1" i="0" lang="en-GB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L1 d-cache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1" i="0" lang="en-GB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32 KB, 8-way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2" name="Google Shape;962;p12"/>
          <p:cNvSpPr/>
          <p:nvPr/>
        </p:nvSpPr>
        <p:spPr>
          <a:xfrm>
            <a:off x="838200" y="3353229"/>
            <a:ext cx="2578100" cy="470587"/>
          </a:xfrm>
          <a:prstGeom prst="rect">
            <a:avLst/>
          </a:prstGeom>
          <a:solidFill>
            <a:srgbClr val="F7F5CD"/>
          </a:solidFill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dir="2700000" dist="38100">
              <a:srgbClr val="000000">
                <a:alpha val="4235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1" i="0" lang="en-GB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L2 unified cache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1" i="0" lang="en-GB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256 KB, 8-way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63" name="Google Shape;963;p12"/>
          <p:cNvCxnSpPr/>
          <p:nvPr/>
        </p:nvCxnSpPr>
        <p:spPr>
          <a:xfrm>
            <a:off x="1257300" y="2302251"/>
            <a:ext cx="0" cy="282352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964" name="Google Shape;964;p12"/>
          <p:cNvCxnSpPr/>
          <p:nvPr/>
        </p:nvCxnSpPr>
        <p:spPr>
          <a:xfrm>
            <a:off x="1244600" y="3070877"/>
            <a:ext cx="0" cy="282352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965" name="Google Shape;965;p12"/>
          <p:cNvCxnSpPr/>
          <p:nvPr/>
        </p:nvCxnSpPr>
        <p:spPr>
          <a:xfrm>
            <a:off x="2938463" y="3070877"/>
            <a:ext cx="0" cy="282352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966" name="Google Shape;966;p12"/>
          <p:cNvSpPr/>
          <p:nvPr/>
        </p:nvSpPr>
        <p:spPr>
          <a:xfrm>
            <a:off x="1008063" y="5059108"/>
            <a:ext cx="2166937" cy="755306"/>
          </a:xfrm>
          <a:prstGeom prst="rect">
            <a:avLst/>
          </a:prstGeom>
          <a:solidFill>
            <a:srgbClr val="F7F5CD"/>
          </a:solidFill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dir="2700000" dist="38100">
              <a:srgbClr val="000000">
                <a:alpha val="4235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1" i="0" lang="en-GB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L3 unified cache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1" i="0" lang="en-GB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8 MB, 16-way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1" i="0" lang="en-GB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(shared by all cores)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7" name="Google Shape;967;p12"/>
          <p:cNvSpPr/>
          <p:nvPr/>
        </p:nvSpPr>
        <p:spPr>
          <a:xfrm>
            <a:off x="4533900" y="6227553"/>
            <a:ext cx="2781300" cy="554247"/>
          </a:xfrm>
          <a:prstGeom prst="rect">
            <a:avLst/>
          </a:prstGeom>
          <a:solidFill>
            <a:srgbClr val="E5E6F6"/>
          </a:solidFill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dir="2700000" dist="38100">
              <a:srgbClr val="000000">
                <a:alpha val="4235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1" i="0" lang="en-GB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Main memory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68" name="Google Shape;968;p12"/>
          <p:cNvCxnSpPr/>
          <p:nvPr/>
        </p:nvCxnSpPr>
        <p:spPr>
          <a:xfrm>
            <a:off x="2938463" y="2317937"/>
            <a:ext cx="0" cy="282352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969" name="Google Shape;969;p12"/>
          <p:cNvSpPr/>
          <p:nvPr/>
        </p:nvSpPr>
        <p:spPr>
          <a:xfrm>
            <a:off x="754063" y="1836892"/>
            <a:ext cx="1054100" cy="470587"/>
          </a:xfrm>
          <a:prstGeom prst="rect">
            <a:avLst/>
          </a:prstGeom>
          <a:solidFill>
            <a:srgbClr val="DBF2DA"/>
          </a:solidFill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dir="2700000" dist="38100">
              <a:srgbClr val="000000">
                <a:alpha val="4235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1" i="0" lang="en-GB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Registers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0" name="Google Shape;970;p12"/>
          <p:cNvSpPr/>
          <p:nvPr/>
        </p:nvSpPr>
        <p:spPr>
          <a:xfrm>
            <a:off x="4064000" y="2600289"/>
            <a:ext cx="1824038" cy="470587"/>
          </a:xfrm>
          <a:prstGeom prst="rect">
            <a:avLst/>
          </a:prstGeom>
          <a:solidFill>
            <a:srgbClr val="F6D2D2"/>
          </a:solidFill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dir="2700000" dist="38100">
              <a:srgbClr val="000000">
                <a:alpha val="4235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1" i="0" lang="en-GB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L1 d-TLB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1" i="0" lang="en-GB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64 entries, 4-way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1" name="Google Shape;971;p12"/>
          <p:cNvSpPr/>
          <p:nvPr/>
        </p:nvSpPr>
        <p:spPr>
          <a:xfrm>
            <a:off x="6045200" y="2600289"/>
            <a:ext cx="1824038" cy="470587"/>
          </a:xfrm>
          <a:prstGeom prst="rect">
            <a:avLst/>
          </a:prstGeom>
          <a:solidFill>
            <a:srgbClr val="F6D2D2"/>
          </a:solidFill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dir="2700000" dist="38100">
              <a:srgbClr val="000000">
                <a:alpha val="4235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1" i="0" lang="en-GB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L1 i-TLB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1" i="0" lang="en-GB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128 entries, 4-way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2" name="Google Shape;972;p12"/>
          <p:cNvSpPr/>
          <p:nvPr/>
        </p:nvSpPr>
        <p:spPr>
          <a:xfrm>
            <a:off x="4394200" y="3363686"/>
            <a:ext cx="3157538" cy="470587"/>
          </a:xfrm>
          <a:prstGeom prst="rect">
            <a:avLst/>
          </a:prstGeom>
          <a:solidFill>
            <a:srgbClr val="F6D2D2"/>
          </a:solidFill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dir="2700000" dist="38100">
              <a:srgbClr val="000000">
                <a:alpha val="4235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1" i="0" lang="en-GB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L2  unified TLB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1" i="0" lang="en-GB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512 entries, 4-way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73" name="Google Shape;973;p12"/>
          <p:cNvCxnSpPr/>
          <p:nvPr/>
        </p:nvCxnSpPr>
        <p:spPr>
          <a:xfrm>
            <a:off x="4983163" y="3076105"/>
            <a:ext cx="0" cy="282352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974" name="Google Shape;974;p12"/>
          <p:cNvCxnSpPr/>
          <p:nvPr/>
        </p:nvCxnSpPr>
        <p:spPr>
          <a:xfrm>
            <a:off x="6964363" y="3081334"/>
            <a:ext cx="0" cy="282352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975" name="Google Shape;975;p12"/>
          <p:cNvSpPr/>
          <p:nvPr/>
        </p:nvSpPr>
        <p:spPr>
          <a:xfrm>
            <a:off x="2201863" y="2610747"/>
            <a:ext cx="1481137" cy="470587"/>
          </a:xfrm>
          <a:prstGeom prst="rect">
            <a:avLst/>
          </a:prstGeom>
          <a:solidFill>
            <a:srgbClr val="F7F5CD"/>
          </a:solidFill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dir="2700000" dist="38100">
              <a:srgbClr val="000000">
                <a:alpha val="4235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1" i="0" lang="en-GB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L1 i-cache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1" i="0" lang="en-GB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32 KB, 8-way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76" name="Google Shape;976;p12"/>
          <p:cNvCxnSpPr/>
          <p:nvPr/>
        </p:nvCxnSpPr>
        <p:spPr>
          <a:xfrm>
            <a:off x="4995863" y="2302251"/>
            <a:ext cx="0" cy="282352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977" name="Google Shape;977;p12"/>
          <p:cNvCxnSpPr/>
          <p:nvPr/>
        </p:nvCxnSpPr>
        <p:spPr>
          <a:xfrm>
            <a:off x="6964363" y="2317937"/>
            <a:ext cx="0" cy="282352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978" name="Google Shape;978;p12"/>
          <p:cNvSpPr/>
          <p:nvPr/>
        </p:nvSpPr>
        <p:spPr>
          <a:xfrm>
            <a:off x="4813300" y="1847350"/>
            <a:ext cx="2336800" cy="470587"/>
          </a:xfrm>
          <a:prstGeom prst="rect">
            <a:avLst/>
          </a:prstGeom>
          <a:solidFill>
            <a:srgbClr val="E0E0E0"/>
          </a:solidFill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dir="2700000" dist="38100">
              <a:srgbClr val="000000">
                <a:alpha val="4235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1" i="0" lang="en-GB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MMU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1" i="0" lang="en-GB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(addr translation)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9" name="Google Shape;979;p12"/>
          <p:cNvSpPr/>
          <p:nvPr/>
        </p:nvSpPr>
        <p:spPr>
          <a:xfrm>
            <a:off x="2405063" y="1836892"/>
            <a:ext cx="1054100" cy="470587"/>
          </a:xfrm>
          <a:prstGeom prst="rect">
            <a:avLst/>
          </a:prstGeom>
          <a:solidFill>
            <a:srgbClr val="E0E0E0"/>
          </a:solidFill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dir="2700000" dist="38100">
              <a:srgbClr val="000000">
                <a:alpha val="4235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1" i="0" lang="en-GB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Instruction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1" i="0" lang="en-GB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fetch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0" name="Google Shape;980;p12"/>
          <p:cNvSpPr/>
          <p:nvPr/>
        </p:nvSpPr>
        <p:spPr>
          <a:xfrm>
            <a:off x="368300" y="1763690"/>
            <a:ext cx="7607300" cy="3116334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Narrow"/>
              <a:buNone/>
            </a:pPr>
            <a:r>
              <a:t/>
            </a:r>
            <a:endParaRPr b="1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1" name="Google Shape;981;p12"/>
          <p:cNvSpPr txBox="1"/>
          <p:nvPr/>
        </p:nvSpPr>
        <p:spPr>
          <a:xfrm>
            <a:off x="251289" y="1447800"/>
            <a:ext cx="1196511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1" i="0" lang="en-GB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Core x4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2" name="Google Shape;982;p12"/>
          <p:cNvSpPr/>
          <p:nvPr/>
        </p:nvSpPr>
        <p:spPr>
          <a:xfrm>
            <a:off x="4216400" y="5059108"/>
            <a:ext cx="3441700" cy="755306"/>
          </a:xfrm>
          <a:prstGeom prst="rect">
            <a:avLst/>
          </a:prstGeom>
          <a:solidFill>
            <a:srgbClr val="E0E0E0"/>
          </a:solidFill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dir="2700000" dist="38100">
              <a:srgbClr val="000000">
                <a:alpha val="4235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1" i="0" lang="en-GB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DDR3 Memory controller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1" i="0" lang="en-GB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 x 64 bit @ 10.66 GB/s</a:t>
            </a:r>
            <a:endParaRPr b="1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1" i="0" lang="en-GB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32 GB/s total (shared by all cores)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3" name="Google Shape;983;p12"/>
          <p:cNvSpPr/>
          <p:nvPr/>
        </p:nvSpPr>
        <p:spPr>
          <a:xfrm>
            <a:off x="57225" y="1438155"/>
            <a:ext cx="8064600" cy="4548900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Narrow"/>
              <a:buNone/>
            </a:pPr>
            <a:r>
              <a:t/>
            </a:r>
            <a:endParaRPr b="1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4" name="Google Shape;984;p12"/>
          <p:cNvSpPr txBox="1"/>
          <p:nvPr/>
        </p:nvSpPr>
        <p:spPr>
          <a:xfrm>
            <a:off x="0" y="1143000"/>
            <a:ext cx="2937401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1" i="0" lang="en-GB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Processor package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5" name="Google Shape;985;p12"/>
          <p:cNvSpPr/>
          <p:nvPr/>
        </p:nvSpPr>
        <p:spPr>
          <a:xfrm>
            <a:off x="5422900" y="4053881"/>
            <a:ext cx="2328863" cy="648365"/>
          </a:xfrm>
          <a:prstGeom prst="rect">
            <a:avLst/>
          </a:prstGeom>
          <a:solidFill>
            <a:srgbClr val="E0E0E0"/>
          </a:solidFill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dir="2700000" dist="38100">
              <a:srgbClr val="000000">
                <a:alpha val="4235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1" i="0" lang="en-GB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QuickPath interconnect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1" i="0" lang="en-GB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 links @ 25.6 GB/s each</a:t>
            </a:r>
            <a:endParaRPr b="1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86" name="Google Shape;986;p12"/>
          <p:cNvCxnSpPr/>
          <p:nvPr/>
        </p:nvCxnSpPr>
        <p:spPr>
          <a:xfrm>
            <a:off x="2074863" y="3813359"/>
            <a:ext cx="0" cy="1233984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987" name="Google Shape;987;p12"/>
          <p:cNvCxnSpPr/>
          <p:nvPr/>
        </p:nvCxnSpPr>
        <p:spPr>
          <a:xfrm flipH="1">
            <a:off x="5805488" y="5814414"/>
            <a:ext cx="7937" cy="433986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988" name="Google Shape;988;p12"/>
          <p:cNvCxnSpPr/>
          <p:nvPr/>
        </p:nvCxnSpPr>
        <p:spPr>
          <a:xfrm>
            <a:off x="5965825" y="5814414"/>
            <a:ext cx="0" cy="433986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989" name="Google Shape;989;p12"/>
          <p:cNvCxnSpPr/>
          <p:nvPr/>
        </p:nvCxnSpPr>
        <p:spPr>
          <a:xfrm>
            <a:off x="6118225" y="5806571"/>
            <a:ext cx="0" cy="441829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990" name="Google Shape;990;p12"/>
          <p:cNvCxnSpPr/>
          <p:nvPr/>
        </p:nvCxnSpPr>
        <p:spPr>
          <a:xfrm>
            <a:off x="4957763" y="3834274"/>
            <a:ext cx="0" cy="1223527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991" name="Google Shape;991;p12"/>
          <p:cNvSpPr txBox="1"/>
          <p:nvPr/>
        </p:nvSpPr>
        <p:spPr>
          <a:xfrm>
            <a:off x="8331200" y="3886200"/>
            <a:ext cx="9652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1" i="0" lang="en-GB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 other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1" i="0" lang="en-GB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92" name="Google Shape;992;p12"/>
          <p:cNvGrpSpPr/>
          <p:nvPr/>
        </p:nvGrpSpPr>
        <p:grpSpPr>
          <a:xfrm>
            <a:off x="8026602" y="3891136"/>
            <a:ext cx="13885" cy="939868"/>
            <a:chOff x="4953" y="2132"/>
            <a:chExt cx="8" cy="719"/>
          </a:xfrm>
        </p:grpSpPr>
        <p:cxnSp>
          <p:nvCxnSpPr>
            <p:cNvPr id="993" name="Google Shape;993;p12"/>
            <p:cNvCxnSpPr/>
            <p:nvPr/>
          </p:nvCxnSpPr>
          <p:spPr>
            <a:xfrm>
              <a:off x="4953" y="2132"/>
              <a:ext cx="0" cy="335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994" name="Google Shape;994;p12"/>
            <p:cNvCxnSpPr/>
            <p:nvPr/>
          </p:nvCxnSpPr>
          <p:spPr>
            <a:xfrm>
              <a:off x="4953" y="2208"/>
              <a:ext cx="0" cy="335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995" name="Google Shape;995;p12"/>
            <p:cNvCxnSpPr/>
            <p:nvPr/>
          </p:nvCxnSpPr>
          <p:spPr>
            <a:xfrm>
              <a:off x="4953" y="2284"/>
              <a:ext cx="0" cy="335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996" name="Google Shape;996;p12"/>
            <p:cNvCxnSpPr/>
            <p:nvPr/>
          </p:nvCxnSpPr>
          <p:spPr>
            <a:xfrm>
              <a:off x="4961" y="2516"/>
              <a:ext cx="0" cy="335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997" name="Google Shape;997;p12"/>
          <p:cNvSpPr txBox="1"/>
          <p:nvPr/>
        </p:nvSpPr>
        <p:spPr>
          <a:xfrm>
            <a:off x="8361422" y="4418587"/>
            <a:ext cx="934977" cy="584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1" i="0" lang="en-GB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 I/O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1" i="0" lang="en-GB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bridge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98" name="Google Shape;998;p12"/>
          <p:cNvCxnSpPr/>
          <p:nvPr/>
        </p:nvCxnSpPr>
        <p:spPr>
          <a:xfrm>
            <a:off x="6565900" y="4691788"/>
            <a:ext cx="0" cy="355555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999" name="Google Shape;999;p12"/>
          <p:cNvCxnSpPr/>
          <p:nvPr/>
        </p:nvCxnSpPr>
        <p:spPr>
          <a:xfrm>
            <a:off x="3175000" y="5381983"/>
            <a:ext cx="1041400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3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p13"/>
          <p:cNvSpPr txBox="1"/>
          <p:nvPr>
            <p:ph type="title"/>
          </p:nvPr>
        </p:nvSpPr>
        <p:spPr>
          <a:xfrm>
            <a:off x="357018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Review of Symbols</a:t>
            </a:r>
            <a:endParaRPr/>
          </a:p>
        </p:txBody>
      </p:sp>
      <p:sp>
        <p:nvSpPr>
          <p:cNvPr id="1005" name="Google Shape;1005;p13"/>
          <p:cNvSpPr txBox="1"/>
          <p:nvPr>
            <p:ph idx="1" type="body"/>
          </p:nvPr>
        </p:nvSpPr>
        <p:spPr>
          <a:xfrm>
            <a:off x="396875" y="1362074"/>
            <a:ext cx="7896225" cy="5267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59999"/>
              <a:buChar char="⬛"/>
            </a:pPr>
            <a:r>
              <a:rPr lang="en-GB"/>
              <a:t>Basic Parameters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ct val="110000"/>
              <a:buChar char="▪"/>
            </a:pPr>
            <a:r>
              <a:rPr b="1" lang="en-GB"/>
              <a:t>N = 2</a:t>
            </a:r>
            <a:r>
              <a:rPr b="1" baseline="30000" lang="en-GB"/>
              <a:t>n </a:t>
            </a:r>
            <a:r>
              <a:rPr lang="en-GB"/>
              <a:t>: Number of addresses in virtual address space</a:t>
            </a:r>
            <a:endParaRPr baseline="30000"/>
          </a:p>
          <a:p>
            <a:pPr indent="-285750" lvl="1" marL="74295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ct val="110000"/>
              <a:buChar char="▪"/>
            </a:pPr>
            <a:r>
              <a:rPr b="1" lang="en-GB"/>
              <a:t>M = 2</a:t>
            </a:r>
            <a:r>
              <a:rPr b="1" baseline="30000" lang="en-GB"/>
              <a:t>m </a:t>
            </a:r>
            <a:r>
              <a:rPr lang="en-GB"/>
              <a:t>: Number of addresses in physical address space</a:t>
            </a:r>
            <a:endParaRPr baseline="30000"/>
          </a:p>
          <a:p>
            <a:pPr indent="-285750" lvl="1" marL="74295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ct val="110000"/>
              <a:buChar char="▪"/>
            </a:pPr>
            <a:r>
              <a:rPr b="1" lang="en-GB"/>
              <a:t>P = 2</a:t>
            </a:r>
            <a:r>
              <a:rPr b="1" baseline="30000" lang="en-GB"/>
              <a:t>p </a:t>
            </a:r>
            <a:r>
              <a:rPr b="1" lang="en-GB"/>
              <a:t> </a:t>
            </a:r>
            <a:r>
              <a:rPr lang="en-GB"/>
              <a:t>: Page size (bytes)</a:t>
            </a:r>
            <a:endParaRPr baseline="30000"/>
          </a:p>
          <a:p>
            <a:pPr indent="-342900" lvl="0" marL="342900" rtl="0" algn="l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SzPct val="59999"/>
              <a:buChar char="⬛"/>
            </a:pPr>
            <a:r>
              <a:rPr lang="en-GB"/>
              <a:t>Components of the virtual address (VA)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ct val="110000"/>
              <a:buChar char="▪"/>
            </a:pPr>
            <a:r>
              <a:rPr b="1" lang="en-GB"/>
              <a:t>TLBI</a:t>
            </a:r>
            <a:r>
              <a:rPr lang="en-GB"/>
              <a:t>: TLB index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ct val="110000"/>
              <a:buChar char="▪"/>
            </a:pPr>
            <a:r>
              <a:rPr b="1" lang="en-GB"/>
              <a:t>TLBT</a:t>
            </a:r>
            <a:r>
              <a:rPr lang="en-GB"/>
              <a:t>: TLB tag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ct val="110000"/>
              <a:buChar char="▪"/>
            </a:pPr>
            <a:r>
              <a:rPr b="1" lang="en-GB"/>
              <a:t>VPO</a:t>
            </a:r>
            <a:r>
              <a:rPr lang="en-GB"/>
              <a:t>: Virtual page offset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ct val="110000"/>
              <a:buChar char="▪"/>
            </a:pPr>
            <a:r>
              <a:rPr b="1" lang="en-GB"/>
              <a:t>VPN</a:t>
            </a:r>
            <a:r>
              <a:rPr lang="en-GB"/>
              <a:t>: Virtual page number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SzPct val="59999"/>
              <a:buChar char="⬛"/>
            </a:pPr>
            <a:r>
              <a:rPr lang="en-GB"/>
              <a:t>Components of the physical address (PA)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ct val="110000"/>
              <a:buChar char="▪"/>
            </a:pPr>
            <a:r>
              <a:rPr b="1" lang="en-GB"/>
              <a:t>PPO</a:t>
            </a:r>
            <a:r>
              <a:rPr lang="en-GB"/>
              <a:t>: Physical page offset (same as VPO)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ct val="110000"/>
              <a:buChar char="▪"/>
            </a:pPr>
            <a:r>
              <a:rPr b="1" lang="en-GB"/>
              <a:t>PPN:</a:t>
            </a:r>
            <a:r>
              <a:rPr lang="en-GB"/>
              <a:t> Physical page number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ct val="110000"/>
              <a:buChar char="▪"/>
            </a:pPr>
            <a:r>
              <a:rPr b="1" lang="en-GB"/>
              <a:t>CO</a:t>
            </a:r>
            <a:r>
              <a:rPr lang="en-GB"/>
              <a:t>: Byte offset within cache line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ct val="110000"/>
              <a:buChar char="▪"/>
            </a:pPr>
            <a:r>
              <a:rPr b="1" lang="en-GB"/>
              <a:t>CI:</a:t>
            </a:r>
            <a:r>
              <a:rPr lang="en-GB"/>
              <a:t> Cache index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ct val="110000"/>
              <a:buChar char="▪"/>
            </a:pPr>
            <a:r>
              <a:rPr b="1" lang="en-GB"/>
              <a:t>CT</a:t>
            </a:r>
            <a:r>
              <a:rPr lang="en-GB"/>
              <a:t>: Cache tag</a:t>
            </a:r>
            <a:endParaRPr/>
          </a:p>
          <a:p>
            <a:pPr indent="-258318" lvl="0" marL="342900" rtl="0" algn="l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SzPct val="59999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9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p14"/>
          <p:cNvSpPr txBox="1"/>
          <p:nvPr>
            <p:ph type="title"/>
          </p:nvPr>
        </p:nvSpPr>
        <p:spPr>
          <a:xfrm>
            <a:off x="357018" y="228600"/>
            <a:ext cx="7936082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End-to-end Core i7 Address Translation</a:t>
            </a:r>
            <a:endParaRPr/>
          </a:p>
        </p:txBody>
      </p:sp>
      <p:sp>
        <p:nvSpPr>
          <p:cNvPr id="1011" name="Google Shape;1011;p14"/>
          <p:cNvSpPr/>
          <p:nvPr/>
        </p:nvSpPr>
        <p:spPr>
          <a:xfrm>
            <a:off x="1177925" y="1066800"/>
            <a:ext cx="609600" cy="457200"/>
          </a:xfrm>
          <a:prstGeom prst="rect">
            <a:avLst/>
          </a:prstGeom>
          <a:solidFill>
            <a:srgbClr val="C0C0C0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CPU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2" name="Google Shape;1012;p14"/>
          <p:cNvSpPr/>
          <p:nvPr/>
        </p:nvSpPr>
        <p:spPr>
          <a:xfrm>
            <a:off x="568325" y="1981200"/>
            <a:ext cx="1066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VPN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3" name="Google Shape;1013;p14"/>
          <p:cNvSpPr/>
          <p:nvPr/>
        </p:nvSpPr>
        <p:spPr>
          <a:xfrm>
            <a:off x="1635125" y="1981200"/>
            <a:ext cx="5334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VPO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4" name="Google Shape;1014;p14"/>
          <p:cNvSpPr txBox="1"/>
          <p:nvPr/>
        </p:nvSpPr>
        <p:spPr>
          <a:xfrm>
            <a:off x="876300" y="1752600"/>
            <a:ext cx="338734" cy="25904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36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5" name="Google Shape;1015;p14"/>
          <p:cNvSpPr txBox="1"/>
          <p:nvPr/>
        </p:nvSpPr>
        <p:spPr>
          <a:xfrm>
            <a:off x="1714500" y="1752600"/>
            <a:ext cx="338734" cy="25904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16" name="Google Shape;1016;p14"/>
          <p:cNvCxnSpPr/>
          <p:nvPr/>
        </p:nvCxnSpPr>
        <p:spPr>
          <a:xfrm>
            <a:off x="1406525" y="2286000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17" name="Google Shape;1017;p14"/>
          <p:cNvSpPr/>
          <p:nvPr/>
        </p:nvSpPr>
        <p:spPr>
          <a:xfrm>
            <a:off x="949325" y="2667000"/>
            <a:ext cx="5334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TLBT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8" name="Google Shape;1018;p14"/>
          <p:cNvSpPr/>
          <p:nvPr/>
        </p:nvSpPr>
        <p:spPr>
          <a:xfrm>
            <a:off x="1482725" y="2667000"/>
            <a:ext cx="5334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TLBI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9" name="Google Shape;1019;p14"/>
          <p:cNvSpPr txBox="1"/>
          <p:nvPr/>
        </p:nvSpPr>
        <p:spPr>
          <a:xfrm>
            <a:off x="1635125" y="2438400"/>
            <a:ext cx="260737" cy="25904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0" name="Google Shape;1020;p14"/>
          <p:cNvSpPr txBox="1"/>
          <p:nvPr/>
        </p:nvSpPr>
        <p:spPr>
          <a:xfrm>
            <a:off x="1025525" y="2438400"/>
            <a:ext cx="338734" cy="25904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32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1" name="Google Shape;1021;p14"/>
          <p:cNvSpPr/>
          <p:nvPr/>
        </p:nvSpPr>
        <p:spPr>
          <a:xfrm>
            <a:off x="2244725" y="3429000"/>
            <a:ext cx="533400" cy="152400"/>
          </a:xfrm>
          <a:prstGeom prst="rect">
            <a:avLst/>
          </a:prstGeom>
          <a:solidFill>
            <a:srgbClr val="F6D2D2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2" name="Google Shape;1022;p14"/>
          <p:cNvSpPr/>
          <p:nvPr/>
        </p:nvSpPr>
        <p:spPr>
          <a:xfrm>
            <a:off x="2778125" y="3429000"/>
            <a:ext cx="533400" cy="152400"/>
          </a:xfrm>
          <a:prstGeom prst="rect">
            <a:avLst/>
          </a:prstGeom>
          <a:solidFill>
            <a:srgbClr val="F6D2D2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3" name="Google Shape;1023;p14"/>
          <p:cNvSpPr/>
          <p:nvPr/>
        </p:nvSpPr>
        <p:spPr>
          <a:xfrm>
            <a:off x="3311525" y="3429000"/>
            <a:ext cx="533400" cy="152400"/>
          </a:xfrm>
          <a:prstGeom prst="rect">
            <a:avLst/>
          </a:prstGeom>
          <a:solidFill>
            <a:srgbClr val="F6D2D2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4" name="Google Shape;1024;p14"/>
          <p:cNvSpPr/>
          <p:nvPr/>
        </p:nvSpPr>
        <p:spPr>
          <a:xfrm>
            <a:off x="3844925" y="3429000"/>
            <a:ext cx="533400" cy="152400"/>
          </a:xfrm>
          <a:prstGeom prst="rect">
            <a:avLst/>
          </a:prstGeom>
          <a:solidFill>
            <a:srgbClr val="F6D2D2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5" name="Google Shape;1025;p14"/>
          <p:cNvSpPr/>
          <p:nvPr/>
        </p:nvSpPr>
        <p:spPr>
          <a:xfrm>
            <a:off x="2244725" y="3581400"/>
            <a:ext cx="533400" cy="152400"/>
          </a:xfrm>
          <a:prstGeom prst="rect">
            <a:avLst/>
          </a:prstGeom>
          <a:solidFill>
            <a:srgbClr val="F6D2D2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6" name="Google Shape;1026;p14"/>
          <p:cNvSpPr/>
          <p:nvPr/>
        </p:nvSpPr>
        <p:spPr>
          <a:xfrm>
            <a:off x="2778125" y="3581400"/>
            <a:ext cx="533400" cy="152400"/>
          </a:xfrm>
          <a:prstGeom prst="rect">
            <a:avLst/>
          </a:prstGeom>
          <a:solidFill>
            <a:srgbClr val="F6D2D2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7" name="Google Shape;1027;p14"/>
          <p:cNvSpPr/>
          <p:nvPr/>
        </p:nvSpPr>
        <p:spPr>
          <a:xfrm>
            <a:off x="3311525" y="3581400"/>
            <a:ext cx="533400" cy="152400"/>
          </a:xfrm>
          <a:prstGeom prst="rect">
            <a:avLst/>
          </a:prstGeom>
          <a:solidFill>
            <a:srgbClr val="F6D2D2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8" name="Google Shape;1028;p14"/>
          <p:cNvSpPr/>
          <p:nvPr/>
        </p:nvSpPr>
        <p:spPr>
          <a:xfrm>
            <a:off x="3844925" y="3581400"/>
            <a:ext cx="533400" cy="152400"/>
          </a:xfrm>
          <a:prstGeom prst="rect">
            <a:avLst/>
          </a:prstGeom>
          <a:solidFill>
            <a:srgbClr val="F6D2D2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9" name="Google Shape;1029;p14"/>
          <p:cNvSpPr/>
          <p:nvPr/>
        </p:nvSpPr>
        <p:spPr>
          <a:xfrm>
            <a:off x="2244725" y="3733800"/>
            <a:ext cx="533400" cy="152400"/>
          </a:xfrm>
          <a:prstGeom prst="rect">
            <a:avLst/>
          </a:prstGeom>
          <a:solidFill>
            <a:srgbClr val="F6D2D2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0" name="Google Shape;1030;p14"/>
          <p:cNvSpPr/>
          <p:nvPr/>
        </p:nvSpPr>
        <p:spPr>
          <a:xfrm>
            <a:off x="2778125" y="3733800"/>
            <a:ext cx="533400" cy="152400"/>
          </a:xfrm>
          <a:prstGeom prst="rect">
            <a:avLst/>
          </a:prstGeom>
          <a:solidFill>
            <a:srgbClr val="F6D2D2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1" name="Google Shape;1031;p14"/>
          <p:cNvSpPr/>
          <p:nvPr/>
        </p:nvSpPr>
        <p:spPr>
          <a:xfrm>
            <a:off x="3311525" y="3733800"/>
            <a:ext cx="533400" cy="152400"/>
          </a:xfrm>
          <a:prstGeom prst="rect">
            <a:avLst/>
          </a:prstGeom>
          <a:solidFill>
            <a:srgbClr val="F6D2D2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2" name="Google Shape;1032;p14"/>
          <p:cNvSpPr/>
          <p:nvPr/>
        </p:nvSpPr>
        <p:spPr>
          <a:xfrm>
            <a:off x="3844925" y="3733800"/>
            <a:ext cx="533400" cy="152400"/>
          </a:xfrm>
          <a:prstGeom prst="rect">
            <a:avLst/>
          </a:prstGeom>
          <a:solidFill>
            <a:srgbClr val="F6D2D2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3" name="Google Shape;1033;p14"/>
          <p:cNvSpPr/>
          <p:nvPr/>
        </p:nvSpPr>
        <p:spPr>
          <a:xfrm>
            <a:off x="2244725" y="4114800"/>
            <a:ext cx="533400" cy="152400"/>
          </a:xfrm>
          <a:prstGeom prst="rect">
            <a:avLst/>
          </a:prstGeom>
          <a:solidFill>
            <a:srgbClr val="F6D2D2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4" name="Google Shape;1034;p14"/>
          <p:cNvSpPr/>
          <p:nvPr/>
        </p:nvSpPr>
        <p:spPr>
          <a:xfrm>
            <a:off x="2778125" y="4114800"/>
            <a:ext cx="533400" cy="152400"/>
          </a:xfrm>
          <a:prstGeom prst="rect">
            <a:avLst/>
          </a:prstGeom>
          <a:solidFill>
            <a:srgbClr val="F6D2D2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5" name="Google Shape;1035;p14"/>
          <p:cNvSpPr/>
          <p:nvPr/>
        </p:nvSpPr>
        <p:spPr>
          <a:xfrm>
            <a:off x="3311525" y="4114800"/>
            <a:ext cx="533400" cy="152400"/>
          </a:xfrm>
          <a:prstGeom prst="rect">
            <a:avLst/>
          </a:prstGeom>
          <a:solidFill>
            <a:srgbClr val="F6D2D2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6" name="Google Shape;1036;p14"/>
          <p:cNvSpPr/>
          <p:nvPr/>
        </p:nvSpPr>
        <p:spPr>
          <a:xfrm>
            <a:off x="3844925" y="4114800"/>
            <a:ext cx="533400" cy="152400"/>
          </a:xfrm>
          <a:prstGeom prst="rect">
            <a:avLst/>
          </a:prstGeom>
          <a:solidFill>
            <a:srgbClr val="F6D2D2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7" name="Google Shape;1037;p14"/>
          <p:cNvSpPr txBox="1"/>
          <p:nvPr/>
        </p:nvSpPr>
        <p:spPr>
          <a:xfrm rot="5400000">
            <a:off x="3290213" y="3787993"/>
            <a:ext cx="256480" cy="408444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...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38" name="Google Shape;1038;p14"/>
          <p:cNvCxnSpPr/>
          <p:nvPr/>
        </p:nvCxnSpPr>
        <p:spPr>
          <a:xfrm>
            <a:off x="1787525" y="2971800"/>
            <a:ext cx="0" cy="12192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39" name="Google Shape;1039;p14"/>
          <p:cNvCxnSpPr/>
          <p:nvPr/>
        </p:nvCxnSpPr>
        <p:spPr>
          <a:xfrm>
            <a:off x="1787525" y="3505200"/>
            <a:ext cx="4572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40" name="Google Shape;1040;p14"/>
          <p:cNvCxnSpPr/>
          <p:nvPr/>
        </p:nvCxnSpPr>
        <p:spPr>
          <a:xfrm>
            <a:off x="1787525" y="4191000"/>
            <a:ext cx="4572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41" name="Google Shape;1041;p14"/>
          <p:cNvCxnSpPr/>
          <p:nvPr/>
        </p:nvCxnSpPr>
        <p:spPr>
          <a:xfrm>
            <a:off x="1787525" y="3657600"/>
            <a:ext cx="4572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42" name="Google Shape;1042;p14"/>
          <p:cNvCxnSpPr/>
          <p:nvPr/>
        </p:nvCxnSpPr>
        <p:spPr>
          <a:xfrm>
            <a:off x="1787525" y="3810000"/>
            <a:ext cx="4572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43" name="Google Shape;1043;p14"/>
          <p:cNvCxnSpPr/>
          <p:nvPr/>
        </p:nvCxnSpPr>
        <p:spPr>
          <a:xfrm>
            <a:off x="1254125" y="2971800"/>
            <a:ext cx="0" cy="152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44" name="Google Shape;1044;p14"/>
          <p:cNvCxnSpPr/>
          <p:nvPr/>
        </p:nvCxnSpPr>
        <p:spPr>
          <a:xfrm>
            <a:off x="1254125" y="3124200"/>
            <a:ext cx="28956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45" name="Google Shape;1045;p14"/>
          <p:cNvCxnSpPr/>
          <p:nvPr/>
        </p:nvCxnSpPr>
        <p:spPr>
          <a:xfrm>
            <a:off x="2549525" y="3124200"/>
            <a:ext cx="0" cy="3048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46" name="Google Shape;1046;p14"/>
          <p:cNvCxnSpPr/>
          <p:nvPr/>
        </p:nvCxnSpPr>
        <p:spPr>
          <a:xfrm>
            <a:off x="3082925" y="3124200"/>
            <a:ext cx="0" cy="3048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47" name="Google Shape;1047;p14"/>
          <p:cNvCxnSpPr/>
          <p:nvPr/>
        </p:nvCxnSpPr>
        <p:spPr>
          <a:xfrm>
            <a:off x="3616325" y="3124200"/>
            <a:ext cx="0" cy="3048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48" name="Google Shape;1048;p14"/>
          <p:cNvCxnSpPr/>
          <p:nvPr/>
        </p:nvCxnSpPr>
        <p:spPr>
          <a:xfrm>
            <a:off x="4149725" y="3124200"/>
            <a:ext cx="0" cy="3048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49" name="Google Shape;1049;p14"/>
          <p:cNvCxnSpPr/>
          <p:nvPr/>
        </p:nvCxnSpPr>
        <p:spPr>
          <a:xfrm>
            <a:off x="720725" y="2286000"/>
            <a:ext cx="0" cy="26543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50" name="Google Shape;1050;p14"/>
          <p:cNvCxnSpPr/>
          <p:nvPr/>
        </p:nvCxnSpPr>
        <p:spPr>
          <a:xfrm>
            <a:off x="1482725" y="1524000"/>
            <a:ext cx="0" cy="4572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51" name="Google Shape;1051;p14"/>
          <p:cNvSpPr txBox="1"/>
          <p:nvPr/>
        </p:nvSpPr>
        <p:spPr>
          <a:xfrm>
            <a:off x="1712913" y="4311650"/>
            <a:ext cx="3078162" cy="315471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L1 TLB (16 sets, 4 entries/set)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2" name="Google Shape;1052;p14"/>
          <p:cNvSpPr/>
          <p:nvPr/>
        </p:nvSpPr>
        <p:spPr>
          <a:xfrm>
            <a:off x="568325" y="4940300"/>
            <a:ext cx="5334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VPN1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3" name="Google Shape;1053;p14"/>
          <p:cNvSpPr/>
          <p:nvPr/>
        </p:nvSpPr>
        <p:spPr>
          <a:xfrm>
            <a:off x="1101725" y="4940300"/>
            <a:ext cx="5334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VPN2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4" name="Google Shape;1054;p14"/>
          <p:cNvSpPr txBox="1"/>
          <p:nvPr/>
        </p:nvSpPr>
        <p:spPr>
          <a:xfrm>
            <a:off x="1181100" y="4724400"/>
            <a:ext cx="260737" cy="25904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5" name="Google Shape;1055;p14"/>
          <p:cNvSpPr txBox="1"/>
          <p:nvPr/>
        </p:nvSpPr>
        <p:spPr>
          <a:xfrm>
            <a:off x="720725" y="4724400"/>
            <a:ext cx="260737" cy="25904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6" name="Google Shape;1056;p14"/>
          <p:cNvSpPr/>
          <p:nvPr/>
        </p:nvSpPr>
        <p:spPr>
          <a:xfrm>
            <a:off x="792163" y="5626100"/>
            <a:ext cx="315912" cy="914400"/>
          </a:xfrm>
          <a:prstGeom prst="rect">
            <a:avLst/>
          </a:prstGeom>
          <a:solidFill>
            <a:srgbClr val="DEDFF5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7" name="Google Shape;1057;p14"/>
          <p:cNvSpPr/>
          <p:nvPr/>
        </p:nvSpPr>
        <p:spPr>
          <a:xfrm>
            <a:off x="792163" y="5905500"/>
            <a:ext cx="315912" cy="254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PTE</a:t>
            </a:r>
            <a:endParaRPr b="1" i="0" sz="14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8" name="Google Shape;1058;p14"/>
          <p:cNvSpPr txBox="1"/>
          <p:nvPr/>
        </p:nvSpPr>
        <p:spPr>
          <a:xfrm>
            <a:off x="0" y="5497513"/>
            <a:ext cx="536575" cy="315471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CR3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9" name="Google Shape;1059;p14"/>
          <p:cNvSpPr/>
          <p:nvPr/>
        </p:nvSpPr>
        <p:spPr>
          <a:xfrm>
            <a:off x="4302125" y="5040313"/>
            <a:ext cx="1066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PPN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0" name="Google Shape;1060;p14"/>
          <p:cNvSpPr/>
          <p:nvPr/>
        </p:nvSpPr>
        <p:spPr>
          <a:xfrm>
            <a:off x="5368925" y="5040313"/>
            <a:ext cx="5334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PPO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1" name="Google Shape;1061;p14"/>
          <p:cNvSpPr txBox="1"/>
          <p:nvPr/>
        </p:nvSpPr>
        <p:spPr>
          <a:xfrm>
            <a:off x="4610100" y="4800600"/>
            <a:ext cx="338734" cy="25904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2" name="Google Shape;1062;p14"/>
          <p:cNvSpPr txBox="1"/>
          <p:nvPr/>
        </p:nvSpPr>
        <p:spPr>
          <a:xfrm>
            <a:off x="5486400" y="4800600"/>
            <a:ext cx="338734" cy="25904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63" name="Google Shape;1063;p14"/>
          <p:cNvCxnSpPr/>
          <p:nvPr/>
        </p:nvCxnSpPr>
        <p:spPr>
          <a:xfrm>
            <a:off x="4378325" y="3762375"/>
            <a:ext cx="6096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64" name="Google Shape;1064;p14"/>
          <p:cNvCxnSpPr/>
          <p:nvPr/>
        </p:nvCxnSpPr>
        <p:spPr>
          <a:xfrm>
            <a:off x="4987925" y="3759200"/>
            <a:ext cx="0" cy="12700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65" name="Google Shape;1065;p14"/>
          <p:cNvCxnSpPr/>
          <p:nvPr/>
        </p:nvCxnSpPr>
        <p:spPr>
          <a:xfrm>
            <a:off x="3035300" y="6083300"/>
            <a:ext cx="195262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66" name="Google Shape;1066;p14"/>
          <p:cNvCxnSpPr/>
          <p:nvPr/>
        </p:nvCxnSpPr>
        <p:spPr>
          <a:xfrm rot="10800000">
            <a:off x="4978400" y="5349875"/>
            <a:ext cx="9525" cy="73342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67" name="Google Shape;1067;p14"/>
          <p:cNvSpPr txBox="1"/>
          <p:nvPr/>
        </p:nvSpPr>
        <p:spPr>
          <a:xfrm>
            <a:off x="1244600" y="6477000"/>
            <a:ext cx="1150053" cy="315471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Page tables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8" name="Google Shape;1068;p14"/>
          <p:cNvSpPr txBox="1"/>
          <p:nvPr/>
        </p:nvSpPr>
        <p:spPr>
          <a:xfrm>
            <a:off x="685800" y="3613150"/>
            <a:ext cx="605718" cy="610936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1" lang="en-GB" sz="1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TLB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1" lang="en-GB" sz="1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miss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9" name="Google Shape;1069;p14"/>
          <p:cNvSpPr txBox="1"/>
          <p:nvPr/>
        </p:nvSpPr>
        <p:spPr>
          <a:xfrm>
            <a:off x="4514850" y="3175000"/>
            <a:ext cx="549212" cy="610936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1" lang="en-GB" sz="1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TLB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1" lang="en-GB" sz="1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hit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70" name="Google Shape;1070;p14"/>
          <p:cNvCxnSpPr/>
          <p:nvPr/>
        </p:nvCxnSpPr>
        <p:spPr>
          <a:xfrm>
            <a:off x="2168525" y="2209800"/>
            <a:ext cx="32766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71" name="Google Shape;1071;p14"/>
          <p:cNvCxnSpPr/>
          <p:nvPr/>
        </p:nvCxnSpPr>
        <p:spPr>
          <a:xfrm>
            <a:off x="5445125" y="2209800"/>
            <a:ext cx="0" cy="2819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72" name="Google Shape;1072;p14"/>
          <p:cNvSpPr txBox="1"/>
          <p:nvPr/>
        </p:nvSpPr>
        <p:spPr>
          <a:xfrm>
            <a:off x="5915025" y="5283200"/>
            <a:ext cx="865621" cy="906402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Physical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address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(PA)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3" name="Google Shape;1073;p14"/>
          <p:cNvSpPr/>
          <p:nvPr/>
        </p:nvSpPr>
        <p:spPr>
          <a:xfrm>
            <a:off x="5445125" y="1295400"/>
            <a:ext cx="1066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Result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4" name="Google Shape;1074;p14"/>
          <p:cNvSpPr txBox="1"/>
          <p:nvPr/>
        </p:nvSpPr>
        <p:spPr>
          <a:xfrm>
            <a:off x="5810250" y="1066800"/>
            <a:ext cx="560850" cy="25904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32/64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5" name="Google Shape;1075;p14"/>
          <p:cNvSpPr/>
          <p:nvPr/>
        </p:nvSpPr>
        <p:spPr>
          <a:xfrm>
            <a:off x="5749925" y="3429000"/>
            <a:ext cx="533400" cy="152400"/>
          </a:xfrm>
          <a:prstGeom prst="rect">
            <a:avLst/>
          </a:prstGeom>
          <a:solidFill>
            <a:srgbClr val="F6F5BD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6" name="Google Shape;1076;p14"/>
          <p:cNvSpPr/>
          <p:nvPr/>
        </p:nvSpPr>
        <p:spPr>
          <a:xfrm>
            <a:off x="6283325" y="3429000"/>
            <a:ext cx="533400" cy="152400"/>
          </a:xfrm>
          <a:prstGeom prst="rect">
            <a:avLst/>
          </a:prstGeom>
          <a:solidFill>
            <a:srgbClr val="F6F5BD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7" name="Google Shape;1077;p14"/>
          <p:cNvSpPr/>
          <p:nvPr/>
        </p:nvSpPr>
        <p:spPr>
          <a:xfrm>
            <a:off x="6816725" y="3429000"/>
            <a:ext cx="533400" cy="152400"/>
          </a:xfrm>
          <a:prstGeom prst="rect">
            <a:avLst/>
          </a:prstGeom>
          <a:solidFill>
            <a:srgbClr val="F6F5BD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8" name="Google Shape;1078;p14"/>
          <p:cNvSpPr/>
          <p:nvPr/>
        </p:nvSpPr>
        <p:spPr>
          <a:xfrm>
            <a:off x="7350125" y="3429000"/>
            <a:ext cx="533400" cy="152400"/>
          </a:xfrm>
          <a:prstGeom prst="rect">
            <a:avLst/>
          </a:prstGeom>
          <a:solidFill>
            <a:srgbClr val="F6F5BD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9" name="Google Shape;1079;p14"/>
          <p:cNvSpPr/>
          <p:nvPr/>
        </p:nvSpPr>
        <p:spPr>
          <a:xfrm>
            <a:off x="5749925" y="3581400"/>
            <a:ext cx="533400" cy="152400"/>
          </a:xfrm>
          <a:prstGeom prst="rect">
            <a:avLst/>
          </a:prstGeom>
          <a:solidFill>
            <a:srgbClr val="F6F5BD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0" name="Google Shape;1080;p14"/>
          <p:cNvSpPr/>
          <p:nvPr/>
        </p:nvSpPr>
        <p:spPr>
          <a:xfrm>
            <a:off x="6283325" y="3581400"/>
            <a:ext cx="533400" cy="152400"/>
          </a:xfrm>
          <a:prstGeom prst="rect">
            <a:avLst/>
          </a:prstGeom>
          <a:solidFill>
            <a:srgbClr val="F6F5BD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1" name="Google Shape;1081;p14"/>
          <p:cNvSpPr/>
          <p:nvPr/>
        </p:nvSpPr>
        <p:spPr>
          <a:xfrm>
            <a:off x="6816725" y="3581400"/>
            <a:ext cx="533400" cy="152400"/>
          </a:xfrm>
          <a:prstGeom prst="rect">
            <a:avLst/>
          </a:prstGeom>
          <a:solidFill>
            <a:srgbClr val="F6F5BD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2" name="Google Shape;1082;p14"/>
          <p:cNvSpPr/>
          <p:nvPr/>
        </p:nvSpPr>
        <p:spPr>
          <a:xfrm>
            <a:off x="7350125" y="3581400"/>
            <a:ext cx="533400" cy="152400"/>
          </a:xfrm>
          <a:prstGeom prst="rect">
            <a:avLst/>
          </a:prstGeom>
          <a:solidFill>
            <a:srgbClr val="F6F5BD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3" name="Google Shape;1083;p14"/>
          <p:cNvSpPr/>
          <p:nvPr/>
        </p:nvSpPr>
        <p:spPr>
          <a:xfrm>
            <a:off x="5749925" y="3733800"/>
            <a:ext cx="533400" cy="152400"/>
          </a:xfrm>
          <a:prstGeom prst="rect">
            <a:avLst/>
          </a:prstGeom>
          <a:solidFill>
            <a:srgbClr val="F6F5BD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4" name="Google Shape;1084;p14"/>
          <p:cNvSpPr/>
          <p:nvPr/>
        </p:nvSpPr>
        <p:spPr>
          <a:xfrm>
            <a:off x="6283325" y="3733800"/>
            <a:ext cx="533400" cy="152400"/>
          </a:xfrm>
          <a:prstGeom prst="rect">
            <a:avLst/>
          </a:prstGeom>
          <a:solidFill>
            <a:srgbClr val="F6F5BD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5" name="Google Shape;1085;p14"/>
          <p:cNvSpPr/>
          <p:nvPr/>
        </p:nvSpPr>
        <p:spPr>
          <a:xfrm>
            <a:off x="6816725" y="3733800"/>
            <a:ext cx="533400" cy="152400"/>
          </a:xfrm>
          <a:prstGeom prst="rect">
            <a:avLst/>
          </a:prstGeom>
          <a:solidFill>
            <a:srgbClr val="F6F5BD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6" name="Google Shape;1086;p14"/>
          <p:cNvSpPr/>
          <p:nvPr/>
        </p:nvSpPr>
        <p:spPr>
          <a:xfrm>
            <a:off x="7350125" y="3733800"/>
            <a:ext cx="533400" cy="152400"/>
          </a:xfrm>
          <a:prstGeom prst="rect">
            <a:avLst/>
          </a:prstGeom>
          <a:solidFill>
            <a:srgbClr val="F6F5BD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7" name="Google Shape;1087;p14"/>
          <p:cNvSpPr/>
          <p:nvPr/>
        </p:nvSpPr>
        <p:spPr>
          <a:xfrm>
            <a:off x="5749925" y="4114800"/>
            <a:ext cx="533400" cy="152400"/>
          </a:xfrm>
          <a:prstGeom prst="rect">
            <a:avLst/>
          </a:prstGeom>
          <a:solidFill>
            <a:srgbClr val="F6F5BD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8" name="Google Shape;1088;p14"/>
          <p:cNvSpPr/>
          <p:nvPr/>
        </p:nvSpPr>
        <p:spPr>
          <a:xfrm>
            <a:off x="6283325" y="4114800"/>
            <a:ext cx="533400" cy="152400"/>
          </a:xfrm>
          <a:prstGeom prst="rect">
            <a:avLst/>
          </a:prstGeom>
          <a:solidFill>
            <a:srgbClr val="F6F5BD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9" name="Google Shape;1089;p14"/>
          <p:cNvSpPr/>
          <p:nvPr/>
        </p:nvSpPr>
        <p:spPr>
          <a:xfrm>
            <a:off x="6816725" y="4114800"/>
            <a:ext cx="533400" cy="152400"/>
          </a:xfrm>
          <a:prstGeom prst="rect">
            <a:avLst/>
          </a:prstGeom>
          <a:solidFill>
            <a:srgbClr val="F6F5BD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0" name="Google Shape;1090;p14"/>
          <p:cNvSpPr/>
          <p:nvPr/>
        </p:nvSpPr>
        <p:spPr>
          <a:xfrm>
            <a:off x="7350125" y="4114800"/>
            <a:ext cx="533400" cy="152400"/>
          </a:xfrm>
          <a:prstGeom prst="rect">
            <a:avLst/>
          </a:prstGeom>
          <a:solidFill>
            <a:srgbClr val="F6F5BD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1" name="Google Shape;1091;p14"/>
          <p:cNvSpPr txBox="1"/>
          <p:nvPr/>
        </p:nvSpPr>
        <p:spPr>
          <a:xfrm rot="5400000">
            <a:off x="6795413" y="3787993"/>
            <a:ext cx="256480" cy="408444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...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92" name="Google Shape;1092;p14"/>
          <p:cNvCxnSpPr/>
          <p:nvPr/>
        </p:nvCxnSpPr>
        <p:spPr>
          <a:xfrm>
            <a:off x="6130925" y="5181600"/>
            <a:ext cx="457200" cy="0"/>
          </a:xfrm>
          <a:prstGeom prst="straightConnector1">
            <a:avLst/>
          </a:prstGeom>
          <a:noFill/>
          <a:ln cap="flat" cmpd="sng" w="57150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93" name="Google Shape;1093;p14"/>
          <p:cNvCxnSpPr/>
          <p:nvPr/>
        </p:nvCxnSpPr>
        <p:spPr>
          <a:xfrm rot="10800000">
            <a:off x="7121525" y="4648200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94" name="Google Shape;1094;p14"/>
          <p:cNvCxnSpPr/>
          <p:nvPr/>
        </p:nvCxnSpPr>
        <p:spPr>
          <a:xfrm rot="10800000">
            <a:off x="8493125" y="4648200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95" name="Google Shape;1095;p14"/>
          <p:cNvCxnSpPr/>
          <p:nvPr/>
        </p:nvCxnSpPr>
        <p:spPr>
          <a:xfrm>
            <a:off x="5888038" y="4643438"/>
            <a:ext cx="2605087" cy="4762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96" name="Google Shape;1096;p14"/>
          <p:cNvCxnSpPr/>
          <p:nvPr/>
        </p:nvCxnSpPr>
        <p:spPr>
          <a:xfrm rot="10800000">
            <a:off x="5889625" y="4267200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97" name="Google Shape;1097;p14"/>
          <p:cNvCxnSpPr/>
          <p:nvPr/>
        </p:nvCxnSpPr>
        <p:spPr>
          <a:xfrm rot="10800000">
            <a:off x="6435725" y="4267200"/>
            <a:ext cx="0" cy="37465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98" name="Google Shape;1098;p14"/>
          <p:cNvCxnSpPr/>
          <p:nvPr/>
        </p:nvCxnSpPr>
        <p:spPr>
          <a:xfrm rot="10800000">
            <a:off x="6959600" y="4267200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99" name="Google Shape;1099;p14"/>
          <p:cNvCxnSpPr/>
          <p:nvPr/>
        </p:nvCxnSpPr>
        <p:spPr>
          <a:xfrm rot="10800000">
            <a:off x="7493000" y="4267200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00" name="Google Shape;1100;p14"/>
          <p:cNvCxnSpPr/>
          <p:nvPr/>
        </p:nvCxnSpPr>
        <p:spPr>
          <a:xfrm rot="10800000">
            <a:off x="8188325" y="3505200"/>
            <a:ext cx="0" cy="15240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01" name="Google Shape;1101;p14"/>
          <p:cNvCxnSpPr/>
          <p:nvPr/>
        </p:nvCxnSpPr>
        <p:spPr>
          <a:xfrm rot="10800000">
            <a:off x="7883525" y="3505200"/>
            <a:ext cx="3048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02" name="Google Shape;1102;p14"/>
          <p:cNvCxnSpPr/>
          <p:nvPr/>
        </p:nvCxnSpPr>
        <p:spPr>
          <a:xfrm rot="10800000">
            <a:off x="7883525" y="3657600"/>
            <a:ext cx="3048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03" name="Google Shape;1103;p14"/>
          <p:cNvCxnSpPr/>
          <p:nvPr/>
        </p:nvCxnSpPr>
        <p:spPr>
          <a:xfrm rot="10800000">
            <a:off x="7883525" y="3810000"/>
            <a:ext cx="3048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04" name="Google Shape;1104;p14"/>
          <p:cNvCxnSpPr/>
          <p:nvPr/>
        </p:nvCxnSpPr>
        <p:spPr>
          <a:xfrm rot="10800000">
            <a:off x="7883525" y="4191000"/>
            <a:ext cx="3048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05" name="Google Shape;1105;p14"/>
          <p:cNvCxnSpPr/>
          <p:nvPr/>
        </p:nvCxnSpPr>
        <p:spPr>
          <a:xfrm>
            <a:off x="658813" y="5245100"/>
            <a:ext cx="0" cy="77628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06" name="Google Shape;1106;p14"/>
          <p:cNvCxnSpPr/>
          <p:nvPr/>
        </p:nvCxnSpPr>
        <p:spPr>
          <a:xfrm flipH="1" rot="10800000">
            <a:off x="658813" y="6021388"/>
            <a:ext cx="133350" cy="952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07" name="Google Shape;1107;p14"/>
          <p:cNvSpPr/>
          <p:nvPr/>
        </p:nvSpPr>
        <p:spPr>
          <a:xfrm>
            <a:off x="623888" y="5207000"/>
            <a:ext cx="76200" cy="762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8" name="Google Shape;1108;p14"/>
          <p:cNvSpPr/>
          <p:nvPr/>
        </p:nvSpPr>
        <p:spPr>
          <a:xfrm>
            <a:off x="695325" y="2260600"/>
            <a:ext cx="76200" cy="762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9" name="Google Shape;1109;p14"/>
          <p:cNvSpPr/>
          <p:nvPr/>
        </p:nvSpPr>
        <p:spPr>
          <a:xfrm>
            <a:off x="2130425" y="2159000"/>
            <a:ext cx="76200" cy="762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0" name="Google Shape;1110;p14"/>
          <p:cNvSpPr/>
          <p:nvPr/>
        </p:nvSpPr>
        <p:spPr>
          <a:xfrm>
            <a:off x="1368425" y="2260600"/>
            <a:ext cx="76200" cy="762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11" name="Google Shape;1111;p14"/>
          <p:cNvCxnSpPr/>
          <p:nvPr/>
        </p:nvCxnSpPr>
        <p:spPr>
          <a:xfrm rot="10800000">
            <a:off x="6054725" y="1600200"/>
            <a:ext cx="0" cy="18288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12" name="Google Shape;1112;p14"/>
          <p:cNvSpPr/>
          <p:nvPr/>
        </p:nvSpPr>
        <p:spPr>
          <a:xfrm>
            <a:off x="6892925" y="5029200"/>
            <a:ext cx="1066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3" name="Google Shape;1113;p14"/>
          <p:cNvSpPr/>
          <p:nvPr/>
        </p:nvSpPr>
        <p:spPr>
          <a:xfrm>
            <a:off x="8264525" y="50292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4" name="Google Shape;1114;p14"/>
          <p:cNvSpPr txBox="1"/>
          <p:nvPr/>
        </p:nvSpPr>
        <p:spPr>
          <a:xfrm>
            <a:off x="7251700" y="4800600"/>
            <a:ext cx="338734" cy="25904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5" name="Google Shape;1115;p14"/>
          <p:cNvSpPr txBox="1"/>
          <p:nvPr/>
        </p:nvSpPr>
        <p:spPr>
          <a:xfrm>
            <a:off x="8289925" y="4800600"/>
            <a:ext cx="260737" cy="25904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6" name="Google Shape;1116;p14"/>
          <p:cNvSpPr/>
          <p:nvPr/>
        </p:nvSpPr>
        <p:spPr>
          <a:xfrm>
            <a:off x="7959725" y="50292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7" name="Google Shape;1117;p14"/>
          <p:cNvSpPr txBox="1"/>
          <p:nvPr/>
        </p:nvSpPr>
        <p:spPr>
          <a:xfrm>
            <a:off x="7959725" y="4800600"/>
            <a:ext cx="260737" cy="25904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8" name="Google Shape;1118;p14"/>
          <p:cNvSpPr/>
          <p:nvPr/>
        </p:nvSpPr>
        <p:spPr>
          <a:xfrm>
            <a:off x="7083425" y="4991100"/>
            <a:ext cx="76200" cy="762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9" name="Google Shape;1119;p14"/>
          <p:cNvSpPr/>
          <p:nvPr/>
        </p:nvSpPr>
        <p:spPr>
          <a:xfrm>
            <a:off x="8137525" y="4991100"/>
            <a:ext cx="76200" cy="762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0" name="Google Shape;1120;p14"/>
          <p:cNvSpPr/>
          <p:nvPr/>
        </p:nvSpPr>
        <p:spPr>
          <a:xfrm>
            <a:off x="8455025" y="4991100"/>
            <a:ext cx="76200" cy="762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21" name="Google Shape;1121;p14"/>
          <p:cNvCxnSpPr/>
          <p:nvPr/>
        </p:nvCxnSpPr>
        <p:spPr>
          <a:xfrm>
            <a:off x="7883525" y="5715000"/>
            <a:ext cx="9906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22" name="Google Shape;1122;p14"/>
          <p:cNvCxnSpPr/>
          <p:nvPr/>
        </p:nvCxnSpPr>
        <p:spPr>
          <a:xfrm rot="10800000">
            <a:off x="8874125" y="2590800"/>
            <a:ext cx="0" cy="31242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23" name="Google Shape;1123;p14"/>
          <p:cNvSpPr/>
          <p:nvPr/>
        </p:nvSpPr>
        <p:spPr>
          <a:xfrm>
            <a:off x="7426325" y="1066800"/>
            <a:ext cx="1524000" cy="838200"/>
          </a:xfrm>
          <a:prstGeom prst="rect">
            <a:avLst/>
          </a:prstGeom>
          <a:solidFill>
            <a:srgbClr val="DEDFF5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L2, L3, and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main memory</a:t>
            </a:r>
            <a:endParaRPr b="1" i="0" sz="16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4" name="Google Shape;1124;p14"/>
          <p:cNvSpPr txBox="1"/>
          <p:nvPr/>
        </p:nvSpPr>
        <p:spPr>
          <a:xfrm>
            <a:off x="5724525" y="2806700"/>
            <a:ext cx="2773363" cy="610936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L1 d-cache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(64 sets, 8 lines/set)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25" name="Google Shape;1125;p14"/>
          <p:cNvCxnSpPr/>
          <p:nvPr/>
        </p:nvCxnSpPr>
        <p:spPr>
          <a:xfrm rot="10800000">
            <a:off x="8264525" y="2590800"/>
            <a:ext cx="6096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26" name="Google Shape;1126;p14"/>
          <p:cNvCxnSpPr/>
          <p:nvPr/>
        </p:nvCxnSpPr>
        <p:spPr>
          <a:xfrm rot="10800000">
            <a:off x="8264525" y="1905000"/>
            <a:ext cx="0" cy="6858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27" name="Google Shape;1127;p14"/>
          <p:cNvCxnSpPr/>
          <p:nvPr/>
        </p:nvCxnSpPr>
        <p:spPr>
          <a:xfrm rot="10800000">
            <a:off x="6511925" y="1447800"/>
            <a:ext cx="9144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28" name="Google Shape;1128;p14"/>
          <p:cNvSpPr txBox="1"/>
          <p:nvPr/>
        </p:nvSpPr>
        <p:spPr>
          <a:xfrm>
            <a:off x="6013450" y="2057400"/>
            <a:ext cx="461251" cy="610936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1" lang="en-GB" sz="1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L1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1" lang="en-GB" sz="1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hit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9" name="Google Shape;1129;p14"/>
          <p:cNvSpPr txBox="1"/>
          <p:nvPr/>
        </p:nvSpPr>
        <p:spPr>
          <a:xfrm>
            <a:off x="8229600" y="1981200"/>
            <a:ext cx="605718" cy="610936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1" lang="en-GB" sz="1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L1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1" lang="en-GB" sz="1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miss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30" name="Google Shape;1130;p14"/>
          <p:cNvCxnSpPr/>
          <p:nvPr/>
        </p:nvCxnSpPr>
        <p:spPr>
          <a:xfrm rot="10800000">
            <a:off x="1787525" y="1447800"/>
            <a:ext cx="36576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31" name="Google Shape;1131;p14"/>
          <p:cNvCxnSpPr/>
          <p:nvPr/>
        </p:nvCxnSpPr>
        <p:spPr>
          <a:xfrm>
            <a:off x="7731125" y="5486400"/>
            <a:ext cx="3810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32" name="Google Shape;1132;p14"/>
          <p:cNvCxnSpPr/>
          <p:nvPr/>
        </p:nvCxnSpPr>
        <p:spPr>
          <a:xfrm>
            <a:off x="7883525" y="5486400"/>
            <a:ext cx="0" cy="228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33" name="Google Shape;1133;p14"/>
          <p:cNvSpPr txBox="1"/>
          <p:nvPr/>
        </p:nvSpPr>
        <p:spPr>
          <a:xfrm>
            <a:off x="1411288" y="1529348"/>
            <a:ext cx="1889560" cy="3385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Virtual address (VA)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4" name="Google Shape;1134;p14"/>
          <p:cNvSpPr/>
          <p:nvPr/>
        </p:nvSpPr>
        <p:spPr>
          <a:xfrm>
            <a:off x="1635125" y="4940300"/>
            <a:ext cx="5334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VPN3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5" name="Google Shape;1135;p14"/>
          <p:cNvSpPr/>
          <p:nvPr/>
        </p:nvSpPr>
        <p:spPr>
          <a:xfrm>
            <a:off x="2168525" y="4940300"/>
            <a:ext cx="5334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VPN4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6" name="Google Shape;1136;p14"/>
          <p:cNvSpPr txBox="1"/>
          <p:nvPr/>
        </p:nvSpPr>
        <p:spPr>
          <a:xfrm>
            <a:off x="2247900" y="4724400"/>
            <a:ext cx="260737" cy="25904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7" name="Google Shape;1137;p14"/>
          <p:cNvSpPr txBox="1"/>
          <p:nvPr/>
        </p:nvSpPr>
        <p:spPr>
          <a:xfrm>
            <a:off x="1787525" y="4724400"/>
            <a:ext cx="260737" cy="25904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38" name="Google Shape;1138;p14"/>
          <p:cNvGrpSpPr/>
          <p:nvPr/>
        </p:nvGrpSpPr>
        <p:grpSpPr>
          <a:xfrm>
            <a:off x="1106488" y="5632450"/>
            <a:ext cx="276225" cy="450850"/>
            <a:chOff x="739" y="2900"/>
            <a:chExt cx="174" cy="284"/>
          </a:xfrm>
        </p:grpSpPr>
        <p:cxnSp>
          <p:nvCxnSpPr>
            <p:cNvPr id="1139" name="Google Shape;1139;p14"/>
            <p:cNvCxnSpPr/>
            <p:nvPr/>
          </p:nvCxnSpPr>
          <p:spPr>
            <a:xfrm flipH="1" rot="10800000">
              <a:off x="739" y="3181"/>
              <a:ext cx="40" cy="3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40" name="Google Shape;1140;p14"/>
            <p:cNvCxnSpPr/>
            <p:nvPr/>
          </p:nvCxnSpPr>
          <p:spPr>
            <a:xfrm rot="10800000">
              <a:off x="779" y="2900"/>
              <a:ext cx="0" cy="28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41" name="Google Shape;1141;p14"/>
            <p:cNvCxnSpPr/>
            <p:nvPr/>
          </p:nvCxnSpPr>
          <p:spPr>
            <a:xfrm>
              <a:off x="779" y="2900"/>
              <a:ext cx="134" cy="3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1142" name="Google Shape;1142;p14"/>
          <p:cNvSpPr/>
          <p:nvPr/>
        </p:nvSpPr>
        <p:spPr>
          <a:xfrm>
            <a:off x="1387475" y="5626100"/>
            <a:ext cx="368300" cy="914400"/>
          </a:xfrm>
          <a:prstGeom prst="rect">
            <a:avLst/>
          </a:prstGeom>
          <a:solidFill>
            <a:srgbClr val="DEDFF5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3" name="Google Shape;1143;p14"/>
          <p:cNvSpPr/>
          <p:nvPr/>
        </p:nvSpPr>
        <p:spPr>
          <a:xfrm>
            <a:off x="1387475" y="5905500"/>
            <a:ext cx="368300" cy="254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44" name="Google Shape;1144;p14"/>
          <p:cNvCxnSpPr/>
          <p:nvPr/>
        </p:nvCxnSpPr>
        <p:spPr>
          <a:xfrm>
            <a:off x="1249363" y="5254625"/>
            <a:ext cx="0" cy="78422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45" name="Google Shape;1145;p14"/>
          <p:cNvCxnSpPr/>
          <p:nvPr/>
        </p:nvCxnSpPr>
        <p:spPr>
          <a:xfrm flipH="1" rot="10800000">
            <a:off x="1249363" y="6030913"/>
            <a:ext cx="133350" cy="952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46" name="Google Shape;1146;p14"/>
          <p:cNvSpPr/>
          <p:nvPr/>
        </p:nvSpPr>
        <p:spPr>
          <a:xfrm>
            <a:off x="1214438" y="5216525"/>
            <a:ext cx="76200" cy="762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7" name="Google Shape;1147;p14"/>
          <p:cNvSpPr/>
          <p:nvPr/>
        </p:nvSpPr>
        <p:spPr>
          <a:xfrm>
            <a:off x="2025650" y="5626100"/>
            <a:ext cx="368300" cy="914400"/>
          </a:xfrm>
          <a:prstGeom prst="rect">
            <a:avLst/>
          </a:prstGeom>
          <a:solidFill>
            <a:srgbClr val="DEDFF5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8" name="Google Shape;1148;p14"/>
          <p:cNvSpPr/>
          <p:nvPr/>
        </p:nvSpPr>
        <p:spPr>
          <a:xfrm>
            <a:off x="2025650" y="5905500"/>
            <a:ext cx="368300" cy="254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49" name="Google Shape;1149;p14"/>
          <p:cNvCxnSpPr/>
          <p:nvPr/>
        </p:nvCxnSpPr>
        <p:spPr>
          <a:xfrm flipH="1">
            <a:off x="1885950" y="5254625"/>
            <a:ext cx="1588" cy="79057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50" name="Google Shape;1150;p14"/>
          <p:cNvCxnSpPr/>
          <p:nvPr/>
        </p:nvCxnSpPr>
        <p:spPr>
          <a:xfrm flipH="1" rot="10800000">
            <a:off x="1887538" y="6035675"/>
            <a:ext cx="133350" cy="952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51" name="Google Shape;1151;p14"/>
          <p:cNvSpPr/>
          <p:nvPr/>
        </p:nvSpPr>
        <p:spPr>
          <a:xfrm>
            <a:off x="1852613" y="5216525"/>
            <a:ext cx="76200" cy="762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2" name="Google Shape;1152;p14"/>
          <p:cNvSpPr/>
          <p:nvPr/>
        </p:nvSpPr>
        <p:spPr>
          <a:xfrm>
            <a:off x="2663825" y="5621338"/>
            <a:ext cx="368300" cy="914400"/>
          </a:xfrm>
          <a:prstGeom prst="rect">
            <a:avLst/>
          </a:prstGeom>
          <a:solidFill>
            <a:srgbClr val="DEDFF5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3" name="Google Shape;1153;p14"/>
          <p:cNvSpPr/>
          <p:nvPr/>
        </p:nvSpPr>
        <p:spPr>
          <a:xfrm>
            <a:off x="2663825" y="5900738"/>
            <a:ext cx="368300" cy="254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54" name="Google Shape;1154;p14"/>
          <p:cNvCxnSpPr/>
          <p:nvPr/>
        </p:nvCxnSpPr>
        <p:spPr>
          <a:xfrm>
            <a:off x="2525713" y="5249863"/>
            <a:ext cx="0" cy="78898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55" name="Google Shape;1155;p14"/>
          <p:cNvCxnSpPr/>
          <p:nvPr/>
        </p:nvCxnSpPr>
        <p:spPr>
          <a:xfrm flipH="1" rot="10800000">
            <a:off x="2525713" y="6035675"/>
            <a:ext cx="133350" cy="952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56" name="Google Shape;1156;p14"/>
          <p:cNvSpPr/>
          <p:nvPr/>
        </p:nvSpPr>
        <p:spPr>
          <a:xfrm>
            <a:off x="2490788" y="5211763"/>
            <a:ext cx="76200" cy="762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57" name="Google Shape;1157;p14"/>
          <p:cNvCxnSpPr/>
          <p:nvPr/>
        </p:nvCxnSpPr>
        <p:spPr>
          <a:xfrm>
            <a:off x="6016625" y="3438525"/>
            <a:ext cx="0" cy="4476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58" name="Google Shape;1158;p14"/>
          <p:cNvCxnSpPr/>
          <p:nvPr/>
        </p:nvCxnSpPr>
        <p:spPr>
          <a:xfrm>
            <a:off x="6540500" y="3438525"/>
            <a:ext cx="0" cy="4476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59" name="Google Shape;1159;p14"/>
          <p:cNvCxnSpPr/>
          <p:nvPr/>
        </p:nvCxnSpPr>
        <p:spPr>
          <a:xfrm>
            <a:off x="7064375" y="3429000"/>
            <a:ext cx="0" cy="4476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60" name="Google Shape;1160;p14"/>
          <p:cNvCxnSpPr/>
          <p:nvPr/>
        </p:nvCxnSpPr>
        <p:spPr>
          <a:xfrm>
            <a:off x="7616825" y="3438525"/>
            <a:ext cx="0" cy="4476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61" name="Google Shape;1161;p14"/>
          <p:cNvCxnSpPr/>
          <p:nvPr/>
        </p:nvCxnSpPr>
        <p:spPr>
          <a:xfrm>
            <a:off x="6019800" y="4114800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62" name="Google Shape;1162;p14"/>
          <p:cNvCxnSpPr/>
          <p:nvPr/>
        </p:nvCxnSpPr>
        <p:spPr>
          <a:xfrm>
            <a:off x="6550025" y="4119563"/>
            <a:ext cx="0" cy="14763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63" name="Google Shape;1163;p14"/>
          <p:cNvCxnSpPr/>
          <p:nvPr/>
        </p:nvCxnSpPr>
        <p:spPr>
          <a:xfrm>
            <a:off x="7086600" y="411797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64" name="Google Shape;1164;p14"/>
          <p:cNvCxnSpPr/>
          <p:nvPr/>
        </p:nvCxnSpPr>
        <p:spPr>
          <a:xfrm>
            <a:off x="7616825" y="411797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65" name="Google Shape;1165;p14"/>
          <p:cNvCxnSpPr/>
          <p:nvPr/>
        </p:nvCxnSpPr>
        <p:spPr>
          <a:xfrm rot="10800000">
            <a:off x="6162675" y="4267200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66" name="Google Shape;1166;p14"/>
          <p:cNvCxnSpPr/>
          <p:nvPr/>
        </p:nvCxnSpPr>
        <p:spPr>
          <a:xfrm rot="10800000">
            <a:off x="6683375" y="4268788"/>
            <a:ext cx="0" cy="37465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67" name="Google Shape;1167;p14"/>
          <p:cNvCxnSpPr/>
          <p:nvPr/>
        </p:nvCxnSpPr>
        <p:spPr>
          <a:xfrm rot="10800000">
            <a:off x="7223125" y="4260850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68" name="Google Shape;1168;p14"/>
          <p:cNvCxnSpPr/>
          <p:nvPr/>
        </p:nvCxnSpPr>
        <p:spPr>
          <a:xfrm rot="10800000">
            <a:off x="7759700" y="4270375"/>
            <a:ext cx="0" cy="373063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69" name="Google Shape;1169;p14"/>
          <p:cNvCxnSpPr/>
          <p:nvPr/>
        </p:nvCxnSpPr>
        <p:spPr>
          <a:xfrm>
            <a:off x="536575" y="5626100"/>
            <a:ext cx="23495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grpSp>
        <p:nvGrpSpPr>
          <p:cNvPr id="1170" name="Google Shape;1170;p14"/>
          <p:cNvGrpSpPr/>
          <p:nvPr/>
        </p:nvGrpSpPr>
        <p:grpSpPr>
          <a:xfrm>
            <a:off x="1754188" y="5627688"/>
            <a:ext cx="276225" cy="450850"/>
            <a:chOff x="739" y="2900"/>
            <a:chExt cx="174" cy="284"/>
          </a:xfrm>
        </p:grpSpPr>
        <p:cxnSp>
          <p:nvCxnSpPr>
            <p:cNvPr id="1171" name="Google Shape;1171;p14"/>
            <p:cNvCxnSpPr/>
            <p:nvPr/>
          </p:nvCxnSpPr>
          <p:spPr>
            <a:xfrm flipH="1" rot="10800000">
              <a:off x="739" y="3181"/>
              <a:ext cx="40" cy="3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72" name="Google Shape;1172;p14"/>
            <p:cNvCxnSpPr/>
            <p:nvPr/>
          </p:nvCxnSpPr>
          <p:spPr>
            <a:xfrm rot="10800000">
              <a:off x="779" y="2900"/>
              <a:ext cx="0" cy="28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73" name="Google Shape;1173;p14"/>
            <p:cNvCxnSpPr/>
            <p:nvPr/>
          </p:nvCxnSpPr>
          <p:spPr>
            <a:xfrm>
              <a:off x="779" y="2900"/>
              <a:ext cx="134" cy="3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grpSp>
        <p:nvGrpSpPr>
          <p:cNvPr id="1174" name="Google Shape;1174;p14"/>
          <p:cNvGrpSpPr/>
          <p:nvPr/>
        </p:nvGrpSpPr>
        <p:grpSpPr>
          <a:xfrm>
            <a:off x="2392363" y="5627688"/>
            <a:ext cx="276225" cy="450850"/>
            <a:chOff x="739" y="2900"/>
            <a:chExt cx="174" cy="284"/>
          </a:xfrm>
        </p:grpSpPr>
        <p:cxnSp>
          <p:nvCxnSpPr>
            <p:cNvPr id="1175" name="Google Shape;1175;p14"/>
            <p:cNvCxnSpPr/>
            <p:nvPr/>
          </p:nvCxnSpPr>
          <p:spPr>
            <a:xfrm flipH="1" rot="10800000">
              <a:off x="739" y="3181"/>
              <a:ext cx="40" cy="3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76" name="Google Shape;1176;p14"/>
            <p:cNvCxnSpPr/>
            <p:nvPr/>
          </p:nvCxnSpPr>
          <p:spPr>
            <a:xfrm rot="10800000">
              <a:off x="779" y="2900"/>
              <a:ext cx="0" cy="28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77" name="Google Shape;1177;p14"/>
            <p:cNvCxnSpPr/>
            <p:nvPr/>
          </p:nvCxnSpPr>
          <p:spPr>
            <a:xfrm>
              <a:off x="779" y="2900"/>
              <a:ext cx="134" cy="3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2" name="Shape 1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3" name="Google Shape;1183;p15"/>
          <p:cNvSpPr txBox="1"/>
          <p:nvPr>
            <p:ph idx="4294967295" type="title"/>
          </p:nvPr>
        </p:nvSpPr>
        <p:spPr>
          <a:xfrm>
            <a:off x="381000" y="493713"/>
            <a:ext cx="7348537" cy="5730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Core i7 Level 1-3 Page Table Entries</a:t>
            </a:r>
            <a:endParaRPr/>
          </a:p>
        </p:txBody>
      </p:sp>
      <p:sp>
        <p:nvSpPr>
          <p:cNvPr id="1184" name="Google Shape;1184;p15"/>
          <p:cNvSpPr/>
          <p:nvPr/>
        </p:nvSpPr>
        <p:spPr>
          <a:xfrm>
            <a:off x="1828800" y="1524000"/>
            <a:ext cx="2667000" cy="381000"/>
          </a:xfrm>
          <a:prstGeom prst="rect">
            <a:avLst/>
          </a:prstGeom>
          <a:solidFill>
            <a:srgbClr val="D5F1C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Page table physical base address</a:t>
            </a:r>
            <a:endParaRPr b="1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5" name="Google Shape;1185;p15"/>
          <p:cNvSpPr/>
          <p:nvPr/>
        </p:nvSpPr>
        <p:spPr>
          <a:xfrm>
            <a:off x="4495800" y="1524000"/>
            <a:ext cx="990600" cy="381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Unused</a:t>
            </a:r>
            <a:endParaRPr b="1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6" name="Google Shape;1186;p15"/>
          <p:cNvSpPr/>
          <p:nvPr/>
        </p:nvSpPr>
        <p:spPr>
          <a:xfrm>
            <a:off x="5486400" y="1524000"/>
            <a:ext cx="381000" cy="381000"/>
          </a:xfrm>
          <a:prstGeom prst="rect">
            <a:avLst/>
          </a:prstGeom>
          <a:solidFill>
            <a:srgbClr val="F1C7C7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7" name="Google Shape;1187;p15"/>
          <p:cNvSpPr/>
          <p:nvPr/>
        </p:nvSpPr>
        <p:spPr>
          <a:xfrm>
            <a:off x="5867400" y="1524000"/>
            <a:ext cx="381000" cy="381000"/>
          </a:xfrm>
          <a:prstGeom prst="rect">
            <a:avLst/>
          </a:prstGeom>
          <a:solidFill>
            <a:srgbClr val="F1C7C7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8" name="Google Shape;1188;p15"/>
          <p:cNvSpPr/>
          <p:nvPr/>
        </p:nvSpPr>
        <p:spPr>
          <a:xfrm>
            <a:off x="6248400" y="1524000"/>
            <a:ext cx="381000" cy="381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189" name="Google Shape;1189;p15"/>
          <p:cNvSpPr/>
          <p:nvPr/>
        </p:nvSpPr>
        <p:spPr>
          <a:xfrm>
            <a:off x="6629400" y="1524000"/>
            <a:ext cx="381000" cy="381000"/>
          </a:xfrm>
          <a:prstGeom prst="rect">
            <a:avLst/>
          </a:prstGeom>
          <a:solidFill>
            <a:srgbClr val="F1C7C7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0" name="Google Shape;1190;p15"/>
          <p:cNvSpPr/>
          <p:nvPr/>
        </p:nvSpPr>
        <p:spPr>
          <a:xfrm>
            <a:off x="7010400" y="1524000"/>
            <a:ext cx="381000" cy="381000"/>
          </a:xfrm>
          <a:prstGeom prst="rect">
            <a:avLst/>
          </a:prstGeom>
          <a:solidFill>
            <a:srgbClr val="F1C7C7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1" name="Google Shape;1191;p15"/>
          <p:cNvSpPr/>
          <p:nvPr/>
        </p:nvSpPr>
        <p:spPr>
          <a:xfrm>
            <a:off x="7391400" y="1524000"/>
            <a:ext cx="381000" cy="381000"/>
          </a:xfrm>
          <a:prstGeom prst="rect">
            <a:avLst/>
          </a:prstGeom>
          <a:solidFill>
            <a:srgbClr val="F1C7C7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2" name="Google Shape;1192;p15"/>
          <p:cNvSpPr/>
          <p:nvPr/>
        </p:nvSpPr>
        <p:spPr>
          <a:xfrm>
            <a:off x="7772400" y="1524000"/>
            <a:ext cx="381000" cy="381000"/>
          </a:xfrm>
          <a:prstGeom prst="rect">
            <a:avLst/>
          </a:prstGeom>
          <a:solidFill>
            <a:srgbClr val="F1C7C7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U/S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3" name="Google Shape;1193;p15"/>
          <p:cNvSpPr/>
          <p:nvPr/>
        </p:nvSpPr>
        <p:spPr>
          <a:xfrm>
            <a:off x="8153400" y="1524000"/>
            <a:ext cx="381000" cy="381000"/>
          </a:xfrm>
          <a:prstGeom prst="rect">
            <a:avLst/>
          </a:prstGeom>
          <a:solidFill>
            <a:srgbClr val="F1C7C7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R/W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4" name="Google Shape;1194;p15"/>
          <p:cNvSpPr/>
          <p:nvPr/>
        </p:nvSpPr>
        <p:spPr>
          <a:xfrm>
            <a:off x="8534400" y="1524000"/>
            <a:ext cx="381000" cy="381000"/>
          </a:xfrm>
          <a:prstGeom prst="rect">
            <a:avLst/>
          </a:prstGeom>
          <a:solidFill>
            <a:srgbClr val="F1C7C7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P=1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5" name="Google Shape;1195;p15"/>
          <p:cNvSpPr txBox="1"/>
          <p:nvPr/>
        </p:nvSpPr>
        <p:spPr>
          <a:xfrm>
            <a:off x="457200" y="2712466"/>
            <a:ext cx="6934200" cy="3546371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spAutoFit/>
          </a:bodyPr>
          <a:lstStyle/>
          <a:p>
            <a:pPr indent="-341313" lvl="0" marL="341313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entry references a 4K child page table. Significant fields: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1313" lvl="0" marL="341313" marR="0" rtl="0" algn="l">
              <a:lnSpc>
                <a:spcPct val="88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P: </a:t>
            </a:r>
            <a:r>
              <a:rPr b="0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Child page table present in physical memory (1) or not (0).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1313" lvl="0" marL="341313" marR="0" rtl="0" algn="l">
              <a:lnSpc>
                <a:spcPct val="88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R/W: </a:t>
            </a:r>
            <a:r>
              <a:rPr b="0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Read-only or read-write access access permission for all reachable pages.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1313" lvl="0" marL="341313" marR="0" rtl="0" algn="l">
              <a:lnSpc>
                <a:spcPct val="88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U/S: </a:t>
            </a:r>
            <a:r>
              <a:rPr b="0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 or supervisor (kernel) mode access permission for all reachable pages.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1313" lvl="0" marL="341313" marR="0" rtl="0" algn="l">
              <a:lnSpc>
                <a:spcPct val="88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WT: </a:t>
            </a:r>
            <a:r>
              <a:rPr b="0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Write-through or write-back cache policy for the child page table.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1313" lvl="0" marL="341313" marR="0" rtl="0" algn="l">
              <a:lnSpc>
                <a:spcPct val="88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A:  </a:t>
            </a:r>
            <a:r>
              <a:rPr b="0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Reference bit (set by MMU on reads and writes, cleared by software).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1313" lvl="0" marL="341313" marR="0" rtl="0" algn="l">
              <a:lnSpc>
                <a:spcPct val="88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PS:  </a:t>
            </a:r>
            <a:r>
              <a:rPr b="0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Page size either 4 KB or 4 MB (defined for Level 1 PTEs only).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1313" lvl="0" marL="341313" marR="0" rtl="0" algn="l">
              <a:lnSpc>
                <a:spcPct val="88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Page table physical base address: </a:t>
            </a:r>
            <a:r>
              <a:rPr b="0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 most significant bits of physical page table address (forces page tables to be 4KB aligned)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1313" lvl="0" marL="341313" marR="0" rtl="0" algn="l">
              <a:lnSpc>
                <a:spcPct val="88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XD:</a:t>
            </a:r>
            <a:r>
              <a:rPr b="0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Disable or enable instruction fetches from all pages reachable from this PTE.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6" name="Google Shape;1196;p15"/>
          <p:cNvSpPr txBox="1"/>
          <p:nvPr/>
        </p:nvSpPr>
        <p:spPr>
          <a:xfrm>
            <a:off x="1769124" y="1295400"/>
            <a:ext cx="364476" cy="283324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sp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51</a:t>
            </a:r>
            <a:endParaRPr b="1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7" name="Google Shape;1197;p15"/>
          <p:cNvSpPr txBox="1"/>
          <p:nvPr/>
        </p:nvSpPr>
        <p:spPr>
          <a:xfrm>
            <a:off x="4189413" y="1299695"/>
            <a:ext cx="365227" cy="279029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sp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8" name="Google Shape;1198;p15"/>
          <p:cNvSpPr txBox="1"/>
          <p:nvPr/>
        </p:nvSpPr>
        <p:spPr>
          <a:xfrm>
            <a:off x="4422775" y="1299695"/>
            <a:ext cx="365227" cy="279029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sp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9" name="Google Shape;1199;p15"/>
          <p:cNvSpPr txBox="1"/>
          <p:nvPr/>
        </p:nvSpPr>
        <p:spPr>
          <a:xfrm>
            <a:off x="5256213" y="1299695"/>
            <a:ext cx="273857" cy="279029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sp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0" name="Google Shape;1200;p15"/>
          <p:cNvSpPr txBox="1"/>
          <p:nvPr/>
        </p:nvSpPr>
        <p:spPr>
          <a:xfrm>
            <a:off x="5562600" y="1299695"/>
            <a:ext cx="273857" cy="279029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sp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1" name="Google Shape;1201;p15"/>
          <p:cNvSpPr txBox="1"/>
          <p:nvPr/>
        </p:nvSpPr>
        <p:spPr>
          <a:xfrm>
            <a:off x="5943600" y="1299695"/>
            <a:ext cx="273857" cy="279029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sp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2" name="Google Shape;1202;p15"/>
          <p:cNvSpPr txBox="1"/>
          <p:nvPr/>
        </p:nvSpPr>
        <p:spPr>
          <a:xfrm>
            <a:off x="6273800" y="1299695"/>
            <a:ext cx="273857" cy="279029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sp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3" name="Google Shape;1203;p15"/>
          <p:cNvSpPr txBox="1"/>
          <p:nvPr/>
        </p:nvSpPr>
        <p:spPr>
          <a:xfrm>
            <a:off x="6692900" y="1299695"/>
            <a:ext cx="273857" cy="279029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sp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4" name="Google Shape;1204;p15"/>
          <p:cNvSpPr txBox="1"/>
          <p:nvPr/>
        </p:nvSpPr>
        <p:spPr>
          <a:xfrm>
            <a:off x="7086600" y="1299695"/>
            <a:ext cx="273857" cy="279029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sp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5" name="Google Shape;1205;p15"/>
          <p:cNvSpPr txBox="1"/>
          <p:nvPr/>
        </p:nvSpPr>
        <p:spPr>
          <a:xfrm>
            <a:off x="7467600" y="1299695"/>
            <a:ext cx="273857" cy="279029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sp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6" name="Google Shape;1206;p15"/>
          <p:cNvSpPr txBox="1"/>
          <p:nvPr/>
        </p:nvSpPr>
        <p:spPr>
          <a:xfrm>
            <a:off x="7847013" y="1299695"/>
            <a:ext cx="273857" cy="279029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sp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7" name="Google Shape;1207;p15"/>
          <p:cNvSpPr txBox="1"/>
          <p:nvPr/>
        </p:nvSpPr>
        <p:spPr>
          <a:xfrm>
            <a:off x="8229600" y="1299695"/>
            <a:ext cx="273857" cy="279029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sp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8" name="Google Shape;1208;p15"/>
          <p:cNvSpPr txBox="1"/>
          <p:nvPr/>
        </p:nvSpPr>
        <p:spPr>
          <a:xfrm>
            <a:off x="8610600" y="1299695"/>
            <a:ext cx="273857" cy="279029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sp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9" name="Google Shape;1209;p15"/>
          <p:cNvSpPr/>
          <p:nvPr/>
        </p:nvSpPr>
        <p:spPr>
          <a:xfrm>
            <a:off x="838200" y="1524000"/>
            <a:ext cx="990600" cy="381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Unused</a:t>
            </a:r>
            <a:endParaRPr b="1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0" name="Google Shape;1210;p15"/>
          <p:cNvSpPr/>
          <p:nvPr/>
        </p:nvSpPr>
        <p:spPr>
          <a:xfrm>
            <a:off x="457200" y="1524000"/>
            <a:ext cx="381000" cy="381000"/>
          </a:xfrm>
          <a:prstGeom prst="rect">
            <a:avLst/>
          </a:prstGeom>
          <a:solidFill>
            <a:srgbClr val="F1C7C7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XD</a:t>
            </a:r>
            <a:endParaRPr b="1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1" name="Google Shape;1211;p15"/>
          <p:cNvSpPr/>
          <p:nvPr/>
        </p:nvSpPr>
        <p:spPr>
          <a:xfrm>
            <a:off x="457200" y="2133600"/>
            <a:ext cx="8093075" cy="381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Available for OS (page table location on disk)</a:t>
            </a:r>
            <a:endParaRPr b="1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2" name="Google Shape;1212;p15"/>
          <p:cNvSpPr/>
          <p:nvPr/>
        </p:nvSpPr>
        <p:spPr>
          <a:xfrm>
            <a:off x="8550275" y="2133600"/>
            <a:ext cx="381000" cy="381000"/>
          </a:xfrm>
          <a:prstGeom prst="rect">
            <a:avLst/>
          </a:prstGeom>
          <a:solidFill>
            <a:srgbClr val="F1C7C7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P=0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3" name="Google Shape;1213;p15"/>
          <p:cNvSpPr txBox="1"/>
          <p:nvPr/>
        </p:nvSpPr>
        <p:spPr>
          <a:xfrm>
            <a:off x="1524000" y="1295400"/>
            <a:ext cx="364476" cy="283324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sp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52</a:t>
            </a:r>
            <a:endParaRPr b="1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4" name="Google Shape;1214;p15"/>
          <p:cNvSpPr txBox="1"/>
          <p:nvPr/>
        </p:nvSpPr>
        <p:spPr>
          <a:xfrm>
            <a:off x="762000" y="1295400"/>
            <a:ext cx="364476" cy="283324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sp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62</a:t>
            </a:r>
            <a:endParaRPr b="1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5" name="Google Shape;1215;p15"/>
          <p:cNvSpPr txBox="1"/>
          <p:nvPr/>
        </p:nvSpPr>
        <p:spPr>
          <a:xfrm>
            <a:off x="457200" y="1295400"/>
            <a:ext cx="364476" cy="283324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sp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63</a:t>
            </a:r>
            <a:endParaRPr b="1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0" name="Shape 1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1" name="Google Shape;1221;p16"/>
          <p:cNvSpPr txBox="1"/>
          <p:nvPr>
            <p:ph idx="4294967295" type="title"/>
          </p:nvPr>
        </p:nvSpPr>
        <p:spPr>
          <a:xfrm>
            <a:off x="381000" y="493713"/>
            <a:ext cx="7348537" cy="5730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Core i7 Level 4 Page Table Entries</a:t>
            </a:r>
            <a:endParaRPr/>
          </a:p>
        </p:txBody>
      </p:sp>
      <p:sp>
        <p:nvSpPr>
          <p:cNvPr id="1222" name="Google Shape;1222;p16"/>
          <p:cNvSpPr/>
          <p:nvPr/>
        </p:nvSpPr>
        <p:spPr>
          <a:xfrm>
            <a:off x="1828800" y="1524000"/>
            <a:ext cx="2667000" cy="381000"/>
          </a:xfrm>
          <a:prstGeom prst="rect">
            <a:avLst/>
          </a:prstGeom>
          <a:solidFill>
            <a:srgbClr val="D5F1C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Page physical base address</a:t>
            </a:r>
            <a:endParaRPr b="1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3" name="Google Shape;1223;p16"/>
          <p:cNvSpPr/>
          <p:nvPr/>
        </p:nvSpPr>
        <p:spPr>
          <a:xfrm>
            <a:off x="4495800" y="1524000"/>
            <a:ext cx="990600" cy="381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Unused</a:t>
            </a:r>
            <a:endParaRPr b="1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4" name="Google Shape;1224;p16"/>
          <p:cNvSpPr/>
          <p:nvPr/>
        </p:nvSpPr>
        <p:spPr>
          <a:xfrm>
            <a:off x="5486400" y="1524000"/>
            <a:ext cx="381000" cy="381000"/>
          </a:xfrm>
          <a:prstGeom prst="rect">
            <a:avLst/>
          </a:prstGeom>
          <a:solidFill>
            <a:srgbClr val="F1C7C7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5" name="Google Shape;1225;p16"/>
          <p:cNvSpPr/>
          <p:nvPr/>
        </p:nvSpPr>
        <p:spPr>
          <a:xfrm>
            <a:off x="5867400" y="1524000"/>
            <a:ext cx="381000" cy="381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6" name="Google Shape;1226;p16"/>
          <p:cNvSpPr/>
          <p:nvPr/>
        </p:nvSpPr>
        <p:spPr>
          <a:xfrm>
            <a:off x="6248400" y="1524000"/>
            <a:ext cx="381000" cy="381000"/>
          </a:xfrm>
          <a:prstGeom prst="rect">
            <a:avLst/>
          </a:prstGeom>
          <a:solidFill>
            <a:srgbClr val="F6D2D2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D</a:t>
            </a:r>
            <a:endParaRPr b="1" i="0" sz="1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227" name="Google Shape;1227;p16"/>
          <p:cNvSpPr/>
          <p:nvPr/>
        </p:nvSpPr>
        <p:spPr>
          <a:xfrm>
            <a:off x="6629400" y="1524000"/>
            <a:ext cx="381000" cy="381000"/>
          </a:xfrm>
          <a:prstGeom prst="rect">
            <a:avLst/>
          </a:prstGeom>
          <a:solidFill>
            <a:srgbClr val="F6D2D2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8" name="Google Shape;1228;p16"/>
          <p:cNvSpPr/>
          <p:nvPr/>
        </p:nvSpPr>
        <p:spPr>
          <a:xfrm>
            <a:off x="7010400" y="1524000"/>
            <a:ext cx="381000" cy="381000"/>
          </a:xfrm>
          <a:prstGeom prst="rect">
            <a:avLst/>
          </a:prstGeom>
          <a:solidFill>
            <a:srgbClr val="F1C7C7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9" name="Google Shape;1229;p16"/>
          <p:cNvSpPr/>
          <p:nvPr/>
        </p:nvSpPr>
        <p:spPr>
          <a:xfrm>
            <a:off x="7391400" y="1524000"/>
            <a:ext cx="381000" cy="381000"/>
          </a:xfrm>
          <a:prstGeom prst="rect">
            <a:avLst/>
          </a:prstGeom>
          <a:solidFill>
            <a:srgbClr val="F1C7C7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0" name="Google Shape;1230;p16"/>
          <p:cNvSpPr/>
          <p:nvPr/>
        </p:nvSpPr>
        <p:spPr>
          <a:xfrm>
            <a:off x="7772400" y="1524000"/>
            <a:ext cx="381000" cy="381000"/>
          </a:xfrm>
          <a:prstGeom prst="rect">
            <a:avLst/>
          </a:prstGeom>
          <a:solidFill>
            <a:srgbClr val="F1C7C7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U/S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1" name="Google Shape;1231;p16"/>
          <p:cNvSpPr/>
          <p:nvPr/>
        </p:nvSpPr>
        <p:spPr>
          <a:xfrm>
            <a:off x="8153400" y="1524000"/>
            <a:ext cx="381000" cy="381000"/>
          </a:xfrm>
          <a:prstGeom prst="rect">
            <a:avLst/>
          </a:prstGeom>
          <a:solidFill>
            <a:srgbClr val="F1C7C7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R/W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2" name="Google Shape;1232;p16"/>
          <p:cNvSpPr/>
          <p:nvPr/>
        </p:nvSpPr>
        <p:spPr>
          <a:xfrm>
            <a:off x="8534400" y="1524000"/>
            <a:ext cx="381000" cy="381000"/>
          </a:xfrm>
          <a:prstGeom prst="rect">
            <a:avLst/>
          </a:prstGeom>
          <a:solidFill>
            <a:srgbClr val="F1C7C7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P=1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3" name="Google Shape;1233;p16"/>
          <p:cNvSpPr txBox="1"/>
          <p:nvPr/>
        </p:nvSpPr>
        <p:spPr>
          <a:xfrm>
            <a:off x="457200" y="2712466"/>
            <a:ext cx="6934200" cy="3546371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spAutoFit/>
          </a:bodyPr>
          <a:lstStyle/>
          <a:p>
            <a:pPr indent="-341313" lvl="0" marL="341313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entry references a 4K child page. Significant fields: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1313" lvl="0" marL="341313" marR="0" rtl="0" algn="l">
              <a:lnSpc>
                <a:spcPct val="88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P: </a:t>
            </a:r>
            <a:r>
              <a:rPr b="0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Child page is present in memory (1) or not (0)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1313" lvl="0" marL="341313" marR="0" rtl="0" algn="l">
              <a:lnSpc>
                <a:spcPct val="88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R/W: </a:t>
            </a:r>
            <a:r>
              <a:rPr b="0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Read-only or read-write access permission for child page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1313" lvl="0" marL="341313" marR="0" rtl="0" algn="l">
              <a:lnSpc>
                <a:spcPct val="88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U/S: </a:t>
            </a:r>
            <a:r>
              <a:rPr b="0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 or supervisor mode access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1313" lvl="0" marL="341313" marR="0" rtl="0" algn="l">
              <a:lnSpc>
                <a:spcPct val="88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WT: </a:t>
            </a:r>
            <a:r>
              <a:rPr b="0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Write-through or write-back cache policy for this page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1313" lvl="0" marL="341313" marR="0" rtl="0" algn="l">
              <a:lnSpc>
                <a:spcPct val="88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A: </a:t>
            </a:r>
            <a:r>
              <a:rPr b="0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Reference bit (set by MMU on reads and writes, cleared by software)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1313" lvl="0" marL="341313" marR="0" rtl="0" algn="l">
              <a:lnSpc>
                <a:spcPct val="88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D: </a:t>
            </a:r>
            <a:r>
              <a:rPr b="0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Dirty bit (set by MMU on writes, cleared by software)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1313" lvl="0" marL="341313" marR="0" rtl="0" algn="l">
              <a:lnSpc>
                <a:spcPct val="88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Page physical base address: </a:t>
            </a:r>
            <a:r>
              <a:rPr b="0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 most significant bits of physical page address (forces pages to be 4KB aligned)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1313" lvl="0" marL="341313" marR="0" rtl="0" algn="l">
              <a:lnSpc>
                <a:spcPct val="88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XD:</a:t>
            </a:r>
            <a:r>
              <a:rPr b="0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Disable or enable instruction fetches from this page.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4" name="Google Shape;1234;p16"/>
          <p:cNvSpPr txBox="1"/>
          <p:nvPr/>
        </p:nvSpPr>
        <p:spPr>
          <a:xfrm>
            <a:off x="1769124" y="1295400"/>
            <a:ext cx="364476" cy="283324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sp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51</a:t>
            </a:r>
            <a:endParaRPr b="1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5" name="Google Shape;1235;p16"/>
          <p:cNvSpPr txBox="1"/>
          <p:nvPr/>
        </p:nvSpPr>
        <p:spPr>
          <a:xfrm>
            <a:off x="4189413" y="1299695"/>
            <a:ext cx="365227" cy="279029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sp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6" name="Google Shape;1236;p16"/>
          <p:cNvSpPr txBox="1"/>
          <p:nvPr/>
        </p:nvSpPr>
        <p:spPr>
          <a:xfrm>
            <a:off x="4422775" y="1299695"/>
            <a:ext cx="365227" cy="279029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sp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7" name="Google Shape;1237;p16"/>
          <p:cNvSpPr txBox="1"/>
          <p:nvPr/>
        </p:nvSpPr>
        <p:spPr>
          <a:xfrm>
            <a:off x="5256213" y="1299695"/>
            <a:ext cx="273857" cy="279029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sp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8" name="Google Shape;1238;p16"/>
          <p:cNvSpPr txBox="1"/>
          <p:nvPr/>
        </p:nvSpPr>
        <p:spPr>
          <a:xfrm>
            <a:off x="5562600" y="1299695"/>
            <a:ext cx="273857" cy="279029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sp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9" name="Google Shape;1239;p16"/>
          <p:cNvSpPr txBox="1"/>
          <p:nvPr/>
        </p:nvSpPr>
        <p:spPr>
          <a:xfrm>
            <a:off x="5943600" y="1299695"/>
            <a:ext cx="273857" cy="279029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sp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0" name="Google Shape;1240;p16"/>
          <p:cNvSpPr txBox="1"/>
          <p:nvPr/>
        </p:nvSpPr>
        <p:spPr>
          <a:xfrm>
            <a:off x="6273800" y="1299695"/>
            <a:ext cx="273857" cy="279029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sp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1" name="Google Shape;1241;p16"/>
          <p:cNvSpPr txBox="1"/>
          <p:nvPr/>
        </p:nvSpPr>
        <p:spPr>
          <a:xfrm>
            <a:off x="6692900" y="1299695"/>
            <a:ext cx="273857" cy="279029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sp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2" name="Google Shape;1242;p16"/>
          <p:cNvSpPr txBox="1"/>
          <p:nvPr/>
        </p:nvSpPr>
        <p:spPr>
          <a:xfrm>
            <a:off x="7086600" y="1299695"/>
            <a:ext cx="273857" cy="279029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sp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3" name="Google Shape;1243;p16"/>
          <p:cNvSpPr txBox="1"/>
          <p:nvPr/>
        </p:nvSpPr>
        <p:spPr>
          <a:xfrm>
            <a:off x="7467600" y="1299695"/>
            <a:ext cx="273857" cy="279029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sp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4" name="Google Shape;1244;p16"/>
          <p:cNvSpPr txBox="1"/>
          <p:nvPr/>
        </p:nvSpPr>
        <p:spPr>
          <a:xfrm>
            <a:off x="7847013" y="1299695"/>
            <a:ext cx="273857" cy="279029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sp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5" name="Google Shape;1245;p16"/>
          <p:cNvSpPr txBox="1"/>
          <p:nvPr/>
        </p:nvSpPr>
        <p:spPr>
          <a:xfrm>
            <a:off x="8229600" y="1299695"/>
            <a:ext cx="273857" cy="279029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sp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6" name="Google Shape;1246;p16"/>
          <p:cNvSpPr txBox="1"/>
          <p:nvPr/>
        </p:nvSpPr>
        <p:spPr>
          <a:xfrm>
            <a:off x="8610600" y="1299695"/>
            <a:ext cx="273857" cy="279029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sp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7" name="Google Shape;1247;p16"/>
          <p:cNvSpPr/>
          <p:nvPr/>
        </p:nvSpPr>
        <p:spPr>
          <a:xfrm>
            <a:off x="838200" y="1524000"/>
            <a:ext cx="990600" cy="381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Unused</a:t>
            </a:r>
            <a:endParaRPr b="1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8" name="Google Shape;1248;p16"/>
          <p:cNvSpPr/>
          <p:nvPr/>
        </p:nvSpPr>
        <p:spPr>
          <a:xfrm>
            <a:off x="457200" y="1524000"/>
            <a:ext cx="381000" cy="381000"/>
          </a:xfrm>
          <a:prstGeom prst="rect">
            <a:avLst/>
          </a:prstGeom>
          <a:solidFill>
            <a:srgbClr val="F1C7C7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XD</a:t>
            </a:r>
            <a:endParaRPr b="1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9" name="Google Shape;1249;p16"/>
          <p:cNvSpPr/>
          <p:nvPr/>
        </p:nvSpPr>
        <p:spPr>
          <a:xfrm>
            <a:off x="457200" y="2133600"/>
            <a:ext cx="8093075" cy="381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Available for OS (page location on disk)</a:t>
            </a:r>
            <a:endParaRPr b="1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0" name="Google Shape;1250;p16"/>
          <p:cNvSpPr/>
          <p:nvPr/>
        </p:nvSpPr>
        <p:spPr>
          <a:xfrm>
            <a:off x="8550275" y="2133600"/>
            <a:ext cx="381000" cy="381000"/>
          </a:xfrm>
          <a:prstGeom prst="rect">
            <a:avLst/>
          </a:prstGeom>
          <a:solidFill>
            <a:srgbClr val="F1C7C7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P=0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1" name="Google Shape;1251;p16"/>
          <p:cNvSpPr txBox="1"/>
          <p:nvPr/>
        </p:nvSpPr>
        <p:spPr>
          <a:xfrm>
            <a:off x="1524000" y="1295400"/>
            <a:ext cx="364476" cy="283324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sp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52</a:t>
            </a:r>
            <a:endParaRPr b="1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2" name="Google Shape;1252;p16"/>
          <p:cNvSpPr txBox="1"/>
          <p:nvPr/>
        </p:nvSpPr>
        <p:spPr>
          <a:xfrm>
            <a:off x="762000" y="1295400"/>
            <a:ext cx="364476" cy="283324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sp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62</a:t>
            </a:r>
            <a:endParaRPr b="1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3" name="Google Shape;1253;p16"/>
          <p:cNvSpPr txBox="1"/>
          <p:nvPr/>
        </p:nvSpPr>
        <p:spPr>
          <a:xfrm>
            <a:off x="457200" y="1295400"/>
            <a:ext cx="364476" cy="283324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sp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63</a:t>
            </a:r>
            <a:endParaRPr b="1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7" name="Shape 1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8" name="Google Shape;1258;p17"/>
          <p:cNvSpPr txBox="1"/>
          <p:nvPr>
            <p:ph type="title"/>
          </p:nvPr>
        </p:nvSpPr>
        <p:spPr>
          <a:xfrm>
            <a:off x="357018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Core i7 Page Table Translation</a:t>
            </a:r>
            <a:endParaRPr/>
          </a:p>
        </p:txBody>
      </p:sp>
      <p:sp>
        <p:nvSpPr>
          <p:cNvPr id="1259" name="Google Shape;1259;p17"/>
          <p:cNvSpPr txBox="1"/>
          <p:nvPr/>
        </p:nvSpPr>
        <p:spPr>
          <a:xfrm>
            <a:off x="158750" y="2967038"/>
            <a:ext cx="469842" cy="287258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CR3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0" name="Google Shape;1260;p17"/>
          <p:cNvSpPr txBox="1"/>
          <p:nvPr/>
        </p:nvSpPr>
        <p:spPr>
          <a:xfrm>
            <a:off x="6407150" y="4224338"/>
            <a:ext cx="824431" cy="804323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1" lang="en-GB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Physical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1" lang="en-GB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address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1" lang="en-GB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of page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1" name="Google Shape;1261;p17"/>
          <p:cNvSpPr txBox="1"/>
          <p:nvPr/>
        </p:nvSpPr>
        <p:spPr>
          <a:xfrm>
            <a:off x="53975" y="3181350"/>
            <a:ext cx="824431" cy="804323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1" lang="en-GB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Physical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1" lang="en-GB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address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1" lang="en-GB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of L1 PT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2" name="Google Shape;1262;p17"/>
          <p:cNvSpPr txBox="1"/>
          <p:nvPr/>
        </p:nvSpPr>
        <p:spPr>
          <a:xfrm>
            <a:off x="2901801" y="1295400"/>
            <a:ext cx="260737" cy="25904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3" name="Google Shape;1263;p17"/>
          <p:cNvSpPr/>
          <p:nvPr/>
        </p:nvSpPr>
        <p:spPr>
          <a:xfrm>
            <a:off x="6142038" y="1525588"/>
            <a:ext cx="1843087" cy="273050"/>
          </a:xfrm>
          <a:prstGeom prst="rect">
            <a:avLst/>
          </a:prstGeom>
          <a:solidFill>
            <a:srgbClr val="DEDFF5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VPO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4" name="Google Shape;1264;p17"/>
          <p:cNvSpPr txBox="1"/>
          <p:nvPr/>
        </p:nvSpPr>
        <p:spPr>
          <a:xfrm>
            <a:off x="5454501" y="1304925"/>
            <a:ext cx="260737" cy="25904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5" name="Google Shape;1265;p17"/>
          <p:cNvSpPr txBox="1"/>
          <p:nvPr/>
        </p:nvSpPr>
        <p:spPr>
          <a:xfrm>
            <a:off x="6878339" y="1304925"/>
            <a:ext cx="338734" cy="25904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6" name="Google Shape;1266;p17"/>
          <p:cNvSpPr txBox="1"/>
          <p:nvPr/>
        </p:nvSpPr>
        <p:spPr>
          <a:xfrm>
            <a:off x="8053388" y="1306513"/>
            <a:ext cx="926535" cy="676083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Virtual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address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67" name="Google Shape;1267;p17"/>
          <p:cNvCxnSpPr/>
          <p:nvPr/>
        </p:nvCxnSpPr>
        <p:spPr>
          <a:xfrm>
            <a:off x="6102350" y="3944938"/>
            <a:ext cx="3048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68" name="Google Shape;1268;p17"/>
          <p:cNvCxnSpPr/>
          <p:nvPr/>
        </p:nvCxnSpPr>
        <p:spPr>
          <a:xfrm>
            <a:off x="6407150" y="3944938"/>
            <a:ext cx="0" cy="1839912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69" name="Google Shape;1269;p17"/>
          <p:cNvCxnSpPr/>
          <p:nvPr/>
        </p:nvCxnSpPr>
        <p:spPr>
          <a:xfrm>
            <a:off x="5113338" y="3970338"/>
            <a:ext cx="265112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70" name="Google Shape;1270;p17"/>
          <p:cNvSpPr/>
          <p:nvPr/>
        </p:nvSpPr>
        <p:spPr>
          <a:xfrm>
            <a:off x="5378450" y="3081338"/>
            <a:ext cx="762000" cy="1600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1" name="Google Shape;1271;p17"/>
          <p:cNvSpPr txBox="1"/>
          <p:nvPr/>
        </p:nvSpPr>
        <p:spPr>
          <a:xfrm>
            <a:off x="5446713" y="2295525"/>
            <a:ext cx="608339" cy="804323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L4 PT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1" lang="en-GB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Page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1" lang="en-GB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table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2" name="Google Shape;1272;p17"/>
          <p:cNvSpPr/>
          <p:nvPr/>
        </p:nvSpPr>
        <p:spPr>
          <a:xfrm>
            <a:off x="5381625" y="3843338"/>
            <a:ext cx="758825" cy="228600"/>
          </a:xfrm>
          <a:prstGeom prst="rect">
            <a:avLst/>
          </a:prstGeom>
          <a:solidFill>
            <a:srgbClr val="F6F5BD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L4 PTE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73" name="Google Shape;1273;p17"/>
          <p:cNvCxnSpPr/>
          <p:nvPr/>
        </p:nvCxnSpPr>
        <p:spPr>
          <a:xfrm>
            <a:off x="5113338" y="1798638"/>
            <a:ext cx="7937" cy="216852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74" name="Google Shape;1274;p17"/>
          <p:cNvCxnSpPr/>
          <p:nvPr/>
        </p:nvCxnSpPr>
        <p:spPr>
          <a:xfrm>
            <a:off x="7639050" y="1798638"/>
            <a:ext cx="0" cy="4437062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75" name="Google Shape;1275;p17"/>
          <p:cNvSpPr/>
          <p:nvPr/>
        </p:nvSpPr>
        <p:spPr>
          <a:xfrm>
            <a:off x="1589088" y="6235700"/>
            <a:ext cx="4495800" cy="287338"/>
          </a:xfrm>
          <a:prstGeom prst="rect">
            <a:avLst/>
          </a:prstGeom>
          <a:solidFill>
            <a:srgbClr val="F6F5BD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PPN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6" name="Google Shape;1276;p17"/>
          <p:cNvSpPr/>
          <p:nvPr/>
        </p:nvSpPr>
        <p:spPr>
          <a:xfrm>
            <a:off x="6084888" y="6235700"/>
            <a:ext cx="1874837" cy="287338"/>
          </a:xfrm>
          <a:prstGeom prst="rect">
            <a:avLst/>
          </a:prstGeom>
          <a:solidFill>
            <a:srgbClr val="DEDFF5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PPO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7" name="Google Shape;1277;p17"/>
          <p:cNvSpPr txBox="1"/>
          <p:nvPr/>
        </p:nvSpPr>
        <p:spPr>
          <a:xfrm>
            <a:off x="3665239" y="6026150"/>
            <a:ext cx="338734" cy="25904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8" name="Google Shape;1278;p17"/>
          <p:cNvSpPr txBox="1"/>
          <p:nvPr/>
        </p:nvSpPr>
        <p:spPr>
          <a:xfrm>
            <a:off x="6852939" y="6026150"/>
            <a:ext cx="338734" cy="25904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9" name="Google Shape;1279;p17"/>
          <p:cNvSpPr txBox="1"/>
          <p:nvPr/>
        </p:nvSpPr>
        <p:spPr>
          <a:xfrm>
            <a:off x="8053388" y="6038850"/>
            <a:ext cx="947825" cy="676083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Physical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address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80" name="Google Shape;1280;p17"/>
          <p:cNvCxnSpPr/>
          <p:nvPr/>
        </p:nvCxnSpPr>
        <p:spPr>
          <a:xfrm rot="10800000">
            <a:off x="4578350" y="5786438"/>
            <a:ext cx="18288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81" name="Google Shape;1281;p17"/>
          <p:cNvCxnSpPr/>
          <p:nvPr/>
        </p:nvCxnSpPr>
        <p:spPr>
          <a:xfrm>
            <a:off x="4578350" y="5784850"/>
            <a:ext cx="0" cy="43338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82" name="Google Shape;1282;p17"/>
          <p:cNvSpPr txBox="1"/>
          <p:nvPr/>
        </p:nvSpPr>
        <p:spPr>
          <a:xfrm>
            <a:off x="7842250" y="3373438"/>
            <a:ext cx="1148438" cy="804323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1" lang="en-GB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Offset into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1" lang="en-GB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physical and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1" lang="en-GB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virtual page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3" name="Google Shape;1283;p17"/>
          <p:cNvSpPr/>
          <p:nvPr/>
        </p:nvSpPr>
        <p:spPr>
          <a:xfrm>
            <a:off x="3586163" y="1519238"/>
            <a:ext cx="1277937" cy="280987"/>
          </a:xfrm>
          <a:prstGeom prst="rect">
            <a:avLst/>
          </a:prstGeom>
          <a:solidFill>
            <a:srgbClr val="E6E6E6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VPN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4" name="Google Shape;1284;p17"/>
          <p:cNvSpPr/>
          <p:nvPr/>
        </p:nvSpPr>
        <p:spPr>
          <a:xfrm>
            <a:off x="4864100" y="1525588"/>
            <a:ext cx="1277938" cy="273050"/>
          </a:xfrm>
          <a:prstGeom prst="rect">
            <a:avLst/>
          </a:prstGeom>
          <a:solidFill>
            <a:srgbClr val="F6F5BD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VPN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5" name="Google Shape;1285;p17"/>
          <p:cNvSpPr/>
          <p:nvPr/>
        </p:nvSpPr>
        <p:spPr>
          <a:xfrm>
            <a:off x="2314575" y="1519238"/>
            <a:ext cx="1277938" cy="280987"/>
          </a:xfrm>
          <a:prstGeom prst="rect">
            <a:avLst/>
          </a:prstGeom>
          <a:solidFill>
            <a:srgbClr val="DBF2DA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VPN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6" name="Google Shape;1286;p17"/>
          <p:cNvSpPr/>
          <p:nvPr/>
        </p:nvSpPr>
        <p:spPr>
          <a:xfrm>
            <a:off x="1036638" y="1517650"/>
            <a:ext cx="1277937" cy="280988"/>
          </a:xfrm>
          <a:prstGeom prst="rect">
            <a:avLst/>
          </a:prstGeom>
          <a:solidFill>
            <a:srgbClr val="F6D2D2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VPN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87" name="Google Shape;1287;p17"/>
          <p:cNvCxnSpPr/>
          <p:nvPr/>
        </p:nvCxnSpPr>
        <p:spPr>
          <a:xfrm>
            <a:off x="4841875" y="3967163"/>
            <a:ext cx="179388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88" name="Google Shape;1288;p17"/>
          <p:cNvCxnSpPr/>
          <p:nvPr/>
        </p:nvCxnSpPr>
        <p:spPr>
          <a:xfrm>
            <a:off x="5021263" y="3086100"/>
            <a:ext cx="9525" cy="881063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89" name="Google Shape;1289;p17"/>
          <p:cNvCxnSpPr/>
          <p:nvPr/>
        </p:nvCxnSpPr>
        <p:spPr>
          <a:xfrm>
            <a:off x="5030788" y="3086100"/>
            <a:ext cx="344487" cy="4763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90" name="Google Shape;1290;p17"/>
          <p:cNvSpPr/>
          <p:nvPr/>
        </p:nvSpPr>
        <p:spPr>
          <a:xfrm>
            <a:off x="4102100" y="3090863"/>
            <a:ext cx="762000" cy="1600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1" name="Google Shape;1291;p17"/>
          <p:cNvSpPr txBox="1"/>
          <p:nvPr/>
        </p:nvSpPr>
        <p:spPr>
          <a:xfrm>
            <a:off x="3916363" y="2295525"/>
            <a:ext cx="1148087" cy="804323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L3 PT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1" lang="en-GB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Page middle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1" lang="en-GB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directory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2" name="Google Shape;1292;p17"/>
          <p:cNvSpPr/>
          <p:nvPr/>
        </p:nvSpPr>
        <p:spPr>
          <a:xfrm>
            <a:off x="4105275" y="3852863"/>
            <a:ext cx="758825" cy="228600"/>
          </a:xfrm>
          <a:prstGeom prst="rect">
            <a:avLst/>
          </a:prstGeom>
          <a:solidFill>
            <a:srgbClr val="E6E6E6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L3 PTE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93" name="Google Shape;1293;p17"/>
          <p:cNvCxnSpPr/>
          <p:nvPr/>
        </p:nvCxnSpPr>
        <p:spPr>
          <a:xfrm flipH="1">
            <a:off x="3833813" y="1808163"/>
            <a:ext cx="11112" cy="21590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94" name="Google Shape;1294;p17"/>
          <p:cNvCxnSpPr/>
          <p:nvPr/>
        </p:nvCxnSpPr>
        <p:spPr>
          <a:xfrm>
            <a:off x="3844925" y="3973513"/>
            <a:ext cx="25717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95" name="Google Shape;1295;p17"/>
          <p:cNvCxnSpPr/>
          <p:nvPr/>
        </p:nvCxnSpPr>
        <p:spPr>
          <a:xfrm>
            <a:off x="3546475" y="3971925"/>
            <a:ext cx="179388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96" name="Google Shape;1296;p17"/>
          <p:cNvCxnSpPr/>
          <p:nvPr/>
        </p:nvCxnSpPr>
        <p:spPr>
          <a:xfrm>
            <a:off x="3727450" y="3089275"/>
            <a:ext cx="0" cy="881063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97" name="Google Shape;1297;p17"/>
          <p:cNvSpPr/>
          <p:nvPr/>
        </p:nvSpPr>
        <p:spPr>
          <a:xfrm>
            <a:off x="2806700" y="3090863"/>
            <a:ext cx="762000" cy="1600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8" name="Google Shape;1298;p17"/>
          <p:cNvSpPr txBox="1"/>
          <p:nvPr/>
        </p:nvSpPr>
        <p:spPr>
          <a:xfrm>
            <a:off x="2654300" y="2295525"/>
            <a:ext cx="1073485" cy="804323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L2 PT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1" lang="en-GB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Page upper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1" lang="en-GB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directory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9" name="Google Shape;1299;p17"/>
          <p:cNvSpPr/>
          <p:nvPr/>
        </p:nvSpPr>
        <p:spPr>
          <a:xfrm>
            <a:off x="2809875" y="3852863"/>
            <a:ext cx="758825" cy="228600"/>
          </a:xfrm>
          <a:prstGeom prst="rect">
            <a:avLst/>
          </a:prstGeom>
          <a:solidFill>
            <a:srgbClr val="DBF2DA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L2 PTE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00" name="Google Shape;1300;p17"/>
          <p:cNvCxnSpPr/>
          <p:nvPr/>
        </p:nvCxnSpPr>
        <p:spPr>
          <a:xfrm>
            <a:off x="2549525" y="1808163"/>
            <a:ext cx="0" cy="214788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01" name="Google Shape;1301;p17"/>
          <p:cNvCxnSpPr/>
          <p:nvPr/>
        </p:nvCxnSpPr>
        <p:spPr>
          <a:xfrm>
            <a:off x="2549525" y="3967163"/>
            <a:ext cx="25717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02" name="Google Shape;1302;p17"/>
          <p:cNvCxnSpPr/>
          <p:nvPr/>
        </p:nvCxnSpPr>
        <p:spPr>
          <a:xfrm>
            <a:off x="2270125" y="3967163"/>
            <a:ext cx="179388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03" name="Google Shape;1303;p17"/>
          <p:cNvSpPr/>
          <p:nvPr/>
        </p:nvSpPr>
        <p:spPr>
          <a:xfrm>
            <a:off x="1530350" y="3090863"/>
            <a:ext cx="762000" cy="1600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4" name="Google Shape;1304;p17"/>
          <p:cNvSpPr txBox="1"/>
          <p:nvPr/>
        </p:nvSpPr>
        <p:spPr>
          <a:xfrm>
            <a:off x="1357313" y="2295525"/>
            <a:ext cx="1105044" cy="804323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L1 PT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1" lang="en-GB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Page global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1" lang="en-GB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directory</a:t>
            </a:r>
            <a:endParaRPr b="1" i="0" sz="14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5" name="Google Shape;1305;p17"/>
          <p:cNvSpPr/>
          <p:nvPr/>
        </p:nvSpPr>
        <p:spPr>
          <a:xfrm>
            <a:off x="1533525" y="3852863"/>
            <a:ext cx="758825" cy="228600"/>
          </a:xfrm>
          <a:prstGeom prst="rect">
            <a:avLst/>
          </a:prstGeom>
          <a:solidFill>
            <a:srgbClr val="F6D2D2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L1 PTE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06" name="Google Shape;1306;p17"/>
          <p:cNvCxnSpPr/>
          <p:nvPr/>
        </p:nvCxnSpPr>
        <p:spPr>
          <a:xfrm flipH="1">
            <a:off x="1260475" y="1808163"/>
            <a:ext cx="12700" cy="214788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07" name="Google Shape;1307;p17"/>
          <p:cNvCxnSpPr/>
          <p:nvPr/>
        </p:nvCxnSpPr>
        <p:spPr>
          <a:xfrm>
            <a:off x="1273175" y="3960813"/>
            <a:ext cx="25717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308" name="Google Shape;1308;p17"/>
          <p:cNvSpPr txBox="1"/>
          <p:nvPr/>
        </p:nvSpPr>
        <p:spPr>
          <a:xfrm>
            <a:off x="4159101" y="1295400"/>
            <a:ext cx="260737" cy="25904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9" name="Google Shape;1309;p17"/>
          <p:cNvSpPr txBox="1"/>
          <p:nvPr/>
        </p:nvSpPr>
        <p:spPr>
          <a:xfrm>
            <a:off x="1568301" y="1295400"/>
            <a:ext cx="260737" cy="25904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10" name="Google Shape;1310;p17"/>
          <p:cNvCxnSpPr/>
          <p:nvPr/>
        </p:nvCxnSpPr>
        <p:spPr>
          <a:xfrm>
            <a:off x="695325" y="3106738"/>
            <a:ext cx="82232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311" name="Google Shape;1311;p17"/>
          <p:cNvSpPr txBox="1"/>
          <p:nvPr/>
        </p:nvSpPr>
        <p:spPr>
          <a:xfrm>
            <a:off x="936326" y="2895600"/>
            <a:ext cx="338734" cy="25904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2" name="Google Shape;1312;p17"/>
          <p:cNvSpPr txBox="1"/>
          <p:nvPr/>
        </p:nvSpPr>
        <p:spPr>
          <a:xfrm>
            <a:off x="987425" y="2997200"/>
            <a:ext cx="26161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13" name="Google Shape;1313;p17"/>
          <p:cNvCxnSpPr/>
          <p:nvPr/>
        </p:nvCxnSpPr>
        <p:spPr>
          <a:xfrm>
            <a:off x="2449513" y="3089275"/>
            <a:ext cx="0" cy="87788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14" name="Google Shape;1314;p17"/>
          <p:cNvCxnSpPr/>
          <p:nvPr/>
        </p:nvCxnSpPr>
        <p:spPr>
          <a:xfrm>
            <a:off x="2459038" y="3090863"/>
            <a:ext cx="344487" cy="4762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315" name="Google Shape;1315;p17"/>
          <p:cNvSpPr txBox="1"/>
          <p:nvPr/>
        </p:nvSpPr>
        <p:spPr>
          <a:xfrm>
            <a:off x="2466676" y="2859088"/>
            <a:ext cx="338734" cy="25904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6" name="Google Shape;1316;p17"/>
          <p:cNvSpPr txBox="1"/>
          <p:nvPr/>
        </p:nvSpPr>
        <p:spPr>
          <a:xfrm>
            <a:off x="2525713" y="2960688"/>
            <a:ext cx="26161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17" name="Google Shape;1317;p17"/>
          <p:cNvCxnSpPr/>
          <p:nvPr/>
        </p:nvCxnSpPr>
        <p:spPr>
          <a:xfrm>
            <a:off x="3725863" y="3089275"/>
            <a:ext cx="392112" cy="127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318" name="Google Shape;1318;p17"/>
          <p:cNvSpPr txBox="1"/>
          <p:nvPr/>
        </p:nvSpPr>
        <p:spPr>
          <a:xfrm>
            <a:off x="3787476" y="2878138"/>
            <a:ext cx="338734" cy="25904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9" name="Google Shape;1319;p17"/>
          <p:cNvSpPr txBox="1"/>
          <p:nvPr/>
        </p:nvSpPr>
        <p:spPr>
          <a:xfrm>
            <a:off x="3833813" y="2979738"/>
            <a:ext cx="26161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0" name="Google Shape;1320;p17"/>
          <p:cNvSpPr txBox="1"/>
          <p:nvPr/>
        </p:nvSpPr>
        <p:spPr>
          <a:xfrm>
            <a:off x="5062239" y="2854325"/>
            <a:ext cx="338734" cy="25904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1" name="Google Shape;1321;p17"/>
          <p:cNvSpPr txBox="1"/>
          <p:nvPr/>
        </p:nvSpPr>
        <p:spPr>
          <a:xfrm>
            <a:off x="5121275" y="2955925"/>
            <a:ext cx="26161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2" name="Google Shape;1322;p17"/>
          <p:cNvSpPr txBox="1"/>
          <p:nvPr/>
        </p:nvSpPr>
        <p:spPr>
          <a:xfrm>
            <a:off x="5208289" y="5559425"/>
            <a:ext cx="338734" cy="25904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3" name="Google Shape;1323;p17"/>
          <p:cNvSpPr txBox="1"/>
          <p:nvPr/>
        </p:nvSpPr>
        <p:spPr>
          <a:xfrm>
            <a:off x="5267325" y="5648325"/>
            <a:ext cx="26161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4" name="Google Shape;1324;p17"/>
          <p:cNvSpPr txBox="1"/>
          <p:nvPr/>
        </p:nvSpPr>
        <p:spPr>
          <a:xfrm>
            <a:off x="7587951" y="3667125"/>
            <a:ext cx="338734" cy="25904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5" name="Google Shape;1325;p17"/>
          <p:cNvSpPr txBox="1"/>
          <p:nvPr/>
        </p:nvSpPr>
        <p:spPr>
          <a:xfrm>
            <a:off x="7527925" y="3656013"/>
            <a:ext cx="26161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6" name="Google Shape;1326;p17"/>
          <p:cNvSpPr txBox="1"/>
          <p:nvPr/>
        </p:nvSpPr>
        <p:spPr>
          <a:xfrm>
            <a:off x="1419225" y="4689475"/>
            <a:ext cx="1019175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1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512 GB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1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region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1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 entry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7" name="Google Shape;1327;p17"/>
          <p:cNvSpPr txBox="1"/>
          <p:nvPr/>
        </p:nvSpPr>
        <p:spPr>
          <a:xfrm>
            <a:off x="2649538" y="4689475"/>
            <a:ext cx="1019175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1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 GB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1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region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1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 entry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8" name="Google Shape;1328;p17"/>
          <p:cNvSpPr txBox="1"/>
          <p:nvPr/>
        </p:nvSpPr>
        <p:spPr>
          <a:xfrm>
            <a:off x="3998913" y="4689475"/>
            <a:ext cx="1019175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1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 MB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1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region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1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 entry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9" name="Google Shape;1329;p17"/>
          <p:cNvSpPr txBox="1"/>
          <p:nvPr/>
        </p:nvSpPr>
        <p:spPr>
          <a:xfrm>
            <a:off x="5221288" y="4689475"/>
            <a:ext cx="1019175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1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 KB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1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region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1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 entry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4" name="Shape 1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5" name="Google Shape;1335;p18"/>
          <p:cNvSpPr txBox="1"/>
          <p:nvPr>
            <p:ph idx="4294967295" type="title"/>
          </p:nvPr>
        </p:nvSpPr>
        <p:spPr>
          <a:xfrm>
            <a:off x="304800" y="457200"/>
            <a:ext cx="7924800" cy="5730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Cute Trick for Speeding Up L1 Access</a:t>
            </a:r>
            <a:endParaRPr/>
          </a:p>
        </p:txBody>
      </p:sp>
      <p:sp>
        <p:nvSpPr>
          <p:cNvPr id="1336" name="Google Shape;1336;p18"/>
          <p:cNvSpPr txBox="1"/>
          <p:nvPr>
            <p:ph idx="1" type="body"/>
          </p:nvPr>
        </p:nvSpPr>
        <p:spPr>
          <a:xfrm>
            <a:off x="381000" y="4289425"/>
            <a:ext cx="8548687" cy="2339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GB"/>
              <a:t>Observation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GB"/>
              <a:t>Bits that determine CI identical in virtual and physical address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GB"/>
              <a:t>Can index into cache while address translation taking place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GB"/>
              <a:t>Generally we hit in TLB, so PPN bits (CT bits) available next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GB"/>
              <a:t>“Virtually indexed, physically tagged”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GB"/>
              <a:t>Cache carefully sized to make this possible</a:t>
            </a:r>
            <a:endParaRPr/>
          </a:p>
        </p:txBody>
      </p:sp>
      <p:sp>
        <p:nvSpPr>
          <p:cNvPr id="1337" name="Google Shape;1337;p18"/>
          <p:cNvSpPr txBox="1"/>
          <p:nvPr/>
        </p:nvSpPr>
        <p:spPr>
          <a:xfrm>
            <a:off x="76200" y="1958930"/>
            <a:ext cx="2500313" cy="898262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spAutoFit/>
          </a:bodyPr>
          <a:lstStyle/>
          <a:p>
            <a:pPr indent="0" lvl="0" marL="0" marR="0" rtl="0" algn="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rgbClr val="003300"/>
                </a:solidFill>
                <a:latin typeface="Calibri"/>
                <a:ea typeface="Calibri"/>
                <a:cs typeface="Calibri"/>
                <a:sym typeface="Calibri"/>
              </a:rPr>
              <a:t>Physical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88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rgbClr val="003300"/>
                </a:solidFill>
                <a:latin typeface="Calibri"/>
                <a:ea typeface="Calibri"/>
                <a:cs typeface="Calibri"/>
                <a:sym typeface="Calibri"/>
              </a:rPr>
              <a:t>address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88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rgbClr val="003300"/>
                </a:solidFill>
                <a:latin typeface="Calibri"/>
                <a:ea typeface="Calibri"/>
                <a:cs typeface="Calibri"/>
                <a:sym typeface="Calibri"/>
              </a:rPr>
              <a:t>(PA)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8" name="Google Shape;1338;p18"/>
          <p:cNvSpPr/>
          <p:nvPr/>
        </p:nvSpPr>
        <p:spPr>
          <a:xfrm>
            <a:off x="2874735" y="1980406"/>
            <a:ext cx="1066800" cy="304800"/>
          </a:xfrm>
          <a:prstGeom prst="rect">
            <a:avLst/>
          </a:prstGeom>
          <a:solidFill>
            <a:srgbClr val="D5F1C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3300"/>
                </a:solidFill>
                <a:latin typeface="Calibri"/>
                <a:ea typeface="Calibri"/>
                <a:cs typeface="Calibri"/>
                <a:sym typeface="Calibri"/>
              </a:rPr>
              <a:t>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9" name="Google Shape;1339;p18"/>
          <p:cNvSpPr/>
          <p:nvPr/>
        </p:nvSpPr>
        <p:spPr>
          <a:xfrm>
            <a:off x="4246335" y="1980406"/>
            <a:ext cx="304800" cy="304800"/>
          </a:xfrm>
          <a:prstGeom prst="rect">
            <a:avLst/>
          </a:prstGeom>
          <a:solidFill>
            <a:srgbClr val="D5D5F4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3300"/>
                </a:solidFill>
                <a:latin typeface="Calibri"/>
                <a:ea typeface="Calibri"/>
                <a:cs typeface="Calibri"/>
                <a:sym typeface="Calibri"/>
              </a:rPr>
              <a:t>CO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0" name="Google Shape;1340;p18"/>
          <p:cNvSpPr txBox="1"/>
          <p:nvPr/>
        </p:nvSpPr>
        <p:spPr>
          <a:xfrm>
            <a:off x="3181123" y="1751806"/>
            <a:ext cx="364476" cy="283324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sp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3300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b="1" i="0" sz="1400" u="none" cap="none" strike="noStrike">
              <a:solidFill>
                <a:srgbClr val="0033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1" name="Google Shape;1341;p18"/>
          <p:cNvSpPr txBox="1"/>
          <p:nvPr/>
        </p:nvSpPr>
        <p:spPr>
          <a:xfrm>
            <a:off x="4271735" y="1751806"/>
            <a:ext cx="273480" cy="283324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sp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330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1" i="0" sz="1400" u="none" cap="none" strike="noStrike">
              <a:solidFill>
                <a:srgbClr val="0033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2" name="Google Shape;1342;p18"/>
          <p:cNvSpPr/>
          <p:nvPr/>
        </p:nvSpPr>
        <p:spPr>
          <a:xfrm>
            <a:off x="3941535" y="1980406"/>
            <a:ext cx="304800" cy="304800"/>
          </a:xfrm>
          <a:prstGeom prst="rect">
            <a:avLst/>
          </a:prstGeom>
          <a:solidFill>
            <a:srgbClr val="D5D5F4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3300"/>
                </a:solidFill>
                <a:latin typeface="Calibri"/>
                <a:ea typeface="Calibri"/>
                <a:cs typeface="Calibri"/>
                <a:sym typeface="Calibri"/>
              </a:rPr>
              <a:t>CI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3" name="Google Shape;1343;p18"/>
          <p:cNvSpPr txBox="1"/>
          <p:nvPr/>
        </p:nvSpPr>
        <p:spPr>
          <a:xfrm>
            <a:off x="3941535" y="1751806"/>
            <a:ext cx="273480" cy="283324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sp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330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1" i="0" sz="1400" u="none" cap="none" strike="noStrike">
              <a:solidFill>
                <a:srgbClr val="0033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4" name="Google Shape;1344;p18"/>
          <p:cNvSpPr txBox="1"/>
          <p:nvPr/>
        </p:nvSpPr>
        <p:spPr>
          <a:xfrm>
            <a:off x="1503135" y="3422868"/>
            <a:ext cx="1073378" cy="898262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spAutoFit/>
          </a:bodyPr>
          <a:lstStyle/>
          <a:p>
            <a:pPr indent="0" lvl="0" marL="0" marR="0" rtl="0" algn="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rgbClr val="003300"/>
                </a:solidFill>
                <a:latin typeface="Calibri"/>
                <a:ea typeface="Calibri"/>
                <a:cs typeface="Calibri"/>
                <a:sym typeface="Calibri"/>
              </a:rPr>
              <a:t>Virtual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88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rgbClr val="003300"/>
                </a:solidFill>
                <a:latin typeface="Calibri"/>
                <a:ea typeface="Calibri"/>
                <a:cs typeface="Calibri"/>
                <a:sym typeface="Calibri"/>
              </a:rPr>
              <a:t>address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88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rgbClr val="003300"/>
                </a:solidFill>
                <a:latin typeface="Calibri"/>
                <a:ea typeface="Calibri"/>
                <a:cs typeface="Calibri"/>
                <a:sym typeface="Calibri"/>
              </a:rPr>
              <a:t>(VA)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5" name="Google Shape;1345;p18"/>
          <p:cNvSpPr/>
          <p:nvPr/>
        </p:nvSpPr>
        <p:spPr>
          <a:xfrm>
            <a:off x="2874735" y="3885406"/>
            <a:ext cx="1066800" cy="304800"/>
          </a:xfrm>
          <a:prstGeom prst="rect">
            <a:avLst/>
          </a:prstGeom>
          <a:solidFill>
            <a:srgbClr val="F1C7C7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3300"/>
                </a:solidFill>
                <a:latin typeface="Calibri"/>
                <a:ea typeface="Calibri"/>
                <a:cs typeface="Calibri"/>
                <a:sym typeface="Calibri"/>
              </a:rPr>
              <a:t>VPN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6" name="Google Shape;1346;p18"/>
          <p:cNvSpPr/>
          <p:nvPr/>
        </p:nvSpPr>
        <p:spPr>
          <a:xfrm>
            <a:off x="3941535" y="3885406"/>
            <a:ext cx="609600" cy="304800"/>
          </a:xfrm>
          <a:prstGeom prst="rect">
            <a:avLst/>
          </a:prstGeom>
          <a:solidFill>
            <a:srgbClr val="D5D5F4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3300"/>
                </a:solidFill>
                <a:latin typeface="Calibri"/>
                <a:ea typeface="Calibri"/>
                <a:cs typeface="Calibri"/>
                <a:sym typeface="Calibri"/>
              </a:rPr>
              <a:t>VPO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7" name="Google Shape;1347;p18"/>
          <p:cNvSpPr txBox="1"/>
          <p:nvPr/>
        </p:nvSpPr>
        <p:spPr>
          <a:xfrm>
            <a:off x="3177948" y="4266406"/>
            <a:ext cx="364476" cy="283324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sp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3300"/>
                </a:solidFill>
                <a:latin typeface="Calibri"/>
                <a:ea typeface="Calibri"/>
                <a:cs typeface="Calibri"/>
                <a:sym typeface="Calibri"/>
              </a:rPr>
              <a:t>36</a:t>
            </a:r>
            <a:endParaRPr b="1" i="0" sz="1400" u="none" cap="none" strike="noStrike">
              <a:solidFill>
                <a:srgbClr val="0033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8" name="Google Shape;1348;p18"/>
          <p:cNvSpPr txBox="1"/>
          <p:nvPr/>
        </p:nvSpPr>
        <p:spPr>
          <a:xfrm>
            <a:off x="3938360" y="4266406"/>
            <a:ext cx="609600" cy="279029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sp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3300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9" name="Google Shape;1349;p18"/>
          <p:cNvSpPr/>
          <p:nvPr/>
        </p:nvSpPr>
        <p:spPr>
          <a:xfrm>
            <a:off x="3941535" y="2590006"/>
            <a:ext cx="609600" cy="304800"/>
          </a:xfrm>
          <a:prstGeom prst="rect">
            <a:avLst/>
          </a:prstGeom>
          <a:solidFill>
            <a:srgbClr val="D5D5F4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3300"/>
                </a:solidFill>
                <a:latin typeface="Calibri"/>
                <a:ea typeface="Calibri"/>
                <a:cs typeface="Calibri"/>
                <a:sym typeface="Calibri"/>
              </a:rPr>
              <a:t>PPO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0" name="Google Shape;1350;p18"/>
          <p:cNvSpPr/>
          <p:nvPr/>
        </p:nvSpPr>
        <p:spPr>
          <a:xfrm>
            <a:off x="2874735" y="2590006"/>
            <a:ext cx="1066800" cy="304800"/>
          </a:xfrm>
          <a:prstGeom prst="rect">
            <a:avLst/>
          </a:prstGeom>
          <a:solidFill>
            <a:srgbClr val="D5F1C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3300"/>
                </a:solidFill>
                <a:latin typeface="Calibri"/>
                <a:ea typeface="Calibri"/>
                <a:cs typeface="Calibri"/>
                <a:sym typeface="Calibri"/>
              </a:rPr>
              <a:t>PPN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1" name="Google Shape;1351;p18"/>
          <p:cNvSpPr/>
          <p:nvPr/>
        </p:nvSpPr>
        <p:spPr>
          <a:xfrm>
            <a:off x="2569935" y="1980406"/>
            <a:ext cx="228600" cy="914400"/>
          </a:xfrm>
          <a:prstGeom prst="leftBrace">
            <a:avLst>
              <a:gd fmla="val 33333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cxnSp>
        <p:nvCxnSpPr>
          <p:cNvPr id="1352" name="Google Shape;1352;p18"/>
          <p:cNvCxnSpPr/>
          <p:nvPr/>
        </p:nvCxnSpPr>
        <p:spPr>
          <a:xfrm flipH="1" rot="10800000">
            <a:off x="3484335" y="3655218"/>
            <a:ext cx="1588" cy="231775"/>
          </a:xfrm>
          <a:prstGeom prst="straightConnector1">
            <a:avLst/>
          </a:prstGeom>
          <a:noFill/>
          <a:ln cap="flat" cmpd="sng" w="9525">
            <a:solidFill>
              <a:srgbClr val="000066"/>
            </a:solidFill>
            <a:prstDash val="solid"/>
            <a:miter lim="800000"/>
            <a:headEnd len="med" w="med" type="oval"/>
            <a:tailEnd len="med" w="med" type="triangle"/>
          </a:ln>
        </p:spPr>
      </p:cxnSp>
      <p:sp>
        <p:nvSpPr>
          <p:cNvPr id="1353" name="Google Shape;1353;p18"/>
          <p:cNvSpPr/>
          <p:nvPr/>
        </p:nvSpPr>
        <p:spPr>
          <a:xfrm>
            <a:off x="2798535" y="3123406"/>
            <a:ext cx="1143000" cy="6096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rgbClr val="003300"/>
                </a:solidFill>
                <a:latin typeface="Calibri"/>
                <a:ea typeface="Calibri"/>
                <a:cs typeface="Calibri"/>
                <a:sym typeface="Calibri"/>
              </a:rPr>
              <a:t>Address</a:t>
            </a:r>
            <a:endParaRPr b="1" i="0" sz="1600" u="none" cap="none" strike="noStrike">
              <a:solidFill>
                <a:srgbClr val="0033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88000"/>
              </a:lnSpc>
              <a:spcBef>
                <a:spcPts val="525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rgbClr val="003300"/>
                </a:solidFill>
                <a:latin typeface="Calibri"/>
                <a:ea typeface="Calibri"/>
                <a:cs typeface="Calibri"/>
                <a:sym typeface="Calibri"/>
              </a:rPr>
              <a:t>Translation</a:t>
            </a:r>
            <a:endParaRPr b="1" i="0" sz="1600" u="none" cap="none" strike="noStrike">
              <a:solidFill>
                <a:srgbClr val="0033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54" name="Google Shape;1354;p18"/>
          <p:cNvCxnSpPr/>
          <p:nvPr/>
        </p:nvCxnSpPr>
        <p:spPr>
          <a:xfrm flipH="1" rot="10800000">
            <a:off x="3484335" y="2893218"/>
            <a:ext cx="1588" cy="274320"/>
          </a:xfrm>
          <a:prstGeom prst="straightConnector1">
            <a:avLst/>
          </a:prstGeom>
          <a:noFill/>
          <a:ln cap="flat" cmpd="sng" w="9525">
            <a:solidFill>
              <a:srgbClr val="00006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355" name="Google Shape;1355;p18"/>
          <p:cNvCxnSpPr/>
          <p:nvPr/>
        </p:nvCxnSpPr>
        <p:spPr>
          <a:xfrm flipH="1" rot="10800000">
            <a:off x="4246335" y="2893219"/>
            <a:ext cx="1588" cy="993775"/>
          </a:xfrm>
          <a:prstGeom prst="straightConnector1">
            <a:avLst/>
          </a:prstGeom>
          <a:noFill/>
          <a:ln cap="flat" cmpd="sng" w="9525">
            <a:solidFill>
              <a:srgbClr val="000066"/>
            </a:solidFill>
            <a:prstDash val="solid"/>
            <a:miter lim="800000"/>
            <a:headEnd len="med" w="med" type="oval"/>
            <a:tailEnd len="med" w="med" type="triangle"/>
          </a:ln>
        </p:spPr>
      </p:cxnSp>
      <p:sp>
        <p:nvSpPr>
          <p:cNvPr id="1356" name="Google Shape;1356;p18"/>
          <p:cNvSpPr txBox="1"/>
          <p:nvPr/>
        </p:nvSpPr>
        <p:spPr>
          <a:xfrm>
            <a:off x="4243160" y="3093244"/>
            <a:ext cx="733918" cy="537035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sp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3300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8000"/>
              </a:lnSpc>
              <a:spcBef>
                <a:spcPts val="5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3300"/>
                </a:solidFill>
                <a:latin typeface="Calibri"/>
                <a:ea typeface="Calibri"/>
                <a:cs typeface="Calibri"/>
                <a:sym typeface="Calibri"/>
              </a:rPr>
              <a:t>Change</a:t>
            </a:r>
            <a:endParaRPr b="1" i="0" sz="1400" u="none" cap="none" strike="noStrike">
              <a:solidFill>
                <a:srgbClr val="0033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7" name="Google Shape;1357;p18"/>
          <p:cNvSpPr/>
          <p:nvPr/>
        </p:nvSpPr>
        <p:spPr>
          <a:xfrm>
            <a:off x="5236935" y="2590006"/>
            <a:ext cx="2667000" cy="1143000"/>
          </a:xfrm>
          <a:prstGeom prst="rect">
            <a:avLst/>
          </a:prstGeom>
          <a:solidFill>
            <a:srgbClr val="F6F5BD"/>
          </a:solidFill>
          <a:ln cap="flat" cmpd="sng" w="19075">
            <a:solidFill>
              <a:srgbClr val="0000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cxnSp>
        <p:nvCxnSpPr>
          <p:cNvPr id="1358" name="Google Shape;1358;p18"/>
          <p:cNvCxnSpPr/>
          <p:nvPr/>
        </p:nvCxnSpPr>
        <p:spPr>
          <a:xfrm flipH="1" rot="10800000">
            <a:off x="4551135" y="3047205"/>
            <a:ext cx="934753" cy="992187"/>
          </a:xfrm>
          <a:prstGeom prst="straightConnector1">
            <a:avLst/>
          </a:prstGeom>
          <a:noFill/>
          <a:ln cap="flat" cmpd="sng" w="19075">
            <a:solidFill>
              <a:srgbClr val="000066"/>
            </a:solidFill>
            <a:prstDash val="dot"/>
            <a:miter lim="800000"/>
            <a:headEnd len="med" w="med" type="oval"/>
            <a:tailEnd len="med" w="med" type="triangle"/>
          </a:ln>
        </p:spPr>
      </p:cxnSp>
      <p:sp>
        <p:nvSpPr>
          <p:cNvPr id="1359" name="Google Shape;1359;p18"/>
          <p:cNvSpPr/>
          <p:nvPr/>
        </p:nvSpPr>
        <p:spPr>
          <a:xfrm>
            <a:off x="4835582" y="3606377"/>
            <a:ext cx="325153" cy="279029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sp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3300"/>
                </a:solidFill>
                <a:latin typeface="Calibri"/>
                <a:ea typeface="Calibri"/>
                <a:cs typeface="Calibri"/>
                <a:sym typeface="Calibri"/>
              </a:rPr>
              <a:t>CI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0" name="Google Shape;1360;p18"/>
          <p:cNvSpPr/>
          <p:nvPr/>
        </p:nvSpPr>
        <p:spPr>
          <a:xfrm>
            <a:off x="3636734" y="1523206"/>
            <a:ext cx="1600201" cy="609600"/>
          </a:xfrm>
          <a:custGeom>
            <a:rect b="b" l="l" r="r" t="t"/>
            <a:pathLst>
              <a:path extrusionOk="0" h="240" w="1200">
                <a:moveTo>
                  <a:pt x="0" y="240"/>
                </a:moveTo>
                <a:lnTo>
                  <a:pt x="192" y="0"/>
                </a:lnTo>
                <a:lnTo>
                  <a:pt x="1200" y="0"/>
                </a:lnTo>
              </a:path>
            </a:pathLst>
          </a:custGeom>
          <a:noFill/>
          <a:ln cap="flat" cmpd="sng" w="19075">
            <a:solidFill>
              <a:srgbClr val="000066"/>
            </a:solidFill>
            <a:prstDash val="dot"/>
            <a:round/>
            <a:headEnd len="med" w="med" type="oval"/>
            <a:tailEnd len="med" w="med" type="triangl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361" name="Google Shape;1361;p18"/>
          <p:cNvSpPr txBox="1"/>
          <p:nvPr/>
        </p:nvSpPr>
        <p:spPr>
          <a:xfrm>
            <a:off x="6075135" y="3820874"/>
            <a:ext cx="12192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L1 Cache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2" name="Google Shape;1362;p18"/>
          <p:cNvSpPr/>
          <p:nvPr/>
        </p:nvSpPr>
        <p:spPr>
          <a:xfrm>
            <a:off x="4388558" y="1244177"/>
            <a:ext cx="367281" cy="283324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sp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3300"/>
                </a:solidFill>
                <a:latin typeface="Calibri"/>
                <a:ea typeface="Calibri"/>
                <a:cs typeface="Calibri"/>
                <a:sym typeface="Calibri"/>
              </a:rPr>
              <a:t>CT</a:t>
            </a:r>
            <a:endParaRPr b="1" i="0" sz="1400" u="none" cap="none" strike="noStrike">
              <a:solidFill>
                <a:srgbClr val="0033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3" name="Google Shape;1363;p18"/>
          <p:cNvSpPr/>
          <p:nvPr/>
        </p:nvSpPr>
        <p:spPr>
          <a:xfrm>
            <a:off x="5485888" y="2924968"/>
            <a:ext cx="284447" cy="198438"/>
          </a:xfrm>
          <a:prstGeom prst="rect">
            <a:avLst/>
          </a:prstGeom>
          <a:solidFill>
            <a:srgbClr val="DBF2DA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4" name="Google Shape;1364;p18"/>
          <p:cNvSpPr/>
          <p:nvPr/>
        </p:nvSpPr>
        <p:spPr>
          <a:xfrm>
            <a:off x="5770335" y="2924968"/>
            <a:ext cx="284447" cy="198438"/>
          </a:xfrm>
          <a:prstGeom prst="rect">
            <a:avLst/>
          </a:prstGeom>
          <a:solidFill>
            <a:srgbClr val="DBF2DA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5" name="Google Shape;1365;p18"/>
          <p:cNvSpPr/>
          <p:nvPr/>
        </p:nvSpPr>
        <p:spPr>
          <a:xfrm>
            <a:off x="6019288" y="2924968"/>
            <a:ext cx="284447" cy="198438"/>
          </a:xfrm>
          <a:prstGeom prst="rect">
            <a:avLst/>
          </a:prstGeom>
          <a:solidFill>
            <a:srgbClr val="DBF2DA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6" name="Google Shape;1366;p18"/>
          <p:cNvSpPr/>
          <p:nvPr/>
        </p:nvSpPr>
        <p:spPr>
          <a:xfrm>
            <a:off x="6303735" y="2924968"/>
            <a:ext cx="284447" cy="198438"/>
          </a:xfrm>
          <a:prstGeom prst="rect">
            <a:avLst/>
          </a:prstGeom>
          <a:solidFill>
            <a:srgbClr val="DBF2DA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7" name="Google Shape;1367;p18"/>
          <p:cNvSpPr/>
          <p:nvPr/>
        </p:nvSpPr>
        <p:spPr>
          <a:xfrm>
            <a:off x="6573041" y="2924968"/>
            <a:ext cx="284447" cy="198438"/>
          </a:xfrm>
          <a:prstGeom prst="rect">
            <a:avLst/>
          </a:prstGeom>
          <a:solidFill>
            <a:srgbClr val="DBF2DA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8" name="Google Shape;1368;p18"/>
          <p:cNvSpPr/>
          <p:nvPr/>
        </p:nvSpPr>
        <p:spPr>
          <a:xfrm>
            <a:off x="6857488" y="2924968"/>
            <a:ext cx="284447" cy="198438"/>
          </a:xfrm>
          <a:prstGeom prst="rect">
            <a:avLst/>
          </a:prstGeom>
          <a:solidFill>
            <a:srgbClr val="DBF2DA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9" name="Google Shape;1369;p18"/>
          <p:cNvSpPr/>
          <p:nvPr/>
        </p:nvSpPr>
        <p:spPr>
          <a:xfrm>
            <a:off x="7106441" y="2924968"/>
            <a:ext cx="284447" cy="198438"/>
          </a:xfrm>
          <a:prstGeom prst="rect">
            <a:avLst/>
          </a:prstGeom>
          <a:solidFill>
            <a:srgbClr val="DBF2DA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0" name="Google Shape;1370;p18"/>
          <p:cNvSpPr/>
          <p:nvPr/>
        </p:nvSpPr>
        <p:spPr>
          <a:xfrm>
            <a:off x="7390888" y="2924968"/>
            <a:ext cx="284447" cy="198438"/>
          </a:xfrm>
          <a:prstGeom prst="rect">
            <a:avLst/>
          </a:prstGeom>
          <a:solidFill>
            <a:srgbClr val="DBF2DA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71" name="Google Shape;1371;p18"/>
          <p:cNvCxnSpPr/>
          <p:nvPr/>
        </p:nvCxnSpPr>
        <p:spPr>
          <a:xfrm flipH="1" rot="10800000">
            <a:off x="5921147" y="1676400"/>
            <a:ext cx="1588" cy="1370012"/>
          </a:xfrm>
          <a:prstGeom prst="straightConnector1">
            <a:avLst/>
          </a:prstGeom>
          <a:noFill/>
          <a:ln cap="flat" cmpd="sng" w="9525">
            <a:solidFill>
              <a:srgbClr val="000066"/>
            </a:solidFill>
            <a:prstDash val="solid"/>
            <a:miter lim="800000"/>
            <a:headEnd len="med" w="med" type="oval"/>
            <a:tailEnd len="med" w="med" type="triangle"/>
          </a:ln>
        </p:spPr>
      </p:cxnSp>
      <p:cxnSp>
        <p:nvCxnSpPr>
          <p:cNvPr id="1372" name="Google Shape;1372;p18"/>
          <p:cNvCxnSpPr/>
          <p:nvPr/>
        </p:nvCxnSpPr>
        <p:spPr>
          <a:xfrm flipH="1" rot="10800000">
            <a:off x="6149747" y="1676400"/>
            <a:ext cx="1588" cy="1370012"/>
          </a:xfrm>
          <a:prstGeom prst="straightConnector1">
            <a:avLst/>
          </a:prstGeom>
          <a:noFill/>
          <a:ln cap="flat" cmpd="sng" w="9525">
            <a:solidFill>
              <a:srgbClr val="000066"/>
            </a:solidFill>
            <a:prstDash val="solid"/>
            <a:miter lim="800000"/>
            <a:headEnd len="med" w="med" type="oval"/>
            <a:tailEnd len="med" w="med" type="triangle"/>
          </a:ln>
        </p:spPr>
      </p:cxnSp>
      <p:cxnSp>
        <p:nvCxnSpPr>
          <p:cNvPr id="1373" name="Google Shape;1373;p18"/>
          <p:cNvCxnSpPr/>
          <p:nvPr/>
        </p:nvCxnSpPr>
        <p:spPr>
          <a:xfrm flipH="1" rot="10800000">
            <a:off x="6454547" y="1676400"/>
            <a:ext cx="1588" cy="1370012"/>
          </a:xfrm>
          <a:prstGeom prst="straightConnector1">
            <a:avLst/>
          </a:prstGeom>
          <a:noFill/>
          <a:ln cap="flat" cmpd="sng" w="9525">
            <a:solidFill>
              <a:srgbClr val="000066"/>
            </a:solidFill>
            <a:prstDash val="solid"/>
            <a:miter lim="800000"/>
            <a:headEnd len="med" w="med" type="oval"/>
            <a:tailEnd len="med" w="med" type="triangle"/>
          </a:ln>
        </p:spPr>
      </p:cxnSp>
      <p:cxnSp>
        <p:nvCxnSpPr>
          <p:cNvPr id="1374" name="Google Shape;1374;p18"/>
          <p:cNvCxnSpPr/>
          <p:nvPr/>
        </p:nvCxnSpPr>
        <p:spPr>
          <a:xfrm flipH="1" rot="10800000">
            <a:off x="5616347" y="1677194"/>
            <a:ext cx="1588" cy="1370012"/>
          </a:xfrm>
          <a:prstGeom prst="straightConnector1">
            <a:avLst/>
          </a:prstGeom>
          <a:noFill/>
          <a:ln cap="flat" cmpd="sng" w="9525">
            <a:solidFill>
              <a:srgbClr val="000066"/>
            </a:solidFill>
            <a:prstDash val="solid"/>
            <a:miter lim="800000"/>
            <a:headEnd len="med" w="med" type="oval"/>
            <a:tailEnd len="med" w="med" type="triangle"/>
          </a:ln>
        </p:spPr>
      </p:cxnSp>
      <p:cxnSp>
        <p:nvCxnSpPr>
          <p:cNvPr id="1375" name="Google Shape;1375;p18"/>
          <p:cNvCxnSpPr/>
          <p:nvPr/>
        </p:nvCxnSpPr>
        <p:spPr>
          <a:xfrm flipH="1" rot="10800000">
            <a:off x="7522935" y="1677194"/>
            <a:ext cx="1588" cy="1370012"/>
          </a:xfrm>
          <a:prstGeom prst="straightConnector1">
            <a:avLst/>
          </a:prstGeom>
          <a:noFill/>
          <a:ln cap="flat" cmpd="sng" w="9525">
            <a:solidFill>
              <a:srgbClr val="000066"/>
            </a:solidFill>
            <a:prstDash val="solid"/>
            <a:miter lim="800000"/>
            <a:headEnd len="med" w="med" type="oval"/>
            <a:tailEnd len="med" w="med" type="triangle"/>
          </a:ln>
        </p:spPr>
      </p:cxnSp>
      <p:cxnSp>
        <p:nvCxnSpPr>
          <p:cNvPr id="1376" name="Google Shape;1376;p18"/>
          <p:cNvCxnSpPr/>
          <p:nvPr/>
        </p:nvCxnSpPr>
        <p:spPr>
          <a:xfrm flipH="1" rot="10800000">
            <a:off x="6684735" y="1676400"/>
            <a:ext cx="1588" cy="1370012"/>
          </a:xfrm>
          <a:prstGeom prst="straightConnector1">
            <a:avLst/>
          </a:prstGeom>
          <a:noFill/>
          <a:ln cap="flat" cmpd="sng" w="9525">
            <a:solidFill>
              <a:srgbClr val="000066"/>
            </a:solidFill>
            <a:prstDash val="solid"/>
            <a:miter lim="800000"/>
            <a:headEnd len="med" w="med" type="oval"/>
            <a:tailEnd len="med" w="med" type="triangle"/>
          </a:ln>
        </p:spPr>
      </p:cxnSp>
      <p:cxnSp>
        <p:nvCxnSpPr>
          <p:cNvPr id="1377" name="Google Shape;1377;p18"/>
          <p:cNvCxnSpPr/>
          <p:nvPr/>
        </p:nvCxnSpPr>
        <p:spPr>
          <a:xfrm flipH="1" rot="10800000">
            <a:off x="6989535" y="1676400"/>
            <a:ext cx="1588" cy="1370012"/>
          </a:xfrm>
          <a:prstGeom prst="straightConnector1">
            <a:avLst/>
          </a:prstGeom>
          <a:noFill/>
          <a:ln cap="flat" cmpd="sng" w="9525">
            <a:solidFill>
              <a:srgbClr val="000066"/>
            </a:solidFill>
            <a:prstDash val="solid"/>
            <a:miter lim="800000"/>
            <a:headEnd len="med" w="med" type="oval"/>
            <a:tailEnd len="med" w="med" type="triangle"/>
          </a:ln>
        </p:spPr>
      </p:cxnSp>
      <p:cxnSp>
        <p:nvCxnSpPr>
          <p:cNvPr id="1378" name="Google Shape;1378;p18"/>
          <p:cNvCxnSpPr/>
          <p:nvPr/>
        </p:nvCxnSpPr>
        <p:spPr>
          <a:xfrm flipH="1" rot="10800000">
            <a:off x="7218135" y="1676400"/>
            <a:ext cx="1588" cy="1370012"/>
          </a:xfrm>
          <a:prstGeom prst="straightConnector1">
            <a:avLst/>
          </a:prstGeom>
          <a:noFill/>
          <a:ln cap="flat" cmpd="sng" w="9525">
            <a:solidFill>
              <a:srgbClr val="000066"/>
            </a:solidFill>
            <a:prstDash val="solid"/>
            <a:miter lim="800000"/>
            <a:headEnd len="med" w="med" type="oval"/>
            <a:tailEnd len="med" w="med" type="triangle"/>
          </a:ln>
        </p:spPr>
      </p:cxnSp>
      <p:sp>
        <p:nvSpPr>
          <p:cNvPr id="1379" name="Google Shape;1379;p18"/>
          <p:cNvSpPr/>
          <p:nvPr/>
        </p:nvSpPr>
        <p:spPr>
          <a:xfrm>
            <a:off x="5236935" y="1244178"/>
            <a:ext cx="2667000" cy="432222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rgbClr val="003300"/>
                </a:solidFill>
                <a:latin typeface="Calibri"/>
                <a:ea typeface="Calibri"/>
                <a:cs typeface="Calibri"/>
                <a:sym typeface="Calibri"/>
              </a:rPr>
              <a:t>Tag Check</a:t>
            </a:r>
            <a:endParaRPr b="1" i="0" sz="1600" u="none" cap="none" strike="noStrike">
              <a:solidFill>
                <a:srgbClr val="0033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3" name="Shape 1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4" name="Google Shape;1384;p19"/>
          <p:cNvSpPr txBox="1"/>
          <p:nvPr>
            <p:ph type="title"/>
          </p:nvPr>
        </p:nvSpPr>
        <p:spPr>
          <a:xfrm>
            <a:off x="357018" y="435678"/>
            <a:ext cx="8024982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Virtual Address Space of a Linux Process</a:t>
            </a:r>
            <a:endParaRPr/>
          </a:p>
        </p:txBody>
      </p:sp>
      <p:sp>
        <p:nvSpPr>
          <p:cNvPr id="1385" name="Google Shape;1385;p19"/>
          <p:cNvSpPr/>
          <p:nvPr/>
        </p:nvSpPr>
        <p:spPr>
          <a:xfrm>
            <a:off x="3482975" y="2976563"/>
            <a:ext cx="2174875" cy="523875"/>
          </a:xfrm>
          <a:prstGeom prst="rect">
            <a:avLst/>
          </a:prstGeom>
          <a:solidFill>
            <a:srgbClr val="F6D2D2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Kernel code and data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6" name="Google Shape;1386;p19"/>
          <p:cNvSpPr/>
          <p:nvPr/>
        </p:nvSpPr>
        <p:spPr>
          <a:xfrm>
            <a:off x="3482975" y="4325938"/>
            <a:ext cx="2174875" cy="455612"/>
          </a:xfrm>
          <a:prstGeom prst="rect">
            <a:avLst/>
          </a:prstGeom>
          <a:solidFill>
            <a:srgbClr val="DBF2DA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Memory mapped region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shared libraries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7" name="Google Shape;1387;p19"/>
          <p:cNvSpPr/>
          <p:nvPr/>
        </p:nvSpPr>
        <p:spPr>
          <a:xfrm>
            <a:off x="3482975" y="4778375"/>
            <a:ext cx="2174875" cy="492125"/>
          </a:xfrm>
          <a:prstGeom prst="rect">
            <a:avLst/>
          </a:prstGeom>
          <a:solidFill>
            <a:srgbClr val="C0C0C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8" name="Google Shape;1388;p19"/>
          <p:cNvSpPr/>
          <p:nvPr/>
        </p:nvSpPr>
        <p:spPr>
          <a:xfrm>
            <a:off x="3482975" y="5273675"/>
            <a:ext cx="2174875" cy="454025"/>
          </a:xfrm>
          <a:prstGeom prst="rect">
            <a:avLst/>
          </a:prstGeom>
          <a:solidFill>
            <a:srgbClr val="DBF2DA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Runtime heap (malloc)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9" name="Google Shape;1389;p19"/>
          <p:cNvSpPr/>
          <p:nvPr/>
        </p:nvSpPr>
        <p:spPr>
          <a:xfrm>
            <a:off x="3482975" y="3708400"/>
            <a:ext cx="2174875" cy="615950"/>
          </a:xfrm>
          <a:prstGeom prst="rect">
            <a:avLst/>
          </a:prstGeom>
          <a:solidFill>
            <a:srgbClr val="C0C0C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0" name="Google Shape;1390;p19"/>
          <p:cNvSpPr/>
          <p:nvPr/>
        </p:nvSpPr>
        <p:spPr>
          <a:xfrm>
            <a:off x="3482975" y="6235700"/>
            <a:ext cx="2174875" cy="269875"/>
          </a:xfrm>
          <a:prstGeom prst="rect">
            <a:avLst/>
          </a:prstGeom>
          <a:solidFill>
            <a:srgbClr val="F6F5BD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Program text (.text)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1" name="Google Shape;1391;p19"/>
          <p:cNvSpPr/>
          <p:nvPr/>
        </p:nvSpPr>
        <p:spPr>
          <a:xfrm>
            <a:off x="3482975" y="5976938"/>
            <a:ext cx="2174875" cy="269875"/>
          </a:xfrm>
          <a:prstGeom prst="rect">
            <a:avLst/>
          </a:prstGeom>
          <a:solidFill>
            <a:srgbClr val="DEDFF5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Initialized data (.data)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2" name="Google Shape;1392;p19"/>
          <p:cNvSpPr/>
          <p:nvPr/>
        </p:nvSpPr>
        <p:spPr>
          <a:xfrm>
            <a:off x="3482975" y="5718175"/>
            <a:ext cx="2174875" cy="268288"/>
          </a:xfrm>
          <a:prstGeom prst="rect">
            <a:avLst/>
          </a:prstGeom>
          <a:solidFill>
            <a:srgbClr val="DEDFF5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Uninitialized data (.bss)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93" name="Google Shape;1393;p19"/>
          <p:cNvCxnSpPr/>
          <p:nvPr/>
        </p:nvCxnSpPr>
        <p:spPr>
          <a:xfrm rot="10800000">
            <a:off x="4508500" y="5026025"/>
            <a:ext cx="0" cy="239713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394" name="Google Shape;1394;p19"/>
          <p:cNvSpPr/>
          <p:nvPr/>
        </p:nvSpPr>
        <p:spPr>
          <a:xfrm>
            <a:off x="3482975" y="3479800"/>
            <a:ext cx="2174875" cy="324882"/>
          </a:xfrm>
          <a:prstGeom prst="rect">
            <a:avLst/>
          </a:prstGeom>
          <a:solidFill>
            <a:srgbClr val="DBF2DA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 stack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95" name="Google Shape;1395;p19"/>
          <p:cNvCxnSpPr/>
          <p:nvPr/>
        </p:nvCxnSpPr>
        <p:spPr>
          <a:xfrm>
            <a:off x="4529137" y="3805237"/>
            <a:ext cx="0" cy="239713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396" name="Google Shape;1396;p19"/>
          <p:cNvSpPr/>
          <p:nvPr/>
        </p:nvSpPr>
        <p:spPr>
          <a:xfrm>
            <a:off x="3482975" y="6494463"/>
            <a:ext cx="2174875" cy="269875"/>
          </a:xfrm>
          <a:prstGeom prst="rect">
            <a:avLst/>
          </a:prstGeom>
          <a:solidFill>
            <a:srgbClr val="C0C0C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7" name="Google Shape;1397;p19"/>
          <p:cNvSpPr txBox="1"/>
          <p:nvPr/>
        </p:nvSpPr>
        <p:spPr>
          <a:xfrm>
            <a:off x="3276600" y="6659563"/>
            <a:ext cx="268287" cy="274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8" name="Google Shape;1398;p19"/>
          <p:cNvSpPr txBox="1"/>
          <p:nvPr/>
        </p:nvSpPr>
        <p:spPr>
          <a:xfrm>
            <a:off x="2514600" y="3593068"/>
            <a:ext cx="73111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%</a:t>
            </a:r>
            <a:r>
              <a:rPr b="1" i="0" lang="en-GB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rsp</a:t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1399" name="Google Shape;1399;p19"/>
          <p:cNvCxnSpPr/>
          <p:nvPr/>
        </p:nvCxnSpPr>
        <p:spPr>
          <a:xfrm>
            <a:off x="3224212" y="3808412"/>
            <a:ext cx="258763" cy="1588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00" name="Google Shape;1400;p19"/>
          <p:cNvSpPr txBox="1"/>
          <p:nvPr/>
        </p:nvSpPr>
        <p:spPr>
          <a:xfrm>
            <a:off x="5995987" y="4732814"/>
            <a:ext cx="1038578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-GB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-GB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virtual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-GB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memory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1" name="Google Shape;1401;p19"/>
          <p:cNvSpPr txBox="1"/>
          <p:nvPr/>
        </p:nvSpPr>
        <p:spPr>
          <a:xfrm>
            <a:off x="2667000" y="5035550"/>
            <a:ext cx="600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brk</a:t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1402" name="Google Shape;1402;p19"/>
          <p:cNvCxnSpPr/>
          <p:nvPr/>
        </p:nvCxnSpPr>
        <p:spPr>
          <a:xfrm>
            <a:off x="3209925" y="5262563"/>
            <a:ext cx="258762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03" name="Google Shape;1403;p19"/>
          <p:cNvSpPr/>
          <p:nvPr/>
        </p:nvSpPr>
        <p:spPr>
          <a:xfrm>
            <a:off x="3482975" y="2580214"/>
            <a:ext cx="2174875" cy="399524"/>
          </a:xfrm>
          <a:prstGeom prst="rect">
            <a:avLst/>
          </a:prstGeom>
          <a:solidFill>
            <a:srgbClr val="F6D2D2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Physical memory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4" name="Google Shape;1404;p19"/>
          <p:cNvSpPr/>
          <p:nvPr/>
        </p:nvSpPr>
        <p:spPr>
          <a:xfrm flipH="1">
            <a:off x="3240086" y="2580213"/>
            <a:ext cx="150813" cy="878949"/>
          </a:xfrm>
          <a:prstGeom prst="rightBrace">
            <a:avLst>
              <a:gd fmla="val 55438" name="adj1"/>
              <a:gd fmla="val 50000" name="adj2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5" name="Google Shape;1405;p19"/>
          <p:cNvSpPr txBox="1"/>
          <p:nvPr/>
        </p:nvSpPr>
        <p:spPr>
          <a:xfrm>
            <a:off x="1676400" y="2705100"/>
            <a:ext cx="1589087" cy="592983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-GB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Identical  for each process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6" name="Google Shape;1406;p19"/>
          <p:cNvSpPr/>
          <p:nvPr/>
        </p:nvSpPr>
        <p:spPr>
          <a:xfrm>
            <a:off x="3481387" y="1256775"/>
            <a:ext cx="2171700" cy="1323439"/>
          </a:xfrm>
          <a:prstGeom prst="rect">
            <a:avLst/>
          </a:prstGeom>
          <a:solidFill>
            <a:srgbClr val="F6D2D2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Process-specific data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structs  (ptables,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task and mm structs, kernel stack)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7" name="Google Shape;1407;p19"/>
          <p:cNvSpPr txBox="1"/>
          <p:nvPr/>
        </p:nvSpPr>
        <p:spPr>
          <a:xfrm>
            <a:off x="6034087" y="1987550"/>
            <a:ext cx="1038578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-GB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Kernel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-GB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virtual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-GB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memory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8" name="Google Shape;1408;p19"/>
          <p:cNvSpPr/>
          <p:nvPr/>
        </p:nvSpPr>
        <p:spPr>
          <a:xfrm>
            <a:off x="5754687" y="3484563"/>
            <a:ext cx="190500" cy="3289300"/>
          </a:xfrm>
          <a:prstGeom prst="rightBrace">
            <a:avLst>
              <a:gd fmla="val 143889" name="adj1"/>
              <a:gd fmla="val 50000" name="adj2"/>
            </a:avLst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9" name="Google Shape;1409;p19"/>
          <p:cNvSpPr/>
          <p:nvPr/>
        </p:nvSpPr>
        <p:spPr>
          <a:xfrm>
            <a:off x="5741987" y="1389063"/>
            <a:ext cx="215900" cy="2032000"/>
          </a:xfrm>
          <a:prstGeom prst="rightBrace">
            <a:avLst>
              <a:gd fmla="val 78431" name="adj1"/>
              <a:gd fmla="val 50000" name="adj2"/>
            </a:avLst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0" name="Google Shape;1410;p19"/>
          <p:cNvSpPr txBox="1"/>
          <p:nvPr/>
        </p:nvSpPr>
        <p:spPr>
          <a:xfrm>
            <a:off x="2016465" y="6324600"/>
            <a:ext cx="1260135" cy="287258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0x00400000</a:t>
            </a:r>
            <a:endParaRPr b="1" i="0" sz="1400" u="none" cap="none" strike="noStrike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411" name="Google Shape;1411;p19"/>
          <p:cNvSpPr/>
          <p:nvPr/>
        </p:nvSpPr>
        <p:spPr>
          <a:xfrm flipH="1">
            <a:off x="3214687" y="1280228"/>
            <a:ext cx="176212" cy="1162935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2" name="Google Shape;1412;p19"/>
          <p:cNvSpPr txBox="1"/>
          <p:nvPr/>
        </p:nvSpPr>
        <p:spPr>
          <a:xfrm>
            <a:off x="1676400" y="1757363"/>
            <a:ext cx="1576387" cy="592983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-GB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Different for each process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13" name="Google Shape;1413;p19"/>
          <p:cNvCxnSpPr/>
          <p:nvPr/>
        </p:nvCxnSpPr>
        <p:spPr>
          <a:xfrm>
            <a:off x="3468687" y="3473450"/>
            <a:ext cx="21844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14" name="Google Shape;1414;p19"/>
          <p:cNvCxnSpPr/>
          <p:nvPr/>
        </p:nvCxnSpPr>
        <p:spPr>
          <a:xfrm>
            <a:off x="3222625" y="6481763"/>
            <a:ext cx="258762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9" name="Shape 1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0" name="Google Shape;1420;p20"/>
          <p:cNvSpPr/>
          <p:nvPr/>
        </p:nvSpPr>
        <p:spPr>
          <a:xfrm>
            <a:off x="4015647" y="4648200"/>
            <a:ext cx="1066800" cy="228600"/>
          </a:xfrm>
          <a:prstGeom prst="rect">
            <a:avLst/>
          </a:prstGeom>
          <a:solidFill>
            <a:srgbClr val="E5E5E5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vm_next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1" name="Google Shape;1421;p20"/>
          <p:cNvSpPr/>
          <p:nvPr/>
        </p:nvSpPr>
        <p:spPr>
          <a:xfrm>
            <a:off x="4015647" y="2819400"/>
            <a:ext cx="1066800" cy="228600"/>
          </a:xfrm>
          <a:prstGeom prst="rect">
            <a:avLst/>
          </a:prstGeom>
          <a:solidFill>
            <a:srgbClr val="E5E5E5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vm_next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2" name="Google Shape;1422;p20"/>
          <p:cNvSpPr txBox="1"/>
          <p:nvPr>
            <p:ph idx="4294967295" type="title"/>
          </p:nvPr>
        </p:nvSpPr>
        <p:spPr>
          <a:xfrm>
            <a:off x="381000" y="228600"/>
            <a:ext cx="8610600" cy="10969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Linux Organizes VM as Collection of “Areas” </a:t>
            </a:r>
            <a:endParaRPr/>
          </a:p>
        </p:txBody>
      </p:sp>
      <p:sp>
        <p:nvSpPr>
          <p:cNvPr id="1423" name="Google Shape;1423;p20"/>
          <p:cNvSpPr txBox="1"/>
          <p:nvPr/>
        </p:nvSpPr>
        <p:spPr>
          <a:xfrm>
            <a:off x="179357" y="1443038"/>
            <a:ext cx="1536922" cy="311024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sp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task_struct</a:t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424" name="Google Shape;1424;p20"/>
          <p:cNvSpPr txBox="1"/>
          <p:nvPr/>
        </p:nvSpPr>
        <p:spPr>
          <a:xfrm>
            <a:off x="2105885" y="1600200"/>
            <a:ext cx="1290661" cy="311024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sp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mm_struct</a:t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425" name="Google Shape;1425;p20"/>
          <p:cNvSpPr/>
          <p:nvPr/>
        </p:nvSpPr>
        <p:spPr>
          <a:xfrm>
            <a:off x="2186847" y="2006600"/>
            <a:ext cx="1066800" cy="157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426" name="Google Shape;1426;p20"/>
          <p:cNvSpPr/>
          <p:nvPr/>
        </p:nvSpPr>
        <p:spPr>
          <a:xfrm>
            <a:off x="2186847" y="1981200"/>
            <a:ext cx="1066800" cy="228600"/>
          </a:xfrm>
          <a:prstGeom prst="rect">
            <a:avLst/>
          </a:prstGeom>
          <a:solidFill>
            <a:srgbClr val="E5E5E5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pgd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7" name="Google Shape;1427;p20"/>
          <p:cNvSpPr/>
          <p:nvPr/>
        </p:nvSpPr>
        <p:spPr>
          <a:xfrm>
            <a:off x="662847" y="1778000"/>
            <a:ext cx="762000" cy="1803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428" name="Google Shape;1428;p20"/>
          <p:cNvSpPr/>
          <p:nvPr/>
        </p:nvSpPr>
        <p:spPr>
          <a:xfrm>
            <a:off x="662847" y="1981200"/>
            <a:ext cx="762000" cy="228600"/>
          </a:xfrm>
          <a:prstGeom prst="rect">
            <a:avLst/>
          </a:prstGeom>
          <a:solidFill>
            <a:srgbClr val="E5E5E5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9" name="Google Shape;1429;p20"/>
          <p:cNvSpPr/>
          <p:nvPr/>
        </p:nvSpPr>
        <p:spPr>
          <a:xfrm>
            <a:off x="2186847" y="2438400"/>
            <a:ext cx="1066800" cy="228600"/>
          </a:xfrm>
          <a:prstGeom prst="rect">
            <a:avLst/>
          </a:prstGeom>
          <a:solidFill>
            <a:srgbClr val="E5E5E5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mmap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0" name="Google Shape;1430;p20"/>
          <p:cNvSpPr txBox="1"/>
          <p:nvPr/>
        </p:nvSpPr>
        <p:spPr>
          <a:xfrm>
            <a:off x="3707672" y="1295400"/>
            <a:ext cx="1906314" cy="311024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sp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vm_area_struct</a:t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431" name="Google Shape;1431;p20"/>
          <p:cNvSpPr/>
          <p:nvPr/>
        </p:nvSpPr>
        <p:spPr>
          <a:xfrm>
            <a:off x="4015647" y="1701800"/>
            <a:ext cx="1066800" cy="1346200"/>
          </a:xfrm>
          <a:prstGeom prst="rect">
            <a:avLst/>
          </a:prstGeom>
          <a:solidFill>
            <a:srgbClr val="E5E5E5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432" name="Google Shape;1432;p20"/>
          <p:cNvSpPr/>
          <p:nvPr/>
        </p:nvSpPr>
        <p:spPr>
          <a:xfrm>
            <a:off x="4015647" y="1676400"/>
            <a:ext cx="1066800" cy="228600"/>
          </a:xfrm>
          <a:prstGeom prst="rect">
            <a:avLst/>
          </a:prstGeom>
          <a:solidFill>
            <a:srgbClr val="E5E5E5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vm_end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3" name="Google Shape;1433;p20"/>
          <p:cNvSpPr/>
          <p:nvPr/>
        </p:nvSpPr>
        <p:spPr>
          <a:xfrm>
            <a:off x="4015647" y="2133600"/>
            <a:ext cx="1066800" cy="228600"/>
          </a:xfrm>
          <a:prstGeom prst="rect">
            <a:avLst/>
          </a:prstGeom>
          <a:solidFill>
            <a:srgbClr val="E5E5E5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vm_prot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4" name="Google Shape;1434;p20"/>
          <p:cNvSpPr/>
          <p:nvPr/>
        </p:nvSpPr>
        <p:spPr>
          <a:xfrm>
            <a:off x="4015647" y="1905000"/>
            <a:ext cx="1066800" cy="228600"/>
          </a:xfrm>
          <a:prstGeom prst="rect">
            <a:avLst/>
          </a:prstGeom>
          <a:solidFill>
            <a:srgbClr val="E5E5E5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vm_start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5" name="Google Shape;1435;p20"/>
          <p:cNvSpPr/>
          <p:nvPr/>
        </p:nvSpPr>
        <p:spPr>
          <a:xfrm>
            <a:off x="4015647" y="3530600"/>
            <a:ext cx="1066800" cy="1346200"/>
          </a:xfrm>
          <a:prstGeom prst="rect">
            <a:avLst/>
          </a:prstGeom>
          <a:solidFill>
            <a:srgbClr val="E5E5E5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436" name="Google Shape;1436;p20"/>
          <p:cNvSpPr/>
          <p:nvPr/>
        </p:nvSpPr>
        <p:spPr>
          <a:xfrm>
            <a:off x="4015647" y="3505200"/>
            <a:ext cx="1066800" cy="228600"/>
          </a:xfrm>
          <a:prstGeom prst="rect">
            <a:avLst/>
          </a:prstGeom>
          <a:solidFill>
            <a:srgbClr val="E5E5E5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vm_end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7" name="Google Shape;1437;p20"/>
          <p:cNvSpPr/>
          <p:nvPr/>
        </p:nvSpPr>
        <p:spPr>
          <a:xfrm>
            <a:off x="4015647" y="3962400"/>
            <a:ext cx="1066800" cy="228600"/>
          </a:xfrm>
          <a:prstGeom prst="rect">
            <a:avLst/>
          </a:prstGeom>
          <a:solidFill>
            <a:srgbClr val="E5E5E5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vm_prot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8" name="Google Shape;1438;p20"/>
          <p:cNvSpPr/>
          <p:nvPr/>
        </p:nvSpPr>
        <p:spPr>
          <a:xfrm>
            <a:off x="4015647" y="3733800"/>
            <a:ext cx="1066800" cy="228600"/>
          </a:xfrm>
          <a:prstGeom prst="rect">
            <a:avLst/>
          </a:prstGeom>
          <a:solidFill>
            <a:srgbClr val="E5E5E5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vm_start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9" name="Google Shape;1439;p20"/>
          <p:cNvSpPr/>
          <p:nvPr/>
        </p:nvSpPr>
        <p:spPr>
          <a:xfrm>
            <a:off x="4015647" y="5359400"/>
            <a:ext cx="1066800" cy="1117600"/>
          </a:xfrm>
          <a:prstGeom prst="rect">
            <a:avLst/>
          </a:prstGeom>
          <a:solidFill>
            <a:srgbClr val="E5E5E5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440" name="Google Shape;1440;p20"/>
          <p:cNvSpPr/>
          <p:nvPr/>
        </p:nvSpPr>
        <p:spPr>
          <a:xfrm>
            <a:off x="4015647" y="5334000"/>
            <a:ext cx="1066800" cy="228600"/>
          </a:xfrm>
          <a:prstGeom prst="rect">
            <a:avLst/>
          </a:prstGeom>
          <a:solidFill>
            <a:srgbClr val="E5E5E5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vm_end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1" name="Google Shape;1441;p20"/>
          <p:cNvSpPr/>
          <p:nvPr/>
        </p:nvSpPr>
        <p:spPr>
          <a:xfrm>
            <a:off x="4015647" y="5791200"/>
            <a:ext cx="1066800" cy="228600"/>
          </a:xfrm>
          <a:prstGeom prst="rect">
            <a:avLst/>
          </a:prstGeom>
          <a:solidFill>
            <a:srgbClr val="E5E5E5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vm_prot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2" name="Google Shape;1442;p20"/>
          <p:cNvSpPr/>
          <p:nvPr/>
        </p:nvSpPr>
        <p:spPr>
          <a:xfrm>
            <a:off x="4015647" y="6248400"/>
            <a:ext cx="1066800" cy="228600"/>
          </a:xfrm>
          <a:prstGeom prst="rect">
            <a:avLst/>
          </a:prstGeom>
          <a:solidFill>
            <a:srgbClr val="E5E5E5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vm_next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3" name="Google Shape;1443;p20"/>
          <p:cNvSpPr/>
          <p:nvPr/>
        </p:nvSpPr>
        <p:spPr>
          <a:xfrm>
            <a:off x="4015647" y="5562600"/>
            <a:ext cx="1066800" cy="228600"/>
          </a:xfrm>
          <a:prstGeom prst="rect">
            <a:avLst/>
          </a:prstGeom>
          <a:solidFill>
            <a:srgbClr val="E5E5E5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vm_start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4" name="Google Shape;1444;p20"/>
          <p:cNvSpPr/>
          <p:nvPr/>
        </p:nvSpPr>
        <p:spPr>
          <a:xfrm>
            <a:off x="5920647" y="1524000"/>
            <a:ext cx="1981200" cy="4800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445" name="Google Shape;1445;p20"/>
          <p:cNvSpPr txBox="1"/>
          <p:nvPr/>
        </p:nvSpPr>
        <p:spPr>
          <a:xfrm>
            <a:off x="5791200" y="1143000"/>
            <a:ext cx="2191448" cy="311024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sp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 virtual memory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6" name="Google Shape;1446;p20"/>
          <p:cNvSpPr/>
          <p:nvPr/>
        </p:nvSpPr>
        <p:spPr>
          <a:xfrm>
            <a:off x="5920647" y="4572000"/>
            <a:ext cx="1981200" cy="1143000"/>
          </a:xfrm>
          <a:prstGeom prst="rect">
            <a:avLst/>
          </a:prstGeom>
          <a:solidFill>
            <a:srgbClr val="D5D5F4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Text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7" name="Google Shape;1447;p20"/>
          <p:cNvSpPr/>
          <p:nvPr/>
        </p:nvSpPr>
        <p:spPr>
          <a:xfrm>
            <a:off x="5920647" y="3810000"/>
            <a:ext cx="1981200" cy="762000"/>
          </a:xfrm>
          <a:prstGeom prst="rect">
            <a:avLst/>
          </a:prstGeom>
          <a:solidFill>
            <a:srgbClr val="D5D5F4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8" name="Google Shape;1448;p20"/>
          <p:cNvSpPr/>
          <p:nvPr/>
        </p:nvSpPr>
        <p:spPr>
          <a:xfrm>
            <a:off x="5920647" y="2514600"/>
            <a:ext cx="1981200" cy="533400"/>
          </a:xfrm>
          <a:prstGeom prst="rect">
            <a:avLst/>
          </a:prstGeom>
          <a:solidFill>
            <a:srgbClr val="D5D5F4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Shared libraries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49" name="Google Shape;1449;p20"/>
          <p:cNvCxnSpPr/>
          <p:nvPr/>
        </p:nvCxnSpPr>
        <p:spPr>
          <a:xfrm>
            <a:off x="5082447" y="1828800"/>
            <a:ext cx="838200" cy="6858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450" name="Google Shape;1450;p20"/>
          <p:cNvCxnSpPr/>
          <p:nvPr/>
        </p:nvCxnSpPr>
        <p:spPr>
          <a:xfrm>
            <a:off x="5082447" y="2057400"/>
            <a:ext cx="838200" cy="990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451" name="Google Shape;1451;p20"/>
          <p:cNvCxnSpPr/>
          <p:nvPr/>
        </p:nvCxnSpPr>
        <p:spPr>
          <a:xfrm>
            <a:off x="5082447" y="3657600"/>
            <a:ext cx="838200" cy="152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452" name="Google Shape;1452;p20"/>
          <p:cNvCxnSpPr/>
          <p:nvPr/>
        </p:nvCxnSpPr>
        <p:spPr>
          <a:xfrm>
            <a:off x="5082447" y="3810000"/>
            <a:ext cx="838200" cy="7620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453" name="Google Shape;1453;p20"/>
          <p:cNvCxnSpPr/>
          <p:nvPr/>
        </p:nvCxnSpPr>
        <p:spPr>
          <a:xfrm flipH="1" rot="10800000">
            <a:off x="5082447" y="4572000"/>
            <a:ext cx="838200" cy="914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454" name="Google Shape;1454;p20"/>
          <p:cNvCxnSpPr/>
          <p:nvPr/>
        </p:nvCxnSpPr>
        <p:spPr>
          <a:xfrm>
            <a:off x="5082447" y="5715000"/>
            <a:ext cx="8382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455" name="Google Shape;1455;p20"/>
          <p:cNvCxnSpPr/>
          <p:nvPr/>
        </p:nvCxnSpPr>
        <p:spPr>
          <a:xfrm flipH="1">
            <a:off x="3785460" y="2971800"/>
            <a:ext cx="231775" cy="158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56" name="Google Shape;1456;p20"/>
          <p:cNvCxnSpPr/>
          <p:nvPr/>
        </p:nvCxnSpPr>
        <p:spPr>
          <a:xfrm>
            <a:off x="3787047" y="2971800"/>
            <a:ext cx="1588" cy="533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57" name="Google Shape;1457;p20"/>
          <p:cNvCxnSpPr/>
          <p:nvPr/>
        </p:nvCxnSpPr>
        <p:spPr>
          <a:xfrm>
            <a:off x="3787047" y="3505200"/>
            <a:ext cx="228600" cy="158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458" name="Google Shape;1458;p20"/>
          <p:cNvCxnSpPr/>
          <p:nvPr/>
        </p:nvCxnSpPr>
        <p:spPr>
          <a:xfrm flipH="1">
            <a:off x="3785460" y="4724400"/>
            <a:ext cx="231775" cy="158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59" name="Google Shape;1459;p20"/>
          <p:cNvCxnSpPr/>
          <p:nvPr/>
        </p:nvCxnSpPr>
        <p:spPr>
          <a:xfrm>
            <a:off x="3787047" y="4724400"/>
            <a:ext cx="1588" cy="609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60" name="Google Shape;1460;p20"/>
          <p:cNvCxnSpPr/>
          <p:nvPr/>
        </p:nvCxnSpPr>
        <p:spPr>
          <a:xfrm>
            <a:off x="3787047" y="5334000"/>
            <a:ext cx="228600" cy="158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461" name="Google Shape;1461;p20"/>
          <p:cNvSpPr txBox="1"/>
          <p:nvPr/>
        </p:nvSpPr>
        <p:spPr>
          <a:xfrm>
            <a:off x="7932010" y="6170613"/>
            <a:ext cx="281871" cy="279029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sp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2" name="Google Shape;1462;p20"/>
          <p:cNvSpPr txBox="1"/>
          <p:nvPr>
            <p:ph idx="1" type="body"/>
          </p:nvPr>
        </p:nvSpPr>
        <p:spPr>
          <a:xfrm>
            <a:off x="358774" y="3657600"/>
            <a:ext cx="3197225" cy="28940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20"/>
              <a:buChar char="⬛"/>
            </a:pPr>
            <a:r>
              <a:rPr lang="en-GB" sz="2200"/>
              <a:t>pgd: </a:t>
            </a:r>
            <a:endParaRPr/>
          </a:p>
          <a:p>
            <a:pPr indent="-228598" lvl="1" marL="576263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760"/>
              <a:buChar char="▪"/>
            </a:pPr>
            <a:r>
              <a:rPr lang="en-GB" sz="1600"/>
              <a:t>Page global directory address</a:t>
            </a:r>
            <a:endParaRPr/>
          </a:p>
          <a:p>
            <a:pPr indent="-228598" lvl="1" marL="576263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760"/>
              <a:buChar char="▪"/>
            </a:pPr>
            <a:r>
              <a:rPr lang="en-GB" sz="1600"/>
              <a:t>Points to L1 page table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3"/>
              </a:spcBef>
              <a:spcAft>
                <a:spcPts val="0"/>
              </a:spcAft>
              <a:buSzPts val="1320"/>
              <a:buChar char="⬛"/>
            </a:pPr>
            <a:r>
              <a:rPr lang="en-GB" sz="2200"/>
              <a:t>vm_prot:</a:t>
            </a:r>
            <a:endParaRPr/>
          </a:p>
          <a:p>
            <a:pPr indent="-228598" lvl="1" marL="576263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760"/>
              <a:buChar char="▪"/>
            </a:pPr>
            <a:r>
              <a:rPr lang="en-GB" sz="1600"/>
              <a:t>Read/write permissions for </a:t>
            </a:r>
            <a:br>
              <a:rPr lang="en-GB" sz="1600"/>
            </a:br>
            <a:r>
              <a:rPr lang="en-GB" sz="1600"/>
              <a:t>this area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3"/>
              </a:spcBef>
              <a:spcAft>
                <a:spcPts val="0"/>
              </a:spcAft>
              <a:buSzPts val="1320"/>
              <a:buChar char="⬛"/>
            </a:pPr>
            <a:r>
              <a:rPr lang="en-GB" sz="2200"/>
              <a:t>vm_flags</a:t>
            </a:r>
            <a:endParaRPr sz="2200"/>
          </a:p>
          <a:p>
            <a:pPr indent="-228598" lvl="1" marL="576263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760"/>
              <a:buChar char="▪"/>
            </a:pPr>
            <a:r>
              <a:rPr lang="en-GB" sz="1600"/>
              <a:t>Pages </a:t>
            </a:r>
            <a:r>
              <a:rPr b="1" lang="en-GB" sz="1600"/>
              <a:t>shared</a:t>
            </a:r>
            <a:r>
              <a:rPr lang="en-GB" sz="1600"/>
              <a:t> with other processes or </a:t>
            </a:r>
            <a:r>
              <a:rPr b="1" lang="en-GB" sz="1600"/>
              <a:t>private</a:t>
            </a:r>
            <a:r>
              <a:rPr lang="en-GB" sz="1600"/>
              <a:t> to this process</a:t>
            </a:r>
            <a:endParaRPr sz="1600"/>
          </a:p>
        </p:txBody>
      </p:sp>
      <p:sp>
        <p:nvSpPr>
          <p:cNvPr id="1463" name="Google Shape;1463;p20"/>
          <p:cNvSpPr/>
          <p:nvPr/>
        </p:nvSpPr>
        <p:spPr>
          <a:xfrm>
            <a:off x="4015647" y="2362200"/>
            <a:ext cx="1066800" cy="228600"/>
          </a:xfrm>
          <a:prstGeom prst="rect">
            <a:avLst/>
          </a:prstGeom>
          <a:solidFill>
            <a:srgbClr val="E5E5E5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vm_flags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4" name="Google Shape;1464;p20"/>
          <p:cNvSpPr/>
          <p:nvPr/>
        </p:nvSpPr>
        <p:spPr>
          <a:xfrm>
            <a:off x="4015647" y="4191000"/>
            <a:ext cx="1066800" cy="228600"/>
          </a:xfrm>
          <a:prstGeom prst="rect">
            <a:avLst/>
          </a:prstGeom>
          <a:solidFill>
            <a:srgbClr val="E5E5E5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vm_flags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5" name="Google Shape;1465;p20"/>
          <p:cNvSpPr/>
          <p:nvPr/>
        </p:nvSpPr>
        <p:spPr>
          <a:xfrm>
            <a:off x="4015647" y="6019800"/>
            <a:ext cx="1066800" cy="228600"/>
          </a:xfrm>
          <a:prstGeom prst="rect">
            <a:avLst/>
          </a:prstGeom>
          <a:solidFill>
            <a:srgbClr val="E5E5E5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vm_flags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66" name="Google Shape;1466;p20"/>
          <p:cNvCxnSpPr>
            <a:stCxn id="1429" idx="3"/>
          </p:cNvCxnSpPr>
          <p:nvPr/>
        </p:nvCxnSpPr>
        <p:spPr>
          <a:xfrm flipH="1" rot="10800000">
            <a:off x="3253647" y="1676400"/>
            <a:ext cx="759000" cy="876300"/>
          </a:xfrm>
          <a:prstGeom prst="bentConnector3">
            <a:avLst>
              <a:gd fmla="val 49997" name="adj1"/>
            </a:avLst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467" name="Google Shape;1467;p20"/>
          <p:cNvCxnSpPr>
            <a:stCxn id="1428" idx="3"/>
          </p:cNvCxnSpPr>
          <p:nvPr/>
        </p:nvCxnSpPr>
        <p:spPr>
          <a:xfrm flipH="1" rot="10800000">
            <a:off x="1424847" y="1981200"/>
            <a:ext cx="762000" cy="1143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2" name="Shape 1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3" name="Google Shape;1473;p21"/>
          <p:cNvSpPr txBox="1"/>
          <p:nvPr>
            <p:ph idx="4294967295" type="title"/>
          </p:nvPr>
        </p:nvSpPr>
        <p:spPr>
          <a:xfrm>
            <a:off x="512763" y="457200"/>
            <a:ext cx="7031037" cy="5730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Linux Page Fault Handling </a:t>
            </a:r>
            <a:endParaRPr/>
          </a:p>
        </p:txBody>
      </p:sp>
      <p:grpSp>
        <p:nvGrpSpPr>
          <p:cNvPr id="1474" name="Google Shape;1474;p21"/>
          <p:cNvGrpSpPr/>
          <p:nvPr/>
        </p:nvGrpSpPr>
        <p:grpSpPr>
          <a:xfrm>
            <a:off x="4343400" y="2895600"/>
            <a:ext cx="838200" cy="534687"/>
            <a:chOff x="4343400" y="2895600"/>
            <a:chExt cx="838200" cy="534687"/>
          </a:xfrm>
        </p:grpSpPr>
        <p:cxnSp>
          <p:nvCxnSpPr>
            <p:cNvPr id="1475" name="Google Shape;1475;p21"/>
            <p:cNvCxnSpPr/>
            <p:nvPr/>
          </p:nvCxnSpPr>
          <p:spPr>
            <a:xfrm>
              <a:off x="4343400" y="3362325"/>
              <a:ext cx="838200" cy="1588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med" w="med" type="triangle"/>
              <a:tailEnd len="sm" w="sm" type="none"/>
            </a:ln>
          </p:spPr>
        </p:cxnSp>
        <p:sp>
          <p:nvSpPr>
            <p:cNvPr id="1476" name="Google Shape;1476;p21"/>
            <p:cNvSpPr txBox="1"/>
            <p:nvPr/>
          </p:nvSpPr>
          <p:spPr>
            <a:xfrm>
              <a:off x="4479925" y="3124200"/>
              <a:ext cx="568103" cy="3060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4275" lIns="90350" spcFirstLastPara="1" rIns="90350" wrap="square" tIns="44275">
              <a:spAutoFit/>
            </a:bodyPr>
            <a:lstStyle/>
            <a:p>
              <a:pPr indent="0" lvl="0" marL="0" marR="0" rtl="0" algn="l">
                <a:lnSpc>
                  <a:spcPct val="8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GB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read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7" name="Google Shape;1477;p21"/>
            <p:cNvSpPr/>
            <p:nvPr/>
          </p:nvSpPr>
          <p:spPr>
            <a:xfrm>
              <a:off x="4648200" y="2895600"/>
              <a:ext cx="304800" cy="304800"/>
            </a:xfrm>
            <a:prstGeom prst="ellipse">
              <a:avLst/>
            </a:prstGeom>
            <a:solidFill>
              <a:srgbClr val="7F7F7F"/>
            </a:solidFill>
            <a:ln>
              <a:noFill/>
            </a:ln>
          </p:spPr>
          <p:txBody>
            <a:bodyPr anchorCtr="0" anchor="ctr" bIns="44275" lIns="90350" spcFirstLastPara="1" rIns="90350" wrap="square" tIns="44275">
              <a:noAutofit/>
            </a:bodyPr>
            <a:lstStyle/>
            <a:p>
              <a:pPr indent="0" lvl="0" marL="0" marR="0" rtl="0" algn="ctr">
                <a:lnSpc>
                  <a:spcPct val="8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GB" sz="1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78" name="Google Shape;1478;p21"/>
          <p:cNvGrpSpPr/>
          <p:nvPr/>
        </p:nvGrpSpPr>
        <p:grpSpPr>
          <a:xfrm>
            <a:off x="4343400" y="4880275"/>
            <a:ext cx="838200" cy="606125"/>
            <a:chOff x="4343400" y="4880275"/>
            <a:chExt cx="838200" cy="606125"/>
          </a:xfrm>
        </p:grpSpPr>
        <p:cxnSp>
          <p:nvCxnSpPr>
            <p:cNvPr id="1479" name="Google Shape;1479;p21"/>
            <p:cNvCxnSpPr/>
            <p:nvPr/>
          </p:nvCxnSpPr>
          <p:spPr>
            <a:xfrm>
              <a:off x="4343400" y="5413675"/>
              <a:ext cx="838200" cy="1588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med" w="med" type="triangle"/>
              <a:tailEnd len="sm" w="sm" type="none"/>
            </a:ln>
          </p:spPr>
        </p:cxnSp>
        <p:sp>
          <p:nvSpPr>
            <p:cNvPr id="1480" name="Google Shape;1480;p21"/>
            <p:cNvSpPr txBox="1"/>
            <p:nvPr/>
          </p:nvSpPr>
          <p:spPr>
            <a:xfrm>
              <a:off x="4483100" y="5180313"/>
              <a:ext cx="628825" cy="3060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4275" lIns="90350" spcFirstLastPara="1" rIns="90350" wrap="square" tIns="44275">
              <a:spAutoFit/>
            </a:bodyPr>
            <a:lstStyle/>
            <a:p>
              <a:pPr indent="0" lvl="0" marL="0" marR="0" rtl="0" algn="l">
                <a:lnSpc>
                  <a:spcPct val="8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GB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write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1" name="Google Shape;1481;p21"/>
            <p:cNvSpPr/>
            <p:nvPr/>
          </p:nvSpPr>
          <p:spPr>
            <a:xfrm>
              <a:off x="4648200" y="4880275"/>
              <a:ext cx="304800" cy="304800"/>
            </a:xfrm>
            <a:prstGeom prst="ellipse">
              <a:avLst/>
            </a:prstGeom>
            <a:solidFill>
              <a:srgbClr val="7F7F7F"/>
            </a:solidFill>
            <a:ln>
              <a:noFill/>
            </a:ln>
          </p:spPr>
          <p:txBody>
            <a:bodyPr anchorCtr="0" anchor="ctr" bIns="44275" lIns="90350" spcFirstLastPara="1" rIns="90350" wrap="square" tIns="44275">
              <a:noAutofit/>
            </a:bodyPr>
            <a:lstStyle/>
            <a:p>
              <a:pPr indent="0" lvl="0" marL="0" marR="0" rtl="0" algn="ctr">
                <a:lnSpc>
                  <a:spcPct val="8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GB" sz="1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82" name="Google Shape;1482;p21"/>
          <p:cNvGrpSpPr/>
          <p:nvPr/>
        </p:nvGrpSpPr>
        <p:grpSpPr>
          <a:xfrm>
            <a:off x="4343400" y="3737275"/>
            <a:ext cx="838200" cy="606125"/>
            <a:chOff x="4343400" y="3737275"/>
            <a:chExt cx="838200" cy="606125"/>
          </a:xfrm>
        </p:grpSpPr>
        <p:cxnSp>
          <p:nvCxnSpPr>
            <p:cNvPr id="1483" name="Google Shape;1483;p21"/>
            <p:cNvCxnSpPr/>
            <p:nvPr/>
          </p:nvCxnSpPr>
          <p:spPr>
            <a:xfrm>
              <a:off x="4343400" y="4275438"/>
              <a:ext cx="838200" cy="1587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med" w="med" type="triangle"/>
              <a:tailEnd len="sm" w="sm" type="none"/>
            </a:ln>
          </p:spPr>
        </p:cxnSp>
        <p:sp>
          <p:nvSpPr>
            <p:cNvPr id="1484" name="Google Shape;1484;p21"/>
            <p:cNvSpPr txBox="1"/>
            <p:nvPr/>
          </p:nvSpPr>
          <p:spPr>
            <a:xfrm>
              <a:off x="4479925" y="4037313"/>
              <a:ext cx="568103" cy="3060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4275" lIns="90350" spcFirstLastPara="1" rIns="90350" wrap="square" tIns="44275">
              <a:spAutoFit/>
            </a:bodyPr>
            <a:lstStyle/>
            <a:p>
              <a:pPr indent="0" lvl="0" marL="0" marR="0" rtl="0" algn="l">
                <a:lnSpc>
                  <a:spcPct val="8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GB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read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5" name="Google Shape;1485;p21"/>
            <p:cNvSpPr/>
            <p:nvPr/>
          </p:nvSpPr>
          <p:spPr>
            <a:xfrm>
              <a:off x="4648200" y="3737275"/>
              <a:ext cx="304800" cy="304800"/>
            </a:xfrm>
            <a:prstGeom prst="ellipse">
              <a:avLst/>
            </a:prstGeom>
            <a:solidFill>
              <a:srgbClr val="7F7F7F"/>
            </a:solidFill>
            <a:ln>
              <a:noFill/>
            </a:ln>
          </p:spPr>
          <p:txBody>
            <a:bodyPr anchorCtr="0" anchor="ctr" bIns="44275" lIns="90350" spcFirstLastPara="1" rIns="90350" wrap="square" tIns="44275">
              <a:noAutofit/>
            </a:bodyPr>
            <a:lstStyle/>
            <a:p>
              <a:pPr indent="0" lvl="0" marL="0" marR="0" rtl="0" algn="ctr">
                <a:lnSpc>
                  <a:spcPct val="8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GB" sz="1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86" name="Google Shape;1486;p21"/>
          <p:cNvSpPr/>
          <p:nvPr/>
        </p:nvSpPr>
        <p:spPr>
          <a:xfrm>
            <a:off x="460375" y="4648200"/>
            <a:ext cx="1066800" cy="228600"/>
          </a:xfrm>
          <a:prstGeom prst="rect">
            <a:avLst/>
          </a:prstGeom>
          <a:solidFill>
            <a:srgbClr val="E5E5E5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vm_next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7" name="Google Shape;1487;p21"/>
          <p:cNvSpPr/>
          <p:nvPr/>
        </p:nvSpPr>
        <p:spPr>
          <a:xfrm>
            <a:off x="460375" y="2819400"/>
            <a:ext cx="1066800" cy="228600"/>
          </a:xfrm>
          <a:prstGeom prst="rect">
            <a:avLst/>
          </a:prstGeom>
          <a:solidFill>
            <a:srgbClr val="E5E5E5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vm_next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8" name="Google Shape;1488;p21"/>
          <p:cNvSpPr txBox="1"/>
          <p:nvPr/>
        </p:nvSpPr>
        <p:spPr>
          <a:xfrm>
            <a:off x="152400" y="1295400"/>
            <a:ext cx="1519582" cy="306087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sp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vm_area_struct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9" name="Google Shape;1489;p21"/>
          <p:cNvSpPr/>
          <p:nvPr/>
        </p:nvSpPr>
        <p:spPr>
          <a:xfrm>
            <a:off x="460375" y="1701800"/>
            <a:ext cx="1066800" cy="1346200"/>
          </a:xfrm>
          <a:prstGeom prst="rect">
            <a:avLst/>
          </a:prstGeom>
          <a:solidFill>
            <a:srgbClr val="E5E5E5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490" name="Google Shape;1490;p21"/>
          <p:cNvSpPr/>
          <p:nvPr/>
        </p:nvSpPr>
        <p:spPr>
          <a:xfrm>
            <a:off x="460375" y="1676400"/>
            <a:ext cx="1066800" cy="228600"/>
          </a:xfrm>
          <a:prstGeom prst="rect">
            <a:avLst/>
          </a:prstGeom>
          <a:solidFill>
            <a:srgbClr val="E5E5E5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vm_end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1" name="Google Shape;1491;p21"/>
          <p:cNvSpPr/>
          <p:nvPr/>
        </p:nvSpPr>
        <p:spPr>
          <a:xfrm>
            <a:off x="460375" y="2133600"/>
            <a:ext cx="1066800" cy="228600"/>
          </a:xfrm>
          <a:prstGeom prst="rect">
            <a:avLst/>
          </a:prstGeom>
          <a:solidFill>
            <a:srgbClr val="E5E5E5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vm_prot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2" name="Google Shape;1492;p21"/>
          <p:cNvSpPr/>
          <p:nvPr/>
        </p:nvSpPr>
        <p:spPr>
          <a:xfrm>
            <a:off x="460375" y="1905000"/>
            <a:ext cx="1066800" cy="228600"/>
          </a:xfrm>
          <a:prstGeom prst="rect">
            <a:avLst/>
          </a:prstGeom>
          <a:solidFill>
            <a:srgbClr val="E5E5E5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vm_start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3" name="Google Shape;1493;p21"/>
          <p:cNvSpPr/>
          <p:nvPr/>
        </p:nvSpPr>
        <p:spPr>
          <a:xfrm>
            <a:off x="460375" y="3530600"/>
            <a:ext cx="1066800" cy="1346200"/>
          </a:xfrm>
          <a:prstGeom prst="rect">
            <a:avLst/>
          </a:prstGeom>
          <a:solidFill>
            <a:srgbClr val="E5E5E5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494" name="Google Shape;1494;p21"/>
          <p:cNvSpPr/>
          <p:nvPr/>
        </p:nvSpPr>
        <p:spPr>
          <a:xfrm>
            <a:off x="460375" y="3505200"/>
            <a:ext cx="1066800" cy="228600"/>
          </a:xfrm>
          <a:prstGeom prst="rect">
            <a:avLst/>
          </a:prstGeom>
          <a:solidFill>
            <a:srgbClr val="E5E5E5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vm_end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5" name="Google Shape;1495;p21"/>
          <p:cNvSpPr/>
          <p:nvPr/>
        </p:nvSpPr>
        <p:spPr>
          <a:xfrm>
            <a:off x="460375" y="3962400"/>
            <a:ext cx="1066800" cy="228600"/>
          </a:xfrm>
          <a:prstGeom prst="rect">
            <a:avLst/>
          </a:prstGeom>
          <a:solidFill>
            <a:srgbClr val="E5E5E5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vm_prot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6" name="Google Shape;1496;p21"/>
          <p:cNvSpPr/>
          <p:nvPr/>
        </p:nvSpPr>
        <p:spPr>
          <a:xfrm>
            <a:off x="460375" y="3733800"/>
            <a:ext cx="1066800" cy="228600"/>
          </a:xfrm>
          <a:prstGeom prst="rect">
            <a:avLst/>
          </a:prstGeom>
          <a:solidFill>
            <a:srgbClr val="E5E5E5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vm_start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7" name="Google Shape;1497;p21"/>
          <p:cNvSpPr/>
          <p:nvPr/>
        </p:nvSpPr>
        <p:spPr>
          <a:xfrm>
            <a:off x="460375" y="5359400"/>
            <a:ext cx="1066800" cy="1117600"/>
          </a:xfrm>
          <a:prstGeom prst="rect">
            <a:avLst/>
          </a:prstGeom>
          <a:solidFill>
            <a:srgbClr val="E5E5E5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498" name="Google Shape;1498;p21"/>
          <p:cNvSpPr/>
          <p:nvPr/>
        </p:nvSpPr>
        <p:spPr>
          <a:xfrm>
            <a:off x="460375" y="5334000"/>
            <a:ext cx="1066800" cy="228600"/>
          </a:xfrm>
          <a:prstGeom prst="rect">
            <a:avLst/>
          </a:prstGeom>
          <a:solidFill>
            <a:srgbClr val="E5E5E5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vm_end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9" name="Google Shape;1499;p21"/>
          <p:cNvSpPr/>
          <p:nvPr/>
        </p:nvSpPr>
        <p:spPr>
          <a:xfrm>
            <a:off x="460375" y="5791200"/>
            <a:ext cx="1066800" cy="228600"/>
          </a:xfrm>
          <a:prstGeom prst="rect">
            <a:avLst/>
          </a:prstGeom>
          <a:solidFill>
            <a:srgbClr val="E5E5E5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vm_prot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0" name="Google Shape;1500;p21"/>
          <p:cNvSpPr/>
          <p:nvPr/>
        </p:nvSpPr>
        <p:spPr>
          <a:xfrm>
            <a:off x="460375" y="6248400"/>
            <a:ext cx="1066800" cy="228600"/>
          </a:xfrm>
          <a:prstGeom prst="rect">
            <a:avLst/>
          </a:prstGeom>
          <a:solidFill>
            <a:srgbClr val="E5E5E5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vm_next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1" name="Google Shape;1501;p21"/>
          <p:cNvSpPr/>
          <p:nvPr/>
        </p:nvSpPr>
        <p:spPr>
          <a:xfrm>
            <a:off x="460375" y="5562600"/>
            <a:ext cx="1066800" cy="228600"/>
          </a:xfrm>
          <a:prstGeom prst="rect">
            <a:avLst/>
          </a:prstGeom>
          <a:solidFill>
            <a:srgbClr val="E5E5E5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vm_start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2" name="Google Shape;1502;p21"/>
          <p:cNvSpPr/>
          <p:nvPr/>
        </p:nvSpPr>
        <p:spPr>
          <a:xfrm>
            <a:off x="2365375" y="1524000"/>
            <a:ext cx="1981200" cy="4800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503" name="Google Shape;1503;p21"/>
          <p:cNvSpPr txBox="1"/>
          <p:nvPr/>
        </p:nvSpPr>
        <p:spPr>
          <a:xfrm>
            <a:off x="2253077" y="1219200"/>
            <a:ext cx="2189845" cy="311024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sp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 virtual memory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4" name="Google Shape;1504;p21"/>
          <p:cNvSpPr/>
          <p:nvPr/>
        </p:nvSpPr>
        <p:spPr>
          <a:xfrm>
            <a:off x="2365375" y="4572000"/>
            <a:ext cx="1981200" cy="1143000"/>
          </a:xfrm>
          <a:prstGeom prst="rect">
            <a:avLst/>
          </a:prstGeom>
          <a:solidFill>
            <a:srgbClr val="D5D5F4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text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5" name="Google Shape;1505;p21"/>
          <p:cNvSpPr/>
          <p:nvPr/>
        </p:nvSpPr>
        <p:spPr>
          <a:xfrm>
            <a:off x="2365375" y="3810000"/>
            <a:ext cx="1981200" cy="762000"/>
          </a:xfrm>
          <a:prstGeom prst="rect">
            <a:avLst/>
          </a:prstGeom>
          <a:solidFill>
            <a:srgbClr val="D5D5F4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6" name="Google Shape;1506;p21"/>
          <p:cNvSpPr/>
          <p:nvPr/>
        </p:nvSpPr>
        <p:spPr>
          <a:xfrm>
            <a:off x="2365375" y="2514600"/>
            <a:ext cx="1981200" cy="533400"/>
          </a:xfrm>
          <a:prstGeom prst="rect">
            <a:avLst/>
          </a:prstGeom>
          <a:solidFill>
            <a:srgbClr val="D5D5F4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shared libraries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07" name="Google Shape;1507;p21"/>
          <p:cNvCxnSpPr/>
          <p:nvPr/>
        </p:nvCxnSpPr>
        <p:spPr>
          <a:xfrm>
            <a:off x="1527175" y="1828800"/>
            <a:ext cx="838200" cy="6858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08" name="Google Shape;1508;p21"/>
          <p:cNvCxnSpPr/>
          <p:nvPr/>
        </p:nvCxnSpPr>
        <p:spPr>
          <a:xfrm>
            <a:off x="1527175" y="2057400"/>
            <a:ext cx="838200" cy="990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09" name="Google Shape;1509;p21"/>
          <p:cNvCxnSpPr/>
          <p:nvPr/>
        </p:nvCxnSpPr>
        <p:spPr>
          <a:xfrm>
            <a:off x="1527175" y="3657600"/>
            <a:ext cx="838200" cy="152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10" name="Google Shape;1510;p21"/>
          <p:cNvCxnSpPr/>
          <p:nvPr/>
        </p:nvCxnSpPr>
        <p:spPr>
          <a:xfrm>
            <a:off x="1527175" y="3810000"/>
            <a:ext cx="838200" cy="7620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11" name="Google Shape;1511;p21"/>
          <p:cNvCxnSpPr/>
          <p:nvPr/>
        </p:nvCxnSpPr>
        <p:spPr>
          <a:xfrm flipH="1" rot="10800000">
            <a:off x="1527175" y="4572000"/>
            <a:ext cx="838200" cy="914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12" name="Google Shape;1512;p21"/>
          <p:cNvCxnSpPr/>
          <p:nvPr/>
        </p:nvCxnSpPr>
        <p:spPr>
          <a:xfrm>
            <a:off x="1527175" y="5638800"/>
            <a:ext cx="838200" cy="762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13" name="Google Shape;1513;p21"/>
          <p:cNvCxnSpPr/>
          <p:nvPr/>
        </p:nvCxnSpPr>
        <p:spPr>
          <a:xfrm flipH="1">
            <a:off x="230188" y="2971800"/>
            <a:ext cx="231775" cy="158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14" name="Google Shape;1514;p21"/>
          <p:cNvCxnSpPr/>
          <p:nvPr/>
        </p:nvCxnSpPr>
        <p:spPr>
          <a:xfrm>
            <a:off x="231775" y="2971800"/>
            <a:ext cx="1588" cy="533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15" name="Google Shape;1515;p21"/>
          <p:cNvCxnSpPr/>
          <p:nvPr/>
        </p:nvCxnSpPr>
        <p:spPr>
          <a:xfrm>
            <a:off x="231775" y="3505200"/>
            <a:ext cx="228600" cy="158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16" name="Google Shape;1516;p21"/>
          <p:cNvCxnSpPr/>
          <p:nvPr/>
        </p:nvCxnSpPr>
        <p:spPr>
          <a:xfrm flipH="1">
            <a:off x="230188" y="4724400"/>
            <a:ext cx="231775" cy="158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17" name="Google Shape;1517;p21"/>
          <p:cNvCxnSpPr/>
          <p:nvPr/>
        </p:nvCxnSpPr>
        <p:spPr>
          <a:xfrm>
            <a:off x="231775" y="4724400"/>
            <a:ext cx="1588" cy="609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18" name="Google Shape;1518;p21"/>
          <p:cNvCxnSpPr/>
          <p:nvPr/>
        </p:nvCxnSpPr>
        <p:spPr>
          <a:xfrm>
            <a:off x="231775" y="5334000"/>
            <a:ext cx="228600" cy="158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519" name="Google Shape;1519;p21"/>
          <p:cNvSpPr/>
          <p:nvPr/>
        </p:nvSpPr>
        <p:spPr>
          <a:xfrm>
            <a:off x="460375" y="2362200"/>
            <a:ext cx="1066800" cy="228600"/>
          </a:xfrm>
          <a:prstGeom prst="rect">
            <a:avLst/>
          </a:prstGeom>
          <a:solidFill>
            <a:srgbClr val="E5E5E5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vm_flags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0" name="Google Shape;1520;p21"/>
          <p:cNvSpPr/>
          <p:nvPr/>
        </p:nvSpPr>
        <p:spPr>
          <a:xfrm>
            <a:off x="460375" y="4191000"/>
            <a:ext cx="1066800" cy="228600"/>
          </a:xfrm>
          <a:prstGeom prst="rect">
            <a:avLst/>
          </a:prstGeom>
          <a:solidFill>
            <a:srgbClr val="E5E5E5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vm_flags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1" name="Google Shape;1521;p21"/>
          <p:cNvSpPr/>
          <p:nvPr/>
        </p:nvSpPr>
        <p:spPr>
          <a:xfrm>
            <a:off x="460375" y="6019800"/>
            <a:ext cx="1066800" cy="228600"/>
          </a:xfrm>
          <a:prstGeom prst="rect">
            <a:avLst/>
          </a:prstGeom>
          <a:solidFill>
            <a:srgbClr val="E5E5E5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275" lIns="90350" spcFirstLastPara="1" rIns="90350" wrap="square" tIns="44275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vm_flags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2" name="Google Shape;1522;p21"/>
          <p:cNvSpPr txBox="1"/>
          <p:nvPr/>
        </p:nvSpPr>
        <p:spPr>
          <a:xfrm>
            <a:off x="5528573" y="2971800"/>
            <a:ext cx="299312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990000"/>
                </a:solidFill>
                <a:latin typeface="Arial Narrow"/>
                <a:ea typeface="Arial Narrow"/>
                <a:cs typeface="Arial Narrow"/>
                <a:sym typeface="Arial Narrow"/>
              </a:rPr>
              <a:t>Segmentation fault:</a:t>
            </a:r>
            <a:endParaRPr b="1" i="0" sz="1800" u="none" cap="none" strike="noStrike">
              <a:solidFill>
                <a:srgbClr val="99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accessing a non-existing page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3" name="Google Shape;1523;p21"/>
          <p:cNvSpPr txBox="1"/>
          <p:nvPr/>
        </p:nvSpPr>
        <p:spPr>
          <a:xfrm>
            <a:off x="5528573" y="4050268"/>
            <a:ext cx="19104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Normal page fault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4" name="Google Shape;1524;p21"/>
          <p:cNvSpPr txBox="1"/>
          <p:nvPr/>
        </p:nvSpPr>
        <p:spPr>
          <a:xfrm>
            <a:off x="5528573" y="4876800"/>
            <a:ext cx="3386827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Protection exception: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e.g., violating permission by writing to a read-only page (Linux reports as Segmentation fault)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8" name="Shape 1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9" name="Google Shape;1529;p22"/>
          <p:cNvSpPr txBox="1"/>
          <p:nvPr>
            <p:ph type="title"/>
          </p:nvPr>
        </p:nvSpPr>
        <p:spPr>
          <a:xfrm>
            <a:off x="357018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Today		</a:t>
            </a:r>
            <a:endParaRPr/>
          </a:p>
        </p:txBody>
      </p:sp>
      <p:sp>
        <p:nvSpPr>
          <p:cNvPr id="1530" name="Google Shape;1530;p22"/>
          <p:cNvSpPr txBox="1"/>
          <p:nvPr>
            <p:ph idx="1" type="body"/>
          </p:nvPr>
        </p:nvSpPr>
        <p:spPr>
          <a:xfrm>
            <a:off x="396875" y="1362075"/>
            <a:ext cx="7896225" cy="4972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GB">
                <a:solidFill>
                  <a:srgbClr val="7F7F7F"/>
                </a:solidFill>
              </a:rPr>
              <a:t>Simple memory system example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GB">
                <a:solidFill>
                  <a:srgbClr val="7F7F7F"/>
                </a:solidFill>
              </a:rPr>
              <a:t>Case study: Core i7/Linux memory system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GB">
                <a:solidFill>
                  <a:srgbClr val="000000"/>
                </a:solidFill>
              </a:rPr>
              <a:t>Memory mapping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5" name="Shape 1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" name="Google Shape;1536;p23"/>
          <p:cNvSpPr txBox="1"/>
          <p:nvPr>
            <p:ph idx="4294967295" type="title"/>
          </p:nvPr>
        </p:nvSpPr>
        <p:spPr>
          <a:xfrm>
            <a:off x="385763" y="493713"/>
            <a:ext cx="5557837" cy="5730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Memory Mapping</a:t>
            </a:r>
            <a:endParaRPr/>
          </a:p>
        </p:txBody>
      </p:sp>
      <p:sp>
        <p:nvSpPr>
          <p:cNvPr id="1537" name="Google Shape;1537;p23"/>
          <p:cNvSpPr txBox="1"/>
          <p:nvPr>
            <p:ph idx="1" type="body"/>
          </p:nvPr>
        </p:nvSpPr>
        <p:spPr>
          <a:xfrm>
            <a:off x="387880" y="1220788"/>
            <a:ext cx="8527520" cy="52244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GB"/>
              <a:t>VM areas initialized by associating them with disk objects.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GB"/>
              <a:t>Process is known as </a:t>
            </a:r>
            <a:r>
              <a:rPr b="1" i="1" lang="en-GB">
                <a:solidFill>
                  <a:srgbClr val="990000"/>
                </a:solidFill>
              </a:rPr>
              <a:t>memory mapping</a:t>
            </a:r>
            <a:r>
              <a:rPr i="1" lang="en-GB">
                <a:solidFill>
                  <a:srgbClr val="990000"/>
                </a:solidFill>
              </a:rPr>
              <a:t>. </a:t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GB"/>
              <a:t>Area can be </a:t>
            </a:r>
            <a:r>
              <a:rPr i="1" lang="en-GB"/>
              <a:t>backed by </a:t>
            </a:r>
            <a:r>
              <a:rPr lang="en-GB"/>
              <a:t>(i.e., get its initial values from) 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b="1" i="1" lang="en-GB">
                <a:solidFill>
                  <a:srgbClr val="990000"/>
                </a:solidFill>
              </a:rPr>
              <a:t>Regular file</a:t>
            </a:r>
            <a:r>
              <a:rPr b="1" lang="en-GB"/>
              <a:t> </a:t>
            </a:r>
            <a:r>
              <a:rPr lang="en-GB"/>
              <a:t>on disk (e.g., an executable object file)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</a:pPr>
            <a:r>
              <a:rPr lang="en-GB"/>
              <a:t>Initial page bytes come from a section of a file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b="1" i="1" lang="en-GB">
                <a:solidFill>
                  <a:srgbClr val="990000"/>
                </a:solidFill>
              </a:rPr>
              <a:t>Anonymous file </a:t>
            </a:r>
            <a:r>
              <a:rPr lang="en-GB"/>
              <a:t>(e.g., nothing)</a:t>
            </a:r>
            <a:endParaRPr i="1"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</a:pPr>
            <a:r>
              <a:rPr lang="en-GB"/>
              <a:t>First fault will allocate a physical page full of 0's (</a:t>
            </a:r>
            <a:r>
              <a:rPr b="1" i="1" lang="en-GB">
                <a:solidFill>
                  <a:srgbClr val="990000"/>
                </a:solidFill>
              </a:rPr>
              <a:t>demand-zero page</a:t>
            </a:r>
            <a:r>
              <a:rPr lang="en-GB"/>
              <a:t>)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</a:pPr>
            <a:r>
              <a:rPr lang="en-GB"/>
              <a:t>Once the page is written to (</a:t>
            </a:r>
            <a:r>
              <a:rPr b="1" i="1" lang="en-GB">
                <a:solidFill>
                  <a:srgbClr val="990000"/>
                </a:solidFill>
              </a:rPr>
              <a:t>dirtied</a:t>
            </a:r>
            <a:r>
              <a:rPr lang="en-GB"/>
              <a:t>), it is like any other page</a:t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GB"/>
              <a:t>Dirty pages are copied back and forth between memory and a special </a:t>
            </a:r>
            <a:r>
              <a:rPr i="1" lang="en-GB">
                <a:solidFill>
                  <a:srgbClr val="990000"/>
                </a:solidFill>
              </a:rPr>
              <a:t>swap file</a:t>
            </a:r>
            <a:r>
              <a:rPr lang="en-GB"/>
              <a:t>.</a:t>
            </a:r>
            <a:endParaRPr i="1">
              <a:solidFill>
                <a:srgbClr val="990000"/>
              </a:solidFill>
            </a:endParaRPr>
          </a:p>
          <a:p>
            <a:pPr indent="-1460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1" name="Shape 1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2" name="Google Shape;1542;p24"/>
          <p:cNvSpPr txBox="1"/>
          <p:nvPr>
            <p:ph type="title"/>
          </p:nvPr>
        </p:nvSpPr>
        <p:spPr>
          <a:xfrm>
            <a:off x="357018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Sharing Revisited: Shared Objects</a:t>
            </a:r>
            <a:endParaRPr/>
          </a:p>
        </p:txBody>
      </p:sp>
      <p:sp>
        <p:nvSpPr>
          <p:cNvPr id="1543" name="Google Shape;1543;p24"/>
          <p:cNvSpPr txBox="1"/>
          <p:nvPr>
            <p:ph idx="1" type="body"/>
          </p:nvPr>
        </p:nvSpPr>
        <p:spPr>
          <a:xfrm>
            <a:off x="6248400" y="2097772"/>
            <a:ext cx="2651125" cy="46078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GB"/>
              <a:t>Process 1  maps the shared object. </a:t>
            </a:r>
            <a:endParaRPr/>
          </a:p>
        </p:txBody>
      </p:sp>
      <p:sp>
        <p:nvSpPr>
          <p:cNvPr id="1544" name="Google Shape;1544;p24"/>
          <p:cNvSpPr/>
          <p:nvPr/>
        </p:nvSpPr>
        <p:spPr>
          <a:xfrm>
            <a:off x="2355850" y="5526772"/>
            <a:ext cx="381000" cy="533400"/>
          </a:xfrm>
          <a:prstGeom prst="rect">
            <a:avLst/>
          </a:prstGeom>
          <a:solidFill>
            <a:srgbClr val="DEDFF5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545" name="Google Shape;1545;p24"/>
          <p:cNvSpPr txBox="1"/>
          <p:nvPr/>
        </p:nvSpPr>
        <p:spPr>
          <a:xfrm>
            <a:off x="2174875" y="6059269"/>
            <a:ext cx="826330" cy="646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Shared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object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6" name="Google Shape;1546;p24"/>
          <p:cNvSpPr/>
          <p:nvPr/>
        </p:nvSpPr>
        <p:spPr>
          <a:xfrm>
            <a:off x="2355850" y="2707372"/>
            <a:ext cx="381000" cy="20574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547" name="Google Shape;1547;p24"/>
          <p:cNvSpPr txBox="1"/>
          <p:nvPr/>
        </p:nvSpPr>
        <p:spPr>
          <a:xfrm>
            <a:off x="2103438" y="2065119"/>
            <a:ext cx="952905" cy="646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Physical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memory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8" name="Google Shape;1548;p24"/>
          <p:cNvSpPr/>
          <p:nvPr/>
        </p:nvSpPr>
        <p:spPr>
          <a:xfrm>
            <a:off x="679450" y="2707372"/>
            <a:ext cx="381000" cy="33528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549" name="Google Shape;1549;p24"/>
          <p:cNvSpPr/>
          <p:nvPr/>
        </p:nvSpPr>
        <p:spPr>
          <a:xfrm>
            <a:off x="4032250" y="2707372"/>
            <a:ext cx="381000" cy="33528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550" name="Google Shape;1550;p24"/>
          <p:cNvSpPr/>
          <p:nvPr/>
        </p:nvSpPr>
        <p:spPr>
          <a:xfrm>
            <a:off x="2355850" y="2859772"/>
            <a:ext cx="381000" cy="533400"/>
          </a:xfrm>
          <a:prstGeom prst="rect">
            <a:avLst/>
          </a:prstGeom>
          <a:solidFill>
            <a:srgbClr val="DEDFF5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551" name="Google Shape;1551;p24"/>
          <p:cNvSpPr/>
          <p:nvPr/>
        </p:nvSpPr>
        <p:spPr>
          <a:xfrm>
            <a:off x="679450" y="3316972"/>
            <a:ext cx="381000" cy="533400"/>
          </a:xfrm>
          <a:prstGeom prst="rect">
            <a:avLst/>
          </a:prstGeom>
          <a:solidFill>
            <a:srgbClr val="DEDFF5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cxnSp>
        <p:nvCxnSpPr>
          <p:cNvPr id="1552" name="Google Shape;1552;p24"/>
          <p:cNvCxnSpPr/>
          <p:nvPr/>
        </p:nvCxnSpPr>
        <p:spPr>
          <a:xfrm rot="10800000">
            <a:off x="1060450" y="3316972"/>
            <a:ext cx="1295400" cy="2209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553" name="Google Shape;1553;p24"/>
          <p:cNvCxnSpPr/>
          <p:nvPr/>
        </p:nvCxnSpPr>
        <p:spPr>
          <a:xfrm rot="10800000">
            <a:off x="1060450" y="3850372"/>
            <a:ext cx="1295400" cy="2209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554" name="Google Shape;1554;p24"/>
          <p:cNvCxnSpPr/>
          <p:nvPr/>
        </p:nvCxnSpPr>
        <p:spPr>
          <a:xfrm flipH="1" rot="10800000">
            <a:off x="1060450" y="2859772"/>
            <a:ext cx="1295400" cy="4572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555" name="Google Shape;1555;p24"/>
          <p:cNvCxnSpPr/>
          <p:nvPr/>
        </p:nvCxnSpPr>
        <p:spPr>
          <a:xfrm flipH="1" rot="10800000">
            <a:off x="1060450" y="3393172"/>
            <a:ext cx="1295400" cy="4572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556" name="Google Shape;1556;p24"/>
          <p:cNvSpPr txBox="1"/>
          <p:nvPr/>
        </p:nvSpPr>
        <p:spPr>
          <a:xfrm>
            <a:off x="152400" y="2079407"/>
            <a:ext cx="1544012" cy="646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Process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virtual memory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7" name="Google Shape;1557;p24"/>
          <p:cNvSpPr txBox="1"/>
          <p:nvPr/>
        </p:nvSpPr>
        <p:spPr>
          <a:xfrm>
            <a:off x="3505200" y="2065119"/>
            <a:ext cx="1544012" cy="646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Process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virtual memory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1" name="Shape 1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2" name="Google Shape;1562;p25"/>
          <p:cNvSpPr txBox="1"/>
          <p:nvPr>
            <p:ph type="title"/>
          </p:nvPr>
        </p:nvSpPr>
        <p:spPr>
          <a:xfrm>
            <a:off x="357018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Sharing Revisited: Shared Objects</a:t>
            </a:r>
            <a:endParaRPr/>
          </a:p>
        </p:txBody>
      </p:sp>
      <p:sp>
        <p:nvSpPr>
          <p:cNvPr id="1563" name="Google Shape;1563;p25"/>
          <p:cNvSpPr/>
          <p:nvPr/>
        </p:nvSpPr>
        <p:spPr>
          <a:xfrm>
            <a:off x="2355850" y="5526772"/>
            <a:ext cx="381000" cy="533400"/>
          </a:xfrm>
          <a:prstGeom prst="rect">
            <a:avLst/>
          </a:prstGeom>
          <a:solidFill>
            <a:srgbClr val="DEDFF5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564" name="Google Shape;1564;p25"/>
          <p:cNvSpPr txBox="1"/>
          <p:nvPr/>
        </p:nvSpPr>
        <p:spPr>
          <a:xfrm>
            <a:off x="2224078" y="6059269"/>
            <a:ext cx="826330" cy="646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Shared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object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5" name="Google Shape;1565;p25"/>
          <p:cNvSpPr/>
          <p:nvPr/>
        </p:nvSpPr>
        <p:spPr>
          <a:xfrm>
            <a:off x="2355850" y="2707372"/>
            <a:ext cx="381000" cy="20574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566" name="Google Shape;1566;p25"/>
          <p:cNvSpPr txBox="1"/>
          <p:nvPr/>
        </p:nvSpPr>
        <p:spPr>
          <a:xfrm>
            <a:off x="2103438" y="2065119"/>
            <a:ext cx="952905" cy="646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Physical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memory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7" name="Google Shape;1567;p25"/>
          <p:cNvSpPr/>
          <p:nvPr/>
        </p:nvSpPr>
        <p:spPr>
          <a:xfrm>
            <a:off x="679450" y="2707372"/>
            <a:ext cx="381000" cy="33528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568" name="Google Shape;1568;p25"/>
          <p:cNvSpPr/>
          <p:nvPr/>
        </p:nvSpPr>
        <p:spPr>
          <a:xfrm>
            <a:off x="4032250" y="2707372"/>
            <a:ext cx="381000" cy="33528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569" name="Google Shape;1569;p25"/>
          <p:cNvSpPr/>
          <p:nvPr/>
        </p:nvSpPr>
        <p:spPr>
          <a:xfrm>
            <a:off x="2355850" y="2859772"/>
            <a:ext cx="381000" cy="533400"/>
          </a:xfrm>
          <a:prstGeom prst="rect">
            <a:avLst/>
          </a:prstGeom>
          <a:solidFill>
            <a:srgbClr val="DEDFF5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570" name="Google Shape;1570;p25"/>
          <p:cNvSpPr/>
          <p:nvPr/>
        </p:nvSpPr>
        <p:spPr>
          <a:xfrm>
            <a:off x="679450" y="3316972"/>
            <a:ext cx="381000" cy="533400"/>
          </a:xfrm>
          <a:prstGeom prst="rect">
            <a:avLst/>
          </a:prstGeom>
          <a:solidFill>
            <a:srgbClr val="DEDFF5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571" name="Google Shape;1571;p25"/>
          <p:cNvSpPr/>
          <p:nvPr/>
        </p:nvSpPr>
        <p:spPr>
          <a:xfrm>
            <a:off x="4032250" y="3774172"/>
            <a:ext cx="381000" cy="533400"/>
          </a:xfrm>
          <a:prstGeom prst="rect">
            <a:avLst/>
          </a:prstGeom>
          <a:solidFill>
            <a:srgbClr val="DEDFF5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cxnSp>
        <p:nvCxnSpPr>
          <p:cNvPr id="1572" name="Google Shape;1572;p25"/>
          <p:cNvCxnSpPr/>
          <p:nvPr/>
        </p:nvCxnSpPr>
        <p:spPr>
          <a:xfrm rot="10800000">
            <a:off x="1060450" y="3316972"/>
            <a:ext cx="1295400" cy="2209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573" name="Google Shape;1573;p25"/>
          <p:cNvCxnSpPr/>
          <p:nvPr/>
        </p:nvCxnSpPr>
        <p:spPr>
          <a:xfrm rot="10800000">
            <a:off x="1060450" y="3850372"/>
            <a:ext cx="1295400" cy="2209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574" name="Google Shape;1574;p25"/>
          <p:cNvCxnSpPr/>
          <p:nvPr/>
        </p:nvCxnSpPr>
        <p:spPr>
          <a:xfrm flipH="1" rot="10800000">
            <a:off x="2736850" y="3774172"/>
            <a:ext cx="1295400" cy="17526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575" name="Google Shape;1575;p25"/>
          <p:cNvCxnSpPr/>
          <p:nvPr/>
        </p:nvCxnSpPr>
        <p:spPr>
          <a:xfrm flipH="1" rot="10800000">
            <a:off x="2736850" y="4307572"/>
            <a:ext cx="1295400" cy="17526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576" name="Google Shape;1576;p25"/>
          <p:cNvCxnSpPr/>
          <p:nvPr/>
        </p:nvCxnSpPr>
        <p:spPr>
          <a:xfrm flipH="1" rot="10800000">
            <a:off x="1060450" y="2859772"/>
            <a:ext cx="1295400" cy="4572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577" name="Google Shape;1577;p25"/>
          <p:cNvCxnSpPr/>
          <p:nvPr/>
        </p:nvCxnSpPr>
        <p:spPr>
          <a:xfrm flipH="1" rot="10800000">
            <a:off x="1060450" y="3393172"/>
            <a:ext cx="1295400" cy="4572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578" name="Google Shape;1578;p25"/>
          <p:cNvCxnSpPr/>
          <p:nvPr/>
        </p:nvCxnSpPr>
        <p:spPr>
          <a:xfrm rot="10800000">
            <a:off x="2736850" y="2859772"/>
            <a:ext cx="1295400" cy="914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579" name="Google Shape;1579;p25"/>
          <p:cNvCxnSpPr/>
          <p:nvPr/>
        </p:nvCxnSpPr>
        <p:spPr>
          <a:xfrm rot="10800000">
            <a:off x="2736850" y="3393172"/>
            <a:ext cx="1295400" cy="914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580" name="Google Shape;1580;p25"/>
          <p:cNvSpPr txBox="1"/>
          <p:nvPr/>
        </p:nvSpPr>
        <p:spPr>
          <a:xfrm>
            <a:off x="152400" y="2079407"/>
            <a:ext cx="1544012" cy="646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Process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virtual memory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1" name="Google Shape;1581;p25"/>
          <p:cNvSpPr txBox="1"/>
          <p:nvPr/>
        </p:nvSpPr>
        <p:spPr>
          <a:xfrm>
            <a:off x="3505200" y="2065119"/>
            <a:ext cx="1544012" cy="646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Process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virtual memory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2" name="Google Shape;1582;p25"/>
          <p:cNvSpPr txBox="1"/>
          <p:nvPr/>
        </p:nvSpPr>
        <p:spPr>
          <a:xfrm>
            <a:off x="6248400" y="2097772"/>
            <a:ext cx="2651125" cy="46078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1440"/>
              <a:buFont typeface="Noto Sans Symbols"/>
              <a:buChar char="⬛"/>
            </a:pPr>
            <a:r>
              <a:rPr b="1" i="0" lang="en-GB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 2 maps the shared object.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00"/>
              </a:buClr>
              <a:buSzPts val="1440"/>
              <a:buFont typeface="Noto Sans Symbols"/>
              <a:buChar char="⬛"/>
            </a:pPr>
            <a:r>
              <a:rPr b="1" i="0" lang="en-GB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Notice how the virtual addresses can be different.</a:t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6" name="Shape 1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" name="Google Shape;1587;p26"/>
          <p:cNvSpPr txBox="1"/>
          <p:nvPr>
            <p:ph type="title"/>
          </p:nvPr>
        </p:nvSpPr>
        <p:spPr>
          <a:xfrm>
            <a:off x="357018" y="435678"/>
            <a:ext cx="7592093" cy="10883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Sharing Revisited: </a:t>
            </a:r>
            <a:br>
              <a:rPr lang="en-GB"/>
            </a:br>
            <a:r>
              <a:rPr lang="en-GB"/>
              <a:t>Private Copy-on-write (COW) Objects</a:t>
            </a:r>
            <a:endParaRPr/>
          </a:p>
        </p:txBody>
      </p:sp>
      <p:sp>
        <p:nvSpPr>
          <p:cNvPr id="1588" name="Google Shape;1588;p26"/>
          <p:cNvSpPr txBox="1"/>
          <p:nvPr>
            <p:ph idx="1" type="body"/>
          </p:nvPr>
        </p:nvSpPr>
        <p:spPr>
          <a:xfrm>
            <a:off x="6248400" y="2097772"/>
            <a:ext cx="2895600" cy="41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GB"/>
              <a:t>Two processes mapping a </a:t>
            </a:r>
            <a:r>
              <a:rPr i="1" lang="en-GB">
                <a:solidFill>
                  <a:srgbClr val="990000"/>
                </a:solidFill>
              </a:rPr>
              <a:t>private copy-on-write (COW)  </a:t>
            </a:r>
            <a:r>
              <a:rPr lang="en-GB"/>
              <a:t>object.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GB"/>
              <a:t>Area flagged as private copy-on-write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GB"/>
              <a:t>PTEs in private areas are flagged as read-only</a:t>
            </a:r>
            <a:endParaRPr/>
          </a:p>
        </p:txBody>
      </p:sp>
      <p:sp>
        <p:nvSpPr>
          <p:cNvPr id="1589" name="Google Shape;1589;p26"/>
          <p:cNvSpPr/>
          <p:nvPr/>
        </p:nvSpPr>
        <p:spPr>
          <a:xfrm>
            <a:off x="2369031" y="5526772"/>
            <a:ext cx="381000" cy="533400"/>
          </a:xfrm>
          <a:prstGeom prst="rect">
            <a:avLst/>
          </a:prstGeom>
          <a:solidFill>
            <a:srgbClr val="DEDFF5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590" name="Google Shape;1590;p26"/>
          <p:cNvSpPr txBox="1"/>
          <p:nvPr/>
        </p:nvSpPr>
        <p:spPr>
          <a:xfrm>
            <a:off x="1575802" y="6059269"/>
            <a:ext cx="2035721" cy="646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Private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copy-on-write object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1" name="Google Shape;1591;p26"/>
          <p:cNvSpPr/>
          <p:nvPr/>
        </p:nvSpPr>
        <p:spPr>
          <a:xfrm>
            <a:off x="2369031" y="2707372"/>
            <a:ext cx="381000" cy="20574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592" name="Google Shape;1592;p26"/>
          <p:cNvSpPr txBox="1"/>
          <p:nvPr/>
        </p:nvSpPr>
        <p:spPr>
          <a:xfrm>
            <a:off x="2109273" y="2065119"/>
            <a:ext cx="952905" cy="646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Physical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memory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3" name="Google Shape;1593;p26"/>
          <p:cNvSpPr/>
          <p:nvPr/>
        </p:nvSpPr>
        <p:spPr>
          <a:xfrm>
            <a:off x="692631" y="2707372"/>
            <a:ext cx="381000" cy="33528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594" name="Google Shape;1594;p26"/>
          <p:cNvSpPr/>
          <p:nvPr/>
        </p:nvSpPr>
        <p:spPr>
          <a:xfrm>
            <a:off x="4045431" y="2707372"/>
            <a:ext cx="381000" cy="33528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595" name="Google Shape;1595;p26"/>
          <p:cNvSpPr/>
          <p:nvPr/>
        </p:nvSpPr>
        <p:spPr>
          <a:xfrm>
            <a:off x="2369031" y="2859772"/>
            <a:ext cx="381000" cy="533400"/>
          </a:xfrm>
          <a:prstGeom prst="rect">
            <a:avLst/>
          </a:prstGeom>
          <a:solidFill>
            <a:srgbClr val="DEDFF5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596" name="Google Shape;1596;p26"/>
          <p:cNvSpPr/>
          <p:nvPr/>
        </p:nvSpPr>
        <p:spPr>
          <a:xfrm>
            <a:off x="692631" y="3316972"/>
            <a:ext cx="381000" cy="533400"/>
          </a:xfrm>
          <a:prstGeom prst="rect">
            <a:avLst/>
          </a:prstGeom>
          <a:solidFill>
            <a:srgbClr val="DEDFF5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597" name="Google Shape;1597;p26"/>
          <p:cNvSpPr/>
          <p:nvPr/>
        </p:nvSpPr>
        <p:spPr>
          <a:xfrm>
            <a:off x="4045431" y="3774172"/>
            <a:ext cx="381000" cy="533400"/>
          </a:xfrm>
          <a:prstGeom prst="rect">
            <a:avLst/>
          </a:prstGeom>
          <a:solidFill>
            <a:srgbClr val="DEDFF5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cxnSp>
        <p:nvCxnSpPr>
          <p:cNvPr id="1598" name="Google Shape;1598;p26"/>
          <p:cNvCxnSpPr/>
          <p:nvPr/>
        </p:nvCxnSpPr>
        <p:spPr>
          <a:xfrm rot="10800000">
            <a:off x="1073631" y="3316972"/>
            <a:ext cx="1295400" cy="2209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599" name="Google Shape;1599;p26"/>
          <p:cNvCxnSpPr/>
          <p:nvPr/>
        </p:nvCxnSpPr>
        <p:spPr>
          <a:xfrm rot="10800000">
            <a:off x="1073631" y="3850372"/>
            <a:ext cx="1295400" cy="2209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600" name="Google Shape;1600;p26"/>
          <p:cNvCxnSpPr/>
          <p:nvPr/>
        </p:nvCxnSpPr>
        <p:spPr>
          <a:xfrm flipH="1" rot="10800000">
            <a:off x="2750031" y="3774172"/>
            <a:ext cx="1295400" cy="17526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601" name="Google Shape;1601;p26"/>
          <p:cNvCxnSpPr/>
          <p:nvPr/>
        </p:nvCxnSpPr>
        <p:spPr>
          <a:xfrm flipH="1" rot="10800000">
            <a:off x="2750031" y="4307572"/>
            <a:ext cx="1295400" cy="17526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602" name="Google Shape;1602;p26"/>
          <p:cNvCxnSpPr/>
          <p:nvPr/>
        </p:nvCxnSpPr>
        <p:spPr>
          <a:xfrm flipH="1" rot="10800000">
            <a:off x="1073631" y="2859772"/>
            <a:ext cx="1295400" cy="4572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603" name="Google Shape;1603;p26"/>
          <p:cNvCxnSpPr/>
          <p:nvPr/>
        </p:nvCxnSpPr>
        <p:spPr>
          <a:xfrm flipH="1" rot="10800000">
            <a:off x="1073631" y="3393172"/>
            <a:ext cx="1295400" cy="4572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604" name="Google Shape;1604;p26"/>
          <p:cNvCxnSpPr/>
          <p:nvPr/>
        </p:nvCxnSpPr>
        <p:spPr>
          <a:xfrm rot="10800000">
            <a:off x="2750031" y="2859772"/>
            <a:ext cx="1295400" cy="914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605" name="Google Shape;1605;p26"/>
          <p:cNvCxnSpPr/>
          <p:nvPr/>
        </p:nvCxnSpPr>
        <p:spPr>
          <a:xfrm rot="10800000">
            <a:off x="2750031" y="3393172"/>
            <a:ext cx="1295400" cy="914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606" name="Google Shape;1606;p26"/>
          <p:cNvSpPr txBox="1"/>
          <p:nvPr/>
        </p:nvSpPr>
        <p:spPr>
          <a:xfrm>
            <a:off x="152400" y="2079407"/>
            <a:ext cx="1544012" cy="646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Process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virtual memory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7" name="Google Shape;1607;p26"/>
          <p:cNvSpPr txBox="1"/>
          <p:nvPr/>
        </p:nvSpPr>
        <p:spPr>
          <a:xfrm>
            <a:off x="3505200" y="2065119"/>
            <a:ext cx="1544012" cy="646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Process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virtual memory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8" name="Google Shape;1608;p26"/>
          <p:cNvSpPr txBox="1"/>
          <p:nvPr/>
        </p:nvSpPr>
        <p:spPr>
          <a:xfrm>
            <a:off x="4724400" y="3581400"/>
            <a:ext cx="1443537" cy="9233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 Private</a:t>
            </a:r>
            <a:endParaRPr b="1" i="0" sz="18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copy-on-write</a:t>
            </a:r>
            <a:endParaRPr b="1" i="0" sz="18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area</a:t>
            </a:r>
            <a:endParaRPr b="1" i="0" sz="18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609" name="Google Shape;1609;p26"/>
          <p:cNvSpPr/>
          <p:nvPr/>
        </p:nvSpPr>
        <p:spPr>
          <a:xfrm>
            <a:off x="4502631" y="3774172"/>
            <a:ext cx="145569" cy="533400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3" name="Shape 1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4" name="Google Shape;1614;p27"/>
          <p:cNvSpPr txBox="1"/>
          <p:nvPr>
            <p:ph type="title"/>
          </p:nvPr>
        </p:nvSpPr>
        <p:spPr>
          <a:xfrm>
            <a:off x="357018" y="435678"/>
            <a:ext cx="7592093" cy="11645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Sharing Revisited: </a:t>
            </a:r>
            <a:br>
              <a:rPr lang="en-GB"/>
            </a:br>
            <a:r>
              <a:rPr lang="en-GB"/>
              <a:t>Private Copy-on-write (COW) Objects</a:t>
            </a:r>
            <a:endParaRPr/>
          </a:p>
        </p:txBody>
      </p:sp>
      <p:sp>
        <p:nvSpPr>
          <p:cNvPr id="1615" name="Google Shape;1615;p27"/>
          <p:cNvSpPr txBox="1"/>
          <p:nvPr>
            <p:ph idx="1" type="body"/>
          </p:nvPr>
        </p:nvSpPr>
        <p:spPr>
          <a:xfrm>
            <a:off x="6271232" y="2057400"/>
            <a:ext cx="2872768" cy="4505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GB"/>
              <a:t>Instruction writing to private page triggers protection fault.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GB"/>
              <a:t>Handler creates new R/W page.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GB"/>
              <a:t>Instruction restarts upon handler return.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GB"/>
              <a:t>Copying deferred as long as possible!</a:t>
            </a:r>
            <a:endParaRPr/>
          </a:p>
        </p:txBody>
      </p:sp>
      <p:sp>
        <p:nvSpPr>
          <p:cNvPr id="1616" name="Google Shape;1616;p27"/>
          <p:cNvSpPr/>
          <p:nvPr/>
        </p:nvSpPr>
        <p:spPr>
          <a:xfrm>
            <a:off x="2369031" y="5526772"/>
            <a:ext cx="381000" cy="533400"/>
          </a:xfrm>
          <a:prstGeom prst="rect">
            <a:avLst/>
          </a:prstGeom>
          <a:solidFill>
            <a:srgbClr val="DEDFF5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617" name="Google Shape;1617;p27"/>
          <p:cNvSpPr txBox="1"/>
          <p:nvPr/>
        </p:nvSpPr>
        <p:spPr>
          <a:xfrm>
            <a:off x="1594852" y="6059269"/>
            <a:ext cx="2035721" cy="646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Private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copy-on-write object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8" name="Google Shape;1618;p27"/>
          <p:cNvSpPr/>
          <p:nvPr/>
        </p:nvSpPr>
        <p:spPr>
          <a:xfrm>
            <a:off x="2369031" y="2707372"/>
            <a:ext cx="381000" cy="20574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619" name="Google Shape;1619;p27"/>
          <p:cNvSpPr txBox="1"/>
          <p:nvPr/>
        </p:nvSpPr>
        <p:spPr>
          <a:xfrm>
            <a:off x="2109273" y="2065119"/>
            <a:ext cx="952905" cy="646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Physical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memory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0" name="Google Shape;1620;p27"/>
          <p:cNvSpPr/>
          <p:nvPr/>
        </p:nvSpPr>
        <p:spPr>
          <a:xfrm>
            <a:off x="692631" y="2707372"/>
            <a:ext cx="381000" cy="33528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621" name="Google Shape;1621;p27"/>
          <p:cNvSpPr/>
          <p:nvPr/>
        </p:nvSpPr>
        <p:spPr>
          <a:xfrm>
            <a:off x="4045431" y="2707372"/>
            <a:ext cx="381000" cy="33528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622" name="Google Shape;1622;p27"/>
          <p:cNvSpPr/>
          <p:nvPr/>
        </p:nvSpPr>
        <p:spPr>
          <a:xfrm>
            <a:off x="2369031" y="2891522"/>
            <a:ext cx="381000" cy="533400"/>
          </a:xfrm>
          <a:prstGeom prst="rect">
            <a:avLst/>
          </a:prstGeom>
          <a:solidFill>
            <a:srgbClr val="DEDFF5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623" name="Google Shape;1623;p27"/>
          <p:cNvSpPr/>
          <p:nvPr/>
        </p:nvSpPr>
        <p:spPr>
          <a:xfrm>
            <a:off x="692631" y="3316972"/>
            <a:ext cx="381000" cy="533400"/>
          </a:xfrm>
          <a:prstGeom prst="rect">
            <a:avLst/>
          </a:prstGeom>
          <a:solidFill>
            <a:srgbClr val="DEDFF5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624" name="Google Shape;1624;p27"/>
          <p:cNvSpPr/>
          <p:nvPr/>
        </p:nvSpPr>
        <p:spPr>
          <a:xfrm>
            <a:off x="4045431" y="3805922"/>
            <a:ext cx="381000" cy="533400"/>
          </a:xfrm>
          <a:prstGeom prst="rect">
            <a:avLst/>
          </a:prstGeom>
          <a:solidFill>
            <a:srgbClr val="DEDFF5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cxnSp>
        <p:nvCxnSpPr>
          <p:cNvPr id="1625" name="Google Shape;1625;p27"/>
          <p:cNvCxnSpPr/>
          <p:nvPr/>
        </p:nvCxnSpPr>
        <p:spPr>
          <a:xfrm rot="10800000">
            <a:off x="1073631" y="3316972"/>
            <a:ext cx="1295400" cy="2209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626" name="Google Shape;1626;p27"/>
          <p:cNvCxnSpPr/>
          <p:nvPr/>
        </p:nvCxnSpPr>
        <p:spPr>
          <a:xfrm rot="10800000">
            <a:off x="1073631" y="3850372"/>
            <a:ext cx="1295400" cy="2209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627" name="Google Shape;1627;p27"/>
          <p:cNvCxnSpPr/>
          <p:nvPr/>
        </p:nvCxnSpPr>
        <p:spPr>
          <a:xfrm flipH="1" rot="10800000">
            <a:off x="2750031" y="3805922"/>
            <a:ext cx="1301750" cy="172085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628" name="Google Shape;1628;p27"/>
          <p:cNvCxnSpPr/>
          <p:nvPr/>
        </p:nvCxnSpPr>
        <p:spPr>
          <a:xfrm flipH="1" rot="10800000">
            <a:off x="2750031" y="4307572"/>
            <a:ext cx="1295400" cy="17526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629" name="Google Shape;1629;p27"/>
          <p:cNvCxnSpPr/>
          <p:nvPr/>
        </p:nvCxnSpPr>
        <p:spPr>
          <a:xfrm flipH="1" rot="10800000">
            <a:off x="1073631" y="2891522"/>
            <a:ext cx="1301750" cy="42545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630" name="Google Shape;1630;p27"/>
          <p:cNvCxnSpPr/>
          <p:nvPr/>
        </p:nvCxnSpPr>
        <p:spPr>
          <a:xfrm flipH="1" rot="10800000">
            <a:off x="1073631" y="3424922"/>
            <a:ext cx="1301750" cy="42545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631" name="Google Shape;1631;p27"/>
          <p:cNvCxnSpPr/>
          <p:nvPr/>
        </p:nvCxnSpPr>
        <p:spPr>
          <a:xfrm rot="10800000">
            <a:off x="2756381" y="2891522"/>
            <a:ext cx="1289050" cy="88265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632" name="Google Shape;1632;p27"/>
          <p:cNvCxnSpPr/>
          <p:nvPr/>
        </p:nvCxnSpPr>
        <p:spPr>
          <a:xfrm rot="10800000">
            <a:off x="2756381" y="3272522"/>
            <a:ext cx="1295400" cy="914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633" name="Google Shape;1633;p27"/>
          <p:cNvSpPr txBox="1"/>
          <p:nvPr/>
        </p:nvSpPr>
        <p:spPr>
          <a:xfrm>
            <a:off x="152400" y="2079407"/>
            <a:ext cx="1544012" cy="646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Process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virtual memory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4" name="Google Shape;1634;p27"/>
          <p:cNvSpPr txBox="1"/>
          <p:nvPr/>
        </p:nvSpPr>
        <p:spPr>
          <a:xfrm>
            <a:off x="3505200" y="2065119"/>
            <a:ext cx="1544012" cy="646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Process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virtual memory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5" name="Google Shape;1635;p27"/>
          <p:cNvSpPr/>
          <p:nvPr/>
        </p:nvSpPr>
        <p:spPr>
          <a:xfrm>
            <a:off x="2826231" y="3272522"/>
            <a:ext cx="304800" cy="914400"/>
          </a:xfrm>
          <a:prstGeom prst="curvedLeftArrow">
            <a:avLst>
              <a:gd fmla="val 60000" name="adj1"/>
              <a:gd fmla="val 120000" name="adj2"/>
              <a:gd fmla="val 33333" name="adj3"/>
            </a:avLst>
          </a:prstGeom>
          <a:solidFill>
            <a:srgbClr val="990000"/>
          </a:solidFill>
          <a:ln cap="flat" cmpd="sng" w="12700">
            <a:solidFill>
              <a:srgbClr val="D5F1C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636" name="Google Shape;1636;p27"/>
          <p:cNvSpPr txBox="1"/>
          <p:nvPr/>
        </p:nvSpPr>
        <p:spPr>
          <a:xfrm>
            <a:off x="2835228" y="3103553"/>
            <a:ext cx="1174220" cy="3077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Copy-on-write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Wide upward diagonal" id="1637" name="Google Shape;1637;p27"/>
          <p:cNvSpPr/>
          <p:nvPr/>
        </p:nvSpPr>
        <p:spPr>
          <a:xfrm>
            <a:off x="2375381" y="3272522"/>
            <a:ext cx="381000" cy="152400"/>
          </a:xfrm>
          <a:prstGeom prst="rect">
            <a:avLst/>
          </a:prstGeom>
          <a:solidFill>
            <a:srgbClr val="DEDFF5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descr="Wide upward diagonal" id="1638" name="Google Shape;1638;p27"/>
          <p:cNvSpPr/>
          <p:nvPr/>
        </p:nvSpPr>
        <p:spPr>
          <a:xfrm>
            <a:off x="4051781" y="4186922"/>
            <a:ext cx="381000" cy="152400"/>
          </a:xfrm>
          <a:prstGeom prst="rect">
            <a:avLst/>
          </a:prstGeom>
          <a:solidFill>
            <a:srgbClr val="F6F5BD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descr="Wide upward diagonal" id="1639" name="Google Shape;1639;p27"/>
          <p:cNvSpPr/>
          <p:nvPr/>
        </p:nvSpPr>
        <p:spPr>
          <a:xfrm>
            <a:off x="2375381" y="3958322"/>
            <a:ext cx="381000" cy="152400"/>
          </a:xfrm>
          <a:prstGeom prst="rect">
            <a:avLst/>
          </a:prstGeom>
          <a:solidFill>
            <a:srgbClr val="F6F5BD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cxnSp>
        <p:nvCxnSpPr>
          <p:cNvPr id="1640" name="Google Shape;1640;p27"/>
          <p:cNvCxnSpPr/>
          <p:nvPr/>
        </p:nvCxnSpPr>
        <p:spPr>
          <a:xfrm rot="10800000">
            <a:off x="2756381" y="3958322"/>
            <a:ext cx="1295400" cy="2286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641" name="Google Shape;1641;p27"/>
          <p:cNvCxnSpPr/>
          <p:nvPr/>
        </p:nvCxnSpPr>
        <p:spPr>
          <a:xfrm rot="10800000">
            <a:off x="2756381" y="4110722"/>
            <a:ext cx="1295400" cy="2286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642" name="Google Shape;1642;p27"/>
          <p:cNvSpPr txBox="1"/>
          <p:nvPr/>
        </p:nvSpPr>
        <p:spPr>
          <a:xfrm>
            <a:off x="4712054" y="3833207"/>
            <a:ext cx="1559178" cy="9233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Write to private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copy-on-write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page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43" name="Google Shape;1643;p27"/>
          <p:cNvCxnSpPr/>
          <p:nvPr/>
        </p:nvCxnSpPr>
        <p:spPr>
          <a:xfrm rot="10800000">
            <a:off x="4432781" y="4263122"/>
            <a:ext cx="3810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8" name="Shape 1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9" name="Google Shape;1649;p28"/>
          <p:cNvSpPr txBox="1"/>
          <p:nvPr>
            <p:ph type="title"/>
          </p:nvPr>
        </p:nvSpPr>
        <p:spPr>
          <a:xfrm>
            <a:off x="357018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The </a:t>
            </a:r>
            <a:r>
              <a:rPr lang="en-GB">
                <a:latin typeface="Courier New"/>
                <a:ea typeface="Courier New"/>
                <a:cs typeface="Courier New"/>
                <a:sym typeface="Courier New"/>
              </a:rPr>
              <a:t>fork</a:t>
            </a:r>
            <a:r>
              <a:rPr lang="en-GB"/>
              <a:t> Function Revisited</a:t>
            </a:r>
            <a:endParaRPr/>
          </a:p>
        </p:txBody>
      </p:sp>
      <p:sp>
        <p:nvSpPr>
          <p:cNvPr id="1650" name="Google Shape;1650;p28"/>
          <p:cNvSpPr txBox="1"/>
          <p:nvPr>
            <p:ph idx="1" type="body"/>
          </p:nvPr>
        </p:nvSpPr>
        <p:spPr>
          <a:xfrm>
            <a:off x="396875" y="1362075"/>
            <a:ext cx="8518525" cy="4972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GB"/>
              <a:t>VM and memory mapping explain how </a:t>
            </a:r>
            <a:r>
              <a:rPr lang="en-GB">
                <a:latin typeface="Courier New"/>
                <a:ea typeface="Courier New"/>
                <a:cs typeface="Courier New"/>
                <a:sym typeface="Courier New"/>
              </a:rPr>
              <a:t>fork</a:t>
            </a:r>
            <a:r>
              <a:rPr lang="en-GB"/>
              <a:t> provides private address space for each process.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GB"/>
              <a:t>To create virtual address for new new process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GB"/>
              <a:t>Create exact copies of current </a:t>
            </a:r>
            <a:r>
              <a:rPr lang="en-GB">
                <a:latin typeface="Courier New"/>
                <a:ea typeface="Courier New"/>
                <a:cs typeface="Courier New"/>
                <a:sym typeface="Courier New"/>
              </a:rPr>
              <a:t>mm_struct</a:t>
            </a:r>
            <a:r>
              <a:rPr lang="en-GB"/>
              <a:t>, </a:t>
            </a:r>
            <a:r>
              <a:rPr lang="en-GB">
                <a:latin typeface="Courier New"/>
                <a:ea typeface="Courier New"/>
                <a:cs typeface="Courier New"/>
                <a:sym typeface="Courier New"/>
              </a:rPr>
              <a:t>vm_area_struct</a:t>
            </a:r>
            <a:r>
              <a:rPr lang="en-GB"/>
              <a:t>, and page tables.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GB"/>
              <a:t>Flag each page in both processes as read-only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GB"/>
              <a:t>Flag each </a:t>
            </a:r>
            <a:r>
              <a:rPr lang="en-GB">
                <a:latin typeface="Courier New"/>
                <a:ea typeface="Courier New"/>
                <a:cs typeface="Courier New"/>
                <a:sym typeface="Courier New"/>
              </a:rPr>
              <a:t>vm_area_struct </a:t>
            </a:r>
            <a:r>
              <a:rPr lang="en-GB">
                <a:latin typeface="Calibri"/>
                <a:ea typeface="Calibri"/>
                <a:cs typeface="Calibri"/>
                <a:sym typeface="Calibri"/>
              </a:rPr>
              <a:t>in</a:t>
            </a:r>
            <a:r>
              <a:rPr lang="en-GB"/>
              <a:t> both processes as private COW</a:t>
            </a:r>
            <a:endParaRPr/>
          </a:p>
          <a:p>
            <a:pPr indent="-1460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GB"/>
              <a:t>On return, each process has exact copy of virtual memory</a:t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GB"/>
              <a:t>Subsequent writes create new pages using COW mechanism.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5" name="Shape 1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6" name="Google Shape;1656;p29"/>
          <p:cNvSpPr txBox="1"/>
          <p:nvPr>
            <p:ph type="title"/>
          </p:nvPr>
        </p:nvSpPr>
        <p:spPr>
          <a:xfrm>
            <a:off x="357018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The </a:t>
            </a:r>
            <a:r>
              <a:rPr lang="en-GB">
                <a:latin typeface="Courier New"/>
                <a:ea typeface="Courier New"/>
                <a:cs typeface="Courier New"/>
                <a:sym typeface="Courier New"/>
              </a:rPr>
              <a:t>execve</a:t>
            </a:r>
            <a:r>
              <a:rPr lang="en-GB"/>
              <a:t> Function Revisited</a:t>
            </a:r>
            <a:endParaRPr/>
          </a:p>
        </p:txBody>
      </p:sp>
      <p:sp>
        <p:nvSpPr>
          <p:cNvPr id="1657" name="Google Shape;1657;p29"/>
          <p:cNvSpPr txBox="1"/>
          <p:nvPr>
            <p:ph idx="1" type="body"/>
          </p:nvPr>
        </p:nvSpPr>
        <p:spPr>
          <a:xfrm>
            <a:off x="5534024" y="1362074"/>
            <a:ext cx="3609975" cy="54959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59999"/>
              <a:buChar char="⬛"/>
            </a:pPr>
            <a:r>
              <a:rPr lang="en-GB"/>
              <a:t>To load and run a new program </a:t>
            </a:r>
            <a:r>
              <a:rPr lang="en-GB">
                <a:latin typeface="Courier New"/>
                <a:ea typeface="Courier New"/>
                <a:cs typeface="Courier New"/>
                <a:sym typeface="Courier New"/>
              </a:rPr>
              <a:t>a.out</a:t>
            </a:r>
            <a:r>
              <a:rPr lang="en-GB"/>
              <a:t> in the current process using </a:t>
            </a:r>
            <a:r>
              <a:rPr lang="en-GB">
                <a:latin typeface="Courier New"/>
                <a:ea typeface="Courier New"/>
                <a:cs typeface="Courier New"/>
                <a:sym typeface="Courier New"/>
              </a:rPr>
              <a:t>execve</a:t>
            </a:r>
            <a:r>
              <a:rPr lang="en-GB"/>
              <a:t>:</a:t>
            </a:r>
            <a:endParaRPr/>
          </a:p>
          <a:p>
            <a:pPr indent="-265176" lvl="0" marL="342900" rtl="0" algn="l">
              <a:lnSpc>
                <a:spcPct val="100000"/>
              </a:lnSpc>
              <a:spcBef>
                <a:spcPts val="408"/>
              </a:spcBef>
              <a:spcAft>
                <a:spcPts val="0"/>
              </a:spcAft>
              <a:buSzPct val="59999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8"/>
              </a:spcBef>
              <a:spcAft>
                <a:spcPts val="0"/>
              </a:spcAft>
              <a:buSzPct val="59999"/>
              <a:buChar char="⬛"/>
            </a:pPr>
            <a:r>
              <a:rPr lang="en-GB">
                <a:latin typeface="Calibri"/>
                <a:ea typeface="Calibri"/>
                <a:cs typeface="Calibri"/>
                <a:sym typeface="Calibri"/>
              </a:rPr>
              <a:t>Free</a:t>
            </a:r>
            <a:r>
              <a:rPr lang="en-GB">
                <a:latin typeface="Courier New"/>
                <a:ea typeface="Courier New"/>
                <a:cs typeface="Courier New"/>
                <a:sym typeface="Courier New"/>
              </a:rPr>
              <a:t> vm_area_struct</a:t>
            </a:r>
            <a:r>
              <a:rPr lang="en-GB"/>
              <a:t>’s and page tables for old areas</a:t>
            </a:r>
            <a:endParaRPr/>
          </a:p>
          <a:p>
            <a:pPr indent="-265176" lvl="0" marL="342900" rtl="0" algn="l">
              <a:lnSpc>
                <a:spcPct val="100000"/>
              </a:lnSpc>
              <a:spcBef>
                <a:spcPts val="408"/>
              </a:spcBef>
              <a:spcAft>
                <a:spcPts val="0"/>
              </a:spcAft>
              <a:buSzPct val="59999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8"/>
              </a:spcBef>
              <a:spcAft>
                <a:spcPts val="0"/>
              </a:spcAft>
              <a:buSzPct val="59999"/>
              <a:buChar char="⬛"/>
            </a:pPr>
            <a:r>
              <a:rPr lang="en-GB"/>
              <a:t>Create </a:t>
            </a:r>
            <a:r>
              <a:rPr lang="en-GB">
                <a:latin typeface="Courier New"/>
                <a:ea typeface="Courier New"/>
                <a:cs typeface="Courier New"/>
                <a:sym typeface="Courier New"/>
              </a:rPr>
              <a:t>vm_area_struct</a:t>
            </a:r>
            <a:r>
              <a:rPr lang="en-GB"/>
              <a:t>’s and page tables for new areas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SzPct val="110000"/>
              <a:buChar char="▪"/>
            </a:pPr>
            <a:r>
              <a:rPr lang="en-GB"/>
              <a:t>Programs and initialized data backed by object files.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SzPct val="110000"/>
              <a:buChar char="▪"/>
            </a:pPr>
            <a:r>
              <a:rPr lang="en-GB">
                <a:latin typeface="Courier New"/>
                <a:ea typeface="Courier New"/>
                <a:cs typeface="Courier New"/>
                <a:sym typeface="Courier New"/>
              </a:rPr>
              <a:t>.bss  </a:t>
            </a:r>
            <a:r>
              <a:rPr lang="en-GB"/>
              <a:t>and stack backed by anonymous files . </a:t>
            </a:r>
            <a:endParaRPr/>
          </a:p>
          <a:p>
            <a:pPr indent="-265176" lvl="0" marL="342900" rtl="0" algn="l">
              <a:lnSpc>
                <a:spcPct val="100000"/>
              </a:lnSpc>
              <a:spcBef>
                <a:spcPts val="408"/>
              </a:spcBef>
              <a:spcAft>
                <a:spcPts val="0"/>
              </a:spcAft>
              <a:buSzPct val="59999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8"/>
              </a:spcBef>
              <a:spcAft>
                <a:spcPts val="0"/>
              </a:spcAft>
              <a:buSzPct val="59999"/>
              <a:buChar char="⬛"/>
            </a:pPr>
            <a:r>
              <a:rPr lang="en-GB"/>
              <a:t>Set PC to entry point in </a:t>
            </a:r>
            <a:r>
              <a:rPr lang="en-GB">
                <a:latin typeface="Courier New"/>
                <a:ea typeface="Courier New"/>
                <a:cs typeface="Courier New"/>
                <a:sym typeface="Courier New"/>
              </a:rPr>
              <a:t>.text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SzPct val="110000"/>
              <a:buChar char="▪"/>
            </a:pPr>
            <a:r>
              <a:rPr lang="en-GB"/>
              <a:t>Linux will fault in code and data pages as needed.</a:t>
            </a:r>
            <a:endParaRPr/>
          </a:p>
        </p:txBody>
      </p:sp>
      <p:sp>
        <p:nvSpPr>
          <p:cNvPr id="1658" name="Google Shape;1658;p29"/>
          <p:cNvSpPr/>
          <p:nvPr/>
        </p:nvSpPr>
        <p:spPr>
          <a:xfrm>
            <a:off x="1514475" y="2627312"/>
            <a:ext cx="2174875" cy="638175"/>
          </a:xfrm>
          <a:prstGeom prst="rect">
            <a:avLst/>
          </a:prstGeom>
          <a:solidFill>
            <a:srgbClr val="D5F1CF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Memory mapped region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for shared libraries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9" name="Google Shape;1659;p29"/>
          <p:cNvSpPr/>
          <p:nvPr/>
        </p:nvSpPr>
        <p:spPr>
          <a:xfrm>
            <a:off x="1514475" y="3262312"/>
            <a:ext cx="2174875" cy="688975"/>
          </a:xfrm>
          <a:prstGeom prst="rect">
            <a:avLst/>
          </a:prstGeom>
          <a:solidFill>
            <a:srgbClr val="C0C0C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660" name="Google Shape;1660;p29"/>
          <p:cNvSpPr/>
          <p:nvPr/>
        </p:nvSpPr>
        <p:spPr>
          <a:xfrm>
            <a:off x="1514475" y="3956050"/>
            <a:ext cx="2174875" cy="636587"/>
          </a:xfrm>
          <a:prstGeom prst="rect">
            <a:avLst/>
          </a:prstGeom>
          <a:solidFill>
            <a:srgbClr val="DEDFF5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Runtime heap (via malloc)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1" name="Google Shape;1661;p29"/>
          <p:cNvSpPr/>
          <p:nvPr/>
        </p:nvSpPr>
        <p:spPr>
          <a:xfrm>
            <a:off x="1514475" y="1770062"/>
            <a:ext cx="2174875" cy="863600"/>
          </a:xfrm>
          <a:prstGeom prst="rect">
            <a:avLst/>
          </a:prstGeom>
          <a:solidFill>
            <a:srgbClr val="C0C0C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662" name="Google Shape;1662;p29"/>
          <p:cNvSpPr/>
          <p:nvPr/>
        </p:nvSpPr>
        <p:spPr>
          <a:xfrm>
            <a:off x="1514475" y="5305425"/>
            <a:ext cx="2174875" cy="379412"/>
          </a:xfrm>
          <a:prstGeom prst="rect">
            <a:avLst/>
          </a:prstGeom>
          <a:solidFill>
            <a:srgbClr val="F1C7C7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Program text (.text)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3" name="Google Shape;1663;p29"/>
          <p:cNvSpPr/>
          <p:nvPr/>
        </p:nvSpPr>
        <p:spPr>
          <a:xfrm>
            <a:off x="1514475" y="4943475"/>
            <a:ext cx="2174875" cy="377825"/>
          </a:xfrm>
          <a:prstGeom prst="rect">
            <a:avLst/>
          </a:prstGeom>
          <a:solidFill>
            <a:srgbClr val="F6F5BD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Initialized data (.data)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4" name="Google Shape;1664;p29"/>
          <p:cNvSpPr/>
          <p:nvPr/>
        </p:nvSpPr>
        <p:spPr>
          <a:xfrm>
            <a:off x="1514475" y="4579937"/>
            <a:ext cx="2174875" cy="376238"/>
          </a:xfrm>
          <a:prstGeom prst="rect">
            <a:avLst/>
          </a:prstGeom>
          <a:solidFill>
            <a:srgbClr val="DEDFF5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Uninitialized data (.bss)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65" name="Google Shape;1665;p29"/>
          <p:cNvCxnSpPr/>
          <p:nvPr/>
        </p:nvCxnSpPr>
        <p:spPr>
          <a:xfrm rot="10800000">
            <a:off x="2540000" y="3633787"/>
            <a:ext cx="0" cy="33655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66" name="Google Shape;1666;p29"/>
          <p:cNvSpPr/>
          <p:nvPr/>
        </p:nvSpPr>
        <p:spPr>
          <a:xfrm>
            <a:off x="1514475" y="1452562"/>
            <a:ext cx="2174875" cy="320675"/>
          </a:xfrm>
          <a:prstGeom prst="rect">
            <a:avLst/>
          </a:prstGeom>
          <a:solidFill>
            <a:srgbClr val="DEDFF5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User stack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67" name="Google Shape;1667;p29"/>
          <p:cNvCxnSpPr/>
          <p:nvPr/>
        </p:nvCxnSpPr>
        <p:spPr>
          <a:xfrm rot="10800000">
            <a:off x="2551113" y="2297112"/>
            <a:ext cx="0" cy="334963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68" name="Google Shape;1668;p29"/>
          <p:cNvCxnSpPr/>
          <p:nvPr/>
        </p:nvCxnSpPr>
        <p:spPr>
          <a:xfrm>
            <a:off x="2560638" y="1773237"/>
            <a:ext cx="0" cy="33655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69" name="Google Shape;1669;p29"/>
          <p:cNvSpPr/>
          <p:nvPr/>
        </p:nvSpPr>
        <p:spPr>
          <a:xfrm>
            <a:off x="1514475" y="5668962"/>
            <a:ext cx="2174875" cy="377825"/>
          </a:xfrm>
          <a:prstGeom prst="rect">
            <a:avLst/>
          </a:prstGeom>
          <a:solidFill>
            <a:srgbClr val="C0C0C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670" name="Google Shape;1670;p29"/>
          <p:cNvSpPr txBox="1"/>
          <p:nvPr/>
        </p:nvSpPr>
        <p:spPr>
          <a:xfrm>
            <a:off x="1316115" y="5867400"/>
            <a:ext cx="26654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1" name="Google Shape;1671;p29"/>
          <p:cNvSpPr/>
          <p:nvPr/>
        </p:nvSpPr>
        <p:spPr>
          <a:xfrm>
            <a:off x="3746500" y="1439862"/>
            <a:ext cx="76200" cy="304800"/>
          </a:xfrm>
          <a:prstGeom prst="rightBrace">
            <a:avLst>
              <a:gd fmla="val 33333" name="adj1"/>
              <a:gd fmla="val 50000" name="adj2"/>
            </a:avLst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672" name="Google Shape;1672;p29"/>
          <p:cNvSpPr/>
          <p:nvPr/>
        </p:nvSpPr>
        <p:spPr>
          <a:xfrm>
            <a:off x="3746500" y="2659062"/>
            <a:ext cx="76200" cy="609600"/>
          </a:xfrm>
          <a:prstGeom prst="rightBrace">
            <a:avLst>
              <a:gd fmla="val 66667" name="adj1"/>
              <a:gd fmla="val 50000" name="adj2"/>
            </a:avLst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673" name="Google Shape;1673;p29"/>
          <p:cNvSpPr/>
          <p:nvPr/>
        </p:nvSpPr>
        <p:spPr>
          <a:xfrm>
            <a:off x="3746500" y="3967162"/>
            <a:ext cx="74613" cy="584200"/>
          </a:xfrm>
          <a:prstGeom prst="rightBrace">
            <a:avLst>
              <a:gd fmla="val 65248" name="adj1"/>
              <a:gd fmla="val 50000" name="adj2"/>
            </a:avLst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674" name="Google Shape;1674;p29"/>
          <p:cNvSpPr/>
          <p:nvPr/>
        </p:nvSpPr>
        <p:spPr>
          <a:xfrm>
            <a:off x="3746500" y="4576762"/>
            <a:ext cx="76200" cy="355600"/>
          </a:xfrm>
          <a:prstGeom prst="rightBrace">
            <a:avLst>
              <a:gd fmla="val 38889" name="adj1"/>
              <a:gd fmla="val 50000" name="adj2"/>
            </a:avLst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675" name="Google Shape;1675;p29"/>
          <p:cNvSpPr/>
          <p:nvPr/>
        </p:nvSpPr>
        <p:spPr>
          <a:xfrm>
            <a:off x="3746500" y="4983162"/>
            <a:ext cx="76200" cy="647700"/>
          </a:xfrm>
          <a:prstGeom prst="rightBrace">
            <a:avLst>
              <a:gd fmla="val 70833" name="adj1"/>
              <a:gd fmla="val 50000" name="adj2"/>
            </a:avLst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676" name="Google Shape;1676;p29"/>
          <p:cNvSpPr txBox="1"/>
          <p:nvPr/>
        </p:nvSpPr>
        <p:spPr>
          <a:xfrm>
            <a:off x="3822700" y="1439862"/>
            <a:ext cx="1878013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1" lang="en-GB" sz="1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Private, demand-zero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7" name="Google Shape;1677;p29"/>
          <p:cNvSpPr txBox="1"/>
          <p:nvPr/>
        </p:nvSpPr>
        <p:spPr>
          <a:xfrm>
            <a:off x="211180" y="2430462"/>
            <a:ext cx="649203" cy="287258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rPr>
              <a:t>libc.so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8" name="Google Shape;1678;p29"/>
          <p:cNvSpPr/>
          <p:nvPr/>
        </p:nvSpPr>
        <p:spPr>
          <a:xfrm>
            <a:off x="88900" y="2735262"/>
            <a:ext cx="914400" cy="228600"/>
          </a:xfrm>
          <a:prstGeom prst="rect">
            <a:avLst/>
          </a:prstGeom>
          <a:solidFill>
            <a:srgbClr val="D5F1C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rPr>
              <a:t>.data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9" name="Google Shape;1679;p29"/>
          <p:cNvSpPr/>
          <p:nvPr/>
        </p:nvSpPr>
        <p:spPr>
          <a:xfrm>
            <a:off x="88900" y="2963862"/>
            <a:ext cx="914400" cy="228600"/>
          </a:xfrm>
          <a:prstGeom prst="rect">
            <a:avLst/>
          </a:prstGeom>
          <a:solidFill>
            <a:srgbClr val="D5F1C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rPr>
              <a:t>.text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80" name="Google Shape;1680;p29"/>
          <p:cNvCxnSpPr/>
          <p:nvPr/>
        </p:nvCxnSpPr>
        <p:spPr>
          <a:xfrm>
            <a:off x="1003300" y="2811462"/>
            <a:ext cx="5334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81" name="Google Shape;1681;p29"/>
          <p:cNvCxnSpPr/>
          <p:nvPr/>
        </p:nvCxnSpPr>
        <p:spPr>
          <a:xfrm>
            <a:off x="1003300" y="3116262"/>
            <a:ext cx="5334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82" name="Google Shape;1682;p29"/>
          <p:cNvSpPr txBox="1"/>
          <p:nvPr/>
        </p:nvSpPr>
        <p:spPr>
          <a:xfrm>
            <a:off x="3822700" y="2811462"/>
            <a:ext cx="17113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1" lang="en-GB" sz="1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Shared, file-backed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3" name="Google Shape;1683;p29"/>
          <p:cNvSpPr txBox="1"/>
          <p:nvPr/>
        </p:nvSpPr>
        <p:spPr>
          <a:xfrm>
            <a:off x="3822700" y="4106862"/>
            <a:ext cx="1878013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1" lang="en-GB" sz="1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Private, demand-zero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4" name="Google Shape;1684;p29"/>
          <p:cNvSpPr txBox="1"/>
          <p:nvPr/>
        </p:nvSpPr>
        <p:spPr>
          <a:xfrm>
            <a:off x="3822700" y="4564062"/>
            <a:ext cx="1878013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1" lang="en-GB" sz="1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Private, demand-zero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5" name="Google Shape;1685;p29"/>
          <p:cNvSpPr txBox="1"/>
          <p:nvPr/>
        </p:nvSpPr>
        <p:spPr>
          <a:xfrm>
            <a:off x="3822700" y="5173662"/>
            <a:ext cx="16922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1" lang="en-GB" sz="1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Private, file-backed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6" name="Google Shape;1686;p29"/>
          <p:cNvSpPr txBox="1"/>
          <p:nvPr/>
        </p:nvSpPr>
        <p:spPr>
          <a:xfrm>
            <a:off x="275700" y="4792662"/>
            <a:ext cx="534450" cy="287258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rPr>
              <a:t>a.out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7" name="Google Shape;1687;p29"/>
          <p:cNvSpPr/>
          <p:nvPr/>
        </p:nvSpPr>
        <p:spPr>
          <a:xfrm>
            <a:off x="88900" y="5097462"/>
            <a:ext cx="914400" cy="228600"/>
          </a:xfrm>
          <a:prstGeom prst="rect">
            <a:avLst/>
          </a:prstGeom>
          <a:solidFill>
            <a:srgbClr val="F6F5BD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rPr>
              <a:t>.data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8" name="Google Shape;1688;p29"/>
          <p:cNvSpPr/>
          <p:nvPr/>
        </p:nvSpPr>
        <p:spPr>
          <a:xfrm>
            <a:off x="88900" y="5326062"/>
            <a:ext cx="914400" cy="228600"/>
          </a:xfrm>
          <a:prstGeom prst="rect">
            <a:avLst/>
          </a:prstGeom>
          <a:solidFill>
            <a:srgbClr val="F1C7C7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rPr>
              <a:t>.text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89" name="Google Shape;1689;p29"/>
          <p:cNvCxnSpPr/>
          <p:nvPr/>
        </p:nvCxnSpPr>
        <p:spPr>
          <a:xfrm>
            <a:off x="1003300" y="5173662"/>
            <a:ext cx="5334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90" name="Google Shape;1690;p29"/>
          <p:cNvCxnSpPr/>
          <p:nvPr/>
        </p:nvCxnSpPr>
        <p:spPr>
          <a:xfrm>
            <a:off x="1003300" y="5478462"/>
            <a:ext cx="5334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5" name="Shape 1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6" name="Google Shape;1696;p30"/>
          <p:cNvSpPr txBox="1"/>
          <p:nvPr>
            <p:ph idx="4294967295" type="title"/>
          </p:nvPr>
        </p:nvSpPr>
        <p:spPr>
          <a:xfrm>
            <a:off x="453497" y="434447"/>
            <a:ext cx="7259637" cy="5730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User-Level Memory Mapping</a:t>
            </a:r>
            <a:endParaRPr/>
          </a:p>
        </p:txBody>
      </p:sp>
      <p:sp>
        <p:nvSpPr>
          <p:cNvPr id="1697" name="Google Shape;1697;p30"/>
          <p:cNvSpPr txBox="1"/>
          <p:nvPr>
            <p:ph idx="1" type="body"/>
          </p:nvPr>
        </p:nvSpPr>
        <p:spPr>
          <a:xfrm>
            <a:off x="455613" y="1220788"/>
            <a:ext cx="8459787" cy="56372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080"/>
              <a:buNone/>
            </a:pPr>
            <a:r>
              <a:rPr lang="en-GB" sz="1800">
                <a:latin typeface="Courier New"/>
                <a:ea typeface="Courier New"/>
                <a:cs typeface="Courier New"/>
                <a:sym typeface="Courier New"/>
              </a:rPr>
              <a:t>void *mmap(void *start, int len,</a:t>
            </a:r>
            <a:endParaRPr/>
          </a:p>
          <a:p>
            <a:pPr indent="-342900" lvl="0" marL="34290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080"/>
              <a:buNone/>
            </a:pPr>
            <a:r>
              <a:rPr lang="en-GB" sz="1800">
                <a:latin typeface="Courier New"/>
                <a:ea typeface="Courier New"/>
                <a:cs typeface="Courier New"/>
                <a:sym typeface="Courier New"/>
              </a:rPr>
              <a:t>           int prot, int flags, int fd, int offset</a:t>
            </a:r>
            <a:r>
              <a:rPr lang="en-GB" sz="2000"/>
              <a:t>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Font typeface="Noto Sans Symbols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GB"/>
              <a:t>Map </a:t>
            </a:r>
            <a:r>
              <a:rPr b="1" lang="en-GB">
                <a:latin typeface="Courier New"/>
                <a:ea typeface="Courier New"/>
                <a:cs typeface="Courier New"/>
                <a:sym typeface="Courier New"/>
              </a:rPr>
              <a:t>len</a:t>
            </a:r>
            <a:r>
              <a:rPr lang="en-GB"/>
              <a:t> bytes starting at offset </a:t>
            </a:r>
            <a:r>
              <a:rPr b="1" lang="en-GB">
                <a:latin typeface="Courier New"/>
                <a:ea typeface="Courier New"/>
                <a:cs typeface="Courier New"/>
                <a:sym typeface="Courier New"/>
              </a:rPr>
              <a:t>offset</a:t>
            </a:r>
            <a:r>
              <a:rPr lang="en-GB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/>
              <a:t>of the file specified by file description </a:t>
            </a:r>
            <a:r>
              <a:rPr b="1" lang="en-GB">
                <a:latin typeface="Courier New"/>
                <a:ea typeface="Courier New"/>
                <a:cs typeface="Courier New"/>
                <a:sym typeface="Courier New"/>
              </a:rPr>
              <a:t>fd</a:t>
            </a:r>
            <a:r>
              <a:rPr lang="en-GB"/>
              <a:t>, preferably at address </a:t>
            </a:r>
            <a:r>
              <a:rPr b="1" lang="en-GB">
                <a:latin typeface="Courier New"/>
                <a:ea typeface="Courier New"/>
                <a:cs typeface="Courier New"/>
                <a:sym typeface="Courier New"/>
              </a:rPr>
              <a:t>start</a:t>
            </a:r>
            <a:r>
              <a:rPr lang="en-GB"/>
              <a:t> </a:t>
            </a:r>
            <a:endParaRPr/>
          </a:p>
          <a:p>
            <a:pPr indent="-285750" lvl="1" marL="742950" rtl="0" algn="l">
              <a:lnSpc>
                <a:spcPct val="101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b="1" lang="en-GB">
                <a:latin typeface="Courier New"/>
                <a:ea typeface="Courier New"/>
                <a:cs typeface="Courier New"/>
                <a:sym typeface="Courier New"/>
              </a:rPr>
              <a:t>start</a:t>
            </a:r>
            <a:r>
              <a:rPr lang="en-GB"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-GB"/>
              <a:t> may be 0 for “pick an address”</a:t>
            </a:r>
            <a:endParaRPr/>
          </a:p>
          <a:p>
            <a:pPr indent="-285750" lvl="1" marL="742950" rtl="0" algn="l">
              <a:lnSpc>
                <a:spcPct val="101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b="1" lang="en-GB">
                <a:latin typeface="Courier New"/>
                <a:ea typeface="Courier New"/>
                <a:cs typeface="Courier New"/>
                <a:sym typeface="Courier New"/>
              </a:rPr>
              <a:t>prot</a:t>
            </a:r>
            <a:r>
              <a:rPr lang="en-GB"/>
              <a:t>: PROT_READ, PROT_WRITE, ...</a:t>
            </a:r>
            <a:endParaRPr/>
          </a:p>
          <a:p>
            <a:pPr indent="-285750" lvl="1" marL="742950" rtl="0" algn="l">
              <a:lnSpc>
                <a:spcPct val="101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b="1" lang="en-GB">
                <a:latin typeface="Courier New"/>
                <a:ea typeface="Courier New"/>
                <a:cs typeface="Courier New"/>
                <a:sym typeface="Courier New"/>
              </a:rPr>
              <a:t>flags</a:t>
            </a:r>
            <a:r>
              <a:rPr lang="en-GB"/>
              <a:t>: MAP_ANON, MAP_PRIVATE, MAP_SHARED, ...</a:t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GB"/>
              <a:t>Return a pointer to start of mapped area (may not be </a:t>
            </a:r>
            <a:r>
              <a:rPr b="1" lang="en-GB">
                <a:latin typeface="Courier New"/>
                <a:ea typeface="Courier New"/>
                <a:cs typeface="Courier New"/>
                <a:sym typeface="Courier New"/>
              </a:rPr>
              <a:t>start</a:t>
            </a:r>
            <a:r>
              <a:rPr lang="en-GB"/>
              <a:t>)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2" name="Shape 1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3" name="Google Shape;1703;p31"/>
          <p:cNvSpPr txBox="1"/>
          <p:nvPr>
            <p:ph idx="4294967295" type="title"/>
          </p:nvPr>
        </p:nvSpPr>
        <p:spPr>
          <a:xfrm>
            <a:off x="304800" y="493713"/>
            <a:ext cx="7259637" cy="5730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User-Level Memory Mapping</a:t>
            </a:r>
            <a:endParaRPr/>
          </a:p>
        </p:txBody>
      </p:sp>
      <p:sp>
        <p:nvSpPr>
          <p:cNvPr id="1704" name="Google Shape;1704;p31"/>
          <p:cNvSpPr txBox="1"/>
          <p:nvPr>
            <p:ph idx="1" type="body"/>
          </p:nvPr>
        </p:nvSpPr>
        <p:spPr>
          <a:xfrm>
            <a:off x="330201" y="1220789"/>
            <a:ext cx="8307387" cy="8366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080"/>
              <a:buNone/>
            </a:pPr>
            <a:r>
              <a:rPr lang="en-GB" sz="1800">
                <a:latin typeface="Courier New"/>
                <a:ea typeface="Courier New"/>
                <a:cs typeface="Courier New"/>
                <a:sym typeface="Courier New"/>
              </a:rPr>
              <a:t>void *mmap(void *start, int len,</a:t>
            </a:r>
            <a:endParaRPr/>
          </a:p>
          <a:p>
            <a:pPr indent="-342900" lvl="0" marL="34290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080"/>
              <a:buNone/>
            </a:pPr>
            <a:r>
              <a:rPr lang="en-GB" sz="1800">
                <a:latin typeface="Courier New"/>
                <a:ea typeface="Courier New"/>
                <a:cs typeface="Courier New"/>
                <a:sym typeface="Courier New"/>
              </a:rPr>
              <a:t>           int prot, int flags, int fd, int offset</a:t>
            </a:r>
            <a:r>
              <a:rPr lang="en-GB" sz="2000"/>
              <a:t>)</a:t>
            </a:r>
            <a:endParaRPr sz="2000"/>
          </a:p>
        </p:txBody>
      </p:sp>
      <p:sp>
        <p:nvSpPr>
          <p:cNvPr id="1705" name="Google Shape;1705;p31"/>
          <p:cNvSpPr/>
          <p:nvPr/>
        </p:nvSpPr>
        <p:spPr>
          <a:xfrm>
            <a:off x="2057400" y="2362200"/>
            <a:ext cx="990600" cy="3657600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6" name="Google Shape;1706;p31"/>
          <p:cNvSpPr/>
          <p:nvPr/>
        </p:nvSpPr>
        <p:spPr>
          <a:xfrm>
            <a:off x="2057400" y="3733800"/>
            <a:ext cx="990600" cy="1143000"/>
          </a:xfrm>
          <a:prstGeom prst="rect">
            <a:avLst/>
          </a:prstGeom>
          <a:solidFill>
            <a:srgbClr val="D5D5F4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7" name="Google Shape;1707;p31"/>
          <p:cNvSpPr/>
          <p:nvPr/>
        </p:nvSpPr>
        <p:spPr>
          <a:xfrm>
            <a:off x="5638800" y="1981200"/>
            <a:ext cx="990600" cy="4038600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8" name="Google Shape;1708;p31"/>
          <p:cNvSpPr/>
          <p:nvPr/>
        </p:nvSpPr>
        <p:spPr>
          <a:xfrm>
            <a:off x="5638800" y="2590800"/>
            <a:ext cx="990600" cy="1143000"/>
          </a:xfrm>
          <a:prstGeom prst="rect">
            <a:avLst/>
          </a:prstGeom>
          <a:solidFill>
            <a:srgbClr val="D5D5F4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09" name="Google Shape;1709;p31"/>
          <p:cNvCxnSpPr/>
          <p:nvPr/>
        </p:nvCxnSpPr>
        <p:spPr>
          <a:xfrm flipH="1" rot="10800000">
            <a:off x="3048000" y="2590800"/>
            <a:ext cx="2590800" cy="1143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710" name="Google Shape;1710;p31"/>
          <p:cNvCxnSpPr/>
          <p:nvPr/>
        </p:nvCxnSpPr>
        <p:spPr>
          <a:xfrm flipH="1" rot="10800000">
            <a:off x="3048000" y="3733800"/>
            <a:ext cx="2590800" cy="1143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1711" name="Google Shape;1711;p31"/>
          <p:cNvSpPr/>
          <p:nvPr/>
        </p:nvSpPr>
        <p:spPr>
          <a:xfrm>
            <a:off x="6705600" y="2590800"/>
            <a:ext cx="228600" cy="1143000"/>
          </a:xfrm>
          <a:prstGeom prst="rightBrace">
            <a:avLst>
              <a:gd fmla="val 63889" name="adj1"/>
              <a:gd fmla="val 50000" name="adj2"/>
            </a:avLst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712" name="Google Shape;1712;p31"/>
          <p:cNvSpPr/>
          <p:nvPr/>
        </p:nvSpPr>
        <p:spPr>
          <a:xfrm>
            <a:off x="6934200" y="2963336"/>
            <a:ext cx="137730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len </a:t>
            </a:r>
            <a:r>
              <a:rPr b="1" i="0" lang="en-GB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bytes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13" name="Google Shape;1713;p31"/>
          <p:cNvCxnSpPr/>
          <p:nvPr/>
        </p:nvCxnSpPr>
        <p:spPr>
          <a:xfrm rot="10800000">
            <a:off x="6629400" y="3733800"/>
            <a:ext cx="609600" cy="1588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714" name="Google Shape;1714;p31"/>
          <p:cNvSpPr/>
          <p:nvPr/>
        </p:nvSpPr>
        <p:spPr>
          <a:xfrm>
            <a:off x="7239000" y="3536889"/>
            <a:ext cx="95410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start</a:t>
            </a:r>
            <a:endParaRPr b="1" i="0" sz="20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715" name="Google Shape;1715;p31"/>
          <p:cNvSpPr txBox="1"/>
          <p:nvPr/>
        </p:nvSpPr>
        <p:spPr>
          <a:xfrm>
            <a:off x="6781800" y="3857936"/>
            <a:ext cx="186352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(or address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chosen by kernel)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6" name="Google Shape;1716;p31"/>
          <p:cNvSpPr txBox="1"/>
          <p:nvPr/>
        </p:nvSpPr>
        <p:spPr>
          <a:xfrm>
            <a:off x="4834468" y="6031468"/>
            <a:ext cx="267227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1" lang="en-GB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Process virtual memory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7" name="Google Shape;1717;p31"/>
          <p:cNvSpPr txBox="1"/>
          <p:nvPr/>
        </p:nvSpPr>
        <p:spPr>
          <a:xfrm>
            <a:off x="1371753" y="6019800"/>
            <a:ext cx="2387448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1" lang="en-GB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Disk file specified by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1" lang="en-GB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file descriptor </a:t>
            </a:r>
            <a:r>
              <a:rPr b="1" i="0" lang="en-GB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fd</a:t>
            </a:r>
            <a:endParaRPr b="1" i="0" sz="20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718" name="Google Shape;1718;p31"/>
          <p:cNvSpPr/>
          <p:nvPr/>
        </p:nvSpPr>
        <p:spPr>
          <a:xfrm flipH="1">
            <a:off x="1752600" y="3733800"/>
            <a:ext cx="228600" cy="1143000"/>
          </a:xfrm>
          <a:prstGeom prst="rightBrace">
            <a:avLst>
              <a:gd fmla="val 63889" name="adj1"/>
              <a:gd fmla="val 50000" name="adj2"/>
            </a:avLst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719" name="Google Shape;1719;p31"/>
          <p:cNvSpPr/>
          <p:nvPr/>
        </p:nvSpPr>
        <p:spPr>
          <a:xfrm>
            <a:off x="358366" y="4104157"/>
            <a:ext cx="137730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len </a:t>
            </a:r>
            <a:r>
              <a:rPr b="1" i="0" lang="en-GB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bytes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0" name="Google Shape;1720;p31"/>
          <p:cNvSpPr/>
          <p:nvPr/>
        </p:nvSpPr>
        <p:spPr>
          <a:xfrm>
            <a:off x="152400" y="4676745"/>
            <a:ext cx="1107996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offset</a:t>
            </a:r>
            <a:endParaRPr b="1" i="0" sz="20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cxnSp>
        <p:nvCxnSpPr>
          <p:cNvPr id="1721" name="Google Shape;1721;p31"/>
          <p:cNvCxnSpPr>
            <a:stCxn id="1720" idx="3"/>
          </p:cNvCxnSpPr>
          <p:nvPr/>
        </p:nvCxnSpPr>
        <p:spPr>
          <a:xfrm>
            <a:off x="1260396" y="4876800"/>
            <a:ext cx="797100" cy="15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722" name="Google Shape;1722;p31"/>
          <p:cNvSpPr txBox="1"/>
          <p:nvPr/>
        </p:nvSpPr>
        <p:spPr>
          <a:xfrm>
            <a:off x="262468" y="5003799"/>
            <a:ext cx="84542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(bytes)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3" name="Google Shape;1723;p31"/>
          <p:cNvSpPr txBox="1"/>
          <p:nvPr/>
        </p:nvSpPr>
        <p:spPr>
          <a:xfrm>
            <a:off x="1790004" y="5819001"/>
            <a:ext cx="29240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4" name="Google Shape;1724;p31"/>
          <p:cNvSpPr txBox="1"/>
          <p:nvPr/>
        </p:nvSpPr>
        <p:spPr>
          <a:xfrm>
            <a:off x="5351542" y="5791200"/>
            <a:ext cx="29240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9" name="Shape 1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" name="Google Shape;1730;p32"/>
          <p:cNvSpPr txBox="1"/>
          <p:nvPr>
            <p:ph idx="4294967295" type="title"/>
          </p:nvPr>
        </p:nvSpPr>
        <p:spPr>
          <a:xfrm>
            <a:off x="0" y="461963"/>
            <a:ext cx="9144000" cy="6048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8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>
                <a:latin typeface="Calibri"/>
                <a:ea typeface="Calibri"/>
                <a:cs typeface="Calibri"/>
                <a:sym typeface="Calibri"/>
              </a:rPr>
              <a:t>Example: Using </a:t>
            </a:r>
            <a:r>
              <a:rPr lang="en-GB">
                <a:latin typeface="Courier New"/>
                <a:ea typeface="Courier New"/>
                <a:cs typeface="Courier New"/>
                <a:sym typeface="Courier New"/>
              </a:rPr>
              <a:t>mmap</a:t>
            </a:r>
            <a:r>
              <a:rPr lang="en-GB">
                <a:latin typeface="Calibri"/>
                <a:ea typeface="Calibri"/>
                <a:cs typeface="Calibri"/>
                <a:sym typeface="Calibri"/>
              </a:rPr>
              <a:t> to Copy Files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731" name="Google Shape;1731;p32"/>
          <p:cNvSpPr/>
          <p:nvPr/>
        </p:nvSpPr>
        <p:spPr>
          <a:xfrm>
            <a:off x="4419600" y="2436812"/>
            <a:ext cx="4572000" cy="4116388"/>
          </a:xfrm>
          <a:prstGeom prst="rect">
            <a:avLst/>
          </a:prstGeom>
          <a:solidFill>
            <a:srgbClr val="F6F5BD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CB2418"/>
                </a:solidFill>
                <a:latin typeface="Arial"/>
                <a:ea typeface="Arial"/>
                <a:cs typeface="Arial"/>
                <a:sym typeface="Arial"/>
              </a:rPr>
              <a:t>/* mmapcopy driver */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2D961E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GB" sz="1400" u="none" cap="none" strike="noStrike">
                <a:solidFill>
                  <a:srgbClr val="4A00FF"/>
                </a:solidFill>
                <a:latin typeface="Arial"/>
                <a:ea typeface="Arial"/>
                <a:cs typeface="Arial"/>
                <a:sym typeface="Arial"/>
              </a:rPr>
              <a:t>main</a:t>
            </a: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1" i="0" lang="en-GB" sz="1400" u="none" cap="none" strike="noStrike">
                <a:solidFill>
                  <a:srgbClr val="2D961E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GB" sz="1400" u="none" cap="none" strike="noStrike">
                <a:solidFill>
                  <a:srgbClr val="C1651C"/>
                </a:solidFill>
                <a:latin typeface="Arial"/>
                <a:ea typeface="Arial"/>
                <a:cs typeface="Arial"/>
                <a:sym typeface="Arial"/>
              </a:rPr>
              <a:t>argc</a:t>
            </a: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en-GB" sz="1400" u="none" cap="none" strike="noStrike">
                <a:solidFill>
                  <a:srgbClr val="2D961E"/>
                </a:solidFill>
                <a:latin typeface="Arial"/>
                <a:ea typeface="Arial"/>
                <a:cs typeface="Arial"/>
                <a:sym typeface="Arial"/>
              </a:rPr>
              <a:t>char</a:t>
            </a: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**</a:t>
            </a:r>
            <a:r>
              <a:rPr b="1" i="0" lang="en-GB" sz="1400" u="none" cap="none" strike="noStrike">
                <a:solidFill>
                  <a:srgbClr val="C1651C"/>
                </a:solidFill>
                <a:latin typeface="Arial"/>
                <a:ea typeface="Arial"/>
                <a:cs typeface="Arial"/>
                <a:sym typeface="Arial"/>
              </a:rPr>
              <a:t>argv</a:t>
            </a: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b="1" i="0" lang="en-GB" sz="1400" u="none" cap="none" strike="noStrike">
                <a:solidFill>
                  <a:srgbClr val="C200FF"/>
                </a:solidFill>
                <a:latin typeface="Arial"/>
                <a:ea typeface="Arial"/>
                <a:cs typeface="Arial"/>
                <a:sym typeface="Arial"/>
              </a:rPr>
              <a:t>struct</a:t>
            </a: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GB" sz="1400" u="none" cap="none" strike="noStrike">
                <a:solidFill>
                  <a:srgbClr val="2D961E"/>
                </a:solidFill>
                <a:latin typeface="Arial"/>
                <a:ea typeface="Arial"/>
                <a:cs typeface="Arial"/>
                <a:sym typeface="Arial"/>
              </a:rPr>
              <a:t>stat</a:t>
            </a: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GB" sz="1400" u="none" cap="none" strike="noStrike">
                <a:solidFill>
                  <a:srgbClr val="C1651C"/>
                </a:solidFill>
                <a:latin typeface="Arial"/>
                <a:ea typeface="Arial"/>
                <a:cs typeface="Arial"/>
                <a:sym typeface="Arial"/>
              </a:rPr>
              <a:t>stat</a:t>
            </a: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b="1" i="0" lang="en-GB" sz="1400" u="none" cap="none" strike="noStrike">
                <a:solidFill>
                  <a:srgbClr val="2D961E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GB" sz="1400" u="none" cap="none" strike="noStrike">
                <a:solidFill>
                  <a:srgbClr val="C1651C"/>
                </a:solidFill>
                <a:latin typeface="Arial"/>
                <a:ea typeface="Arial"/>
                <a:cs typeface="Arial"/>
                <a:sym typeface="Arial"/>
              </a:rPr>
              <a:t>fd</a:t>
            </a: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b="1" i="0" lang="en-GB" sz="1400" u="none" cap="none" strike="noStrike">
                <a:solidFill>
                  <a:srgbClr val="CB2418"/>
                </a:solidFill>
                <a:latin typeface="Arial"/>
                <a:ea typeface="Arial"/>
                <a:cs typeface="Arial"/>
                <a:sym typeface="Arial"/>
              </a:rPr>
              <a:t>/* Check for required cmd line arg */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b="1" i="0" lang="en-GB" sz="1400" u="none" cap="none" strike="noStrike">
                <a:solidFill>
                  <a:srgbClr val="C200FF"/>
                </a:solidFill>
                <a:latin typeface="Arial"/>
                <a:ea typeface="Arial"/>
                <a:cs typeface="Arial"/>
                <a:sym typeface="Arial"/>
              </a:rPr>
              <a:t>if</a:t>
            </a: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(argc != 2)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printf(</a:t>
            </a:r>
            <a:r>
              <a:rPr b="1" i="0" lang="en-GB" sz="1400" u="none" cap="none" strike="noStrike">
                <a:solidFill>
                  <a:srgbClr val="9D206F"/>
                </a:solidFill>
                <a:latin typeface="Arial"/>
                <a:ea typeface="Arial"/>
                <a:cs typeface="Arial"/>
                <a:sym typeface="Arial"/>
              </a:rPr>
              <a:t>"usage: %s &lt;filename&gt;\n"</a:t>
            </a: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argv[0]);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exit(0);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b="1" i="0" lang="en-GB" sz="1400" u="none" cap="none" strike="noStrike">
                <a:solidFill>
                  <a:srgbClr val="CB2418"/>
                </a:solidFill>
                <a:latin typeface="Arial"/>
                <a:ea typeface="Arial"/>
                <a:cs typeface="Arial"/>
                <a:sym typeface="Arial"/>
              </a:rPr>
              <a:t>/* Copy input file to stdout */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fd = Open(argv[1], O_RDONLY, 0);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Fstat(fd, &amp;stat);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mmapcopy(fd, stat.st_size);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exit(0);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1" i="0" sz="1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732" name="Google Shape;1732;p32"/>
          <p:cNvSpPr txBox="1"/>
          <p:nvPr/>
        </p:nvSpPr>
        <p:spPr>
          <a:xfrm>
            <a:off x="396875" y="1362075"/>
            <a:ext cx="78962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1459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1440"/>
              <a:buFont typeface="Noto Sans Symbols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3" name="Google Shape;1733;p32"/>
          <p:cNvSpPr txBox="1"/>
          <p:nvPr/>
        </p:nvSpPr>
        <p:spPr>
          <a:xfrm>
            <a:off x="396875" y="1362075"/>
            <a:ext cx="8594725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1440"/>
              <a:buFont typeface="Noto Sans Symbols"/>
              <a:buChar char="⬛"/>
            </a:pPr>
            <a:r>
              <a:rPr b="1" i="0" lang="en-GB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Copying a file to </a:t>
            </a:r>
            <a:r>
              <a:rPr b="1" i="0" lang="en-GB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stdout</a:t>
            </a:r>
            <a:r>
              <a:rPr b="1" i="0" lang="en-GB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without transferring data to user space .</a:t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4" name="Google Shape;1734;p32"/>
          <p:cNvSpPr/>
          <p:nvPr/>
        </p:nvSpPr>
        <p:spPr>
          <a:xfrm>
            <a:off x="123318" y="2436812"/>
            <a:ext cx="3991482" cy="4116388"/>
          </a:xfrm>
          <a:prstGeom prst="rect">
            <a:avLst/>
          </a:prstGeom>
          <a:solidFill>
            <a:srgbClr val="F6F5BD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926492"/>
                </a:solidFill>
                <a:latin typeface="Arial"/>
                <a:ea typeface="Arial"/>
                <a:cs typeface="Arial"/>
                <a:sym typeface="Arial"/>
              </a:rPr>
              <a:t>#include</a:t>
            </a: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GB" sz="1400" u="none" cap="none" strike="noStrike">
                <a:solidFill>
                  <a:srgbClr val="9D206F"/>
                </a:solidFill>
                <a:latin typeface="Arial"/>
                <a:ea typeface="Arial"/>
                <a:cs typeface="Arial"/>
                <a:sym typeface="Arial"/>
              </a:rPr>
              <a:t>"csapp.h"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2D961E"/>
                </a:solidFill>
                <a:latin typeface="Arial"/>
                <a:ea typeface="Arial"/>
                <a:cs typeface="Arial"/>
                <a:sym typeface="Arial"/>
              </a:rPr>
              <a:t>void</a:t>
            </a: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GB" sz="1400" u="none" cap="none" strike="noStrike">
                <a:solidFill>
                  <a:srgbClr val="4A00FF"/>
                </a:solidFill>
                <a:latin typeface="Arial"/>
                <a:ea typeface="Arial"/>
                <a:cs typeface="Arial"/>
                <a:sym typeface="Arial"/>
              </a:rPr>
              <a:t>mmapcopy</a:t>
            </a: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1" i="0" lang="en-GB" sz="1400" u="none" cap="none" strike="noStrike">
                <a:solidFill>
                  <a:srgbClr val="2D961E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GB" sz="1400" u="none" cap="none" strike="noStrike">
                <a:solidFill>
                  <a:srgbClr val="C1651C"/>
                </a:solidFill>
                <a:latin typeface="Arial"/>
                <a:ea typeface="Arial"/>
                <a:cs typeface="Arial"/>
                <a:sym typeface="Arial"/>
              </a:rPr>
              <a:t>fd</a:t>
            </a: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en-GB" sz="1400" u="none" cap="none" strike="noStrike">
                <a:solidFill>
                  <a:srgbClr val="2D961E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GB" sz="1400" u="none" cap="none" strike="noStrike">
                <a:solidFill>
                  <a:srgbClr val="C1651C"/>
                </a:solidFill>
                <a:latin typeface="Arial"/>
                <a:ea typeface="Arial"/>
                <a:cs typeface="Arial"/>
                <a:sym typeface="Arial"/>
              </a:rPr>
              <a:t>size</a:t>
            </a: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b="1" i="0" lang="en-GB" sz="1400" u="none" cap="none" strike="noStrike">
                <a:solidFill>
                  <a:srgbClr val="CB2418"/>
                </a:solidFill>
                <a:latin typeface="Arial"/>
                <a:ea typeface="Arial"/>
                <a:cs typeface="Arial"/>
                <a:sym typeface="Arial"/>
              </a:rPr>
              <a:t>/* Ptr to memory mapped area */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b="1" i="0" lang="en-GB" sz="1400" u="none" cap="none" strike="noStrike">
                <a:solidFill>
                  <a:srgbClr val="2D961E"/>
                </a:solidFill>
                <a:latin typeface="Arial"/>
                <a:ea typeface="Arial"/>
                <a:cs typeface="Arial"/>
                <a:sym typeface="Arial"/>
              </a:rPr>
              <a:t>char</a:t>
            </a: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*</a:t>
            </a:r>
            <a:r>
              <a:rPr b="1" i="0" lang="en-GB" sz="1400" u="none" cap="none" strike="noStrike">
                <a:solidFill>
                  <a:srgbClr val="C1651C"/>
                </a:solidFill>
                <a:latin typeface="Arial"/>
                <a:ea typeface="Arial"/>
                <a:cs typeface="Arial"/>
                <a:sym typeface="Arial"/>
              </a:rPr>
              <a:t>bufp</a:t>
            </a: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bufp = Mmap(</a:t>
            </a:r>
            <a:r>
              <a:rPr b="1" i="0" lang="en-GB" sz="1400" u="none" cap="none" strike="noStrike">
                <a:solidFill>
                  <a:srgbClr val="2C9290"/>
                </a:solidFill>
                <a:latin typeface="Arial"/>
                <a:ea typeface="Arial"/>
                <a:cs typeface="Arial"/>
                <a:sym typeface="Arial"/>
              </a:rPr>
              <a:t>NULL</a:t>
            </a: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size, 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PROT_READ,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MAP_PRIVATE, 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fd, 0);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Write(1, bufp, size);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b="1" i="0" lang="en-GB" sz="1400" u="none" cap="none" strike="noStrike">
                <a:solidFill>
                  <a:srgbClr val="C200FF"/>
                </a:solidFill>
                <a:latin typeface="Arial"/>
                <a:ea typeface="Arial"/>
                <a:cs typeface="Arial"/>
                <a:sym typeface="Arial"/>
              </a:rPr>
              <a:t>return</a:t>
            </a: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5" name="Google Shape;1735;p32"/>
          <p:cNvSpPr txBox="1"/>
          <p:nvPr/>
        </p:nvSpPr>
        <p:spPr>
          <a:xfrm>
            <a:off x="2667000" y="6172200"/>
            <a:ext cx="141017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mmapcopy.c</a:t>
            </a:r>
            <a:endParaRPr b="1" i="0" sz="18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6" name="Google Shape;1736;p32"/>
          <p:cNvSpPr txBox="1"/>
          <p:nvPr/>
        </p:nvSpPr>
        <p:spPr>
          <a:xfrm>
            <a:off x="7581426" y="6183868"/>
            <a:ext cx="141017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mmapcopy.c</a:t>
            </a:r>
            <a:endParaRPr b="1" i="0" sz="18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plate2007">
  <a:themeElements>
    <a:clrScheme name="Custom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00000"/>
      </a:hlink>
      <a:folHlink>
        <a:srgbClr val="C0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2011-01-05T23:16:19Z</dcterms:created>
  <dc:creator>Markus Pueschel</dc:creator>
</cp:coreProperties>
</file>