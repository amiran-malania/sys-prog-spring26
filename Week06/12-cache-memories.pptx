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themeOverride+xml" PartName="/ppt/theme/themeOverride1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9144000"/>
  <p:notesSz cx="7302500" cy="9586900"/>
  <p:embeddedFontLst>
    <p:embeddedFont>
      <p:font typeface="Arial Narrow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32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1" roundtripDataSignature="AMtx7mhcUoZclGsyhPz3TsgR/jebRgHo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32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ArialNarrow-bold.fntdata"/><Relationship Id="rId47" Type="http://schemas.openxmlformats.org/officeDocument/2006/relationships/font" Target="fonts/ArialNarrow-regular.fntdata"/><Relationship Id="rId49" Type="http://schemas.openxmlformats.org/officeDocument/2006/relationships/font" Target="fonts/ArialNarrow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ArialNarrow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oleObject" Target="Macintosh%20HD:Users:droh:Google%20Drive:ics3:mem:corei7mm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jki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star"/>
            <c:size val="8"/>
            <c:spPr>
              <a:ln>
                <a:solidFill>
                  <a:schemeClr val="tx1"/>
                </a:solidFill>
              </a:ln>
            </c:spPr>
          </c:marker>
          <c:cat>
            <c:numRef>
              <c:f>data!$A$2:$A$15</c:f>
              <c:numCache>
                <c:formatCode>General</c:formatCode>
                <c:ptCount val="14"/>
                <c:pt idx="0">
                  <c:v>50.0</c:v>
                </c:pt>
                <c:pt idx="1">
                  <c:v>100.0</c:v>
                </c:pt>
                <c:pt idx="2">
                  <c:v>150.0</c:v>
                </c:pt>
                <c:pt idx="3">
                  <c:v>200.0</c:v>
                </c:pt>
                <c:pt idx="4">
                  <c:v>250.0</c:v>
                </c:pt>
                <c:pt idx="5">
                  <c:v>300.0</c:v>
                </c:pt>
                <c:pt idx="6">
                  <c:v>350.0</c:v>
                </c:pt>
                <c:pt idx="7">
                  <c:v>400.0</c:v>
                </c:pt>
                <c:pt idx="8">
                  <c:v>450.0</c:v>
                </c:pt>
                <c:pt idx="9">
                  <c:v>500.0</c:v>
                </c:pt>
                <c:pt idx="10">
                  <c:v>550.0</c:v>
                </c:pt>
                <c:pt idx="11">
                  <c:v>600.0</c:v>
                </c:pt>
                <c:pt idx="12">
                  <c:v>650.0</c:v>
                </c:pt>
                <c:pt idx="13">
                  <c:v>700.0</c:v>
                </c:pt>
              </c:numCache>
            </c:numRef>
          </c:cat>
          <c:val>
            <c:numRef>
              <c:f>data!$B$2:$B$15</c:f>
              <c:numCache>
                <c:formatCode>General</c:formatCode>
                <c:ptCount val="14"/>
                <c:pt idx="0">
                  <c:v>4.8</c:v>
                </c:pt>
                <c:pt idx="1">
                  <c:v>4.68</c:v>
                </c:pt>
                <c:pt idx="2">
                  <c:v>4.649999999999998</c:v>
                </c:pt>
                <c:pt idx="3">
                  <c:v>4.8</c:v>
                </c:pt>
                <c:pt idx="4">
                  <c:v>6.84</c:v>
                </c:pt>
                <c:pt idx="5">
                  <c:v>15.03</c:v>
                </c:pt>
                <c:pt idx="6">
                  <c:v>22.78</c:v>
                </c:pt>
                <c:pt idx="7">
                  <c:v>29.39</c:v>
                </c:pt>
                <c:pt idx="8">
                  <c:v>40.39</c:v>
                </c:pt>
                <c:pt idx="9">
                  <c:v>57.06</c:v>
                </c:pt>
                <c:pt idx="10">
                  <c:v>60.54</c:v>
                </c:pt>
                <c:pt idx="11">
                  <c:v>63.33</c:v>
                </c:pt>
                <c:pt idx="12">
                  <c:v>65.61</c:v>
                </c:pt>
                <c:pt idx="13">
                  <c:v>67.49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data!$C$1</c:f>
              <c:strCache>
                <c:ptCount val="1"/>
                <c:pt idx="0">
                  <c:v>kji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square"/>
            <c:size val="8"/>
            <c:spPr>
              <a:noFill/>
              <a:ln>
                <a:solidFill>
                  <a:schemeClr val="tx1"/>
                </a:solidFill>
              </a:ln>
            </c:spPr>
          </c:marker>
          <c:cat>
            <c:numRef>
              <c:f>data!$A$2:$A$15</c:f>
              <c:numCache>
                <c:formatCode>General</c:formatCode>
                <c:ptCount val="14"/>
                <c:pt idx="0">
                  <c:v>50.0</c:v>
                </c:pt>
                <c:pt idx="1">
                  <c:v>100.0</c:v>
                </c:pt>
                <c:pt idx="2">
                  <c:v>150.0</c:v>
                </c:pt>
                <c:pt idx="3">
                  <c:v>200.0</c:v>
                </c:pt>
                <c:pt idx="4">
                  <c:v>250.0</c:v>
                </c:pt>
                <c:pt idx="5">
                  <c:v>300.0</c:v>
                </c:pt>
                <c:pt idx="6">
                  <c:v>350.0</c:v>
                </c:pt>
                <c:pt idx="7">
                  <c:v>400.0</c:v>
                </c:pt>
                <c:pt idx="8">
                  <c:v>450.0</c:v>
                </c:pt>
                <c:pt idx="9">
                  <c:v>500.0</c:v>
                </c:pt>
                <c:pt idx="10">
                  <c:v>550.0</c:v>
                </c:pt>
                <c:pt idx="11">
                  <c:v>600.0</c:v>
                </c:pt>
                <c:pt idx="12">
                  <c:v>650.0</c:v>
                </c:pt>
                <c:pt idx="13">
                  <c:v>700.0</c:v>
                </c:pt>
              </c:numCache>
            </c:numRef>
          </c:cat>
          <c:val>
            <c:numRef>
              <c:f>data!$C$2:$C$15</c:f>
              <c:numCache>
                <c:formatCode>General</c:formatCode>
                <c:ptCount val="14"/>
                <c:pt idx="0">
                  <c:v>4.83</c:v>
                </c:pt>
                <c:pt idx="1">
                  <c:v>4.72</c:v>
                </c:pt>
                <c:pt idx="2">
                  <c:v>4.64</c:v>
                </c:pt>
                <c:pt idx="3">
                  <c:v>4.689999999999999</c:v>
                </c:pt>
                <c:pt idx="4">
                  <c:v>6.83</c:v>
                </c:pt>
                <c:pt idx="5">
                  <c:v>15.1</c:v>
                </c:pt>
                <c:pt idx="6">
                  <c:v>22.68</c:v>
                </c:pt>
                <c:pt idx="7">
                  <c:v>29.18</c:v>
                </c:pt>
                <c:pt idx="8">
                  <c:v>40.26</c:v>
                </c:pt>
                <c:pt idx="9">
                  <c:v>57.02</c:v>
                </c:pt>
                <c:pt idx="10">
                  <c:v>60.53</c:v>
                </c:pt>
                <c:pt idx="11">
                  <c:v>63.34</c:v>
                </c:pt>
                <c:pt idx="12">
                  <c:v>65.62</c:v>
                </c:pt>
                <c:pt idx="13">
                  <c:v>67.53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data!$D$1</c:f>
              <c:strCache>
                <c:ptCount val="1"/>
                <c:pt idx="0">
                  <c:v>ijk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x"/>
            <c:size val="8"/>
            <c:spPr>
              <a:ln>
                <a:solidFill>
                  <a:schemeClr val="tx1"/>
                </a:solidFill>
              </a:ln>
            </c:spPr>
          </c:marker>
          <c:cat>
            <c:numRef>
              <c:f>data!$A$2:$A$15</c:f>
              <c:numCache>
                <c:formatCode>General</c:formatCode>
                <c:ptCount val="14"/>
                <c:pt idx="0">
                  <c:v>50.0</c:v>
                </c:pt>
                <c:pt idx="1">
                  <c:v>100.0</c:v>
                </c:pt>
                <c:pt idx="2">
                  <c:v>150.0</c:v>
                </c:pt>
                <c:pt idx="3">
                  <c:v>200.0</c:v>
                </c:pt>
                <c:pt idx="4">
                  <c:v>250.0</c:v>
                </c:pt>
                <c:pt idx="5">
                  <c:v>300.0</c:v>
                </c:pt>
                <c:pt idx="6">
                  <c:v>350.0</c:v>
                </c:pt>
                <c:pt idx="7">
                  <c:v>400.0</c:v>
                </c:pt>
                <c:pt idx="8">
                  <c:v>450.0</c:v>
                </c:pt>
                <c:pt idx="9">
                  <c:v>500.0</c:v>
                </c:pt>
                <c:pt idx="10">
                  <c:v>550.0</c:v>
                </c:pt>
                <c:pt idx="11">
                  <c:v>600.0</c:v>
                </c:pt>
                <c:pt idx="12">
                  <c:v>650.0</c:v>
                </c:pt>
                <c:pt idx="13">
                  <c:v>700.0</c:v>
                </c:pt>
              </c:numCache>
            </c:numRef>
          </c:cat>
          <c:val>
            <c:numRef>
              <c:f>data!$D$2:$D$15</c:f>
              <c:numCache>
                <c:formatCode>General</c:formatCode>
                <c:ptCount val="14"/>
                <c:pt idx="0">
                  <c:v>3.75</c:v>
                </c:pt>
                <c:pt idx="1">
                  <c:v>4.08</c:v>
                </c:pt>
                <c:pt idx="2">
                  <c:v>4.33</c:v>
                </c:pt>
                <c:pt idx="3">
                  <c:v>4.45</c:v>
                </c:pt>
                <c:pt idx="4">
                  <c:v>4.45</c:v>
                </c:pt>
                <c:pt idx="5">
                  <c:v>4.45</c:v>
                </c:pt>
                <c:pt idx="6">
                  <c:v>4.45</c:v>
                </c:pt>
                <c:pt idx="7">
                  <c:v>4.47</c:v>
                </c:pt>
                <c:pt idx="8">
                  <c:v>7.73</c:v>
                </c:pt>
                <c:pt idx="9">
                  <c:v>18.77</c:v>
                </c:pt>
                <c:pt idx="10">
                  <c:v>20.36</c:v>
                </c:pt>
                <c:pt idx="11">
                  <c:v>21.67</c:v>
                </c:pt>
                <c:pt idx="12">
                  <c:v>22.76</c:v>
                </c:pt>
                <c:pt idx="13">
                  <c:v>23.71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data!$E$1</c:f>
              <c:strCache>
                <c:ptCount val="1"/>
                <c:pt idx="0">
                  <c:v>jik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circle"/>
            <c:size val="8"/>
            <c:spPr>
              <a:noFill/>
              <a:ln>
                <a:solidFill>
                  <a:schemeClr val="tx1"/>
                </a:solidFill>
              </a:ln>
            </c:spPr>
          </c:marker>
          <c:cat>
            <c:numRef>
              <c:f>data!$A$2:$A$15</c:f>
              <c:numCache>
                <c:formatCode>General</c:formatCode>
                <c:ptCount val="14"/>
                <c:pt idx="0">
                  <c:v>50.0</c:v>
                </c:pt>
                <c:pt idx="1">
                  <c:v>100.0</c:v>
                </c:pt>
                <c:pt idx="2">
                  <c:v>150.0</c:v>
                </c:pt>
                <c:pt idx="3">
                  <c:v>200.0</c:v>
                </c:pt>
                <c:pt idx="4">
                  <c:v>250.0</c:v>
                </c:pt>
                <c:pt idx="5">
                  <c:v>300.0</c:v>
                </c:pt>
                <c:pt idx="6">
                  <c:v>350.0</c:v>
                </c:pt>
                <c:pt idx="7">
                  <c:v>400.0</c:v>
                </c:pt>
                <c:pt idx="8">
                  <c:v>450.0</c:v>
                </c:pt>
                <c:pt idx="9">
                  <c:v>500.0</c:v>
                </c:pt>
                <c:pt idx="10">
                  <c:v>550.0</c:v>
                </c:pt>
                <c:pt idx="11">
                  <c:v>600.0</c:v>
                </c:pt>
                <c:pt idx="12">
                  <c:v>650.0</c:v>
                </c:pt>
                <c:pt idx="13">
                  <c:v>700.0</c:v>
                </c:pt>
              </c:numCache>
            </c:numRef>
          </c:cat>
          <c:val>
            <c:numRef>
              <c:f>data!$E$2:$E$15</c:f>
              <c:numCache>
                <c:formatCode>General</c:formatCode>
                <c:ptCount val="14"/>
                <c:pt idx="0">
                  <c:v>3.93</c:v>
                </c:pt>
                <c:pt idx="1">
                  <c:v>4.14</c:v>
                </c:pt>
                <c:pt idx="2">
                  <c:v>4.359999999999998</c:v>
                </c:pt>
                <c:pt idx="3">
                  <c:v>4.47</c:v>
                </c:pt>
                <c:pt idx="4">
                  <c:v>4.52</c:v>
                </c:pt>
                <c:pt idx="5">
                  <c:v>4.56</c:v>
                </c:pt>
                <c:pt idx="6">
                  <c:v>4.57</c:v>
                </c:pt>
                <c:pt idx="7">
                  <c:v>4.6</c:v>
                </c:pt>
                <c:pt idx="8">
                  <c:v>7.96</c:v>
                </c:pt>
                <c:pt idx="9">
                  <c:v>19.05</c:v>
                </c:pt>
                <c:pt idx="10">
                  <c:v>20.59</c:v>
                </c:pt>
                <c:pt idx="11">
                  <c:v>21.86</c:v>
                </c:pt>
                <c:pt idx="12">
                  <c:v>22.92</c:v>
                </c:pt>
                <c:pt idx="13">
                  <c:v>23.82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data!$F$1</c:f>
              <c:strCache>
                <c:ptCount val="1"/>
                <c:pt idx="0">
                  <c:v>kij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plus"/>
            <c:size val="8"/>
            <c:spPr>
              <a:noFill/>
              <a:ln>
                <a:solidFill>
                  <a:schemeClr val="tx1"/>
                </a:solidFill>
              </a:ln>
            </c:spPr>
          </c:marker>
          <c:cat>
            <c:numRef>
              <c:f>data!$A$2:$A$15</c:f>
              <c:numCache>
                <c:formatCode>General</c:formatCode>
                <c:ptCount val="14"/>
                <c:pt idx="0">
                  <c:v>50.0</c:v>
                </c:pt>
                <c:pt idx="1">
                  <c:v>100.0</c:v>
                </c:pt>
                <c:pt idx="2">
                  <c:v>150.0</c:v>
                </c:pt>
                <c:pt idx="3">
                  <c:v>200.0</c:v>
                </c:pt>
                <c:pt idx="4">
                  <c:v>250.0</c:v>
                </c:pt>
                <c:pt idx="5">
                  <c:v>300.0</c:v>
                </c:pt>
                <c:pt idx="6">
                  <c:v>350.0</c:v>
                </c:pt>
                <c:pt idx="7">
                  <c:v>400.0</c:v>
                </c:pt>
                <c:pt idx="8">
                  <c:v>450.0</c:v>
                </c:pt>
                <c:pt idx="9">
                  <c:v>500.0</c:v>
                </c:pt>
                <c:pt idx="10">
                  <c:v>550.0</c:v>
                </c:pt>
                <c:pt idx="11">
                  <c:v>600.0</c:v>
                </c:pt>
                <c:pt idx="12">
                  <c:v>650.0</c:v>
                </c:pt>
                <c:pt idx="13">
                  <c:v>700.0</c:v>
                </c:pt>
              </c:numCache>
            </c:numRef>
          </c:cat>
          <c:val>
            <c:numRef>
              <c:f>data!$F$2:$F$15</c:f>
              <c:numCache>
                <c:formatCode>General</c:formatCode>
                <c:ptCount val="14"/>
                <c:pt idx="0">
                  <c:v>1.86</c:v>
                </c:pt>
                <c:pt idx="1">
                  <c:v>1.78</c:v>
                </c:pt>
                <c:pt idx="2">
                  <c:v>2.14</c:v>
                </c:pt>
                <c:pt idx="3">
                  <c:v>2.3</c:v>
                </c:pt>
                <c:pt idx="4">
                  <c:v>2.23</c:v>
                </c:pt>
                <c:pt idx="5">
                  <c:v>2.18</c:v>
                </c:pt>
                <c:pt idx="6">
                  <c:v>2.14</c:v>
                </c:pt>
                <c:pt idx="7">
                  <c:v>2.12</c:v>
                </c:pt>
                <c:pt idx="8">
                  <c:v>2.12</c:v>
                </c:pt>
                <c:pt idx="9">
                  <c:v>2.13</c:v>
                </c:pt>
                <c:pt idx="10">
                  <c:v>2.13</c:v>
                </c:pt>
                <c:pt idx="11">
                  <c:v>2.14</c:v>
                </c:pt>
                <c:pt idx="12">
                  <c:v>2.16</c:v>
                </c:pt>
                <c:pt idx="13">
                  <c:v>2.22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data!$G$1</c:f>
              <c:strCache>
                <c:ptCount val="1"/>
                <c:pt idx="0">
                  <c:v>ikj</c:v>
                </c:pt>
              </c:strCache>
            </c:strRef>
          </c:tx>
          <c:spPr>
            <a:ln w="12700">
              <a:solidFill>
                <a:schemeClr val="tx1"/>
              </a:solidFill>
            </a:ln>
          </c:spPr>
          <c:marker>
            <c:symbol val="triangle"/>
            <c:size val="8"/>
            <c:spPr>
              <a:noFill/>
              <a:ln>
                <a:solidFill>
                  <a:schemeClr val="tx1"/>
                </a:solidFill>
              </a:ln>
            </c:spPr>
          </c:marker>
          <c:cat>
            <c:numRef>
              <c:f>data!$A$2:$A$15</c:f>
              <c:numCache>
                <c:formatCode>General</c:formatCode>
                <c:ptCount val="14"/>
                <c:pt idx="0">
                  <c:v>50.0</c:v>
                </c:pt>
                <c:pt idx="1">
                  <c:v>100.0</c:v>
                </c:pt>
                <c:pt idx="2">
                  <c:v>150.0</c:v>
                </c:pt>
                <c:pt idx="3">
                  <c:v>200.0</c:v>
                </c:pt>
                <c:pt idx="4">
                  <c:v>250.0</c:v>
                </c:pt>
                <c:pt idx="5">
                  <c:v>300.0</c:v>
                </c:pt>
                <c:pt idx="6">
                  <c:v>350.0</c:v>
                </c:pt>
                <c:pt idx="7">
                  <c:v>400.0</c:v>
                </c:pt>
                <c:pt idx="8">
                  <c:v>450.0</c:v>
                </c:pt>
                <c:pt idx="9">
                  <c:v>500.0</c:v>
                </c:pt>
                <c:pt idx="10">
                  <c:v>550.0</c:v>
                </c:pt>
                <c:pt idx="11">
                  <c:v>600.0</c:v>
                </c:pt>
                <c:pt idx="12">
                  <c:v>650.0</c:v>
                </c:pt>
                <c:pt idx="13">
                  <c:v>700.0</c:v>
                </c:pt>
              </c:numCache>
            </c:numRef>
          </c:cat>
          <c:val>
            <c:numRef>
              <c:f>data!$G$2:$G$15</c:f>
              <c:numCache>
                <c:formatCode>General</c:formatCode>
                <c:ptCount val="14"/>
                <c:pt idx="0">
                  <c:v>1.78</c:v>
                </c:pt>
                <c:pt idx="1">
                  <c:v>1.8</c:v>
                </c:pt>
                <c:pt idx="2">
                  <c:v>2.12</c:v>
                </c:pt>
                <c:pt idx="3">
                  <c:v>2.03</c:v>
                </c:pt>
                <c:pt idx="4">
                  <c:v>1.96</c:v>
                </c:pt>
                <c:pt idx="5">
                  <c:v>1.92</c:v>
                </c:pt>
                <c:pt idx="6">
                  <c:v>1.89</c:v>
                </c:pt>
                <c:pt idx="7">
                  <c:v>1.86</c:v>
                </c:pt>
                <c:pt idx="8">
                  <c:v>1.86</c:v>
                </c:pt>
                <c:pt idx="9">
                  <c:v>1.88</c:v>
                </c:pt>
                <c:pt idx="10">
                  <c:v>1.89</c:v>
                </c:pt>
                <c:pt idx="11">
                  <c:v>1.9</c:v>
                </c:pt>
                <c:pt idx="12">
                  <c:v>1.91</c:v>
                </c:pt>
                <c:pt idx="13">
                  <c:v>1.95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123702472"/>
        <c:axId val="-2123724056"/>
      </c:lineChart>
      <c:catAx>
        <c:axId val="-21237024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Array size (n)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123724056"/>
        <c:crossesAt val="0.0"/>
        <c:auto val="1"/>
        <c:lblAlgn val="ctr"/>
        <c:lblOffset val="100"/>
        <c:noMultiLvlLbl val="0"/>
      </c:catAx>
      <c:valAx>
        <c:axId val="-2123724056"/>
        <c:scaling>
          <c:logBase val="10.0"/>
          <c:orientation val="minMax"/>
          <c:min val="1.0"/>
        </c:scaling>
        <c:delete val="0"/>
        <c:axPos val="l"/>
        <c:majorGridlines/>
        <c:min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Cycles per inner loop iteration</a:t>
                </a:r>
              </a:p>
            </c:rich>
          </c:tx>
          <c:overlay val="0"/>
        </c:title>
        <c:numFmt formatCode="General" sourceLinked="1"/>
        <c:majorTickMark val="out"/>
        <c:minorTickMark val="out"/>
        <c:tickLblPos val="nextTo"/>
        <c:crossAx val="-2123702472"/>
        <c:crosses val="autoZero"/>
        <c:crossBetween val="between"/>
        <c:minorUnit val="10.0"/>
      </c:valAx>
      <c:spPr>
        <a:solidFill>
          <a:schemeClr val="bg1"/>
        </a:solidFill>
      </c:spPr>
    </c:plotArea>
    <c:legend>
      <c:legendPos val="r"/>
      <c:overlay val="0"/>
      <c:spPr>
        <a:ln>
          <a:solidFill>
            <a:schemeClr val="tx1"/>
          </a:solidFill>
        </a:ln>
      </c:sp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latin typeface="Arial"/>
        </a:defRPr>
      </a:pPr>
      <a:endParaRPr lang="en-US"/>
    </a:p>
  </c:txPr>
  <c:externalData r:id="rId2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1480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/>
          <p:nvPr/>
        </p:nvSpPr>
        <p:spPr>
          <a:xfrm>
            <a:off x="1233987" y="726094"/>
            <a:ext cx="4835733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974391" y="4554201"/>
            <a:ext cx="5354925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9" name="Google Shape;239;p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7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2" name="Google Shape;302;p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p8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62" name="Google Shape;362;p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9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92" name="Google Shape;392;p1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p10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1:notes"/>
          <p:cNvSpPr/>
          <p:nvPr>
            <p:ph idx="2" type="sldImg"/>
          </p:nvPr>
        </p:nvSpPr>
        <p:spPr>
          <a:xfrm>
            <a:off x="1268413" y="727075"/>
            <a:ext cx="4773612" cy="358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11:notes"/>
          <p:cNvSpPr txBox="1"/>
          <p:nvPr>
            <p:ph idx="1" type="body"/>
          </p:nvPr>
        </p:nvSpPr>
        <p:spPr>
          <a:xfrm>
            <a:off x="973778" y="4551798"/>
            <a:ext cx="5354947" cy="431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77" name="Google Shape;477;p1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p12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83" name="Google Shape;583;p1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4" name="Google Shape;584;p13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27" name="Google Shape;627;p1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8" name="Google Shape;628;p14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5:notes"/>
          <p:cNvSpPr/>
          <p:nvPr>
            <p:ph idx="2" type="sldImg"/>
          </p:nvPr>
        </p:nvSpPr>
        <p:spPr>
          <a:xfrm>
            <a:off x="1268413" y="727075"/>
            <a:ext cx="4773612" cy="358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3" name="Google Shape;673;p15:notes"/>
          <p:cNvSpPr txBox="1"/>
          <p:nvPr>
            <p:ph idx="1" type="body"/>
          </p:nvPr>
        </p:nvSpPr>
        <p:spPr>
          <a:xfrm>
            <a:off x="973778" y="4551798"/>
            <a:ext cx="5354947" cy="431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6:notes"/>
          <p:cNvSpPr txBox="1"/>
          <p:nvPr/>
        </p:nvSpPr>
        <p:spPr>
          <a:xfrm>
            <a:off x="1276247" y="726094"/>
            <a:ext cx="4752421" cy="3580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23" name="Google Shape;723;p16:notes"/>
          <p:cNvSpPr txBox="1"/>
          <p:nvPr>
            <p:ph idx="1" type="body"/>
          </p:nvPr>
        </p:nvSpPr>
        <p:spPr>
          <a:xfrm>
            <a:off x="974391" y="4554201"/>
            <a:ext cx="5354925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7650" lIns="95300" spcFirstLastPara="1" rIns="95300" wrap="square" tIns="476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4" name="Google Shape;724;p1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0" name="Google Shape;730;p1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8:notes"/>
          <p:cNvSpPr txBox="1"/>
          <p:nvPr>
            <p:ph idx="1" type="body"/>
          </p:nvPr>
        </p:nvSpPr>
        <p:spPr>
          <a:xfrm>
            <a:off x="974391" y="4554201"/>
            <a:ext cx="5354925" cy="431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2" name="Google Shape;762;p18:notes"/>
          <p:cNvSpPr txBox="1"/>
          <p:nvPr/>
        </p:nvSpPr>
        <p:spPr>
          <a:xfrm>
            <a:off x="1278663" y="726094"/>
            <a:ext cx="4754835" cy="358260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63" name="Google Shape;763;p1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9:notes"/>
          <p:cNvSpPr txBox="1"/>
          <p:nvPr>
            <p:ph idx="1" type="body"/>
          </p:nvPr>
        </p:nvSpPr>
        <p:spPr>
          <a:xfrm>
            <a:off x="973184" y="4554201"/>
            <a:ext cx="5356133" cy="4314943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95675" spcFirstLastPara="1" rIns="95675" wrap="square" tIns="470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9" name="Google Shape;769;p19:notes"/>
          <p:cNvSpPr/>
          <p:nvPr>
            <p:ph idx="2" type="sldImg"/>
          </p:nvPr>
        </p:nvSpPr>
        <p:spPr>
          <a:xfrm>
            <a:off x="1254125" y="715963"/>
            <a:ext cx="4795838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2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5" name="Google Shape;775;p2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2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82" name="Google Shape;782;p2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3" name="Google Shape;783;p25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2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9" name="Google Shape;789;p2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1" name="Google Shape;801;p2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2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0" name="Google Shape;830;p2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2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6" name="Google Shape;836;p2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3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3" name="Google Shape;863;p3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0" name="Google Shape;890;p3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3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7" name="Google Shape;917;p3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3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4" name="Google Shape;944;p3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1" name="Google Shape;971;p3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3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8" name="Google Shape;998;p3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3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9" name="Google Shape;1009;p3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3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18" name="Google Shape;1018;p3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9" name="Google Shape;1019;p37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3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5" name="Google Shape;1025;p3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3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2" name="Google Shape;1042;p3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4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9" name="Google Shape;1069;p4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4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8" name="Google Shape;1088;p4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4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8" name="Google Shape;1118;p4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4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6" name="Google Shape;1166;p4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4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4" name="Google Shape;1194;p4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4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0" name="Google Shape;1200;p4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7"/>
          <p:cNvSpPr txBox="1"/>
          <p:nvPr>
            <p:ph type="ctrTitle"/>
          </p:nvPr>
        </p:nvSpPr>
        <p:spPr>
          <a:xfrm>
            <a:off x="685800" y="170801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7"/>
          <p:cNvSpPr txBox="1"/>
          <p:nvPr>
            <p:ph idx="1" type="subTitle"/>
          </p:nvPr>
        </p:nvSpPr>
        <p:spPr>
          <a:xfrm>
            <a:off x="685800" y="3886200"/>
            <a:ext cx="767749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0" sz="20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8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8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9"/>
          <p:cNvSpPr txBox="1"/>
          <p:nvPr>
            <p:ph type="title"/>
          </p:nvPr>
        </p:nvSpPr>
        <p:spPr>
          <a:xfrm>
            <a:off x="357762" y="445070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8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1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1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⬛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0" name="Google Shape;30;p51"/>
          <p:cNvSpPr txBox="1"/>
          <p:nvPr>
            <p:ph idx="2" type="body"/>
          </p:nvPr>
        </p:nvSpPr>
        <p:spPr>
          <a:xfrm>
            <a:off x="4662488" y="1362075"/>
            <a:ext cx="38719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⬛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4" name="Google Shape;34;p5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20039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5" name="Google Shape;35;p5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6" name="Google Shape;36;p5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20039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⬛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42418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080"/>
              <a:buChar char="▪"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indent="-350519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sz="2000"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sz="2000"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1" name="Google Shape;41;p5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5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6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6"/>
          <p:cNvSpPr txBox="1"/>
          <p:nvPr>
            <p:ph idx="1" type="body"/>
          </p:nvPr>
        </p:nvSpPr>
        <p:spPr>
          <a:xfrm rot="5400000">
            <a:off x="1858963" y="-100012"/>
            <a:ext cx="4972050" cy="789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7"/>
          <p:cNvSpPr txBox="1"/>
          <p:nvPr>
            <p:ph type="title"/>
          </p:nvPr>
        </p:nvSpPr>
        <p:spPr>
          <a:xfrm rot="5400000">
            <a:off x="4998244" y="2188369"/>
            <a:ext cx="6105525" cy="218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7"/>
          <p:cNvSpPr txBox="1"/>
          <p:nvPr>
            <p:ph idx="1" type="body"/>
          </p:nvPr>
        </p:nvSpPr>
        <p:spPr>
          <a:xfrm rot="5400000">
            <a:off x="548481" y="76994"/>
            <a:ext cx="6105525" cy="6408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2 Content" type="objAndTwoObj">
  <p:cSld name="OBJECT_AND_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8"/>
          <p:cNvSpPr txBox="1"/>
          <p:nvPr>
            <p:ph type="title"/>
          </p:nvPr>
        </p:nvSpPr>
        <p:spPr>
          <a:xfrm>
            <a:off x="396875" y="228600"/>
            <a:ext cx="8747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8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5" name="Google Shape;55;p58"/>
          <p:cNvSpPr txBox="1"/>
          <p:nvPr>
            <p:ph idx="2" type="body"/>
          </p:nvPr>
        </p:nvSpPr>
        <p:spPr>
          <a:xfrm>
            <a:off x="4662488" y="1362075"/>
            <a:ext cx="3871912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6" name="Google Shape;56;p58"/>
          <p:cNvSpPr txBox="1"/>
          <p:nvPr>
            <p:ph idx="3" type="body"/>
          </p:nvPr>
        </p:nvSpPr>
        <p:spPr>
          <a:xfrm>
            <a:off x="4662488" y="3924300"/>
            <a:ext cx="3871912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9"/>
          <p:cNvSpPr txBox="1"/>
          <p:nvPr>
            <p:ph type="title"/>
          </p:nvPr>
        </p:nvSpPr>
        <p:spPr>
          <a:xfrm>
            <a:off x="396875" y="228600"/>
            <a:ext cx="8747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9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0" name="Google Shape;60;p59"/>
          <p:cNvSpPr txBox="1"/>
          <p:nvPr>
            <p:ph idx="2" type="body"/>
          </p:nvPr>
        </p:nvSpPr>
        <p:spPr>
          <a:xfrm>
            <a:off x="4662488" y="1362075"/>
            <a:ext cx="38719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11" name="Google Shape;11;p46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6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46"/>
          <p:cNvSpPr txBox="1"/>
          <p:nvPr/>
        </p:nvSpPr>
        <p:spPr>
          <a:xfrm>
            <a:off x="7424404" y="-27000"/>
            <a:ext cx="178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1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46"/>
          <p:cNvSpPr/>
          <p:nvPr/>
        </p:nvSpPr>
        <p:spPr>
          <a:xfrm>
            <a:off x="8830843" y="6611779"/>
            <a:ext cx="31315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 i="0" sz="10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" name="Google Shape;15;p46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1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>
            <p:ph type="ctrTitle"/>
          </p:nvPr>
        </p:nvSpPr>
        <p:spPr>
          <a:xfrm>
            <a:off x="685800" y="1708150"/>
            <a:ext cx="7772400" cy="1720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Cache Memories</a:t>
            </a:r>
            <a:br>
              <a:rPr lang="en-US"/>
            </a:br>
            <a:br>
              <a:rPr lang="en-US"/>
            </a:br>
            <a:r>
              <a:rPr b="0" lang="en-US" sz="2000"/>
              <a:t>Systems Programming</a:t>
            </a:r>
            <a:endParaRPr/>
          </a:p>
        </p:txBody>
      </p:sp>
      <p:sp>
        <p:nvSpPr>
          <p:cNvPr id="67" name="Google Shape;67;p1"/>
          <p:cNvSpPr txBox="1"/>
          <p:nvPr>
            <p:ph idx="1" type="subTitle"/>
          </p:nvPr>
        </p:nvSpPr>
        <p:spPr>
          <a:xfrm>
            <a:off x="685800" y="3886200"/>
            <a:ext cx="767873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Instructors: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-US"/>
              <a:t>Amiran Malania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Cache memory organization and operation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BFBFBF"/>
                </a:solidFill>
              </a:rPr>
              <a:t>Performance impact of caches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solidFill>
                  <a:srgbClr val="BFBFBF"/>
                </a:solidFill>
              </a:rPr>
              <a:t>The memory mountain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solidFill>
                  <a:srgbClr val="BFBFBF"/>
                </a:solidFill>
              </a:rPr>
              <a:t>Rearranging loops to improve spatial locality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solidFill>
                  <a:srgbClr val="BFBFBF"/>
                </a:solidFill>
              </a:rPr>
              <a:t>Using blocking to improve temporal locality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>
            <p:ph type="title"/>
          </p:nvPr>
        </p:nvSpPr>
        <p:spPr>
          <a:xfrm>
            <a:off x="61913" y="247650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209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Example Memory 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     Hierarchy</a:t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552450" y="342900"/>
            <a:ext cx="6902450" cy="6456363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D0D0F4">
                  <a:alpha val="5882"/>
                </a:srgbClr>
              </a:gs>
              <a:gs pos="100000">
                <a:srgbClr val="D0D0F4"/>
              </a:gs>
            </a:gsLst>
            <a:lin ang="16140000" scaled="0"/>
          </a:gra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3694391" y="834509"/>
            <a:ext cx="7235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3495400" y="1283385"/>
            <a:ext cx="11215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L1 cache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(SRAM)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3264793" y="3821797"/>
            <a:ext cx="15827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(DRAM)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2706309" y="4847322"/>
            <a:ext cx="2699702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secondary 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(local disks)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p3"/>
          <p:cNvCxnSpPr/>
          <p:nvPr/>
        </p:nvCxnSpPr>
        <p:spPr>
          <a:xfrm>
            <a:off x="3513138" y="1265238"/>
            <a:ext cx="98107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3"/>
          <p:cNvCxnSpPr/>
          <p:nvPr/>
        </p:nvCxnSpPr>
        <p:spPr>
          <a:xfrm>
            <a:off x="3162300" y="1903413"/>
            <a:ext cx="1671638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3"/>
          <p:cNvCxnSpPr/>
          <p:nvPr/>
        </p:nvCxnSpPr>
        <p:spPr>
          <a:xfrm>
            <a:off x="2779713" y="2655888"/>
            <a:ext cx="24479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3"/>
          <p:cNvCxnSpPr/>
          <p:nvPr/>
        </p:nvCxnSpPr>
        <p:spPr>
          <a:xfrm>
            <a:off x="76200" y="3473450"/>
            <a:ext cx="0" cy="2344738"/>
          </a:xfrm>
          <a:prstGeom prst="straightConnector1">
            <a:avLst/>
          </a:prstGeom>
          <a:noFill/>
          <a:ln cap="flat" cmpd="sng" w="38100">
            <a:solidFill>
              <a:srgbClr val="2121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" name="Google Shape;90;p3"/>
          <p:cNvSpPr txBox="1"/>
          <p:nvPr/>
        </p:nvSpPr>
        <p:spPr>
          <a:xfrm>
            <a:off x="123825" y="3625166"/>
            <a:ext cx="1062711" cy="1815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Larger,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slower,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cheaper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(per byte)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3"/>
          <p:cNvCxnSpPr/>
          <p:nvPr/>
        </p:nvCxnSpPr>
        <p:spPr>
          <a:xfrm>
            <a:off x="2255838" y="3586163"/>
            <a:ext cx="3475037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3"/>
          <p:cNvSpPr txBox="1"/>
          <p:nvPr/>
        </p:nvSpPr>
        <p:spPr>
          <a:xfrm>
            <a:off x="2578100" y="5947460"/>
            <a:ext cx="29561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Remote secondary 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(e.g., Web servers)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7073306" y="5375119"/>
            <a:ext cx="2062758" cy="738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Local disks hold files retrieved from disks 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 remote servers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3"/>
          <p:cNvCxnSpPr/>
          <p:nvPr/>
        </p:nvCxnSpPr>
        <p:spPr>
          <a:xfrm>
            <a:off x="1708150" y="4632325"/>
            <a:ext cx="4576763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3"/>
          <p:cNvSpPr txBox="1"/>
          <p:nvPr/>
        </p:nvSpPr>
        <p:spPr>
          <a:xfrm>
            <a:off x="3495400" y="1948547"/>
            <a:ext cx="11215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L2 cache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(SRAM)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4962526" y="1641476"/>
            <a:ext cx="2838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L1 cache holds cache lines retrieved from the L2 cache.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4573588" y="973465"/>
            <a:ext cx="2919412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CPU registers hold words retrieved from the L1 cache.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5365751" y="2403473"/>
            <a:ext cx="26289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L2 cache holds cache lines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retrieved from L3 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3235325" y="644009"/>
            <a:ext cx="5309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8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L0: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2867025" y="1353622"/>
            <a:ext cx="5309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8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L1: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2486025" y="2041009"/>
            <a:ext cx="5309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8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L2: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2079625" y="2796659"/>
            <a:ext cx="5309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8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L3: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1554163" y="3795197"/>
            <a:ext cx="5309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8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L4: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933450" y="4912797"/>
            <a:ext cx="5309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8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L5: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30175" y="1137553"/>
            <a:ext cx="1062711" cy="1815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Smaller,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faster,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costlier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(per byte)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3"/>
          <p:cNvCxnSpPr/>
          <p:nvPr/>
        </p:nvCxnSpPr>
        <p:spPr>
          <a:xfrm rot="10800000">
            <a:off x="90488" y="954088"/>
            <a:ext cx="0" cy="2154237"/>
          </a:xfrm>
          <a:prstGeom prst="straightConnector1">
            <a:avLst/>
          </a:prstGeom>
          <a:noFill/>
          <a:ln cap="flat" cmpd="sng" w="38100">
            <a:solidFill>
              <a:srgbClr val="2121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" name="Google Shape;107;p3"/>
          <p:cNvCxnSpPr/>
          <p:nvPr/>
        </p:nvCxnSpPr>
        <p:spPr>
          <a:xfrm>
            <a:off x="1117600" y="5743575"/>
            <a:ext cx="57658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3"/>
          <p:cNvSpPr txBox="1"/>
          <p:nvPr/>
        </p:nvSpPr>
        <p:spPr>
          <a:xfrm>
            <a:off x="3495400" y="2780397"/>
            <a:ext cx="11215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L3 cache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(SRAM)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5810250" y="3305501"/>
            <a:ext cx="2876549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L3 cache holds cache lines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retrieved from main memory.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387350" y="5963722"/>
            <a:ext cx="5309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8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1218A"/>
                </a:solidFill>
                <a:latin typeface="Arial"/>
                <a:ea typeface="Arial"/>
                <a:cs typeface="Arial"/>
                <a:sym typeface="Arial"/>
              </a:rPr>
              <a:t>L6: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6399690" y="4238399"/>
            <a:ext cx="2184181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Main memory holds disk blocks retrieved from local disks.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3352800" y="2895600"/>
            <a:ext cx="685800" cy="13716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>
            <p:ph type="title"/>
          </p:nvPr>
        </p:nvSpPr>
        <p:spPr>
          <a:xfrm>
            <a:off x="357762" y="445070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General Cache Concept</a:t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905000" y="4267200"/>
            <a:ext cx="3581400" cy="2057400"/>
          </a:xfrm>
          <a:prstGeom prst="rect">
            <a:avLst/>
          </a:prstGeom>
          <a:solidFill>
            <a:srgbClr val="DEDFF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905000" y="2272391"/>
            <a:ext cx="3581400" cy="609600"/>
          </a:xfrm>
          <a:prstGeom prst="rect">
            <a:avLst/>
          </a:prstGeom>
          <a:solidFill>
            <a:srgbClr val="D5D5F4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057400" y="4419600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895600" y="4419600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733800" y="4419600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72000" y="4419600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2057400" y="4800600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2895600" y="4800600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733800" y="4800600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572000" y="4800600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057400" y="5181600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2895600" y="5181600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733800" y="5181600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572000" y="5181600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2057400" y="5562600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2895600" y="5562600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733800" y="5562600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572000" y="5562600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4"/>
          <p:cNvCxnSpPr/>
          <p:nvPr/>
        </p:nvCxnSpPr>
        <p:spPr>
          <a:xfrm>
            <a:off x="2286000" y="6096000"/>
            <a:ext cx="3048000" cy="1477"/>
          </a:xfrm>
          <a:prstGeom prst="straightConnector1">
            <a:avLst/>
          </a:prstGeom>
          <a:noFill/>
          <a:ln cap="rnd" cmpd="sng" w="8890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38" name="Google Shape;138;p4"/>
          <p:cNvSpPr/>
          <p:nvPr/>
        </p:nvSpPr>
        <p:spPr>
          <a:xfrm>
            <a:off x="2057400" y="2424791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2895600" y="2424791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733800" y="2424791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572000" y="2424791"/>
            <a:ext cx="7620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788764" y="2348591"/>
            <a:ext cx="9492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457200" y="4343400"/>
            <a:ext cx="12808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5635242" y="4147318"/>
            <a:ext cx="3199956" cy="577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Larger, slower, cheaper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viewed as partitioned into “blocks”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3942800" y="3232918"/>
            <a:ext cx="2839000" cy="577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is copied in block-sized transfer units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562600" y="2166311"/>
            <a:ext cx="2930908" cy="818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Smaller, faster, more expensive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caches a  subset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blocks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2057400" y="4800600"/>
            <a:ext cx="762000" cy="304800"/>
          </a:xfrm>
          <a:prstGeom prst="rect">
            <a:avLst/>
          </a:prstGeom>
          <a:solidFill>
            <a:srgbClr val="FF9999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2590800" y="3429000"/>
            <a:ext cx="762000" cy="304800"/>
          </a:xfrm>
          <a:prstGeom prst="rect">
            <a:avLst/>
          </a:prstGeom>
          <a:solidFill>
            <a:srgbClr val="FF9999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2057400" y="2424791"/>
            <a:ext cx="762000" cy="304800"/>
          </a:xfrm>
          <a:prstGeom prst="rect">
            <a:avLst/>
          </a:prstGeom>
          <a:solidFill>
            <a:srgbClr val="FF9999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733800" y="5181600"/>
            <a:ext cx="762000" cy="304800"/>
          </a:xfrm>
          <a:prstGeom prst="rect">
            <a:avLst/>
          </a:prstGeom>
          <a:solidFill>
            <a:srgbClr val="A9E39D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2590800" y="3429000"/>
            <a:ext cx="762000" cy="304800"/>
          </a:xfrm>
          <a:prstGeom prst="rect">
            <a:avLst/>
          </a:prstGeom>
          <a:solidFill>
            <a:srgbClr val="A9E39D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3733800" y="2424791"/>
            <a:ext cx="762000" cy="304800"/>
          </a:xfrm>
          <a:prstGeom prst="rect">
            <a:avLst/>
          </a:prstGeom>
          <a:solidFill>
            <a:srgbClr val="A9E39D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Cache Memories</a:t>
            </a:r>
            <a:endParaRPr/>
          </a:p>
        </p:txBody>
      </p:sp>
      <p:sp>
        <p:nvSpPr>
          <p:cNvPr id="158" name="Google Shape;158;p5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FF0000"/>
                </a:solidFill>
              </a:rPr>
              <a:t>Cache memories </a:t>
            </a:r>
            <a:r>
              <a:rPr lang="en-US"/>
              <a:t>are small, fast SRAM-based memories managed automatically in hardware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Hold frequently accessed blocks of main memory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CPU looks first for data in cache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Typical system structure: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7258050" y="5653087"/>
            <a:ext cx="819150" cy="82391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884863" y="5789612"/>
            <a:ext cx="1344612" cy="481013"/>
          </a:xfrm>
          <a:prstGeom prst="leftRightArrow">
            <a:avLst>
              <a:gd fmla="val 50000" name="adj1"/>
              <a:gd fmla="val 55908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060950" y="5818187"/>
            <a:ext cx="819150" cy="5207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I/O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bridge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748088" y="5789612"/>
            <a:ext cx="1309687" cy="481013"/>
          </a:xfrm>
          <a:prstGeom prst="leftRightArrow">
            <a:avLst>
              <a:gd fmla="val 50000" name="adj1"/>
              <a:gd fmla="val 54455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1349375" y="5818187"/>
            <a:ext cx="2374900" cy="5207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Bus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2862263" y="4622800"/>
            <a:ext cx="615950" cy="13811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2862263" y="4760912"/>
            <a:ext cx="615950" cy="13652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2862263" y="4897437"/>
            <a:ext cx="615950" cy="13811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2862263" y="5035550"/>
            <a:ext cx="615950" cy="13652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2862263" y="5172075"/>
            <a:ext cx="615950" cy="13811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559175" y="4622800"/>
            <a:ext cx="400050" cy="342900"/>
          </a:xfrm>
          <a:prstGeom prst="rightArrow">
            <a:avLst>
              <a:gd fmla="val 50000" name="adj1"/>
              <a:gd fmla="val 29167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0" name="Google Shape;170;p5"/>
          <p:cNvSpPr/>
          <p:nvPr/>
        </p:nvSpPr>
        <p:spPr>
          <a:xfrm flipH="1">
            <a:off x="3478213" y="4965700"/>
            <a:ext cx="400050" cy="344487"/>
          </a:xfrm>
          <a:prstGeom prst="rightArrow">
            <a:avLst>
              <a:gd fmla="val 50000" name="adj1"/>
              <a:gd fmla="val 29032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3959225" y="4486275"/>
            <a:ext cx="479425" cy="96043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ALU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2613022" y="4316998"/>
            <a:ext cx="1147770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Register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2928938" y="5378450"/>
            <a:ext cx="549275" cy="411162"/>
          </a:xfrm>
          <a:prstGeom prst="upDownArrow">
            <a:avLst>
              <a:gd fmla="val 50000" name="adj1"/>
              <a:gd fmla="val 2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1196975" y="4279900"/>
            <a:ext cx="3379788" cy="2197100"/>
          </a:xfrm>
          <a:prstGeom prst="rect">
            <a:avLst/>
          </a:prstGeom>
          <a:noFill/>
          <a:ln cap="rnd" cmpd="sng" w="12700">
            <a:solidFill>
              <a:schemeClr val="dk1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1174448" y="3988385"/>
            <a:ext cx="932467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CPU chip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4656720" y="5155198"/>
            <a:ext cx="112913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System bus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5"/>
          <p:cNvCxnSpPr/>
          <p:nvPr/>
        </p:nvCxnSpPr>
        <p:spPr>
          <a:xfrm flipH="1">
            <a:off x="4438650" y="5446712"/>
            <a:ext cx="619125" cy="4127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8" name="Google Shape;178;p5"/>
          <p:cNvSpPr txBox="1"/>
          <p:nvPr/>
        </p:nvSpPr>
        <p:spPr>
          <a:xfrm>
            <a:off x="5976451" y="5155198"/>
            <a:ext cx="1175722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Memory bus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5"/>
          <p:cNvCxnSpPr/>
          <p:nvPr/>
        </p:nvCxnSpPr>
        <p:spPr>
          <a:xfrm>
            <a:off x="6530975" y="5446712"/>
            <a:ext cx="0" cy="4127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0" name="Google Shape;180;p5"/>
          <p:cNvSpPr/>
          <p:nvPr/>
        </p:nvSpPr>
        <p:spPr>
          <a:xfrm>
            <a:off x="1349375" y="4719637"/>
            <a:ext cx="1066800" cy="5207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Cache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memory</a:t>
            </a:r>
            <a:endParaRPr b="1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1577975" y="5240337"/>
            <a:ext cx="549275" cy="549275"/>
          </a:xfrm>
          <a:prstGeom prst="upDownArrow">
            <a:avLst>
              <a:gd fmla="val 50000" name="adj1"/>
              <a:gd fmla="val 2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2" name="Google Shape;182;p5"/>
          <p:cNvSpPr/>
          <p:nvPr/>
        </p:nvSpPr>
        <p:spPr>
          <a:xfrm flipH="1">
            <a:off x="2441575" y="4767262"/>
            <a:ext cx="400050" cy="344488"/>
          </a:xfrm>
          <a:prstGeom prst="leftRightArrow">
            <a:avLst>
              <a:gd fmla="val 50000" name="adj1"/>
              <a:gd fmla="val 23226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General Cache Organization (S, E, B)</a:t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 rot="5400000">
            <a:off x="4114801" y="-495835"/>
            <a:ext cx="228600" cy="4648201"/>
          </a:xfrm>
          <a:prstGeom prst="leftBrace">
            <a:avLst>
              <a:gd fmla="val 75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" name="Google Shape;190;p6"/>
          <p:cNvGrpSpPr/>
          <p:nvPr/>
        </p:nvGrpSpPr>
        <p:grpSpPr>
          <a:xfrm>
            <a:off x="1905000" y="2078999"/>
            <a:ext cx="4648200" cy="492484"/>
            <a:chOff x="1637766" y="1995289"/>
            <a:chExt cx="4648200" cy="492484"/>
          </a:xfrm>
        </p:grpSpPr>
        <p:sp>
          <p:nvSpPr>
            <p:cNvPr id="191" name="Google Shape;191;p6"/>
            <p:cNvSpPr/>
            <p:nvPr/>
          </p:nvSpPr>
          <p:spPr>
            <a:xfrm>
              <a:off x="1637766" y="1995289"/>
              <a:ext cx="4648200" cy="492484"/>
            </a:xfrm>
            <a:prstGeom prst="rect">
              <a:avLst/>
            </a:prstGeom>
            <a:solidFill>
              <a:srgbClr val="D5D5F4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1784795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3048000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4" name="Google Shape;194;p6"/>
            <p:cNvCxnSpPr/>
            <p:nvPr/>
          </p:nvCxnSpPr>
          <p:spPr>
            <a:xfrm>
              <a:off x="4349839" y="2254873"/>
              <a:ext cx="609600" cy="1588"/>
            </a:xfrm>
            <a:prstGeom prst="straightConnector1">
              <a:avLst/>
            </a:prstGeom>
            <a:noFill/>
            <a:ln cap="rnd" cmpd="sng" w="76200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</p:cxnSp>
        <p:sp>
          <p:nvSpPr>
            <p:cNvPr id="195" name="Google Shape;195;p6"/>
            <p:cNvSpPr/>
            <p:nvPr/>
          </p:nvSpPr>
          <p:spPr>
            <a:xfrm>
              <a:off x="4953000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6" name="Google Shape;196;p6"/>
          <p:cNvCxnSpPr/>
          <p:nvPr/>
        </p:nvCxnSpPr>
        <p:spPr>
          <a:xfrm>
            <a:off x="2133600" y="4019283"/>
            <a:ext cx="4267200" cy="11116"/>
          </a:xfrm>
          <a:prstGeom prst="straightConnector1">
            <a:avLst/>
          </a:prstGeom>
          <a:noFill/>
          <a:ln cap="rnd" cmpd="sng" w="7620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97" name="Google Shape;197;p6"/>
          <p:cNvSpPr/>
          <p:nvPr/>
        </p:nvSpPr>
        <p:spPr>
          <a:xfrm>
            <a:off x="1524000" y="2067735"/>
            <a:ext cx="228600" cy="2732865"/>
          </a:xfrm>
          <a:prstGeom prst="leftBrace">
            <a:avLst>
              <a:gd fmla="val 75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3886200" y="1344634"/>
            <a:ext cx="19575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= 2</a:t>
            </a:r>
            <a:r>
              <a:rPr b="1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lines per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427333" y="3244405"/>
            <a:ext cx="11224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2</a:t>
            </a:r>
            <a:r>
              <a:rPr b="1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6"/>
          <p:cNvCxnSpPr>
            <a:endCxn id="201" idx="1"/>
          </p:cNvCxnSpPr>
          <p:nvPr/>
        </p:nvCxnSpPr>
        <p:spPr>
          <a:xfrm flipH="1" rot="10800000">
            <a:off x="6553300" y="2070349"/>
            <a:ext cx="596700" cy="104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01" name="Google Shape;201;p6"/>
          <p:cNvSpPr txBox="1"/>
          <p:nvPr/>
        </p:nvSpPr>
        <p:spPr>
          <a:xfrm>
            <a:off x="7150000" y="1885683"/>
            <a:ext cx="47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383E0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6"/>
          <p:cNvCxnSpPr/>
          <p:nvPr/>
        </p:nvCxnSpPr>
        <p:spPr>
          <a:xfrm>
            <a:off x="6096000" y="2338583"/>
            <a:ext cx="914400" cy="13845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03" name="Google Shape;203;p6"/>
          <p:cNvSpPr txBox="1"/>
          <p:nvPr/>
        </p:nvSpPr>
        <p:spPr>
          <a:xfrm>
            <a:off x="6971766" y="2278351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383E0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p6"/>
          <p:cNvGrpSpPr/>
          <p:nvPr/>
        </p:nvGrpSpPr>
        <p:grpSpPr>
          <a:xfrm>
            <a:off x="1905000" y="2647683"/>
            <a:ext cx="4648200" cy="492484"/>
            <a:chOff x="1637766" y="1995289"/>
            <a:chExt cx="4648200" cy="492484"/>
          </a:xfrm>
        </p:grpSpPr>
        <p:sp>
          <p:nvSpPr>
            <p:cNvPr id="205" name="Google Shape;205;p6"/>
            <p:cNvSpPr/>
            <p:nvPr/>
          </p:nvSpPr>
          <p:spPr>
            <a:xfrm>
              <a:off x="1637766" y="1995289"/>
              <a:ext cx="4648200" cy="492484"/>
            </a:xfrm>
            <a:prstGeom prst="rect">
              <a:avLst/>
            </a:prstGeom>
            <a:solidFill>
              <a:srgbClr val="D5D5F4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1784795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3048000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8" name="Google Shape;208;p6"/>
            <p:cNvCxnSpPr/>
            <p:nvPr/>
          </p:nvCxnSpPr>
          <p:spPr>
            <a:xfrm>
              <a:off x="4349839" y="2254873"/>
              <a:ext cx="609600" cy="1588"/>
            </a:xfrm>
            <a:prstGeom prst="straightConnector1">
              <a:avLst/>
            </a:prstGeom>
            <a:noFill/>
            <a:ln cap="rnd" cmpd="sng" w="76200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</p:cxnSp>
        <p:sp>
          <p:nvSpPr>
            <p:cNvPr id="209" name="Google Shape;209;p6"/>
            <p:cNvSpPr/>
            <p:nvPr/>
          </p:nvSpPr>
          <p:spPr>
            <a:xfrm>
              <a:off x="4953000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6"/>
          <p:cNvGrpSpPr/>
          <p:nvPr/>
        </p:nvGrpSpPr>
        <p:grpSpPr>
          <a:xfrm>
            <a:off x="1905000" y="3221999"/>
            <a:ext cx="4648200" cy="492484"/>
            <a:chOff x="1637766" y="1995289"/>
            <a:chExt cx="4648200" cy="492484"/>
          </a:xfrm>
        </p:grpSpPr>
        <p:sp>
          <p:nvSpPr>
            <p:cNvPr id="211" name="Google Shape;211;p6"/>
            <p:cNvSpPr/>
            <p:nvPr/>
          </p:nvSpPr>
          <p:spPr>
            <a:xfrm>
              <a:off x="1637766" y="1995289"/>
              <a:ext cx="4648200" cy="492484"/>
            </a:xfrm>
            <a:prstGeom prst="rect">
              <a:avLst/>
            </a:prstGeom>
            <a:solidFill>
              <a:srgbClr val="D5D5F4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1784795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3048000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4" name="Google Shape;214;p6"/>
            <p:cNvCxnSpPr/>
            <p:nvPr/>
          </p:nvCxnSpPr>
          <p:spPr>
            <a:xfrm>
              <a:off x="4349839" y="2254873"/>
              <a:ext cx="609600" cy="1588"/>
            </a:xfrm>
            <a:prstGeom prst="straightConnector1">
              <a:avLst/>
            </a:prstGeom>
            <a:noFill/>
            <a:ln cap="rnd" cmpd="sng" w="76200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</p:cxnSp>
        <p:sp>
          <p:nvSpPr>
            <p:cNvPr id="215" name="Google Shape;215;p6"/>
            <p:cNvSpPr/>
            <p:nvPr/>
          </p:nvSpPr>
          <p:spPr>
            <a:xfrm>
              <a:off x="4953000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6"/>
          <p:cNvGrpSpPr/>
          <p:nvPr/>
        </p:nvGrpSpPr>
        <p:grpSpPr>
          <a:xfrm>
            <a:off x="1905000" y="4288799"/>
            <a:ext cx="4648200" cy="492484"/>
            <a:chOff x="1637766" y="1995289"/>
            <a:chExt cx="4648200" cy="492484"/>
          </a:xfrm>
        </p:grpSpPr>
        <p:sp>
          <p:nvSpPr>
            <p:cNvPr id="217" name="Google Shape;217;p6"/>
            <p:cNvSpPr/>
            <p:nvPr/>
          </p:nvSpPr>
          <p:spPr>
            <a:xfrm>
              <a:off x="1637766" y="1995289"/>
              <a:ext cx="4648200" cy="492484"/>
            </a:xfrm>
            <a:prstGeom prst="rect">
              <a:avLst/>
            </a:prstGeom>
            <a:solidFill>
              <a:srgbClr val="D5D5F4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1784795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3048000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0" name="Google Shape;220;p6"/>
            <p:cNvCxnSpPr/>
            <p:nvPr/>
          </p:nvCxnSpPr>
          <p:spPr>
            <a:xfrm>
              <a:off x="4349839" y="2254873"/>
              <a:ext cx="609600" cy="1588"/>
            </a:xfrm>
            <a:prstGeom prst="straightConnector1">
              <a:avLst/>
            </a:prstGeom>
            <a:noFill/>
            <a:ln cap="rnd" cmpd="sng" w="76200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</p:cxnSp>
        <p:sp>
          <p:nvSpPr>
            <p:cNvPr id="221" name="Google Shape;221;p6"/>
            <p:cNvSpPr/>
            <p:nvPr/>
          </p:nvSpPr>
          <p:spPr>
            <a:xfrm>
              <a:off x="4953000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6"/>
          <p:cNvSpPr/>
          <p:nvPr/>
        </p:nvSpPr>
        <p:spPr>
          <a:xfrm>
            <a:off x="2146824" y="4709564"/>
            <a:ext cx="3523449" cy="865914"/>
          </a:xfrm>
          <a:prstGeom prst="trapezoid">
            <a:avLst>
              <a:gd fmla="val 135061" name="adj"/>
            </a:avLst>
          </a:prstGeom>
          <a:solidFill>
            <a:srgbClr val="E5E5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2146824" y="5575478"/>
            <a:ext cx="3523449" cy="5334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3645068" y="5689778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3917673" y="5689778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4178468" y="5689778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5092868" y="5689778"/>
            <a:ext cx="4572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0"/>
              <a:buFont typeface="Calibri"/>
              <a:buNone/>
            </a:pPr>
            <a:r>
              <a:rPr b="1" i="0" lang="en-US" sz="1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4451073" y="5689778"/>
            <a:ext cx="64179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6"/>
          <p:cNvCxnSpPr/>
          <p:nvPr/>
        </p:nvCxnSpPr>
        <p:spPr>
          <a:xfrm>
            <a:off x="4585224" y="5841384"/>
            <a:ext cx="457200" cy="1588"/>
          </a:xfrm>
          <a:prstGeom prst="straightConnector1">
            <a:avLst/>
          </a:prstGeom>
          <a:noFill/>
          <a:ln cap="rnd" cmpd="sng" w="3810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30" name="Google Shape;230;p6"/>
          <p:cNvSpPr/>
          <p:nvPr/>
        </p:nvSpPr>
        <p:spPr>
          <a:xfrm>
            <a:off x="2742478" y="5689778"/>
            <a:ext cx="71799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2273468" y="5702122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/>
          <p:nvPr/>
        </p:nvSpPr>
        <p:spPr>
          <a:xfrm flipH="1" rot="5400000">
            <a:off x="4496145" y="5333467"/>
            <a:ext cx="228600" cy="1905000"/>
          </a:xfrm>
          <a:prstGeom prst="leftBrace">
            <a:avLst>
              <a:gd fmla="val 136972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4012058" y="6374902"/>
            <a:ext cx="392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2</a:t>
            </a:r>
            <a:r>
              <a:rPr b="1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bytes per cache block (the data)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6096000" y="5112603"/>
            <a:ext cx="315128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Cache size: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= S x E x B data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1943288" y="6336268"/>
            <a:ext cx="9523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p6"/>
          <p:cNvCxnSpPr/>
          <p:nvPr/>
        </p:nvCxnSpPr>
        <p:spPr>
          <a:xfrm rot="-5400000">
            <a:off x="2285206" y="6158528"/>
            <a:ext cx="3048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Cache Read</a:t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 rot="5400000">
            <a:off x="3558235" y="-290401"/>
            <a:ext cx="228600" cy="4237334"/>
          </a:xfrm>
          <a:prstGeom prst="leftBrace">
            <a:avLst>
              <a:gd fmla="val 75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4" name="Google Shape;244;p7"/>
          <p:cNvGrpSpPr/>
          <p:nvPr/>
        </p:nvGrpSpPr>
        <p:grpSpPr>
          <a:xfrm>
            <a:off x="1553867" y="2078999"/>
            <a:ext cx="4237333" cy="492484"/>
            <a:chOff x="1637766" y="1995289"/>
            <a:chExt cx="4648200" cy="492484"/>
          </a:xfrm>
        </p:grpSpPr>
        <p:sp>
          <p:nvSpPr>
            <p:cNvPr id="245" name="Google Shape;245;p7"/>
            <p:cNvSpPr/>
            <p:nvPr/>
          </p:nvSpPr>
          <p:spPr>
            <a:xfrm>
              <a:off x="1637766" y="1995289"/>
              <a:ext cx="4648200" cy="492484"/>
            </a:xfrm>
            <a:prstGeom prst="rect">
              <a:avLst/>
            </a:prstGeom>
            <a:solidFill>
              <a:srgbClr val="D5D5F4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7"/>
            <p:cNvSpPr/>
            <p:nvPr/>
          </p:nvSpPr>
          <p:spPr>
            <a:xfrm>
              <a:off x="1784795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3048000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4953000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9" name="Google Shape;249;p7"/>
            <p:cNvCxnSpPr/>
            <p:nvPr/>
          </p:nvCxnSpPr>
          <p:spPr>
            <a:xfrm>
              <a:off x="4349839" y="2254873"/>
              <a:ext cx="609600" cy="1588"/>
            </a:xfrm>
            <a:prstGeom prst="straightConnector1">
              <a:avLst/>
            </a:prstGeom>
            <a:noFill/>
            <a:ln cap="rnd" cmpd="sng" w="76200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cxnSp>
        <p:nvCxnSpPr>
          <p:cNvPr id="250" name="Google Shape;250;p7"/>
          <p:cNvCxnSpPr/>
          <p:nvPr/>
        </p:nvCxnSpPr>
        <p:spPr>
          <a:xfrm>
            <a:off x="1782467" y="4019283"/>
            <a:ext cx="3875673" cy="10096"/>
          </a:xfrm>
          <a:prstGeom prst="straightConnector1">
            <a:avLst/>
          </a:prstGeom>
          <a:noFill/>
          <a:ln cap="rnd" cmpd="sng" w="7620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51" name="Google Shape;251;p7"/>
          <p:cNvSpPr/>
          <p:nvPr/>
        </p:nvSpPr>
        <p:spPr>
          <a:xfrm>
            <a:off x="1172867" y="2067735"/>
            <a:ext cx="228600" cy="2732865"/>
          </a:xfrm>
          <a:prstGeom prst="leftBrace">
            <a:avLst>
              <a:gd fmla="val 75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 txBox="1"/>
          <p:nvPr/>
        </p:nvSpPr>
        <p:spPr>
          <a:xfrm>
            <a:off x="3300213" y="1344634"/>
            <a:ext cx="19575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= 2</a:t>
            </a:r>
            <a:r>
              <a:rPr b="1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lines per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76200" y="3244405"/>
            <a:ext cx="11224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2</a:t>
            </a:r>
            <a:r>
              <a:rPr b="1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p7"/>
          <p:cNvGrpSpPr/>
          <p:nvPr/>
        </p:nvGrpSpPr>
        <p:grpSpPr>
          <a:xfrm>
            <a:off x="1553867" y="2647683"/>
            <a:ext cx="4237333" cy="492484"/>
            <a:chOff x="1637766" y="1995289"/>
            <a:chExt cx="4648200" cy="492484"/>
          </a:xfrm>
        </p:grpSpPr>
        <p:sp>
          <p:nvSpPr>
            <p:cNvPr id="255" name="Google Shape;255;p7"/>
            <p:cNvSpPr/>
            <p:nvPr/>
          </p:nvSpPr>
          <p:spPr>
            <a:xfrm>
              <a:off x="1637766" y="1995289"/>
              <a:ext cx="4648200" cy="492484"/>
            </a:xfrm>
            <a:prstGeom prst="rect">
              <a:avLst/>
            </a:prstGeom>
            <a:solidFill>
              <a:srgbClr val="D5D5F4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1784795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3048000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4953000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9" name="Google Shape;259;p7"/>
            <p:cNvCxnSpPr/>
            <p:nvPr/>
          </p:nvCxnSpPr>
          <p:spPr>
            <a:xfrm>
              <a:off x="4349839" y="2254873"/>
              <a:ext cx="609600" cy="1588"/>
            </a:xfrm>
            <a:prstGeom prst="straightConnector1">
              <a:avLst/>
            </a:prstGeom>
            <a:noFill/>
            <a:ln cap="rnd" cmpd="sng" w="76200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260" name="Google Shape;260;p7"/>
          <p:cNvGrpSpPr/>
          <p:nvPr/>
        </p:nvGrpSpPr>
        <p:grpSpPr>
          <a:xfrm>
            <a:off x="1553867" y="3221999"/>
            <a:ext cx="4237333" cy="492484"/>
            <a:chOff x="1637766" y="1995289"/>
            <a:chExt cx="4648200" cy="492484"/>
          </a:xfrm>
        </p:grpSpPr>
        <p:sp>
          <p:nvSpPr>
            <p:cNvPr id="261" name="Google Shape;261;p7"/>
            <p:cNvSpPr/>
            <p:nvPr/>
          </p:nvSpPr>
          <p:spPr>
            <a:xfrm>
              <a:off x="1637766" y="1995289"/>
              <a:ext cx="4648200" cy="492484"/>
            </a:xfrm>
            <a:prstGeom prst="rect">
              <a:avLst/>
            </a:prstGeom>
            <a:solidFill>
              <a:srgbClr val="D5D5F4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1784795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3048000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4953000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5" name="Google Shape;265;p7"/>
            <p:cNvCxnSpPr/>
            <p:nvPr/>
          </p:nvCxnSpPr>
          <p:spPr>
            <a:xfrm>
              <a:off x="4349839" y="2254873"/>
              <a:ext cx="609600" cy="1588"/>
            </a:xfrm>
            <a:prstGeom prst="straightConnector1">
              <a:avLst/>
            </a:prstGeom>
            <a:noFill/>
            <a:ln cap="rnd" cmpd="sng" w="76200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266" name="Google Shape;266;p7"/>
          <p:cNvGrpSpPr/>
          <p:nvPr/>
        </p:nvGrpSpPr>
        <p:grpSpPr>
          <a:xfrm>
            <a:off x="1553867" y="4288799"/>
            <a:ext cx="4237333" cy="492484"/>
            <a:chOff x="1637766" y="1995289"/>
            <a:chExt cx="4648200" cy="492484"/>
          </a:xfrm>
        </p:grpSpPr>
        <p:sp>
          <p:nvSpPr>
            <p:cNvPr id="267" name="Google Shape;267;p7"/>
            <p:cNvSpPr/>
            <p:nvPr/>
          </p:nvSpPr>
          <p:spPr>
            <a:xfrm>
              <a:off x="1637766" y="1995289"/>
              <a:ext cx="4648200" cy="492484"/>
            </a:xfrm>
            <a:prstGeom prst="rect">
              <a:avLst/>
            </a:prstGeom>
            <a:solidFill>
              <a:srgbClr val="D5D5F4"/>
            </a:solidFill>
            <a:ln>
              <a:noFill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1784795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3048000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4953000" y="2090806"/>
              <a:ext cx="1187005" cy="312370"/>
            </a:xfrm>
            <a:prstGeom prst="rect">
              <a:avLst/>
            </a:prstGeom>
            <a:solidFill>
              <a:srgbClr val="ACACEA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 Narrow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1" name="Google Shape;271;p7"/>
            <p:cNvCxnSpPr/>
            <p:nvPr/>
          </p:nvCxnSpPr>
          <p:spPr>
            <a:xfrm>
              <a:off x="4349839" y="2254873"/>
              <a:ext cx="609600" cy="1588"/>
            </a:xfrm>
            <a:prstGeom prst="straightConnector1">
              <a:avLst/>
            </a:prstGeom>
            <a:noFill/>
            <a:ln cap="rnd" cmpd="sng" w="76200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272" name="Google Shape;272;p7"/>
          <p:cNvSpPr/>
          <p:nvPr/>
        </p:nvSpPr>
        <p:spPr>
          <a:xfrm>
            <a:off x="1619863" y="4709564"/>
            <a:ext cx="3523449" cy="865914"/>
          </a:xfrm>
          <a:prstGeom prst="trapezoid">
            <a:avLst>
              <a:gd fmla="val 141754" name="adj"/>
            </a:avLst>
          </a:prstGeom>
          <a:solidFill>
            <a:srgbClr val="E5E5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1619863" y="5575478"/>
            <a:ext cx="3523449" cy="5334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3118107" y="5689778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3390712" y="5689778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3651507" y="5689778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4565907" y="5689778"/>
            <a:ext cx="457200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0"/>
              <a:buFont typeface="Calibri"/>
              <a:buNone/>
            </a:pPr>
            <a:r>
              <a:rPr b="1" i="0" lang="en-US" sz="1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3924112" y="5689778"/>
            <a:ext cx="64179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0"/>
              <a:buFont typeface="Arial Narrow"/>
              <a:buNone/>
            </a:pPr>
            <a:r>
              <a:t/>
            </a:r>
            <a:endParaRPr b="1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7"/>
          <p:cNvCxnSpPr/>
          <p:nvPr/>
        </p:nvCxnSpPr>
        <p:spPr>
          <a:xfrm>
            <a:off x="4058263" y="5841384"/>
            <a:ext cx="457200" cy="1588"/>
          </a:xfrm>
          <a:prstGeom prst="straightConnector1">
            <a:avLst/>
          </a:prstGeom>
          <a:noFill/>
          <a:ln cap="rnd" cmpd="sng" w="3810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80" name="Google Shape;280;p7"/>
          <p:cNvSpPr/>
          <p:nvPr/>
        </p:nvSpPr>
        <p:spPr>
          <a:xfrm>
            <a:off x="2215517" y="5689778"/>
            <a:ext cx="717995" cy="304800"/>
          </a:xfrm>
          <a:prstGeom prst="rect">
            <a:avLst/>
          </a:prstGeom>
          <a:solidFill>
            <a:srgbClr val="FF9999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0"/>
              <a:buFont typeface="Calibri"/>
              <a:buNone/>
            </a:pPr>
            <a:r>
              <a:rPr b="1" i="0" lang="en-US" sz="1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1746507" y="5689778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"/>
          <p:cNvSpPr txBox="1"/>
          <p:nvPr/>
        </p:nvSpPr>
        <p:spPr>
          <a:xfrm>
            <a:off x="1092556" y="6107668"/>
            <a:ext cx="9523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3" name="Google Shape;283;p7"/>
          <p:cNvCxnSpPr/>
          <p:nvPr/>
        </p:nvCxnSpPr>
        <p:spPr>
          <a:xfrm rot="-5400000">
            <a:off x="1867506" y="6138001"/>
            <a:ext cx="3048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7"/>
          <p:cNvSpPr/>
          <p:nvPr/>
        </p:nvSpPr>
        <p:spPr>
          <a:xfrm flipH="1" rot="5400000">
            <a:off x="3969184" y="5333467"/>
            <a:ext cx="228600" cy="1905000"/>
          </a:xfrm>
          <a:prstGeom prst="leftBrace">
            <a:avLst>
              <a:gd fmla="val 136972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 txBox="1"/>
          <p:nvPr/>
        </p:nvSpPr>
        <p:spPr>
          <a:xfrm>
            <a:off x="3485097" y="6374902"/>
            <a:ext cx="38341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2</a:t>
            </a:r>
            <a:r>
              <a:rPr b="1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bytes per cache block (the data)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6337478" y="2853352"/>
            <a:ext cx="990600" cy="270848"/>
          </a:xfrm>
          <a:prstGeom prst="rect">
            <a:avLst/>
          </a:prstGeom>
          <a:solidFill>
            <a:srgbClr val="FF9999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7328078" y="2853352"/>
            <a:ext cx="762000" cy="2708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8090078" y="2853352"/>
            <a:ext cx="685800" cy="2708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6248400" y="2513390"/>
            <a:ext cx="18108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of word: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/>
          <p:nvPr/>
        </p:nvSpPr>
        <p:spPr>
          <a:xfrm flipH="1" rot="5400000">
            <a:off x="6718478" y="2822218"/>
            <a:ext cx="228600" cy="990598"/>
          </a:xfrm>
          <a:prstGeom prst="leftBrace">
            <a:avLst>
              <a:gd fmla="val 75000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 flipH="1" rot="5400000">
            <a:off x="7594779" y="2933702"/>
            <a:ext cx="228600" cy="761998"/>
          </a:xfrm>
          <a:prstGeom prst="leftBrace">
            <a:avLst>
              <a:gd fmla="val 75000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 flipH="1" rot="5400000">
            <a:off x="8280578" y="3009901"/>
            <a:ext cx="228600" cy="609600"/>
          </a:xfrm>
          <a:prstGeom prst="leftBrace">
            <a:avLst>
              <a:gd fmla="val 75000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 txBox="1"/>
          <p:nvPr/>
        </p:nvSpPr>
        <p:spPr>
          <a:xfrm>
            <a:off x="6594772" y="3365678"/>
            <a:ext cx="4853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7360273" y="3364468"/>
            <a:ext cx="70525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8033195" y="3364468"/>
            <a:ext cx="7386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7"/>
          <p:cNvCxnSpPr>
            <a:stCxn id="294" idx="2"/>
            <a:endCxn id="267" idx="3"/>
          </p:cNvCxnSpPr>
          <p:nvPr/>
        </p:nvCxnSpPr>
        <p:spPr>
          <a:xfrm rot="5400000">
            <a:off x="6489952" y="3311949"/>
            <a:ext cx="524100" cy="1921800"/>
          </a:xfrm>
          <a:prstGeom prst="bentConnector2">
            <a:avLst/>
          </a:prstGeom>
          <a:noFill/>
          <a:ln cap="flat" cmpd="sng" w="25400">
            <a:solidFill>
              <a:srgbClr val="2626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7"/>
          <p:cNvCxnSpPr>
            <a:stCxn id="295" idx="2"/>
            <a:endCxn id="276" idx="0"/>
          </p:cNvCxnSpPr>
          <p:nvPr/>
        </p:nvCxnSpPr>
        <p:spPr>
          <a:xfrm rot="5400000">
            <a:off x="5255677" y="2543049"/>
            <a:ext cx="1679100" cy="4614600"/>
          </a:xfrm>
          <a:prstGeom prst="bentConnector3">
            <a:avLst>
              <a:gd fmla="val 63802" name="adj1"/>
            </a:avLst>
          </a:prstGeom>
          <a:noFill/>
          <a:ln cap="flat" cmpd="sng" w="25400">
            <a:solidFill>
              <a:srgbClr val="2626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7"/>
          <p:cNvSpPr txBox="1"/>
          <p:nvPr/>
        </p:nvSpPr>
        <p:spPr>
          <a:xfrm>
            <a:off x="6471298" y="5054956"/>
            <a:ext cx="201529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2699"/>
                </a:solidFill>
                <a:latin typeface="Calibri"/>
                <a:ea typeface="Calibri"/>
                <a:cs typeface="Calibri"/>
                <a:sym typeface="Calibri"/>
              </a:rPr>
              <a:t>data begins at this offset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6311007" y="531674"/>
            <a:ext cx="2415982" cy="1754326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5888" lvl="0" marL="1158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Locate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5888" lvl="0" marL="1158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Check if any line in set</a:t>
            </a:r>
            <a:b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has matching 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5888" lvl="0" marL="1158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Yes + line valid: hit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5888" lvl="0" marL="1158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Locate data starting</a:t>
            </a:r>
            <a:b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at offset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Direct Mapped Cache (E = 1)</a:t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1172867" y="2448735"/>
            <a:ext cx="228600" cy="2961465"/>
          </a:xfrm>
          <a:prstGeom prst="leftBrace">
            <a:avLst>
              <a:gd fmla="val 75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 txBox="1"/>
          <p:nvPr/>
        </p:nvSpPr>
        <p:spPr>
          <a:xfrm>
            <a:off x="76200" y="3625405"/>
            <a:ext cx="11224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2</a:t>
            </a:r>
            <a:r>
              <a:rPr b="1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p8"/>
          <p:cNvCxnSpPr/>
          <p:nvPr/>
        </p:nvCxnSpPr>
        <p:spPr>
          <a:xfrm>
            <a:off x="1905001" y="4640062"/>
            <a:ext cx="3124199" cy="8138"/>
          </a:xfrm>
          <a:prstGeom prst="straightConnector1">
            <a:avLst/>
          </a:prstGeom>
          <a:noFill/>
          <a:ln cap="rnd" cmpd="sng" w="7620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09" name="Google Shape;309;p8"/>
          <p:cNvSpPr txBox="1"/>
          <p:nvPr/>
        </p:nvSpPr>
        <p:spPr>
          <a:xfrm>
            <a:off x="381000" y="1154668"/>
            <a:ext cx="32987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 mapped: One line per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Assume: cache block size 8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6261278" y="2702162"/>
            <a:ext cx="990600" cy="270848"/>
          </a:xfrm>
          <a:prstGeom prst="rect">
            <a:avLst/>
          </a:prstGeom>
          <a:solidFill>
            <a:srgbClr val="FF9999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7251878" y="2702162"/>
            <a:ext cx="762000" cy="2708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0…01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8013878" y="2702162"/>
            <a:ext cx="520522" cy="2708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8"/>
          <p:cNvSpPr txBox="1"/>
          <p:nvPr/>
        </p:nvSpPr>
        <p:spPr>
          <a:xfrm>
            <a:off x="6172200" y="2362200"/>
            <a:ext cx="15729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of int: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1524000" y="3810000"/>
            <a:ext cx="3848288" cy="5334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3022243" y="39243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3294848" y="39243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3555643" y="39243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4977688" y="39243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2119653" y="3924300"/>
            <a:ext cx="717995" cy="3048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1650643" y="39243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3828971" y="39243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4686488" y="39243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4394566" y="39243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4102644" y="39243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1524000" y="3124200"/>
            <a:ext cx="3848288" cy="5334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3022243" y="32385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3294848" y="32385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3555643" y="32385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4977688" y="32385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2119653" y="3238500"/>
            <a:ext cx="717995" cy="3048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1650643" y="32385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3828971" y="32385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4686488" y="32385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4394566" y="32385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4102644" y="32385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1524000" y="2438400"/>
            <a:ext cx="3848288" cy="5334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3022243" y="25527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3294848" y="25527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3555643" y="25527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4977688" y="25527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2119653" y="2552700"/>
            <a:ext cx="717995" cy="3048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1650643" y="25527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3828971" y="25527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4686488" y="25527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4394566" y="25527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4102644" y="25527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1524000" y="4876800"/>
            <a:ext cx="3848288" cy="5334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3022243" y="49911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3294848" y="49911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3555643" y="49911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4977688" y="49911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2119653" y="4991100"/>
            <a:ext cx="717995" cy="30480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80"/>
              <a:buFont typeface="Calibri"/>
              <a:buNone/>
            </a:pPr>
            <a:r>
              <a:rPr b="1" i="0" lang="en-US" sz="14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1650643" y="49911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3828971" y="49911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4686488" y="49911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4394566" y="49911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4102644" y="49911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8"/>
          <p:cNvCxnSpPr>
            <a:stCxn id="311" idx="2"/>
          </p:cNvCxnSpPr>
          <p:nvPr/>
        </p:nvCxnSpPr>
        <p:spPr>
          <a:xfrm rot="5400000">
            <a:off x="6293678" y="2051710"/>
            <a:ext cx="417900" cy="2260500"/>
          </a:xfrm>
          <a:prstGeom prst="bentConnector2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8"/>
          <p:cNvSpPr txBox="1"/>
          <p:nvPr/>
        </p:nvSpPr>
        <p:spPr>
          <a:xfrm>
            <a:off x="6875252" y="3344174"/>
            <a:ext cx="8996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9"/>
          <p:cNvSpPr txBox="1"/>
          <p:nvPr>
            <p:ph type="title"/>
          </p:nvPr>
        </p:nvSpPr>
        <p:spPr>
          <a:xfrm>
            <a:off x="357762" y="445070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Direct Mapped Cache (E = 1)</a:t>
            </a:r>
            <a:endParaRPr/>
          </a:p>
        </p:txBody>
      </p:sp>
      <p:sp>
        <p:nvSpPr>
          <p:cNvPr id="366" name="Google Shape;366;p9"/>
          <p:cNvSpPr txBox="1"/>
          <p:nvPr/>
        </p:nvSpPr>
        <p:spPr>
          <a:xfrm>
            <a:off x="381000" y="1154668"/>
            <a:ext cx="32987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 mapped: One line per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Assume: cache block size 8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6261278" y="2702162"/>
            <a:ext cx="990600" cy="270848"/>
          </a:xfrm>
          <a:prstGeom prst="rect">
            <a:avLst/>
          </a:prstGeom>
          <a:solidFill>
            <a:srgbClr val="FF9999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7251878" y="2702162"/>
            <a:ext cx="762000" cy="2708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0…01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8013878" y="2702162"/>
            <a:ext cx="520522" cy="2708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9"/>
          <p:cNvSpPr txBox="1"/>
          <p:nvPr/>
        </p:nvSpPr>
        <p:spPr>
          <a:xfrm>
            <a:off x="6172200" y="2362200"/>
            <a:ext cx="15729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of int: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1524000" y="3124200"/>
            <a:ext cx="3848288" cy="5334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3022243" y="32385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3294848" y="32385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3555643" y="32385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4977688" y="32385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2119653" y="3238500"/>
            <a:ext cx="71799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1650643" y="32385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3828971" y="32385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4686488" y="32385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4394566" y="32385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4102644" y="3238500"/>
            <a:ext cx="292644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2" name="Google Shape;382;p9"/>
          <p:cNvCxnSpPr>
            <a:stCxn id="368" idx="2"/>
          </p:cNvCxnSpPr>
          <p:nvPr/>
        </p:nvCxnSpPr>
        <p:spPr>
          <a:xfrm rot="5400000">
            <a:off x="6293678" y="2051710"/>
            <a:ext cx="417900" cy="2260500"/>
          </a:xfrm>
          <a:prstGeom prst="bentConnector2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9"/>
          <p:cNvCxnSpPr>
            <a:stCxn id="367" idx="1"/>
          </p:cNvCxnSpPr>
          <p:nvPr/>
        </p:nvCxnSpPr>
        <p:spPr>
          <a:xfrm flipH="1">
            <a:off x="2478578" y="2837586"/>
            <a:ext cx="3782700" cy="400800"/>
          </a:xfrm>
          <a:prstGeom prst="bentConnector2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9"/>
          <p:cNvSpPr txBox="1"/>
          <p:nvPr/>
        </p:nvSpPr>
        <p:spPr>
          <a:xfrm>
            <a:off x="2368639" y="2514600"/>
            <a:ext cx="24676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match: assume yes = hit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" name="Google Shape;385;p9"/>
          <p:cNvCxnSpPr/>
          <p:nvPr/>
        </p:nvCxnSpPr>
        <p:spPr>
          <a:xfrm rot="5400000">
            <a:off x="1582476" y="3038043"/>
            <a:ext cx="400914" cy="158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" name="Google Shape;386;p9"/>
          <p:cNvSpPr txBox="1"/>
          <p:nvPr/>
        </p:nvSpPr>
        <p:spPr>
          <a:xfrm>
            <a:off x="1402727" y="2514600"/>
            <a:ext cx="10212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valid?  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p9"/>
          <p:cNvCxnSpPr>
            <a:stCxn id="369" idx="2"/>
          </p:cNvCxnSpPr>
          <p:nvPr/>
        </p:nvCxnSpPr>
        <p:spPr>
          <a:xfrm rot="5400000">
            <a:off x="5976439" y="1245610"/>
            <a:ext cx="570300" cy="4025100"/>
          </a:xfrm>
          <a:prstGeom prst="bentConnector3">
            <a:avLst>
              <a:gd fmla="val 175086" name="adj1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9"/>
          <p:cNvSpPr txBox="1"/>
          <p:nvPr/>
        </p:nvSpPr>
        <p:spPr>
          <a:xfrm>
            <a:off x="5715000" y="3962400"/>
            <a:ext cx="1301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offset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2124974" y="3242096"/>
            <a:ext cx="717995" cy="304800"/>
          </a:xfrm>
          <a:prstGeom prst="rect">
            <a:avLst/>
          </a:prstGeom>
          <a:solidFill>
            <a:srgbClr val="FF9999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0"/>
          <p:cNvSpPr txBox="1"/>
          <p:nvPr>
            <p:ph type="title"/>
          </p:nvPr>
        </p:nvSpPr>
        <p:spPr>
          <a:xfrm>
            <a:off x="357762" y="445070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Direct Mapped Cache (E = 1)</a:t>
            </a:r>
            <a:endParaRPr/>
          </a:p>
        </p:txBody>
      </p:sp>
      <p:sp>
        <p:nvSpPr>
          <p:cNvPr id="396" name="Google Shape;396;p10"/>
          <p:cNvSpPr txBox="1"/>
          <p:nvPr/>
        </p:nvSpPr>
        <p:spPr>
          <a:xfrm>
            <a:off x="381000" y="1154668"/>
            <a:ext cx="32987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 mapped: One line per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Assume: cache block size 8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6261278" y="2702162"/>
            <a:ext cx="990600" cy="270848"/>
          </a:xfrm>
          <a:prstGeom prst="rect">
            <a:avLst/>
          </a:prstGeom>
          <a:solidFill>
            <a:srgbClr val="FF9999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7251878" y="2702162"/>
            <a:ext cx="762000" cy="2708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0…01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8013878" y="2702162"/>
            <a:ext cx="520522" cy="2708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0"/>
          <p:cNvSpPr txBox="1"/>
          <p:nvPr/>
        </p:nvSpPr>
        <p:spPr>
          <a:xfrm>
            <a:off x="6172200" y="2362200"/>
            <a:ext cx="15729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of int: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1524000" y="3124200"/>
            <a:ext cx="3848288" cy="533400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3022243" y="32385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3294848" y="32385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3555643" y="32385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4977688" y="3238500"/>
            <a:ext cx="292644" cy="304800"/>
          </a:xfrm>
          <a:prstGeom prst="rect">
            <a:avLst/>
          </a:prstGeom>
          <a:solidFill>
            <a:srgbClr val="A9E39D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2119653" y="3238500"/>
            <a:ext cx="717995" cy="304800"/>
          </a:xfrm>
          <a:prstGeom prst="rect">
            <a:avLst/>
          </a:prstGeom>
          <a:solidFill>
            <a:srgbClr val="FF9999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1650643" y="32385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3828971" y="3238500"/>
            <a:ext cx="272605" cy="304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4686488" y="3238500"/>
            <a:ext cx="292644" cy="304800"/>
          </a:xfrm>
          <a:prstGeom prst="rect">
            <a:avLst/>
          </a:prstGeom>
          <a:solidFill>
            <a:srgbClr val="A9E39D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4394566" y="3238500"/>
            <a:ext cx="292644" cy="304800"/>
          </a:xfrm>
          <a:prstGeom prst="rect">
            <a:avLst/>
          </a:prstGeom>
          <a:solidFill>
            <a:srgbClr val="A9E39D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4102644" y="3238500"/>
            <a:ext cx="292644" cy="304800"/>
          </a:xfrm>
          <a:prstGeom prst="rect">
            <a:avLst/>
          </a:prstGeom>
          <a:solidFill>
            <a:srgbClr val="A9E39D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p10"/>
          <p:cNvCxnSpPr>
            <a:stCxn id="398" idx="2"/>
          </p:cNvCxnSpPr>
          <p:nvPr/>
        </p:nvCxnSpPr>
        <p:spPr>
          <a:xfrm rot="5400000">
            <a:off x="6293678" y="2051710"/>
            <a:ext cx="417900" cy="2260500"/>
          </a:xfrm>
          <a:prstGeom prst="bentConnector2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10"/>
          <p:cNvCxnSpPr>
            <a:stCxn id="397" idx="1"/>
          </p:cNvCxnSpPr>
          <p:nvPr/>
        </p:nvCxnSpPr>
        <p:spPr>
          <a:xfrm flipH="1">
            <a:off x="2478578" y="2837586"/>
            <a:ext cx="3782700" cy="400800"/>
          </a:xfrm>
          <a:prstGeom prst="bentConnector2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10"/>
          <p:cNvSpPr txBox="1"/>
          <p:nvPr/>
        </p:nvSpPr>
        <p:spPr>
          <a:xfrm>
            <a:off x="2368639" y="2514600"/>
            <a:ext cx="24676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match: assume yes = hit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5" name="Google Shape;415;p10"/>
          <p:cNvCxnSpPr/>
          <p:nvPr/>
        </p:nvCxnSpPr>
        <p:spPr>
          <a:xfrm rot="5400000">
            <a:off x="1582476" y="3038043"/>
            <a:ext cx="400914" cy="158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" name="Google Shape;416;p10"/>
          <p:cNvSpPr txBox="1"/>
          <p:nvPr/>
        </p:nvSpPr>
        <p:spPr>
          <a:xfrm>
            <a:off x="1402727" y="2514600"/>
            <a:ext cx="10212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valid?  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7" name="Google Shape;417;p10"/>
          <p:cNvCxnSpPr>
            <a:stCxn id="399" idx="2"/>
          </p:cNvCxnSpPr>
          <p:nvPr/>
        </p:nvCxnSpPr>
        <p:spPr>
          <a:xfrm rot="5400000">
            <a:off x="5976439" y="1245610"/>
            <a:ext cx="570300" cy="4025100"/>
          </a:xfrm>
          <a:prstGeom prst="bentConnector3">
            <a:avLst>
              <a:gd fmla="val 175086" name="adj1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0"/>
          <p:cNvSpPr/>
          <p:nvPr/>
        </p:nvSpPr>
        <p:spPr>
          <a:xfrm flipH="1" rot="10800000">
            <a:off x="4330522" y="3581400"/>
            <a:ext cx="733658" cy="1066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5A5A5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 txBox="1"/>
          <p:nvPr/>
        </p:nvSpPr>
        <p:spPr>
          <a:xfrm>
            <a:off x="3540656" y="4659868"/>
            <a:ext cx="2017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(4 Bytes) is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0"/>
          <p:cNvSpPr txBox="1"/>
          <p:nvPr/>
        </p:nvSpPr>
        <p:spPr>
          <a:xfrm>
            <a:off x="5715000" y="3962400"/>
            <a:ext cx="1301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offset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0"/>
          <p:cNvSpPr txBox="1"/>
          <p:nvPr/>
        </p:nvSpPr>
        <p:spPr>
          <a:xfrm>
            <a:off x="457200" y="5715000"/>
            <a:ext cx="68194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If tag doesn’t match: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 line is evicted and replaced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1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Direct-Mapped Cache Simulation</a:t>
            </a: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3211513" y="1391766"/>
            <a:ext cx="6161087" cy="316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M=16 bytes (4-bit addresses), B=2 bytes/block,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S=4 sets, E=1 Blocks/set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trace (reads, one byte per read):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	[0</a:t>
            </a:r>
            <a:r>
              <a:rPr b="1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1	[0</a:t>
            </a:r>
            <a:r>
              <a:rPr b="1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],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7	[0</a:t>
            </a:r>
            <a:r>
              <a:rPr b="1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],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8	[1</a:t>
            </a:r>
            <a:r>
              <a:rPr b="1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],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0	[0</a:t>
            </a:r>
            <a:r>
              <a:rPr b="1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465138" y="1633736"/>
            <a:ext cx="703262" cy="2857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584200" y="1295400"/>
            <a:ext cx="528990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1212850" y="1295400"/>
            <a:ext cx="540787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1952625" y="1295400"/>
            <a:ext cx="575227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1182688" y="1633736"/>
            <a:ext cx="703262" cy="2857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1898650" y="1633736"/>
            <a:ext cx="703263" cy="2857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4" name="Google Shape;434;p11"/>
          <p:cNvGrpSpPr/>
          <p:nvPr/>
        </p:nvGrpSpPr>
        <p:grpSpPr>
          <a:xfrm>
            <a:off x="3352800" y="5137150"/>
            <a:ext cx="2662237" cy="306388"/>
            <a:chOff x="2027" y="3244"/>
            <a:chExt cx="1677" cy="193"/>
          </a:xfrm>
        </p:grpSpPr>
        <p:sp>
          <p:nvSpPr>
            <p:cNvPr id="435" name="Google Shape;435;p11"/>
            <p:cNvSpPr/>
            <p:nvPr/>
          </p:nvSpPr>
          <p:spPr>
            <a:xfrm>
              <a:off x="2027" y="3244"/>
              <a:ext cx="351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1"/>
            <p:cNvSpPr/>
            <p:nvPr/>
          </p:nvSpPr>
          <p:spPr>
            <a:xfrm>
              <a:off x="2389" y="3244"/>
              <a:ext cx="411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1"/>
            <p:cNvSpPr/>
            <p:nvPr/>
          </p:nvSpPr>
          <p:spPr>
            <a:xfrm>
              <a:off x="2810" y="3244"/>
              <a:ext cx="894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8" name="Google Shape;438;p11"/>
          <p:cNvSpPr/>
          <p:nvPr/>
        </p:nvSpPr>
        <p:spPr>
          <a:xfrm>
            <a:off x="3502025" y="4724400"/>
            <a:ext cx="310982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3979862" y="4724400"/>
            <a:ext cx="531269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4937125" y="4724400"/>
            <a:ext cx="741413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3352800" y="5446713"/>
            <a:ext cx="557212" cy="3048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3927475" y="5446713"/>
            <a:ext cx="652462" cy="3048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4595812" y="5446713"/>
            <a:ext cx="1419225" cy="3048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3352800" y="5770563"/>
            <a:ext cx="557212" cy="3048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3927475" y="5770563"/>
            <a:ext cx="652462" cy="3048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4595812" y="5770563"/>
            <a:ext cx="1419225" cy="3048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3352800" y="6094413"/>
            <a:ext cx="557212" cy="3048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3927475" y="6094413"/>
            <a:ext cx="652462" cy="3048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4595812" y="6094413"/>
            <a:ext cx="1419225" cy="3048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 txBox="1"/>
          <p:nvPr/>
        </p:nvSpPr>
        <p:spPr>
          <a:xfrm>
            <a:off x="6657975" y="2968823"/>
            <a:ext cx="6471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1" name="Google Shape;451;p11"/>
          <p:cNvGrpSpPr/>
          <p:nvPr/>
        </p:nvGrpSpPr>
        <p:grpSpPr>
          <a:xfrm>
            <a:off x="3352800" y="5140325"/>
            <a:ext cx="2662237" cy="306388"/>
            <a:chOff x="2027" y="3244"/>
            <a:chExt cx="1677" cy="193"/>
          </a:xfrm>
        </p:grpSpPr>
        <p:sp>
          <p:nvSpPr>
            <p:cNvPr id="452" name="Google Shape;452;p11"/>
            <p:cNvSpPr/>
            <p:nvPr/>
          </p:nvSpPr>
          <p:spPr>
            <a:xfrm>
              <a:off x="2027" y="3244"/>
              <a:ext cx="351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1"/>
            <p:cNvSpPr/>
            <p:nvPr/>
          </p:nvSpPr>
          <p:spPr>
            <a:xfrm>
              <a:off x="2389" y="3244"/>
              <a:ext cx="411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1"/>
            <p:cNvSpPr/>
            <p:nvPr/>
          </p:nvSpPr>
          <p:spPr>
            <a:xfrm>
              <a:off x="2810" y="3244"/>
              <a:ext cx="894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M[0-1]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5" name="Google Shape;455;p11"/>
          <p:cNvSpPr txBox="1"/>
          <p:nvPr/>
        </p:nvSpPr>
        <p:spPr>
          <a:xfrm>
            <a:off x="6748463" y="3273623"/>
            <a:ext cx="4622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1"/>
          <p:cNvSpPr txBox="1"/>
          <p:nvPr/>
        </p:nvSpPr>
        <p:spPr>
          <a:xfrm>
            <a:off x="6657975" y="3548063"/>
            <a:ext cx="6471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7" name="Google Shape;457;p11"/>
          <p:cNvGrpSpPr/>
          <p:nvPr/>
        </p:nvGrpSpPr>
        <p:grpSpPr>
          <a:xfrm>
            <a:off x="3352800" y="6096000"/>
            <a:ext cx="2662237" cy="306387"/>
            <a:chOff x="2027" y="3244"/>
            <a:chExt cx="1677" cy="193"/>
          </a:xfrm>
        </p:grpSpPr>
        <p:sp>
          <p:nvSpPr>
            <p:cNvPr id="458" name="Google Shape;458;p11"/>
            <p:cNvSpPr/>
            <p:nvPr/>
          </p:nvSpPr>
          <p:spPr>
            <a:xfrm>
              <a:off x="2027" y="3244"/>
              <a:ext cx="351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1"/>
            <p:cNvSpPr/>
            <p:nvPr/>
          </p:nvSpPr>
          <p:spPr>
            <a:xfrm>
              <a:off x="2389" y="3244"/>
              <a:ext cx="411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1"/>
            <p:cNvSpPr/>
            <p:nvPr/>
          </p:nvSpPr>
          <p:spPr>
            <a:xfrm>
              <a:off x="2810" y="3244"/>
              <a:ext cx="894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M[6-7]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1" name="Google Shape;461;p11"/>
          <p:cNvSpPr txBox="1"/>
          <p:nvPr/>
        </p:nvSpPr>
        <p:spPr>
          <a:xfrm>
            <a:off x="6657975" y="3883223"/>
            <a:ext cx="6471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2" name="Google Shape;462;p11"/>
          <p:cNvGrpSpPr/>
          <p:nvPr/>
        </p:nvGrpSpPr>
        <p:grpSpPr>
          <a:xfrm>
            <a:off x="3352800" y="5140325"/>
            <a:ext cx="2662237" cy="306388"/>
            <a:chOff x="2027" y="3244"/>
            <a:chExt cx="1677" cy="193"/>
          </a:xfrm>
        </p:grpSpPr>
        <p:sp>
          <p:nvSpPr>
            <p:cNvPr id="463" name="Google Shape;463;p11"/>
            <p:cNvSpPr/>
            <p:nvPr/>
          </p:nvSpPr>
          <p:spPr>
            <a:xfrm>
              <a:off x="2027" y="3244"/>
              <a:ext cx="351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1"/>
            <p:cNvSpPr/>
            <p:nvPr/>
          </p:nvSpPr>
          <p:spPr>
            <a:xfrm>
              <a:off x="2389" y="3244"/>
              <a:ext cx="411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1"/>
            <p:cNvSpPr/>
            <p:nvPr/>
          </p:nvSpPr>
          <p:spPr>
            <a:xfrm>
              <a:off x="2810" y="3244"/>
              <a:ext cx="894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M[8-9]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6" name="Google Shape;466;p11"/>
          <p:cNvSpPr txBox="1"/>
          <p:nvPr/>
        </p:nvSpPr>
        <p:spPr>
          <a:xfrm>
            <a:off x="6657975" y="4188023"/>
            <a:ext cx="6471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7" name="Google Shape;467;p11"/>
          <p:cNvGrpSpPr/>
          <p:nvPr/>
        </p:nvGrpSpPr>
        <p:grpSpPr>
          <a:xfrm>
            <a:off x="3352800" y="5140325"/>
            <a:ext cx="2662237" cy="306388"/>
            <a:chOff x="2027" y="3244"/>
            <a:chExt cx="1677" cy="193"/>
          </a:xfrm>
        </p:grpSpPr>
        <p:sp>
          <p:nvSpPr>
            <p:cNvPr id="468" name="Google Shape;468;p11"/>
            <p:cNvSpPr/>
            <p:nvPr/>
          </p:nvSpPr>
          <p:spPr>
            <a:xfrm>
              <a:off x="2027" y="3244"/>
              <a:ext cx="351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1"/>
            <p:cNvSpPr/>
            <p:nvPr/>
          </p:nvSpPr>
          <p:spPr>
            <a:xfrm>
              <a:off x="2389" y="3244"/>
              <a:ext cx="411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1"/>
            <p:cNvSpPr/>
            <p:nvPr/>
          </p:nvSpPr>
          <p:spPr>
            <a:xfrm>
              <a:off x="2810" y="3244"/>
              <a:ext cx="894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M[0-1]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1" name="Google Shape;471;p11"/>
          <p:cNvSpPr txBox="1"/>
          <p:nvPr/>
        </p:nvSpPr>
        <p:spPr>
          <a:xfrm>
            <a:off x="2667000" y="5117068"/>
            <a:ext cx="6591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1"/>
          <p:cNvSpPr txBox="1"/>
          <p:nvPr/>
        </p:nvSpPr>
        <p:spPr>
          <a:xfrm>
            <a:off x="2667000" y="5422397"/>
            <a:ext cx="6591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1"/>
          <p:cNvSpPr txBox="1"/>
          <p:nvPr/>
        </p:nvSpPr>
        <p:spPr>
          <a:xfrm>
            <a:off x="2667000" y="5727726"/>
            <a:ext cx="6591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1"/>
          <p:cNvSpPr txBox="1"/>
          <p:nvPr/>
        </p:nvSpPr>
        <p:spPr>
          <a:xfrm>
            <a:off x="2667000" y="6033055"/>
            <a:ext cx="6591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2"/>
          <p:cNvSpPr txBox="1"/>
          <p:nvPr>
            <p:ph type="title"/>
          </p:nvPr>
        </p:nvSpPr>
        <p:spPr>
          <a:xfrm>
            <a:off x="357018" y="435678"/>
            <a:ext cx="796166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E-way Set Associative Cache (Here: E = 2)</a:t>
            </a:r>
            <a:endParaRPr/>
          </a:p>
        </p:txBody>
      </p:sp>
      <p:cxnSp>
        <p:nvCxnSpPr>
          <p:cNvPr id="481" name="Google Shape;481;p12"/>
          <p:cNvCxnSpPr/>
          <p:nvPr/>
        </p:nvCxnSpPr>
        <p:spPr>
          <a:xfrm>
            <a:off x="762000" y="4800600"/>
            <a:ext cx="6598924" cy="17189"/>
          </a:xfrm>
          <a:prstGeom prst="straightConnector1">
            <a:avLst/>
          </a:prstGeom>
          <a:noFill/>
          <a:ln cap="rnd" cmpd="sng" w="7620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82" name="Google Shape;482;p12"/>
          <p:cNvSpPr txBox="1"/>
          <p:nvPr/>
        </p:nvSpPr>
        <p:spPr>
          <a:xfrm>
            <a:off x="381000" y="1154668"/>
            <a:ext cx="32987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= 2: Two lines per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Assume: cache block size 8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6566078" y="1862752"/>
            <a:ext cx="990600" cy="270848"/>
          </a:xfrm>
          <a:prstGeom prst="rect">
            <a:avLst/>
          </a:prstGeom>
          <a:solidFill>
            <a:srgbClr val="FF9999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7556678" y="1862752"/>
            <a:ext cx="762000" cy="2708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0…01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8318678" y="1862752"/>
            <a:ext cx="520522" cy="2708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2"/>
          <p:cNvSpPr txBox="1"/>
          <p:nvPr/>
        </p:nvSpPr>
        <p:spPr>
          <a:xfrm>
            <a:off x="6477000" y="1522790"/>
            <a:ext cx="2126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of short int: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457200" y="2514600"/>
            <a:ext cx="7086600" cy="612843"/>
          </a:xfrm>
          <a:prstGeom prst="rect">
            <a:avLst/>
          </a:prstGeom>
          <a:solidFill>
            <a:srgbClr val="D5D5F4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606607" y="2590803"/>
            <a:ext cx="3321928" cy="460443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1899924" y="26894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2135242" y="26894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2360367" y="26894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3587907" y="26894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1120788" y="2689469"/>
            <a:ext cx="619789" cy="26311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715928" y="26894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2596309" y="26894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3336537" y="26894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3084544" y="26894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2832550" y="26894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4080935" y="2594046"/>
            <a:ext cx="3321928" cy="460443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5374252" y="26927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5609570" y="26927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5834695" y="26927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7062235" y="26927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4595116" y="2692712"/>
            <a:ext cx="619789" cy="26311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4190256" y="26927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6070637" y="26927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6810865" y="26927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6558872" y="26927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6306878" y="26927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457200" y="3200400"/>
            <a:ext cx="7086600" cy="612843"/>
          </a:xfrm>
          <a:prstGeom prst="rect">
            <a:avLst/>
          </a:prstGeom>
          <a:solidFill>
            <a:srgbClr val="D5D5F4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606607" y="3276603"/>
            <a:ext cx="3321928" cy="460443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1899924" y="3375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2135242" y="3375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2360367" y="3375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3587907" y="33752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1120788" y="3375269"/>
            <a:ext cx="619789" cy="26311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715928" y="3375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2596309" y="3375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3336537" y="33752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3084544" y="33752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2832550" y="33752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4080935" y="3279846"/>
            <a:ext cx="3321928" cy="460443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5374252" y="33785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5609570" y="33785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2"/>
          <p:cNvSpPr/>
          <p:nvPr/>
        </p:nvSpPr>
        <p:spPr>
          <a:xfrm>
            <a:off x="5834695" y="33785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7062235" y="33785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2"/>
          <p:cNvSpPr/>
          <p:nvPr/>
        </p:nvSpPr>
        <p:spPr>
          <a:xfrm>
            <a:off x="4595116" y="3378512"/>
            <a:ext cx="619789" cy="26311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4190256" y="33785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6070637" y="33785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6810865" y="33785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6558872" y="33785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2"/>
          <p:cNvSpPr/>
          <p:nvPr/>
        </p:nvSpPr>
        <p:spPr>
          <a:xfrm>
            <a:off x="6306878" y="33785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2"/>
          <p:cNvSpPr/>
          <p:nvPr/>
        </p:nvSpPr>
        <p:spPr>
          <a:xfrm>
            <a:off x="457200" y="3886200"/>
            <a:ext cx="7086600" cy="612843"/>
          </a:xfrm>
          <a:prstGeom prst="rect">
            <a:avLst/>
          </a:prstGeom>
          <a:solidFill>
            <a:srgbClr val="D5D5F4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2"/>
          <p:cNvSpPr/>
          <p:nvPr/>
        </p:nvSpPr>
        <p:spPr>
          <a:xfrm>
            <a:off x="606607" y="3962403"/>
            <a:ext cx="3321928" cy="460443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1899924" y="40610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2135242" y="40610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2"/>
          <p:cNvSpPr/>
          <p:nvPr/>
        </p:nvSpPr>
        <p:spPr>
          <a:xfrm>
            <a:off x="2360367" y="40610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2"/>
          <p:cNvSpPr/>
          <p:nvPr/>
        </p:nvSpPr>
        <p:spPr>
          <a:xfrm>
            <a:off x="3587907" y="40610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2"/>
          <p:cNvSpPr/>
          <p:nvPr/>
        </p:nvSpPr>
        <p:spPr>
          <a:xfrm>
            <a:off x="1120788" y="4061069"/>
            <a:ext cx="619789" cy="26311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2"/>
          <p:cNvSpPr/>
          <p:nvPr/>
        </p:nvSpPr>
        <p:spPr>
          <a:xfrm>
            <a:off x="715928" y="40610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2"/>
          <p:cNvSpPr/>
          <p:nvPr/>
        </p:nvSpPr>
        <p:spPr>
          <a:xfrm>
            <a:off x="2596309" y="40610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2"/>
          <p:cNvSpPr/>
          <p:nvPr/>
        </p:nvSpPr>
        <p:spPr>
          <a:xfrm>
            <a:off x="3336537" y="40610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3084544" y="40610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2"/>
          <p:cNvSpPr/>
          <p:nvPr/>
        </p:nvSpPr>
        <p:spPr>
          <a:xfrm>
            <a:off x="2832550" y="40610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2"/>
          <p:cNvSpPr/>
          <p:nvPr/>
        </p:nvSpPr>
        <p:spPr>
          <a:xfrm>
            <a:off x="4080935" y="3965646"/>
            <a:ext cx="3321928" cy="460443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2"/>
          <p:cNvSpPr/>
          <p:nvPr/>
        </p:nvSpPr>
        <p:spPr>
          <a:xfrm>
            <a:off x="5374252" y="40643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2"/>
          <p:cNvSpPr/>
          <p:nvPr/>
        </p:nvSpPr>
        <p:spPr>
          <a:xfrm>
            <a:off x="5609570" y="40643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2"/>
          <p:cNvSpPr/>
          <p:nvPr/>
        </p:nvSpPr>
        <p:spPr>
          <a:xfrm>
            <a:off x="5834695" y="40643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2"/>
          <p:cNvSpPr/>
          <p:nvPr/>
        </p:nvSpPr>
        <p:spPr>
          <a:xfrm>
            <a:off x="7062235" y="40643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2"/>
          <p:cNvSpPr/>
          <p:nvPr/>
        </p:nvSpPr>
        <p:spPr>
          <a:xfrm>
            <a:off x="4595116" y="4064312"/>
            <a:ext cx="619789" cy="26311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2"/>
          <p:cNvSpPr/>
          <p:nvPr/>
        </p:nvSpPr>
        <p:spPr>
          <a:xfrm>
            <a:off x="4190256" y="40643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2"/>
          <p:cNvSpPr/>
          <p:nvPr/>
        </p:nvSpPr>
        <p:spPr>
          <a:xfrm>
            <a:off x="6070637" y="40643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2"/>
          <p:cNvSpPr/>
          <p:nvPr/>
        </p:nvSpPr>
        <p:spPr>
          <a:xfrm>
            <a:off x="6810865" y="40643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2"/>
          <p:cNvSpPr/>
          <p:nvPr/>
        </p:nvSpPr>
        <p:spPr>
          <a:xfrm>
            <a:off x="6558872" y="40643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2"/>
          <p:cNvSpPr/>
          <p:nvPr/>
        </p:nvSpPr>
        <p:spPr>
          <a:xfrm>
            <a:off x="6306878" y="40643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2"/>
          <p:cNvSpPr/>
          <p:nvPr/>
        </p:nvSpPr>
        <p:spPr>
          <a:xfrm>
            <a:off x="457200" y="5102157"/>
            <a:ext cx="7086600" cy="612843"/>
          </a:xfrm>
          <a:prstGeom prst="rect">
            <a:avLst/>
          </a:prstGeom>
          <a:solidFill>
            <a:srgbClr val="D5D5F4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2"/>
          <p:cNvSpPr/>
          <p:nvPr/>
        </p:nvSpPr>
        <p:spPr>
          <a:xfrm>
            <a:off x="606607" y="5178360"/>
            <a:ext cx="3321928" cy="460443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2"/>
          <p:cNvSpPr/>
          <p:nvPr/>
        </p:nvSpPr>
        <p:spPr>
          <a:xfrm>
            <a:off x="1899924" y="5277026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2"/>
          <p:cNvSpPr/>
          <p:nvPr/>
        </p:nvSpPr>
        <p:spPr>
          <a:xfrm>
            <a:off x="2135242" y="5277026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2"/>
          <p:cNvSpPr/>
          <p:nvPr/>
        </p:nvSpPr>
        <p:spPr>
          <a:xfrm>
            <a:off x="2360367" y="5277026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2"/>
          <p:cNvSpPr/>
          <p:nvPr/>
        </p:nvSpPr>
        <p:spPr>
          <a:xfrm>
            <a:off x="3587907" y="5277026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2"/>
          <p:cNvSpPr/>
          <p:nvPr/>
        </p:nvSpPr>
        <p:spPr>
          <a:xfrm>
            <a:off x="1120788" y="5277026"/>
            <a:ext cx="619789" cy="26311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2"/>
          <p:cNvSpPr/>
          <p:nvPr/>
        </p:nvSpPr>
        <p:spPr>
          <a:xfrm>
            <a:off x="715928" y="5277026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2"/>
          <p:cNvSpPr/>
          <p:nvPr/>
        </p:nvSpPr>
        <p:spPr>
          <a:xfrm>
            <a:off x="2596309" y="5277026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2"/>
          <p:cNvSpPr/>
          <p:nvPr/>
        </p:nvSpPr>
        <p:spPr>
          <a:xfrm>
            <a:off x="3336537" y="5277026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2"/>
          <p:cNvSpPr/>
          <p:nvPr/>
        </p:nvSpPr>
        <p:spPr>
          <a:xfrm>
            <a:off x="3084544" y="5277026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2"/>
          <p:cNvSpPr/>
          <p:nvPr/>
        </p:nvSpPr>
        <p:spPr>
          <a:xfrm>
            <a:off x="2832550" y="5277026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2"/>
          <p:cNvSpPr/>
          <p:nvPr/>
        </p:nvSpPr>
        <p:spPr>
          <a:xfrm>
            <a:off x="4080935" y="5181603"/>
            <a:ext cx="3321928" cy="460443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2"/>
          <p:cNvSpPr/>
          <p:nvPr/>
        </p:nvSpPr>
        <p:spPr>
          <a:xfrm>
            <a:off x="5374252" y="5280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2"/>
          <p:cNvSpPr/>
          <p:nvPr/>
        </p:nvSpPr>
        <p:spPr>
          <a:xfrm>
            <a:off x="5609570" y="5280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2"/>
          <p:cNvSpPr/>
          <p:nvPr/>
        </p:nvSpPr>
        <p:spPr>
          <a:xfrm>
            <a:off x="5834695" y="5280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2"/>
          <p:cNvSpPr/>
          <p:nvPr/>
        </p:nvSpPr>
        <p:spPr>
          <a:xfrm>
            <a:off x="7062235" y="52802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2"/>
          <p:cNvSpPr/>
          <p:nvPr/>
        </p:nvSpPr>
        <p:spPr>
          <a:xfrm>
            <a:off x="4595116" y="5280269"/>
            <a:ext cx="619789" cy="26311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2"/>
          <p:cNvSpPr/>
          <p:nvPr/>
        </p:nvSpPr>
        <p:spPr>
          <a:xfrm>
            <a:off x="4190256" y="5280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2"/>
          <p:cNvSpPr/>
          <p:nvPr/>
        </p:nvSpPr>
        <p:spPr>
          <a:xfrm>
            <a:off x="6070637" y="5280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2"/>
          <p:cNvSpPr/>
          <p:nvPr/>
        </p:nvSpPr>
        <p:spPr>
          <a:xfrm>
            <a:off x="6810865" y="52802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2"/>
          <p:cNvSpPr/>
          <p:nvPr/>
        </p:nvSpPr>
        <p:spPr>
          <a:xfrm>
            <a:off x="6558872" y="52802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2"/>
          <p:cNvSpPr/>
          <p:nvPr/>
        </p:nvSpPr>
        <p:spPr>
          <a:xfrm>
            <a:off x="6306878" y="52802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9" name="Google Shape;579;p12"/>
          <p:cNvCxnSpPr>
            <a:stCxn id="484" idx="2"/>
            <a:endCxn id="510" idx="3"/>
          </p:cNvCxnSpPr>
          <p:nvPr/>
        </p:nvCxnSpPr>
        <p:spPr>
          <a:xfrm rot="5400000">
            <a:off x="7054178" y="2623200"/>
            <a:ext cx="1373100" cy="393900"/>
          </a:xfrm>
          <a:prstGeom prst="bentConnector2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0" name="Google Shape;580;p12"/>
          <p:cNvSpPr txBox="1"/>
          <p:nvPr/>
        </p:nvSpPr>
        <p:spPr>
          <a:xfrm>
            <a:off x="7924800" y="3246572"/>
            <a:ext cx="8996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3"/>
          <p:cNvSpPr txBox="1"/>
          <p:nvPr>
            <p:ph type="title"/>
          </p:nvPr>
        </p:nvSpPr>
        <p:spPr>
          <a:xfrm>
            <a:off x="357762" y="445070"/>
            <a:ext cx="8245269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E-way Set Associative Cache (Here: E = 2)</a:t>
            </a:r>
            <a:endParaRPr/>
          </a:p>
        </p:txBody>
      </p:sp>
      <p:sp>
        <p:nvSpPr>
          <p:cNvPr id="587" name="Google Shape;587;p13"/>
          <p:cNvSpPr txBox="1"/>
          <p:nvPr/>
        </p:nvSpPr>
        <p:spPr>
          <a:xfrm>
            <a:off x="381000" y="1154668"/>
            <a:ext cx="32987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= 2: Two lines per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Assume: cache block size 8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3"/>
          <p:cNvSpPr/>
          <p:nvPr/>
        </p:nvSpPr>
        <p:spPr>
          <a:xfrm>
            <a:off x="6566078" y="1862752"/>
            <a:ext cx="990600" cy="270848"/>
          </a:xfrm>
          <a:prstGeom prst="rect">
            <a:avLst/>
          </a:prstGeom>
          <a:solidFill>
            <a:srgbClr val="FF9999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3"/>
          <p:cNvSpPr/>
          <p:nvPr/>
        </p:nvSpPr>
        <p:spPr>
          <a:xfrm>
            <a:off x="7556678" y="1862752"/>
            <a:ext cx="762000" cy="2708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0…01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3"/>
          <p:cNvSpPr/>
          <p:nvPr/>
        </p:nvSpPr>
        <p:spPr>
          <a:xfrm>
            <a:off x="8318678" y="1862752"/>
            <a:ext cx="520522" cy="2708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3"/>
          <p:cNvSpPr txBox="1"/>
          <p:nvPr/>
        </p:nvSpPr>
        <p:spPr>
          <a:xfrm>
            <a:off x="6477000" y="1522790"/>
            <a:ext cx="2126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of short int: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3"/>
          <p:cNvSpPr/>
          <p:nvPr/>
        </p:nvSpPr>
        <p:spPr>
          <a:xfrm>
            <a:off x="457200" y="3200400"/>
            <a:ext cx="7086600" cy="612843"/>
          </a:xfrm>
          <a:prstGeom prst="rect">
            <a:avLst/>
          </a:prstGeom>
          <a:solidFill>
            <a:srgbClr val="D5D5F4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3"/>
          <p:cNvSpPr/>
          <p:nvPr/>
        </p:nvSpPr>
        <p:spPr>
          <a:xfrm>
            <a:off x="606607" y="3276603"/>
            <a:ext cx="3321928" cy="460443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1899924" y="3375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3"/>
          <p:cNvSpPr/>
          <p:nvPr/>
        </p:nvSpPr>
        <p:spPr>
          <a:xfrm>
            <a:off x="2135242" y="3375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3"/>
          <p:cNvSpPr/>
          <p:nvPr/>
        </p:nvSpPr>
        <p:spPr>
          <a:xfrm>
            <a:off x="2360367" y="3375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3"/>
          <p:cNvSpPr/>
          <p:nvPr/>
        </p:nvSpPr>
        <p:spPr>
          <a:xfrm>
            <a:off x="3587907" y="33752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3"/>
          <p:cNvSpPr/>
          <p:nvPr/>
        </p:nvSpPr>
        <p:spPr>
          <a:xfrm>
            <a:off x="1120788" y="3375269"/>
            <a:ext cx="61978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3"/>
          <p:cNvSpPr/>
          <p:nvPr/>
        </p:nvSpPr>
        <p:spPr>
          <a:xfrm>
            <a:off x="715928" y="3375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2596309" y="3375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3"/>
          <p:cNvSpPr/>
          <p:nvPr/>
        </p:nvSpPr>
        <p:spPr>
          <a:xfrm>
            <a:off x="3336537" y="33752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3"/>
          <p:cNvSpPr/>
          <p:nvPr/>
        </p:nvSpPr>
        <p:spPr>
          <a:xfrm>
            <a:off x="3084544" y="33752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3"/>
          <p:cNvSpPr/>
          <p:nvPr/>
        </p:nvSpPr>
        <p:spPr>
          <a:xfrm>
            <a:off x="2832550" y="33752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3"/>
          <p:cNvSpPr/>
          <p:nvPr/>
        </p:nvSpPr>
        <p:spPr>
          <a:xfrm>
            <a:off x="4080935" y="3279846"/>
            <a:ext cx="3321928" cy="460443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3"/>
          <p:cNvSpPr/>
          <p:nvPr/>
        </p:nvSpPr>
        <p:spPr>
          <a:xfrm>
            <a:off x="5374252" y="33785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3"/>
          <p:cNvSpPr/>
          <p:nvPr/>
        </p:nvSpPr>
        <p:spPr>
          <a:xfrm>
            <a:off x="5609570" y="33785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3"/>
          <p:cNvSpPr/>
          <p:nvPr/>
        </p:nvSpPr>
        <p:spPr>
          <a:xfrm>
            <a:off x="5834695" y="33785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3"/>
          <p:cNvSpPr/>
          <p:nvPr/>
        </p:nvSpPr>
        <p:spPr>
          <a:xfrm>
            <a:off x="7062235" y="33785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3"/>
          <p:cNvSpPr/>
          <p:nvPr/>
        </p:nvSpPr>
        <p:spPr>
          <a:xfrm>
            <a:off x="4595116" y="3378512"/>
            <a:ext cx="619789" cy="26311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3"/>
          <p:cNvSpPr/>
          <p:nvPr/>
        </p:nvSpPr>
        <p:spPr>
          <a:xfrm>
            <a:off x="4190256" y="33785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3"/>
          <p:cNvSpPr/>
          <p:nvPr/>
        </p:nvSpPr>
        <p:spPr>
          <a:xfrm>
            <a:off x="6070637" y="33785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3"/>
          <p:cNvSpPr/>
          <p:nvPr/>
        </p:nvSpPr>
        <p:spPr>
          <a:xfrm>
            <a:off x="6810865" y="33785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3"/>
          <p:cNvSpPr/>
          <p:nvPr/>
        </p:nvSpPr>
        <p:spPr>
          <a:xfrm>
            <a:off x="6558872" y="33785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3"/>
          <p:cNvSpPr/>
          <p:nvPr/>
        </p:nvSpPr>
        <p:spPr>
          <a:xfrm>
            <a:off x="6306878" y="33785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5" name="Google Shape;615;p13"/>
          <p:cNvCxnSpPr>
            <a:stCxn id="589" idx="2"/>
            <a:endCxn id="592" idx="3"/>
          </p:cNvCxnSpPr>
          <p:nvPr/>
        </p:nvCxnSpPr>
        <p:spPr>
          <a:xfrm rot="5400000">
            <a:off x="7054178" y="2623200"/>
            <a:ext cx="1373100" cy="393900"/>
          </a:xfrm>
          <a:prstGeom prst="bentConnector2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6" name="Google Shape;616;p13"/>
          <p:cNvCxnSpPr>
            <a:stCxn id="588" idx="1"/>
            <a:endCxn id="609" idx="0"/>
          </p:cNvCxnSpPr>
          <p:nvPr/>
        </p:nvCxnSpPr>
        <p:spPr>
          <a:xfrm flipH="1">
            <a:off x="4904978" y="1998176"/>
            <a:ext cx="1661100" cy="1380300"/>
          </a:xfrm>
          <a:prstGeom prst="bentConnector2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13"/>
          <p:cNvCxnSpPr>
            <a:stCxn id="588" idx="1"/>
            <a:endCxn id="598" idx="0"/>
          </p:cNvCxnSpPr>
          <p:nvPr/>
        </p:nvCxnSpPr>
        <p:spPr>
          <a:xfrm flipH="1">
            <a:off x="1430678" y="1998176"/>
            <a:ext cx="5135400" cy="1377000"/>
          </a:xfrm>
          <a:prstGeom prst="bentConnector2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8" name="Google Shape;618;p13"/>
          <p:cNvSpPr txBox="1"/>
          <p:nvPr/>
        </p:nvSpPr>
        <p:spPr>
          <a:xfrm>
            <a:off x="3429000" y="1981200"/>
            <a:ext cx="15258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both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9" name="Google Shape;619;p13"/>
          <p:cNvCxnSpPr/>
          <p:nvPr/>
        </p:nvCxnSpPr>
        <p:spPr>
          <a:xfrm rot="5400000">
            <a:off x="636949" y="3171463"/>
            <a:ext cx="400914" cy="158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0" name="Google Shape;620;p13"/>
          <p:cNvSpPr txBox="1"/>
          <p:nvPr/>
        </p:nvSpPr>
        <p:spPr>
          <a:xfrm>
            <a:off x="457200" y="2628106"/>
            <a:ext cx="10212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valid?  +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3"/>
          <p:cNvSpPr txBox="1"/>
          <p:nvPr/>
        </p:nvSpPr>
        <p:spPr>
          <a:xfrm>
            <a:off x="1418537" y="2641599"/>
            <a:ext cx="16918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match: yes = hit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2" name="Google Shape;622;p13"/>
          <p:cNvCxnSpPr>
            <a:stCxn id="590" idx="2"/>
            <a:endCxn id="603" idx="2"/>
          </p:cNvCxnSpPr>
          <p:nvPr/>
        </p:nvCxnSpPr>
        <p:spPr>
          <a:xfrm rot="5400000">
            <a:off x="5016439" y="75900"/>
            <a:ext cx="1504800" cy="5620200"/>
          </a:xfrm>
          <a:prstGeom prst="bentConnector3">
            <a:avLst>
              <a:gd fmla="val 148386" name="adj1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3" name="Google Shape;623;p13"/>
          <p:cNvSpPr txBox="1"/>
          <p:nvPr/>
        </p:nvSpPr>
        <p:spPr>
          <a:xfrm>
            <a:off x="5105400" y="4355068"/>
            <a:ext cx="1301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offset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3"/>
          <p:cNvSpPr/>
          <p:nvPr/>
        </p:nvSpPr>
        <p:spPr>
          <a:xfrm>
            <a:off x="1124185" y="3377238"/>
            <a:ext cx="619789" cy="263110"/>
          </a:xfrm>
          <a:prstGeom prst="rect">
            <a:avLst/>
          </a:prstGeom>
          <a:solidFill>
            <a:srgbClr val="FF9999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4"/>
          <p:cNvSpPr txBox="1"/>
          <p:nvPr>
            <p:ph type="title"/>
          </p:nvPr>
        </p:nvSpPr>
        <p:spPr>
          <a:xfrm>
            <a:off x="357762" y="445070"/>
            <a:ext cx="8245269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E-way Set Associative Cache (Here: E = 2)</a:t>
            </a:r>
            <a:endParaRPr/>
          </a:p>
        </p:txBody>
      </p:sp>
      <p:sp>
        <p:nvSpPr>
          <p:cNvPr id="631" name="Google Shape;631;p14"/>
          <p:cNvSpPr txBox="1"/>
          <p:nvPr/>
        </p:nvSpPr>
        <p:spPr>
          <a:xfrm>
            <a:off x="381000" y="1154668"/>
            <a:ext cx="32987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= 2: Two lines per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Assume: cache block size 8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4"/>
          <p:cNvSpPr/>
          <p:nvPr/>
        </p:nvSpPr>
        <p:spPr>
          <a:xfrm>
            <a:off x="6566078" y="1862752"/>
            <a:ext cx="990600" cy="270848"/>
          </a:xfrm>
          <a:prstGeom prst="rect">
            <a:avLst/>
          </a:prstGeom>
          <a:solidFill>
            <a:srgbClr val="FF9999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4"/>
          <p:cNvSpPr/>
          <p:nvPr/>
        </p:nvSpPr>
        <p:spPr>
          <a:xfrm>
            <a:off x="7556678" y="1862752"/>
            <a:ext cx="762000" cy="2708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0…01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4"/>
          <p:cNvSpPr/>
          <p:nvPr/>
        </p:nvSpPr>
        <p:spPr>
          <a:xfrm>
            <a:off x="8318678" y="1862752"/>
            <a:ext cx="520522" cy="2708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4"/>
          <p:cNvSpPr txBox="1"/>
          <p:nvPr/>
        </p:nvSpPr>
        <p:spPr>
          <a:xfrm>
            <a:off x="6477000" y="1522790"/>
            <a:ext cx="2126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of short int: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4"/>
          <p:cNvSpPr/>
          <p:nvPr/>
        </p:nvSpPr>
        <p:spPr>
          <a:xfrm>
            <a:off x="457200" y="3200400"/>
            <a:ext cx="7086600" cy="612843"/>
          </a:xfrm>
          <a:prstGeom prst="rect">
            <a:avLst/>
          </a:prstGeom>
          <a:solidFill>
            <a:srgbClr val="D5D5F4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4"/>
          <p:cNvSpPr/>
          <p:nvPr/>
        </p:nvSpPr>
        <p:spPr>
          <a:xfrm>
            <a:off x="606607" y="3276603"/>
            <a:ext cx="3321928" cy="460443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4"/>
          <p:cNvSpPr/>
          <p:nvPr/>
        </p:nvSpPr>
        <p:spPr>
          <a:xfrm>
            <a:off x="1899924" y="3375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4"/>
          <p:cNvSpPr/>
          <p:nvPr/>
        </p:nvSpPr>
        <p:spPr>
          <a:xfrm>
            <a:off x="2135242" y="3375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4"/>
          <p:cNvSpPr/>
          <p:nvPr/>
        </p:nvSpPr>
        <p:spPr>
          <a:xfrm>
            <a:off x="2360367" y="3375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4"/>
          <p:cNvSpPr/>
          <p:nvPr/>
        </p:nvSpPr>
        <p:spPr>
          <a:xfrm>
            <a:off x="3587907" y="33752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4"/>
          <p:cNvSpPr/>
          <p:nvPr/>
        </p:nvSpPr>
        <p:spPr>
          <a:xfrm>
            <a:off x="1120788" y="3375269"/>
            <a:ext cx="619789" cy="263110"/>
          </a:xfrm>
          <a:prstGeom prst="rect">
            <a:avLst/>
          </a:prstGeom>
          <a:solidFill>
            <a:srgbClr val="FF9999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4"/>
          <p:cNvSpPr/>
          <p:nvPr/>
        </p:nvSpPr>
        <p:spPr>
          <a:xfrm>
            <a:off x="715928" y="3375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4"/>
          <p:cNvSpPr/>
          <p:nvPr/>
        </p:nvSpPr>
        <p:spPr>
          <a:xfrm>
            <a:off x="2596309" y="3375269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4"/>
          <p:cNvSpPr/>
          <p:nvPr/>
        </p:nvSpPr>
        <p:spPr>
          <a:xfrm>
            <a:off x="3336537" y="3375269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4"/>
          <p:cNvSpPr/>
          <p:nvPr/>
        </p:nvSpPr>
        <p:spPr>
          <a:xfrm>
            <a:off x="3084544" y="3375269"/>
            <a:ext cx="252617" cy="263110"/>
          </a:xfrm>
          <a:prstGeom prst="rect">
            <a:avLst/>
          </a:prstGeom>
          <a:solidFill>
            <a:srgbClr val="A9E39D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4"/>
          <p:cNvSpPr/>
          <p:nvPr/>
        </p:nvSpPr>
        <p:spPr>
          <a:xfrm>
            <a:off x="2832550" y="3375269"/>
            <a:ext cx="252617" cy="263110"/>
          </a:xfrm>
          <a:prstGeom prst="rect">
            <a:avLst/>
          </a:prstGeom>
          <a:solidFill>
            <a:srgbClr val="A9E39D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4"/>
          <p:cNvSpPr/>
          <p:nvPr/>
        </p:nvSpPr>
        <p:spPr>
          <a:xfrm>
            <a:off x="4080935" y="3279846"/>
            <a:ext cx="3321928" cy="460443"/>
          </a:xfrm>
          <a:prstGeom prst="rect">
            <a:avLst/>
          </a:prstGeom>
          <a:solidFill>
            <a:srgbClr val="ACACEA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Narrow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4"/>
          <p:cNvSpPr/>
          <p:nvPr/>
        </p:nvSpPr>
        <p:spPr>
          <a:xfrm>
            <a:off x="5374252" y="33785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4"/>
          <p:cNvSpPr/>
          <p:nvPr/>
        </p:nvSpPr>
        <p:spPr>
          <a:xfrm>
            <a:off x="5609570" y="33785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4"/>
          <p:cNvSpPr/>
          <p:nvPr/>
        </p:nvSpPr>
        <p:spPr>
          <a:xfrm>
            <a:off x="5834695" y="33785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4"/>
          <p:cNvSpPr/>
          <p:nvPr/>
        </p:nvSpPr>
        <p:spPr>
          <a:xfrm>
            <a:off x="7062235" y="33785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4"/>
          <p:cNvSpPr/>
          <p:nvPr/>
        </p:nvSpPr>
        <p:spPr>
          <a:xfrm>
            <a:off x="4595116" y="3378512"/>
            <a:ext cx="619789" cy="263110"/>
          </a:xfrm>
          <a:prstGeom prst="rect">
            <a:avLst/>
          </a:prstGeom>
          <a:solidFill>
            <a:schemeClr val="accent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4"/>
          <p:cNvSpPr/>
          <p:nvPr/>
        </p:nvSpPr>
        <p:spPr>
          <a:xfrm>
            <a:off x="4190256" y="33785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4"/>
          <p:cNvSpPr/>
          <p:nvPr/>
        </p:nvSpPr>
        <p:spPr>
          <a:xfrm>
            <a:off x="6070637" y="3378512"/>
            <a:ext cx="235319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4"/>
          <p:cNvSpPr/>
          <p:nvPr/>
        </p:nvSpPr>
        <p:spPr>
          <a:xfrm>
            <a:off x="6810865" y="33785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4"/>
          <p:cNvSpPr/>
          <p:nvPr/>
        </p:nvSpPr>
        <p:spPr>
          <a:xfrm>
            <a:off x="6558872" y="33785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4"/>
          <p:cNvSpPr/>
          <p:nvPr/>
        </p:nvSpPr>
        <p:spPr>
          <a:xfrm>
            <a:off x="6306878" y="3378512"/>
            <a:ext cx="252617" cy="26311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9" name="Google Shape;659;p14"/>
          <p:cNvCxnSpPr>
            <a:stCxn id="633" idx="2"/>
            <a:endCxn id="636" idx="3"/>
          </p:cNvCxnSpPr>
          <p:nvPr/>
        </p:nvCxnSpPr>
        <p:spPr>
          <a:xfrm rot="5400000">
            <a:off x="7054178" y="2623200"/>
            <a:ext cx="1373100" cy="393900"/>
          </a:xfrm>
          <a:prstGeom prst="bentConnector2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0" name="Google Shape;660;p14"/>
          <p:cNvCxnSpPr>
            <a:stCxn id="632" idx="1"/>
            <a:endCxn id="653" idx="0"/>
          </p:cNvCxnSpPr>
          <p:nvPr/>
        </p:nvCxnSpPr>
        <p:spPr>
          <a:xfrm flipH="1">
            <a:off x="4904978" y="1998176"/>
            <a:ext cx="1661100" cy="1380300"/>
          </a:xfrm>
          <a:prstGeom prst="bentConnector2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14"/>
          <p:cNvCxnSpPr>
            <a:stCxn id="632" idx="1"/>
            <a:endCxn id="642" idx="0"/>
          </p:cNvCxnSpPr>
          <p:nvPr/>
        </p:nvCxnSpPr>
        <p:spPr>
          <a:xfrm flipH="1">
            <a:off x="1430678" y="1998176"/>
            <a:ext cx="5135400" cy="1377000"/>
          </a:xfrm>
          <a:prstGeom prst="bentConnector2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2" name="Google Shape;662;p14"/>
          <p:cNvSpPr txBox="1"/>
          <p:nvPr/>
        </p:nvSpPr>
        <p:spPr>
          <a:xfrm>
            <a:off x="3429000" y="1981200"/>
            <a:ext cx="15295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both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3" name="Google Shape;663;p14"/>
          <p:cNvCxnSpPr/>
          <p:nvPr/>
        </p:nvCxnSpPr>
        <p:spPr>
          <a:xfrm rot="5400000">
            <a:off x="636949" y="3171463"/>
            <a:ext cx="400914" cy="158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4" name="Google Shape;664;p14"/>
          <p:cNvSpPr txBox="1"/>
          <p:nvPr/>
        </p:nvSpPr>
        <p:spPr>
          <a:xfrm>
            <a:off x="457200" y="2641599"/>
            <a:ext cx="10212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valid?  +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4"/>
          <p:cNvSpPr txBox="1"/>
          <p:nvPr/>
        </p:nvSpPr>
        <p:spPr>
          <a:xfrm>
            <a:off x="1418537" y="2641599"/>
            <a:ext cx="16918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match: yes = hit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6" name="Google Shape;666;p14"/>
          <p:cNvCxnSpPr>
            <a:stCxn id="634" idx="2"/>
            <a:endCxn id="647" idx="2"/>
          </p:cNvCxnSpPr>
          <p:nvPr/>
        </p:nvCxnSpPr>
        <p:spPr>
          <a:xfrm rot="5400000">
            <a:off x="5016439" y="75900"/>
            <a:ext cx="1504800" cy="5620200"/>
          </a:xfrm>
          <a:prstGeom prst="bentConnector3">
            <a:avLst>
              <a:gd fmla="val 148386" name="adj1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7" name="Google Shape;667;p14"/>
          <p:cNvSpPr txBox="1"/>
          <p:nvPr/>
        </p:nvSpPr>
        <p:spPr>
          <a:xfrm>
            <a:off x="5105400" y="4355068"/>
            <a:ext cx="1301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offset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4"/>
          <p:cNvSpPr/>
          <p:nvPr/>
        </p:nvSpPr>
        <p:spPr>
          <a:xfrm flipH="1" rot="10800000">
            <a:off x="2717407" y="3733800"/>
            <a:ext cx="733658" cy="1066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5A5A5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4"/>
          <p:cNvSpPr txBox="1"/>
          <p:nvPr/>
        </p:nvSpPr>
        <p:spPr>
          <a:xfrm>
            <a:off x="1803399" y="4812268"/>
            <a:ext cx="25709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 int (2 Bytes) is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4"/>
          <p:cNvSpPr txBox="1"/>
          <p:nvPr/>
        </p:nvSpPr>
        <p:spPr>
          <a:xfrm>
            <a:off x="457200" y="5562600"/>
            <a:ext cx="797859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 match: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line in set is selected for eviction and replacement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Replacement policies: random, least recently used (LRU),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5"/>
          <p:cNvSpPr/>
          <p:nvPr/>
        </p:nvSpPr>
        <p:spPr>
          <a:xfrm>
            <a:off x="3922713" y="5213015"/>
            <a:ext cx="2662237" cy="397545"/>
          </a:xfrm>
          <a:prstGeom prst="rect">
            <a:avLst/>
          </a:prstGeom>
          <a:solidFill>
            <a:srgbClr val="DEDFF5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5"/>
          <p:cNvSpPr/>
          <p:nvPr/>
        </p:nvSpPr>
        <p:spPr>
          <a:xfrm>
            <a:off x="3922713" y="6030577"/>
            <a:ext cx="2662237" cy="397545"/>
          </a:xfrm>
          <a:prstGeom prst="rect">
            <a:avLst/>
          </a:prstGeom>
          <a:solidFill>
            <a:srgbClr val="DEDFF5"/>
          </a:solidFill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5"/>
          <p:cNvSpPr txBox="1"/>
          <p:nvPr>
            <p:ph type="title"/>
          </p:nvPr>
        </p:nvSpPr>
        <p:spPr>
          <a:xfrm>
            <a:off x="357018" y="435678"/>
            <a:ext cx="8101182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2-Way Set Associative Cache Simulation</a:t>
            </a:r>
            <a:endParaRPr/>
          </a:p>
        </p:txBody>
      </p:sp>
      <p:sp>
        <p:nvSpPr>
          <p:cNvPr id="678" name="Google Shape;678;p15"/>
          <p:cNvSpPr/>
          <p:nvPr/>
        </p:nvSpPr>
        <p:spPr>
          <a:xfrm>
            <a:off x="3211513" y="1712243"/>
            <a:ext cx="5475287" cy="285975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M=16 byte addresses, B=2 bytes/block,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S=2 sets, E=2 blocks/set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trace (reads, one byte per read):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	[00</a:t>
            </a:r>
            <a:r>
              <a:rPr b="1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1	[00</a:t>
            </a:r>
            <a:r>
              <a:rPr b="1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],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7	[01</a:t>
            </a:r>
            <a:r>
              <a:rPr b="1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],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8	[10</a:t>
            </a:r>
            <a:r>
              <a:rPr b="1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],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0	[00</a:t>
            </a:r>
            <a:r>
              <a:rPr b="1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baseline="-25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5"/>
          <p:cNvSpPr/>
          <p:nvPr/>
        </p:nvSpPr>
        <p:spPr>
          <a:xfrm>
            <a:off x="457200" y="1841500"/>
            <a:ext cx="703262" cy="2857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5"/>
          <p:cNvSpPr/>
          <p:nvPr/>
        </p:nvSpPr>
        <p:spPr>
          <a:xfrm>
            <a:off x="576262" y="1507455"/>
            <a:ext cx="526385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5"/>
          <p:cNvSpPr/>
          <p:nvPr/>
        </p:nvSpPr>
        <p:spPr>
          <a:xfrm>
            <a:off x="1204912" y="1507455"/>
            <a:ext cx="553937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5"/>
          <p:cNvSpPr/>
          <p:nvPr/>
        </p:nvSpPr>
        <p:spPr>
          <a:xfrm>
            <a:off x="1944687" y="1507455"/>
            <a:ext cx="581238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5"/>
          <p:cNvSpPr/>
          <p:nvPr/>
        </p:nvSpPr>
        <p:spPr>
          <a:xfrm>
            <a:off x="1174750" y="1841500"/>
            <a:ext cx="703262" cy="2857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5"/>
          <p:cNvSpPr/>
          <p:nvPr/>
        </p:nvSpPr>
        <p:spPr>
          <a:xfrm>
            <a:off x="1890712" y="1841500"/>
            <a:ext cx="703263" cy="2857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5" name="Google Shape;685;p15"/>
          <p:cNvGrpSpPr/>
          <p:nvPr/>
        </p:nvGrpSpPr>
        <p:grpSpPr>
          <a:xfrm>
            <a:off x="3922713" y="5106988"/>
            <a:ext cx="2662237" cy="306387"/>
            <a:chOff x="2027" y="3244"/>
            <a:chExt cx="1677" cy="193"/>
          </a:xfrm>
        </p:grpSpPr>
        <p:sp>
          <p:nvSpPr>
            <p:cNvPr id="686" name="Google Shape;686;p15"/>
            <p:cNvSpPr/>
            <p:nvPr/>
          </p:nvSpPr>
          <p:spPr>
            <a:xfrm>
              <a:off x="2027" y="3244"/>
              <a:ext cx="351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15"/>
            <p:cNvSpPr/>
            <p:nvPr/>
          </p:nvSpPr>
          <p:spPr>
            <a:xfrm>
              <a:off x="2389" y="3244"/>
              <a:ext cx="411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15"/>
            <p:cNvSpPr/>
            <p:nvPr/>
          </p:nvSpPr>
          <p:spPr>
            <a:xfrm>
              <a:off x="2810" y="3244"/>
              <a:ext cx="894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9" name="Google Shape;689;p15"/>
          <p:cNvSpPr/>
          <p:nvPr/>
        </p:nvSpPr>
        <p:spPr>
          <a:xfrm>
            <a:off x="4071938" y="4724400"/>
            <a:ext cx="316918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5"/>
          <p:cNvSpPr/>
          <p:nvPr/>
        </p:nvSpPr>
        <p:spPr>
          <a:xfrm>
            <a:off x="4549775" y="4724400"/>
            <a:ext cx="538533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Tag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5"/>
          <p:cNvSpPr/>
          <p:nvPr/>
        </p:nvSpPr>
        <p:spPr>
          <a:xfrm>
            <a:off x="5410200" y="4724400"/>
            <a:ext cx="757819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5"/>
          <p:cNvSpPr/>
          <p:nvPr/>
        </p:nvSpPr>
        <p:spPr>
          <a:xfrm>
            <a:off x="3922713" y="5416550"/>
            <a:ext cx="557212" cy="3048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5"/>
          <p:cNvSpPr/>
          <p:nvPr/>
        </p:nvSpPr>
        <p:spPr>
          <a:xfrm>
            <a:off x="4497388" y="5416550"/>
            <a:ext cx="652462" cy="3048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5"/>
          <p:cNvSpPr/>
          <p:nvPr/>
        </p:nvSpPr>
        <p:spPr>
          <a:xfrm>
            <a:off x="5165725" y="5416550"/>
            <a:ext cx="1419225" cy="3048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5"/>
          <p:cNvSpPr/>
          <p:nvPr/>
        </p:nvSpPr>
        <p:spPr>
          <a:xfrm>
            <a:off x="3922713" y="5924550"/>
            <a:ext cx="557212" cy="3048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5"/>
          <p:cNvSpPr/>
          <p:nvPr/>
        </p:nvSpPr>
        <p:spPr>
          <a:xfrm>
            <a:off x="4497388" y="5924550"/>
            <a:ext cx="652462" cy="3048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5"/>
          <p:cNvSpPr/>
          <p:nvPr/>
        </p:nvSpPr>
        <p:spPr>
          <a:xfrm>
            <a:off x="5165725" y="5924550"/>
            <a:ext cx="1419225" cy="3048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5"/>
          <p:cNvSpPr/>
          <p:nvPr/>
        </p:nvSpPr>
        <p:spPr>
          <a:xfrm>
            <a:off x="3922713" y="6248400"/>
            <a:ext cx="557212" cy="3048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5"/>
          <p:cNvSpPr/>
          <p:nvPr/>
        </p:nvSpPr>
        <p:spPr>
          <a:xfrm>
            <a:off x="4497388" y="6248400"/>
            <a:ext cx="652462" cy="3048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5"/>
          <p:cNvSpPr/>
          <p:nvPr/>
        </p:nvSpPr>
        <p:spPr>
          <a:xfrm>
            <a:off x="5165725" y="6248400"/>
            <a:ext cx="1419225" cy="3048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5"/>
          <p:cNvSpPr txBox="1"/>
          <p:nvPr/>
        </p:nvSpPr>
        <p:spPr>
          <a:xfrm>
            <a:off x="6657975" y="2984698"/>
            <a:ext cx="6471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2" name="Google Shape;702;p15"/>
          <p:cNvGrpSpPr/>
          <p:nvPr/>
        </p:nvGrpSpPr>
        <p:grpSpPr>
          <a:xfrm>
            <a:off x="3922713" y="5110163"/>
            <a:ext cx="2662237" cy="306387"/>
            <a:chOff x="2027" y="3244"/>
            <a:chExt cx="1677" cy="193"/>
          </a:xfrm>
        </p:grpSpPr>
        <p:sp>
          <p:nvSpPr>
            <p:cNvPr id="703" name="Google Shape;703;p15"/>
            <p:cNvSpPr/>
            <p:nvPr/>
          </p:nvSpPr>
          <p:spPr>
            <a:xfrm>
              <a:off x="2027" y="3244"/>
              <a:ext cx="351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2389" y="3244"/>
              <a:ext cx="411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2810" y="3244"/>
              <a:ext cx="894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M[0-1]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6" name="Google Shape;706;p15"/>
          <p:cNvSpPr txBox="1"/>
          <p:nvPr/>
        </p:nvSpPr>
        <p:spPr>
          <a:xfrm>
            <a:off x="6748463" y="3276600"/>
            <a:ext cx="4622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15"/>
          <p:cNvSpPr txBox="1"/>
          <p:nvPr/>
        </p:nvSpPr>
        <p:spPr>
          <a:xfrm>
            <a:off x="6657975" y="3581400"/>
            <a:ext cx="6471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8" name="Google Shape;708;p15"/>
          <p:cNvGrpSpPr/>
          <p:nvPr/>
        </p:nvGrpSpPr>
        <p:grpSpPr>
          <a:xfrm>
            <a:off x="3922713" y="5921375"/>
            <a:ext cx="2662237" cy="306387"/>
            <a:chOff x="2027" y="3244"/>
            <a:chExt cx="1677" cy="193"/>
          </a:xfrm>
        </p:grpSpPr>
        <p:sp>
          <p:nvSpPr>
            <p:cNvPr id="709" name="Google Shape;709;p15"/>
            <p:cNvSpPr/>
            <p:nvPr/>
          </p:nvSpPr>
          <p:spPr>
            <a:xfrm>
              <a:off x="2027" y="3244"/>
              <a:ext cx="351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2389" y="3244"/>
              <a:ext cx="411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15"/>
            <p:cNvSpPr/>
            <p:nvPr/>
          </p:nvSpPr>
          <p:spPr>
            <a:xfrm>
              <a:off x="2810" y="3244"/>
              <a:ext cx="894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M[6-7]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2" name="Google Shape;712;p15"/>
          <p:cNvSpPr txBox="1"/>
          <p:nvPr/>
        </p:nvSpPr>
        <p:spPr>
          <a:xfrm>
            <a:off x="6657975" y="3886200"/>
            <a:ext cx="6471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3" name="Google Shape;713;p15"/>
          <p:cNvGrpSpPr/>
          <p:nvPr/>
        </p:nvGrpSpPr>
        <p:grpSpPr>
          <a:xfrm>
            <a:off x="3922713" y="5413375"/>
            <a:ext cx="2662237" cy="306388"/>
            <a:chOff x="2027" y="3244"/>
            <a:chExt cx="1677" cy="193"/>
          </a:xfrm>
        </p:grpSpPr>
        <p:sp>
          <p:nvSpPr>
            <p:cNvPr id="714" name="Google Shape;714;p15"/>
            <p:cNvSpPr/>
            <p:nvPr/>
          </p:nvSpPr>
          <p:spPr>
            <a:xfrm>
              <a:off x="2027" y="3244"/>
              <a:ext cx="351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15"/>
            <p:cNvSpPr/>
            <p:nvPr/>
          </p:nvSpPr>
          <p:spPr>
            <a:xfrm>
              <a:off x="2389" y="3244"/>
              <a:ext cx="411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15"/>
            <p:cNvSpPr/>
            <p:nvPr/>
          </p:nvSpPr>
          <p:spPr>
            <a:xfrm>
              <a:off x="2810" y="3244"/>
              <a:ext cx="894" cy="193"/>
            </a:xfrm>
            <a:prstGeom prst="rect">
              <a:avLst/>
            </a:prstGeom>
            <a:solidFill>
              <a:srgbClr val="DEDFF5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M[8-9]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7" name="Google Shape;717;p15"/>
          <p:cNvSpPr txBox="1"/>
          <p:nvPr/>
        </p:nvSpPr>
        <p:spPr>
          <a:xfrm>
            <a:off x="6748463" y="4191000"/>
            <a:ext cx="4622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5"/>
          <p:cNvSpPr txBox="1"/>
          <p:nvPr/>
        </p:nvSpPr>
        <p:spPr>
          <a:xfrm>
            <a:off x="2825750" y="5416550"/>
            <a:ext cx="8588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5"/>
          <p:cNvSpPr txBox="1"/>
          <p:nvPr/>
        </p:nvSpPr>
        <p:spPr>
          <a:xfrm>
            <a:off x="3227045" y="5181600"/>
            <a:ext cx="6591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5"/>
          <p:cNvSpPr txBox="1"/>
          <p:nvPr/>
        </p:nvSpPr>
        <p:spPr>
          <a:xfrm>
            <a:off x="3227045" y="6031468"/>
            <a:ext cx="6591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6"/>
          <p:cNvSpPr txBox="1"/>
          <p:nvPr>
            <p:ph type="title"/>
          </p:nvPr>
        </p:nvSpPr>
        <p:spPr>
          <a:xfrm>
            <a:off x="404813" y="310040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about writes?</a:t>
            </a:r>
            <a:endParaRPr/>
          </a:p>
        </p:txBody>
      </p:sp>
      <p:sp>
        <p:nvSpPr>
          <p:cNvPr id="727" name="Google Shape;727;p16"/>
          <p:cNvSpPr txBox="1"/>
          <p:nvPr>
            <p:ph idx="1" type="body"/>
          </p:nvPr>
        </p:nvSpPr>
        <p:spPr>
          <a:xfrm>
            <a:off x="455613" y="1220788"/>
            <a:ext cx="8307387" cy="5322887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Multiple copies of data exist: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L1, L2, L3, Main Memory, Disk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What to do on a write-hit?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solidFill>
                  <a:srgbClr val="FF0000"/>
                </a:solidFill>
              </a:rPr>
              <a:t>Write-through </a:t>
            </a:r>
            <a:r>
              <a:rPr lang="en-US"/>
              <a:t>(write immediately to memory)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solidFill>
                  <a:srgbClr val="FF0000"/>
                </a:solidFill>
              </a:rPr>
              <a:t>Write-back </a:t>
            </a:r>
            <a:r>
              <a:rPr lang="en-US"/>
              <a:t>(defer write to memory until replacement of line)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Need a dirty bit (line different from memory or not)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What to do on a write-miss?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solidFill>
                  <a:srgbClr val="FF0000"/>
                </a:solidFill>
              </a:rPr>
              <a:t>Write-allocate </a:t>
            </a:r>
            <a:r>
              <a:rPr lang="en-US"/>
              <a:t>(load into cache, update line in cache)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Good if more writes to the location follow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solidFill>
                  <a:srgbClr val="FF0000"/>
                </a:solidFill>
              </a:rPr>
              <a:t>No-write-allocate </a:t>
            </a:r>
            <a:r>
              <a:rPr lang="en-US"/>
              <a:t>(writes straight to memory, does not load into cache)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Typical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Write-through + No-write-allocate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US"/>
              <a:t>Write-back + Write-allocate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Font typeface="No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7"/>
          <p:cNvSpPr/>
          <p:nvPr/>
        </p:nvSpPr>
        <p:spPr>
          <a:xfrm>
            <a:off x="228600" y="1676400"/>
            <a:ext cx="6172200" cy="38862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3" name="Google Shape;733;p17"/>
          <p:cNvSpPr/>
          <p:nvPr/>
        </p:nvSpPr>
        <p:spPr>
          <a:xfrm>
            <a:off x="381000" y="1981200"/>
            <a:ext cx="2122488" cy="24384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4" name="Google Shape;734;p17"/>
          <p:cNvSpPr/>
          <p:nvPr/>
        </p:nvSpPr>
        <p:spPr>
          <a:xfrm>
            <a:off x="4114800" y="1981200"/>
            <a:ext cx="2122488" cy="24384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5" name="Google Shape;735;p17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Intel Core i7 Cache Hierarchy</a:t>
            </a:r>
            <a:endParaRPr/>
          </a:p>
        </p:txBody>
      </p:sp>
      <p:sp>
        <p:nvSpPr>
          <p:cNvPr id="736" name="Google Shape;736;p17"/>
          <p:cNvSpPr/>
          <p:nvPr/>
        </p:nvSpPr>
        <p:spPr>
          <a:xfrm>
            <a:off x="546100" y="2133600"/>
            <a:ext cx="977900" cy="304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Regs</a:t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7" name="Google Shape;737;p17"/>
          <p:cNvSpPr/>
          <p:nvPr/>
        </p:nvSpPr>
        <p:spPr>
          <a:xfrm>
            <a:off x="588963" y="2781300"/>
            <a:ext cx="782637" cy="5715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L1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d-cache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7"/>
          <p:cNvSpPr/>
          <p:nvPr/>
        </p:nvSpPr>
        <p:spPr>
          <a:xfrm>
            <a:off x="1524000" y="2781300"/>
            <a:ext cx="795338" cy="5715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L1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i-cache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17"/>
          <p:cNvSpPr/>
          <p:nvPr/>
        </p:nvSpPr>
        <p:spPr>
          <a:xfrm>
            <a:off x="609600" y="3695700"/>
            <a:ext cx="1709738" cy="5715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L2 unified 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0" name="Google Shape;740;p17"/>
          <p:cNvCxnSpPr/>
          <p:nvPr/>
        </p:nvCxnSpPr>
        <p:spPr>
          <a:xfrm>
            <a:off x="1066800" y="2438400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1" name="Google Shape;741;p17"/>
          <p:cNvCxnSpPr/>
          <p:nvPr/>
        </p:nvCxnSpPr>
        <p:spPr>
          <a:xfrm>
            <a:off x="1066800" y="3352800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2" name="Google Shape;742;p17"/>
          <p:cNvCxnSpPr/>
          <p:nvPr/>
        </p:nvCxnSpPr>
        <p:spPr>
          <a:xfrm>
            <a:off x="1905000" y="3352800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3" name="Google Shape;743;p17"/>
          <p:cNvSpPr txBox="1"/>
          <p:nvPr/>
        </p:nvSpPr>
        <p:spPr>
          <a:xfrm>
            <a:off x="304800" y="1676400"/>
            <a:ext cx="7736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Core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17"/>
          <p:cNvSpPr/>
          <p:nvPr/>
        </p:nvSpPr>
        <p:spPr>
          <a:xfrm>
            <a:off x="4279900" y="2133600"/>
            <a:ext cx="977900" cy="304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Regs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7"/>
          <p:cNvSpPr/>
          <p:nvPr/>
        </p:nvSpPr>
        <p:spPr>
          <a:xfrm>
            <a:off x="4322763" y="2781300"/>
            <a:ext cx="782637" cy="5715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L1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d-cache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17"/>
          <p:cNvSpPr/>
          <p:nvPr/>
        </p:nvSpPr>
        <p:spPr>
          <a:xfrm>
            <a:off x="5257800" y="2781300"/>
            <a:ext cx="795338" cy="5715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L1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i-cache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17"/>
          <p:cNvSpPr/>
          <p:nvPr/>
        </p:nvSpPr>
        <p:spPr>
          <a:xfrm>
            <a:off x="4343400" y="3695700"/>
            <a:ext cx="1709738" cy="5715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L2 unified 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8" name="Google Shape;748;p17"/>
          <p:cNvCxnSpPr/>
          <p:nvPr/>
        </p:nvCxnSpPr>
        <p:spPr>
          <a:xfrm>
            <a:off x="4800600" y="2438400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9" name="Google Shape;749;p17"/>
          <p:cNvCxnSpPr/>
          <p:nvPr/>
        </p:nvCxnSpPr>
        <p:spPr>
          <a:xfrm>
            <a:off x="4800600" y="3352800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p17"/>
          <p:cNvCxnSpPr/>
          <p:nvPr/>
        </p:nvCxnSpPr>
        <p:spPr>
          <a:xfrm>
            <a:off x="5638800" y="3352800"/>
            <a:ext cx="0" cy="342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1" name="Google Shape;751;p17"/>
          <p:cNvSpPr txBox="1"/>
          <p:nvPr/>
        </p:nvSpPr>
        <p:spPr>
          <a:xfrm>
            <a:off x="4038600" y="1676400"/>
            <a:ext cx="7736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Core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17"/>
          <p:cNvSpPr txBox="1"/>
          <p:nvPr/>
        </p:nvSpPr>
        <p:spPr>
          <a:xfrm>
            <a:off x="2971800" y="2983468"/>
            <a:ext cx="7239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3" name="Google Shape;753;p17"/>
          <p:cNvCxnSpPr/>
          <p:nvPr/>
        </p:nvCxnSpPr>
        <p:spPr>
          <a:xfrm>
            <a:off x="1447800" y="4267200"/>
            <a:ext cx="0" cy="53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p17"/>
          <p:cNvCxnSpPr/>
          <p:nvPr/>
        </p:nvCxnSpPr>
        <p:spPr>
          <a:xfrm>
            <a:off x="5181600" y="4267200"/>
            <a:ext cx="0" cy="53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5" name="Google Shape;755;p17"/>
          <p:cNvSpPr/>
          <p:nvPr/>
        </p:nvSpPr>
        <p:spPr>
          <a:xfrm>
            <a:off x="1098550" y="4800600"/>
            <a:ext cx="4387850" cy="571500"/>
          </a:xfrm>
          <a:prstGeom prst="rect">
            <a:avLst/>
          </a:prstGeom>
          <a:solidFill>
            <a:srgbClr val="DEDFF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L3 unified 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(shared by all cores)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7"/>
          <p:cNvSpPr/>
          <p:nvPr/>
        </p:nvSpPr>
        <p:spPr>
          <a:xfrm>
            <a:off x="228600" y="6057900"/>
            <a:ext cx="6172200" cy="5715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Main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7" name="Google Shape;757;p17"/>
          <p:cNvCxnSpPr/>
          <p:nvPr/>
        </p:nvCxnSpPr>
        <p:spPr>
          <a:xfrm>
            <a:off x="3371850" y="5372100"/>
            <a:ext cx="0" cy="685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8" name="Google Shape;758;p17"/>
          <p:cNvSpPr txBox="1"/>
          <p:nvPr/>
        </p:nvSpPr>
        <p:spPr>
          <a:xfrm>
            <a:off x="152400" y="1295400"/>
            <a:ext cx="19207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Processor package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7"/>
          <p:cNvSpPr txBox="1"/>
          <p:nvPr/>
        </p:nvSpPr>
        <p:spPr>
          <a:xfrm>
            <a:off x="6553200" y="1676400"/>
            <a:ext cx="2514600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L1 i-cache and d-cache: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 KB,  8-way,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Access: 4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L2 unified cache: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256 KB, 8-way,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Access: 10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L3 unified cache: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MB, 16-way,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Access: 40-75 cycles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size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64 bytes for all caches.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8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Cache Performance Metrics</a:t>
            </a:r>
            <a:endParaRPr/>
          </a:p>
        </p:txBody>
      </p:sp>
      <p:sp>
        <p:nvSpPr>
          <p:cNvPr id="766" name="Google Shape;766;p18"/>
          <p:cNvSpPr txBox="1"/>
          <p:nvPr>
            <p:ph idx="1" type="body"/>
          </p:nvPr>
        </p:nvSpPr>
        <p:spPr>
          <a:xfrm>
            <a:off x="396875" y="1362075"/>
            <a:ext cx="85947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9999"/>
              <a:buChar char="⬛"/>
            </a:pPr>
            <a:r>
              <a:rPr lang="en-US"/>
              <a:t>Miss Rate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lang="en-US"/>
              <a:t>Fraction of memory references not found in cache (misses / accesses)</a:t>
            </a:r>
            <a:br>
              <a:rPr lang="en-US"/>
            </a:br>
            <a:r>
              <a:rPr lang="en-US"/>
              <a:t>= 1 – hit rate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lang="en-US"/>
              <a:t>Typical numbers (in percentages):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80000"/>
              <a:buChar char="▪"/>
            </a:pPr>
            <a:r>
              <a:rPr lang="en-US"/>
              <a:t>3-10% for L1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80000"/>
              <a:buChar char="▪"/>
            </a:pPr>
            <a:r>
              <a:rPr lang="en-US"/>
              <a:t>can be quite small (e.g., &lt; 1%) for L2, depending on size, etc.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59999"/>
              <a:buChar char="⬛"/>
            </a:pPr>
            <a:r>
              <a:rPr lang="en-US"/>
              <a:t>Hit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lang="en-US"/>
              <a:t>Time to deliver a line in the cache to the processor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80000"/>
              <a:buChar char="▪"/>
            </a:pPr>
            <a:r>
              <a:rPr lang="en-US"/>
              <a:t>includes time to determine whether the line is in the cache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lang="en-US"/>
              <a:t>Typical numbers: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80000"/>
              <a:buChar char="▪"/>
            </a:pPr>
            <a:r>
              <a:rPr lang="en-US"/>
              <a:t>4 clock cycle for L1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80000"/>
              <a:buChar char="▪"/>
            </a:pPr>
            <a:r>
              <a:rPr lang="en-US"/>
              <a:t>10 clock cycles for L2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59999"/>
              <a:buChar char="⬛"/>
            </a:pPr>
            <a:r>
              <a:rPr lang="en-US"/>
              <a:t>Miss Penalty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ct val="110000"/>
              <a:buChar char="▪"/>
            </a:pPr>
            <a:r>
              <a:rPr lang="en-US"/>
              <a:t>Additional time required because of a miss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80000"/>
              <a:buChar char="▪"/>
            </a:pPr>
            <a:r>
              <a:rPr lang="en-US"/>
              <a:t>typically 50-200 cycles for main memory (Trend: increasing!)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9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Let’s think about those numbers</a:t>
            </a:r>
            <a:endParaRPr/>
          </a:p>
        </p:txBody>
      </p:sp>
      <p:sp>
        <p:nvSpPr>
          <p:cNvPr id="772" name="Google Shape;772;p19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Huge difference between a hit and a miss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Could be 100x, if just L1 and main memory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Would you believe 99% hits is twice as good as 97%?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Consider: </a:t>
            </a:r>
            <a:br>
              <a:rPr lang="en-US" sz="1800"/>
            </a:br>
            <a:r>
              <a:rPr lang="en-US" sz="1800"/>
              <a:t>cache hit time of 1 cycle</a:t>
            </a:r>
            <a:br>
              <a:rPr lang="en-US" sz="1800"/>
            </a:br>
            <a:r>
              <a:rPr lang="en-US" sz="1800"/>
              <a:t>miss penalty of 100 cycles</a:t>
            </a:r>
            <a:endParaRPr/>
          </a:p>
          <a:p>
            <a:pPr indent="-160019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Average access time: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80"/>
              <a:buFont typeface="Noto Sans"/>
              <a:buNone/>
            </a:pPr>
            <a:r>
              <a:rPr lang="en-US" sz="1800"/>
              <a:t>	 97% hits:  1 cycle + 0.03 * 100 cycles =</a:t>
            </a:r>
            <a:r>
              <a:rPr lang="en-US" sz="1800">
                <a:solidFill>
                  <a:srgbClr val="FF0000"/>
                </a:solidFill>
              </a:rPr>
              <a:t> </a:t>
            </a:r>
            <a:r>
              <a:rPr b="1" lang="en-US" sz="1800">
                <a:solidFill>
                  <a:srgbClr val="C00000"/>
                </a:solidFill>
              </a:rPr>
              <a:t>4 cycles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80"/>
              <a:buFont typeface="Noto Sans"/>
              <a:buNone/>
            </a:pPr>
            <a:r>
              <a:rPr lang="en-US" sz="1800"/>
              <a:t>	 99% hits:  1 cycle + 0.01 * 100 cycles = </a:t>
            </a:r>
            <a:r>
              <a:rPr b="1" lang="en-US" sz="1800">
                <a:solidFill>
                  <a:srgbClr val="C00000"/>
                </a:solidFill>
              </a:rPr>
              <a:t>2 cycles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760"/>
              <a:buFont typeface="Noto Sans"/>
              <a:buNone/>
            </a:pPr>
            <a:r>
              <a:t/>
            </a:r>
            <a:endParaRPr sz="1600">
              <a:solidFill>
                <a:srgbClr val="C0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C00000"/>
                </a:solidFill>
              </a:rPr>
              <a:t>This is why “miss rate” is used instead of “hit rate”</a:t>
            </a:r>
            <a:endParaRPr sz="18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20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Writing Cache Friendly Code</a:t>
            </a:r>
            <a:endParaRPr/>
          </a:p>
        </p:txBody>
      </p:sp>
      <p:sp>
        <p:nvSpPr>
          <p:cNvPr id="778" name="Google Shape;778;p20"/>
          <p:cNvSpPr txBox="1"/>
          <p:nvPr>
            <p:ph idx="1" type="body"/>
          </p:nvPr>
        </p:nvSpPr>
        <p:spPr>
          <a:xfrm>
            <a:off x="396875" y="1362075"/>
            <a:ext cx="82899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Make the common case go fast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Focus on the inner loops of the core functions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Minimize the misses in the inner loops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Repeated references to variables are good (</a:t>
            </a:r>
            <a:r>
              <a:rPr lang="en-US">
                <a:solidFill>
                  <a:srgbClr val="FF0000"/>
                </a:solidFill>
              </a:rPr>
              <a:t>temporal locality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Stride-1 reference patterns are good (</a:t>
            </a:r>
            <a:r>
              <a:rPr lang="en-US">
                <a:solidFill>
                  <a:srgbClr val="FF0000"/>
                </a:solidFill>
              </a:rPr>
              <a:t>spatial locality</a:t>
            </a:r>
            <a:r>
              <a:rPr lang="en-US"/>
              <a:t>)</a:t>
            </a:r>
            <a:endParaRPr/>
          </a:p>
        </p:txBody>
      </p:sp>
      <p:sp>
        <p:nvSpPr>
          <p:cNvPr id="779" name="Google Shape;779;p20"/>
          <p:cNvSpPr txBox="1"/>
          <p:nvPr/>
        </p:nvSpPr>
        <p:spPr>
          <a:xfrm>
            <a:off x="396876" y="4800600"/>
            <a:ext cx="851852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idea: Our qualitative notion of locality is quantified through our understanding of cache memories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5"/>
          <p:cNvSpPr txBox="1"/>
          <p:nvPr>
            <p:ph type="title"/>
          </p:nvPr>
        </p:nvSpPr>
        <p:spPr>
          <a:xfrm>
            <a:off x="357018" y="435678"/>
            <a:ext cx="7592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2" lvl="0" marL="1190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786" name="Google Shape;786;p25"/>
          <p:cNvSpPr txBox="1"/>
          <p:nvPr>
            <p:ph idx="1" type="body"/>
          </p:nvPr>
        </p:nvSpPr>
        <p:spPr>
          <a:xfrm>
            <a:off x="396875" y="1362075"/>
            <a:ext cx="7896300" cy="4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A5A5A5"/>
                </a:solidFill>
              </a:rPr>
              <a:t>Cache organization and operation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A5A5A5"/>
                </a:solidFill>
              </a:rPr>
              <a:t>Performance impact of caches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Rearranging loops to improve spatial locality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solidFill>
                  <a:srgbClr val="A5A5A5"/>
                </a:solidFill>
              </a:rPr>
              <a:t>Using blocking to improve temporal locality</a:t>
            </a:r>
            <a:endParaRPr/>
          </a:p>
          <a:p>
            <a:pPr indent="-251458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6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Matrix Multiplication Example</a:t>
            </a:r>
            <a:endParaRPr/>
          </a:p>
        </p:txBody>
      </p:sp>
      <p:sp>
        <p:nvSpPr>
          <p:cNvPr id="792" name="Google Shape;792;p26"/>
          <p:cNvSpPr txBox="1"/>
          <p:nvPr>
            <p:ph idx="1" type="body"/>
          </p:nvPr>
        </p:nvSpPr>
        <p:spPr>
          <a:xfrm>
            <a:off x="396875" y="1362075"/>
            <a:ext cx="36417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Description: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Multiply N x N matrices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Matrix elements are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double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s</a:t>
            </a:r>
            <a:r>
              <a:rPr lang="en-US"/>
              <a:t> (8 bytes)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O(N</a:t>
            </a:r>
            <a:r>
              <a:rPr baseline="30000" lang="en-US"/>
              <a:t>3</a:t>
            </a:r>
            <a:r>
              <a:rPr lang="en-US"/>
              <a:t>) total operations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N reads per source element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N values summed per destination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but may be able to hold in register</a:t>
            </a:r>
            <a:endParaRPr/>
          </a:p>
        </p:txBody>
      </p:sp>
      <p:sp>
        <p:nvSpPr>
          <p:cNvPr id="793" name="Google Shape;793;p26"/>
          <p:cNvSpPr/>
          <p:nvPr/>
        </p:nvSpPr>
        <p:spPr>
          <a:xfrm>
            <a:off x="4270375" y="1546225"/>
            <a:ext cx="4492625" cy="2834366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algn="ctr" dir="2700000" dist="107763">
              <a:schemeClr val="dk1">
                <a:alpha val="74117"/>
              </a:schemeClr>
            </a:outerShdw>
          </a:effectLst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ijk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(i=0; i&lt;n; i++)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(j=0; j&lt;n; j++)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sum = 0.0;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(k=0; k&lt;n; k++)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sum += a[i][k] * b[k][j];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c[i][j] = sum;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6"/>
          <p:cNvSpPr/>
          <p:nvPr/>
        </p:nvSpPr>
        <p:spPr>
          <a:xfrm>
            <a:off x="7162800" y="1295400"/>
            <a:ext cx="1878718" cy="6437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Variable </a:t>
            </a:r>
            <a:r>
              <a:rPr b="1" i="1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endParaRPr b="0" i="1" sz="1800" u="none" cap="none" strike="noStrike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held in register</a:t>
            </a:r>
            <a:endParaRPr b="0" i="0" sz="1800" u="none" cap="none" strike="noStrike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795" name="Google Shape;795;p26"/>
          <p:cNvGrpSpPr/>
          <p:nvPr/>
        </p:nvGrpSpPr>
        <p:grpSpPr>
          <a:xfrm>
            <a:off x="6348413" y="1933575"/>
            <a:ext cx="1676400" cy="695325"/>
            <a:chOff x="3936" y="2064"/>
            <a:chExt cx="1056" cy="288"/>
          </a:xfrm>
        </p:grpSpPr>
        <p:cxnSp>
          <p:nvCxnSpPr>
            <p:cNvPr id="796" name="Google Shape;796;p26"/>
            <p:cNvCxnSpPr/>
            <p:nvPr/>
          </p:nvCxnSpPr>
          <p:spPr>
            <a:xfrm rot="10800000">
              <a:off x="3936" y="2352"/>
              <a:ext cx="91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97" name="Google Shape;797;p26"/>
            <p:cNvCxnSpPr/>
            <p:nvPr/>
          </p:nvCxnSpPr>
          <p:spPr>
            <a:xfrm flipH="1">
              <a:off x="4848" y="2064"/>
              <a:ext cx="144" cy="28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98" name="Google Shape;798;p26"/>
          <p:cNvSpPr/>
          <p:nvPr/>
        </p:nvSpPr>
        <p:spPr>
          <a:xfrm>
            <a:off x="6858000" y="4022928"/>
            <a:ext cx="1898426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matmult/mm.c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7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Miss Rate Analysis for Matrix Multiply</a:t>
            </a:r>
            <a:endParaRPr/>
          </a:p>
        </p:txBody>
      </p:sp>
      <p:sp>
        <p:nvSpPr>
          <p:cNvPr id="804" name="Google Shape;804;p27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Assume: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Block size = 32B (big enough for four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doubles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Matrix dimension (N) is very large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Approximate 1/N as 0.0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Cache is not even big enough to hold multiple rows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Analysis Method: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Look at access pattern of inner loop</a:t>
            </a:r>
            <a:endParaRPr/>
          </a:p>
        </p:txBody>
      </p:sp>
      <p:grpSp>
        <p:nvGrpSpPr>
          <p:cNvPr id="805" name="Google Shape;805;p27"/>
          <p:cNvGrpSpPr/>
          <p:nvPr/>
        </p:nvGrpSpPr>
        <p:grpSpPr>
          <a:xfrm>
            <a:off x="3474621" y="4648200"/>
            <a:ext cx="1295400" cy="1752600"/>
            <a:chOff x="1752600" y="4648200"/>
            <a:chExt cx="1295400" cy="1752600"/>
          </a:xfrm>
        </p:grpSpPr>
        <p:sp>
          <p:nvSpPr>
            <p:cNvPr id="806" name="Google Shape;806;p27"/>
            <p:cNvSpPr/>
            <p:nvPr/>
          </p:nvSpPr>
          <p:spPr>
            <a:xfrm>
              <a:off x="2139950" y="5111750"/>
              <a:ext cx="908050" cy="742951"/>
            </a:xfrm>
            <a:prstGeom prst="rect">
              <a:avLst/>
            </a:prstGeom>
            <a:solidFill>
              <a:srgbClr val="BFBFB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07" name="Google Shape;807;p27"/>
            <p:cNvSpPr/>
            <p:nvPr/>
          </p:nvSpPr>
          <p:spPr>
            <a:xfrm>
              <a:off x="2418650" y="5941700"/>
              <a:ext cx="400750" cy="4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8" name="Google Shape;808;p27"/>
            <p:cNvCxnSpPr/>
            <p:nvPr/>
          </p:nvCxnSpPr>
          <p:spPr>
            <a:xfrm>
              <a:off x="2146300" y="4648200"/>
              <a:ext cx="73660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09" name="Google Shape;809;p27"/>
            <p:cNvSpPr/>
            <p:nvPr/>
          </p:nvSpPr>
          <p:spPr>
            <a:xfrm>
              <a:off x="2271713" y="4662487"/>
              <a:ext cx="320675" cy="36671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</a:t>
              </a:r>
              <a:endParaRPr b="1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810" name="Google Shape;810;p27"/>
            <p:cNvCxnSpPr/>
            <p:nvPr/>
          </p:nvCxnSpPr>
          <p:spPr>
            <a:xfrm>
              <a:off x="1752600" y="5130800"/>
              <a:ext cx="0" cy="7366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11" name="Google Shape;811;p27"/>
            <p:cNvSpPr/>
            <p:nvPr/>
          </p:nvSpPr>
          <p:spPr>
            <a:xfrm>
              <a:off x="1812337" y="5205414"/>
              <a:ext cx="321263" cy="3667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</a:t>
              </a:r>
              <a:endParaRPr b="1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812" name="Google Shape;812;p27"/>
          <p:cNvGrpSpPr/>
          <p:nvPr/>
        </p:nvGrpSpPr>
        <p:grpSpPr>
          <a:xfrm>
            <a:off x="5956975" y="4648200"/>
            <a:ext cx="1255297" cy="1752600"/>
            <a:chOff x="3505200" y="4648200"/>
            <a:chExt cx="1255297" cy="1752600"/>
          </a:xfrm>
        </p:grpSpPr>
        <p:sp>
          <p:nvSpPr>
            <p:cNvPr id="813" name="Google Shape;813;p27"/>
            <p:cNvSpPr/>
            <p:nvPr/>
          </p:nvSpPr>
          <p:spPr>
            <a:xfrm>
              <a:off x="4114800" y="5941700"/>
              <a:ext cx="388026" cy="4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4" name="Google Shape;814;p27"/>
            <p:cNvCxnSpPr/>
            <p:nvPr/>
          </p:nvCxnSpPr>
          <p:spPr>
            <a:xfrm>
              <a:off x="3505200" y="5118101"/>
              <a:ext cx="0" cy="7366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15" name="Google Shape;815;p27"/>
            <p:cNvSpPr/>
            <p:nvPr/>
          </p:nvSpPr>
          <p:spPr>
            <a:xfrm>
              <a:off x="3567113" y="5205414"/>
              <a:ext cx="321263" cy="3667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</a:t>
              </a:r>
              <a:endParaRPr b="1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16" name="Google Shape;816;p27"/>
            <p:cNvSpPr/>
            <p:nvPr/>
          </p:nvSpPr>
          <p:spPr>
            <a:xfrm>
              <a:off x="3948113" y="4648200"/>
              <a:ext cx="320675" cy="36671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</a:t>
              </a:r>
              <a:endParaRPr b="1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17" name="Google Shape;817;p27"/>
            <p:cNvSpPr/>
            <p:nvPr/>
          </p:nvSpPr>
          <p:spPr>
            <a:xfrm>
              <a:off x="3852447" y="5111749"/>
              <a:ext cx="908050" cy="742951"/>
            </a:xfrm>
            <a:prstGeom prst="rect">
              <a:avLst/>
            </a:prstGeom>
            <a:solidFill>
              <a:srgbClr val="BFBFB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818" name="Google Shape;818;p27"/>
            <p:cNvCxnSpPr/>
            <p:nvPr/>
          </p:nvCxnSpPr>
          <p:spPr>
            <a:xfrm>
              <a:off x="3852447" y="4648200"/>
              <a:ext cx="73660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819" name="Google Shape;819;p27"/>
          <p:cNvGrpSpPr/>
          <p:nvPr/>
        </p:nvGrpSpPr>
        <p:grpSpPr>
          <a:xfrm>
            <a:off x="920750" y="4648200"/>
            <a:ext cx="1301750" cy="1698624"/>
            <a:chOff x="5334000" y="4648200"/>
            <a:chExt cx="1301750" cy="1698624"/>
          </a:xfrm>
        </p:grpSpPr>
        <p:sp>
          <p:nvSpPr>
            <p:cNvPr id="820" name="Google Shape;820;p27"/>
            <p:cNvSpPr/>
            <p:nvPr/>
          </p:nvSpPr>
          <p:spPr>
            <a:xfrm>
              <a:off x="6019800" y="5887724"/>
              <a:ext cx="405008" cy="45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1" name="Google Shape;821;p27"/>
            <p:cNvCxnSpPr/>
            <p:nvPr/>
          </p:nvCxnSpPr>
          <p:spPr>
            <a:xfrm>
              <a:off x="5334000" y="5118100"/>
              <a:ext cx="0" cy="7366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22" name="Google Shape;822;p27"/>
            <p:cNvSpPr/>
            <p:nvPr/>
          </p:nvSpPr>
          <p:spPr>
            <a:xfrm>
              <a:off x="5395913" y="5205413"/>
              <a:ext cx="321263" cy="3667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27"/>
            <p:cNvSpPr/>
            <p:nvPr/>
          </p:nvSpPr>
          <p:spPr>
            <a:xfrm>
              <a:off x="5853113" y="4648200"/>
              <a:ext cx="320675" cy="36671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4450" lIns="90475" spcFirstLastPara="1" rIns="90475" wrap="square" tIns="44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</a:t>
              </a:r>
              <a:endParaRPr b="1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24" name="Google Shape;824;p27"/>
            <p:cNvSpPr/>
            <p:nvPr/>
          </p:nvSpPr>
          <p:spPr>
            <a:xfrm>
              <a:off x="5727700" y="5053425"/>
              <a:ext cx="908050" cy="742951"/>
            </a:xfrm>
            <a:prstGeom prst="rect">
              <a:avLst/>
            </a:prstGeom>
            <a:solidFill>
              <a:srgbClr val="BFBFB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825" name="Google Shape;825;p27"/>
            <p:cNvCxnSpPr/>
            <p:nvPr/>
          </p:nvCxnSpPr>
          <p:spPr>
            <a:xfrm>
              <a:off x="5727700" y="4662487"/>
              <a:ext cx="73660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826" name="Google Shape;826;p27"/>
          <p:cNvSpPr txBox="1"/>
          <p:nvPr/>
        </p:nvSpPr>
        <p:spPr>
          <a:xfrm>
            <a:off x="2590800" y="4642214"/>
            <a:ext cx="5334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27"/>
          <p:cNvSpPr txBox="1"/>
          <p:nvPr/>
        </p:nvSpPr>
        <p:spPr>
          <a:xfrm>
            <a:off x="5105400" y="4700538"/>
            <a:ext cx="5334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28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Layout of C Arrays in Memory (review)</a:t>
            </a:r>
            <a:endParaRPr/>
          </a:p>
        </p:txBody>
      </p:sp>
      <p:sp>
        <p:nvSpPr>
          <p:cNvPr id="833" name="Google Shape;833;p28"/>
          <p:cNvSpPr txBox="1"/>
          <p:nvPr>
            <p:ph idx="1" type="body"/>
          </p:nvPr>
        </p:nvSpPr>
        <p:spPr>
          <a:xfrm>
            <a:off x="396875" y="1362075"/>
            <a:ext cx="83661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 arrays allocated in row-major order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each row in contiguous memory locations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Stepping through columns in one row: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0" lang="en-US">
                <a:latin typeface="Courier New"/>
                <a:ea typeface="Courier New"/>
                <a:cs typeface="Courier New"/>
                <a:sym typeface="Courier New"/>
              </a:rPr>
              <a:t>for (i = 0; i &lt; N; i++)</a:t>
            </a:r>
            <a:endParaRPr/>
          </a:p>
          <a:p>
            <a:pPr indent="-228600" lvl="2" marL="114300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"/>
              <a:buNone/>
            </a:pPr>
            <a:r>
              <a:rPr b="0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 += a[0][i];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accesses successive elements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if block size (B) &gt;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sizeof(a</a:t>
            </a:r>
            <a:r>
              <a:rPr baseline="-25000" lang="en-US"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) bytes</a:t>
            </a:r>
            <a:r>
              <a:rPr lang="en-US"/>
              <a:t>, exploit spatial locality</a:t>
            </a:r>
            <a:endParaRPr/>
          </a:p>
          <a:p>
            <a:pPr indent="-228600" lvl="2" marL="114300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miss rate =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sizeof(a</a:t>
            </a:r>
            <a:r>
              <a:rPr baseline="-25000" lang="en-US"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/>
              <a:t>/ B</a:t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Stepping through rows in one column: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0" lang="en-US">
                <a:latin typeface="Courier New"/>
                <a:ea typeface="Courier New"/>
                <a:cs typeface="Courier New"/>
                <a:sym typeface="Courier New"/>
              </a:rPr>
              <a:t>for (i = 0; i &lt; n; i++)</a:t>
            </a:r>
            <a:endParaRPr/>
          </a:p>
          <a:p>
            <a:pPr indent="-228600" lvl="2" marL="114300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"/>
              <a:buNone/>
            </a:pPr>
            <a:r>
              <a:rPr b="0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 += a[i][0];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accesses distant elements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no spatial locality!</a:t>
            </a:r>
            <a:endParaRPr/>
          </a:p>
          <a:p>
            <a:pPr indent="-228600" lvl="2" marL="114300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miss rate = 1 (i.e. 100%)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9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Matrix Multiplication (ijk)</a:t>
            </a:r>
            <a:endParaRPr/>
          </a:p>
        </p:txBody>
      </p:sp>
      <p:sp>
        <p:nvSpPr>
          <p:cNvPr id="839" name="Google Shape;839;p29"/>
          <p:cNvSpPr/>
          <p:nvPr/>
        </p:nvSpPr>
        <p:spPr>
          <a:xfrm>
            <a:off x="527050" y="1765300"/>
            <a:ext cx="4492625" cy="2834366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algn="ctr" dir="2700000" dist="107763">
              <a:schemeClr val="dk1">
                <a:alpha val="74117"/>
              </a:schemeClr>
            </a:outerShdw>
          </a:effectLst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ijk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(i=0; i&lt;n; i++)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(j=0; j&lt;n; j++)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sum = 0.0;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(k=0; k&lt;n; k++)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sum += a[i][k] * b[k][j];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c[i][j] = sum;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29"/>
          <p:cNvSpPr/>
          <p:nvPr/>
        </p:nvSpPr>
        <p:spPr>
          <a:xfrm>
            <a:off x="5492750" y="2587625"/>
            <a:ext cx="596900" cy="52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9"/>
          <p:cNvSpPr/>
          <p:nvPr/>
        </p:nvSpPr>
        <p:spPr>
          <a:xfrm>
            <a:off x="6711950" y="2587625"/>
            <a:ext cx="596900" cy="52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9"/>
          <p:cNvSpPr/>
          <p:nvPr/>
        </p:nvSpPr>
        <p:spPr>
          <a:xfrm>
            <a:off x="7854950" y="2587625"/>
            <a:ext cx="596900" cy="52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9"/>
          <p:cNvSpPr/>
          <p:nvPr/>
        </p:nvSpPr>
        <p:spPr>
          <a:xfrm>
            <a:off x="5624513" y="3168650"/>
            <a:ext cx="336630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29"/>
          <p:cNvSpPr/>
          <p:nvPr/>
        </p:nvSpPr>
        <p:spPr>
          <a:xfrm>
            <a:off x="6843713" y="3168650"/>
            <a:ext cx="322253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29"/>
          <p:cNvSpPr/>
          <p:nvPr/>
        </p:nvSpPr>
        <p:spPr>
          <a:xfrm>
            <a:off x="7986713" y="3168650"/>
            <a:ext cx="319498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6" name="Google Shape;846;p29"/>
          <p:cNvCxnSpPr/>
          <p:nvPr/>
        </p:nvCxnSpPr>
        <p:spPr>
          <a:xfrm>
            <a:off x="6934200" y="2593975"/>
            <a:ext cx="0" cy="5080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7" name="Google Shape;847;p29"/>
          <p:cNvCxnSpPr/>
          <p:nvPr/>
        </p:nvCxnSpPr>
        <p:spPr>
          <a:xfrm>
            <a:off x="5499100" y="2962275"/>
            <a:ext cx="5842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8" name="Google Shape;848;p29"/>
          <p:cNvSpPr/>
          <p:nvPr/>
        </p:nvSpPr>
        <p:spPr>
          <a:xfrm>
            <a:off x="6081713" y="2787650"/>
            <a:ext cx="588877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(i,*)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9"/>
          <p:cNvSpPr/>
          <p:nvPr/>
        </p:nvSpPr>
        <p:spPr>
          <a:xfrm>
            <a:off x="6691313" y="2254250"/>
            <a:ext cx="591382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(*,j)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29"/>
          <p:cNvSpPr/>
          <p:nvPr/>
        </p:nvSpPr>
        <p:spPr>
          <a:xfrm>
            <a:off x="8013700" y="2898775"/>
            <a:ext cx="50800" cy="50800"/>
          </a:xfrm>
          <a:prstGeom prst="rect">
            <a:avLst/>
          </a:prstGeom>
          <a:solidFill>
            <a:srgbClr val="FF0000"/>
          </a:solidFill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9"/>
          <p:cNvSpPr/>
          <p:nvPr/>
        </p:nvSpPr>
        <p:spPr>
          <a:xfrm>
            <a:off x="7834313" y="2559050"/>
            <a:ext cx="522503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(i,j)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9"/>
          <p:cNvSpPr/>
          <p:nvPr/>
        </p:nvSpPr>
        <p:spPr>
          <a:xfrm>
            <a:off x="5395913" y="1797050"/>
            <a:ext cx="1324630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 loop: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29"/>
          <p:cNvSpPr/>
          <p:nvPr/>
        </p:nvSpPr>
        <p:spPr>
          <a:xfrm>
            <a:off x="6434138" y="4256088"/>
            <a:ext cx="1067599" cy="70532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4" name="Google Shape;854;p29"/>
          <p:cNvCxnSpPr/>
          <p:nvPr/>
        </p:nvCxnSpPr>
        <p:spPr>
          <a:xfrm rot="10800000">
            <a:off x="6991351" y="3592513"/>
            <a:ext cx="0" cy="62706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5" name="Google Shape;855;p29"/>
          <p:cNvSpPr/>
          <p:nvPr/>
        </p:nvSpPr>
        <p:spPr>
          <a:xfrm>
            <a:off x="5214938" y="4256088"/>
            <a:ext cx="1177605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Row-wise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6" name="Google Shape;856;p29"/>
          <p:cNvCxnSpPr/>
          <p:nvPr/>
        </p:nvCxnSpPr>
        <p:spPr>
          <a:xfrm rot="10800000">
            <a:off x="5772150" y="3592513"/>
            <a:ext cx="0" cy="62706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7" name="Google Shape;857;p29"/>
          <p:cNvSpPr/>
          <p:nvPr/>
        </p:nvSpPr>
        <p:spPr>
          <a:xfrm>
            <a:off x="7808266" y="4256088"/>
            <a:ext cx="726134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8" name="Google Shape;858;p29"/>
          <p:cNvCxnSpPr/>
          <p:nvPr/>
        </p:nvCxnSpPr>
        <p:spPr>
          <a:xfrm rot="10800000">
            <a:off x="8147051" y="3592513"/>
            <a:ext cx="0" cy="62706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9" name="Google Shape;859;p29"/>
          <p:cNvSpPr/>
          <p:nvPr/>
        </p:nvSpPr>
        <p:spPr>
          <a:xfrm>
            <a:off x="290513" y="4964113"/>
            <a:ext cx="5073650" cy="121761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23838" lvl="0" marL="2238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Misses per inner loop iteration:</a:t>
            </a:r>
            <a:endParaRPr b="0" i="0" sz="2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47" lvl="1" marL="560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47" lvl="1" marL="560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0.25	1.0	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9"/>
          <p:cNvSpPr/>
          <p:nvPr/>
        </p:nvSpPr>
        <p:spPr>
          <a:xfrm>
            <a:off x="3121249" y="4219576"/>
            <a:ext cx="1898426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matmult/mm.c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0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Matrix Multiplication (jik)</a:t>
            </a:r>
            <a:endParaRPr/>
          </a:p>
        </p:txBody>
      </p:sp>
      <p:sp>
        <p:nvSpPr>
          <p:cNvPr id="866" name="Google Shape;866;p30"/>
          <p:cNvSpPr/>
          <p:nvPr/>
        </p:nvSpPr>
        <p:spPr>
          <a:xfrm>
            <a:off x="300038" y="1779588"/>
            <a:ext cx="4721225" cy="2834366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algn="ctr" dir="2700000" dist="107763">
              <a:schemeClr val="dk1">
                <a:alpha val="74117"/>
              </a:schemeClr>
            </a:outerShdw>
          </a:effectLst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jik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(j=0; j&lt;n; j++)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(i=0; i&lt;n;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sum = 0.0;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(k=0; k&lt;n; k++)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sum += a[i][k] * b[k][j];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c[i][j] = sum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30"/>
          <p:cNvSpPr/>
          <p:nvPr/>
        </p:nvSpPr>
        <p:spPr>
          <a:xfrm>
            <a:off x="5568950" y="2654300"/>
            <a:ext cx="596900" cy="52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0"/>
          <p:cNvSpPr/>
          <p:nvPr/>
        </p:nvSpPr>
        <p:spPr>
          <a:xfrm>
            <a:off x="6788150" y="2654300"/>
            <a:ext cx="596900" cy="52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0"/>
          <p:cNvSpPr/>
          <p:nvPr/>
        </p:nvSpPr>
        <p:spPr>
          <a:xfrm>
            <a:off x="7931150" y="2654300"/>
            <a:ext cx="596900" cy="52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0"/>
          <p:cNvSpPr/>
          <p:nvPr/>
        </p:nvSpPr>
        <p:spPr>
          <a:xfrm>
            <a:off x="5700713" y="3235325"/>
            <a:ext cx="336630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30"/>
          <p:cNvSpPr/>
          <p:nvPr/>
        </p:nvSpPr>
        <p:spPr>
          <a:xfrm>
            <a:off x="6919913" y="3235325"/>
            <a:ext cx="322253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30"/>
          <p:cNvSpPr/>
          <p:nvPr/>
        </p:nvSpPr>
        <p:spPr>
          <a:xfrm>
            <a:off x="8077200" y="3235325"/>
            <a:ext cx="319498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3" name="Google Shape;873;p30"/>
          <p:cNvCxnSpPr/>
          <p:nvPr/>
        </p:nvCxnSpPr>
        <p:spPr>
          <a:xfrm>
            <a:off x="7010400" y="2660650"/>
            <a:ext cx="0" cy="5080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4" name="Google Shape;874;p30"/>
          <p:cNvCxnSpPr/>
          <p:nvPr/>
        </p:nvCxnSpPr>
        <p:spPr>
          <a:xfrm>
            <a:off x="5575300" y="3028950"/>
            <a:ext cx="5842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5" name="Google Shape;875;p30"/>
          <p:cNvSpPr/>
          <p:nvPr/>
        </p:nvSpPr>
        <p:spPr>
          <a:xfrm>
            <a:off x="6157913" y="2854325"/>
            <a:ext cx="588877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(i,*)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30"/>
          <p:cNvSpPr/>
          <p:nvPr/>
        </p:nvSpPr>
        <p:spPr>
          <a:xfrm>
            <a:off x="6767513" y="2320925"/>
            <a:ext cx="591382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(*,j)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30"/>
          <p:cNvSpPr/>
          <p:nvPr/>
        </p:nvSpPr>
        <p:spPr>
          <a:xfrm>
            <a:off x="8089900" y="2965450"/>
            <a:ext cx="50800" cy="50800"/>
          </a:xfrm>
          <a:prstGeom prst="rect">
            <a:avLst/>
          </a:prstGeom>
          <a:solidFill>
            <a:srgbClr val="FF0000"/>
          </a:solidFill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0"/>
          <p:cNvSpPr/>
          <p:nvPr/>
        </p:nvSpPr>
        <p:spPr>
          <a:xfrm>
            <a:off x="7910513" y="2625725"/>
            <a:ext cx="522503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(i,j)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30"/>
          <p:cNvSpPr/>
          <p:nvPr/>
        </p:nvSpPr>
        <p:spPr>
          <a:xfrm>
            <a:off x="5548313" y="1787525"/>
            <a:ext cx="1324630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 loop: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30"/>
          <p:cNvSpPr/>
          <p:nvPr/>
        </p:nvSpPr>
        <p:spPr>
          <a:xfrm>
            <a:off x="5334000" y="4244975"/>
            <a:ext cx="1177605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Row-wise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1" name="Google Shape;881;p30"/>
          <p:cNvCxnSpPr/>
          <p:nvPr/>
        </p:nvCxnSpPr>
        <p:spPr>
          <a:xfrm rot="10800000">
            <a:off x="5891213" y="3581400"/>
            <a:ext cx="0" cy="62706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2" name="Google Shape;882;p30"/>
          <p:cNvSpPr/>
          <p:nvPr/>
        </p:nvSpPr>
        <p:spPr>
          <a:xfrm>
            <a:off x="6535738" y="4244975"/>
            <a:ext cx="1067599" cy="70532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3" name="Google Shape;883;p30"/>
          <p:cNvCxnSpPr/>
          <p:nvPr/>
        </p:nvCxnSpPr>
        <p:spPr>
          <a:xfrm rot="10800000">
            <a:off x="7092951" y="3581400"/>
            <a:ext cx="0" cy="62706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4" name="Google Shape;884;p30"/>
          <p:cNvSpPr/>
          <p:nvPr/>
        </p:nvSpPr>
        <p:spPr>
          <a:xfrm>
            <a:off x="7884466" y="4244975"/>
            <a:ext cx="726134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5" name="Google Shape;885;p30"/>
          <p:cNvCxnSpPr/>
          <p:nvPr/>
        </p:nvCxnSpPr>
        <p:spPr>
          <a:xfrm rot="10800000">
            <a:off x="8223251" y="3587750"/>
            <a:ext cx="0" cy="62706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6" name="Google Shape;886;p30"/>
          <p:cNvSpPr/>
          <p:nvPr/>
        </p:nvSpPr>
        <p:spPr>
          <a:xfrm>
            <a:off x="444500" y="4868863"/>
            <a:ext cx="5446713" cy="12271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23838" lvl="0" marL="2238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Misses per inner loop iteration: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47" lvl="1" marL="560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47" lvl="1" marL="560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0.25	1.0	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30"/>
          <p:cNvSpPr/>
          <p:nvPr/>
        </p:nvSpPr>
        <p:spPr>
          <a:xfrm>
            <a:off x="3122837" y="4256291"/>
            <a:ext cx="1898426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matmult/mm.c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31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Matrix Multiplication (kij)</a:t>
            </a:r>
            <a:endParaRPr/>
          </a:p>
        </p:txBody>
      </p:sp>
      <p:sp>
        <p:nvSpPr>
          <p:cNvPr id="893" name="Google Shape;893;p31"/>
          <p:cNvSpPr/>
          <p:nvPr/>
        </p:nvSpPr>
        <p:spPr>
          <a:xfrm>
            <a:off x="452438" y="1770063"/>
            <a:ext cx="4264025" cy="2515817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algn="ctr" dir="2700000" dist="107763">
              <a:srgbClr val="000000">
                <a:alpha val="74117"/>
              </a:srgbClr>
            </a:outerShdw>
          </a:effectLst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kij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(k=0; k&lt;n; k++)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(i=0; i&lt;n;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 = a[i][k];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(j=0; j&lt;n; j++)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c[i][j] += r * b[k][j];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94" name="Google Shape;894;p31"/>
          <p:cNvSpPr/>
          <p:nvPr/>
        </p:nvSpPr>
        <p:spPr>
          <a:xfrm>
            <a:off x="5340350" y="2378075"/>
            <a:ext cx="596900" cy="52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1"/>
          <p:cNvSpPr/>
          <p:nvPr/>
        </p:nvSpPr>
        <p:spPr>
          <a:xfrm>
            <a:off x="6559550" y="2378075"/>
            <a:ext cx="596900" cy="52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1"/>
          <p:cNvSpPr/>
          <p:nvPr/>
        </p:nvSpPr>
        <p:spPr>
          <a:xfrm>
            <a:off x="7727950" y="2378075"/>
            <a:ext cx="596900" cy="52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1"/>
          <p:cNvSpPr/>
          <p:nvPr/>
        </p:nvSpPr>
        <p:spPr>
          <a:xfrm>
            <a:off x="5472113" y="2959100"/>
            <a:ext cx="336630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31"/>
          <p:cNvSpPr/>
          <p:nvPr/>
        </p:nvSpPr>
        <p:spPr>
          <a:xfrm>
            <a:off x="6691313" y="2959100"/>
            <a:ext cx="322253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31"/>
          <p:cNvSpPr/>
          <p:nvPr/>
        </p:nvSpPr>
        <p:spPr>
          <a:xfrm>
            <a:off x="7848600" y="2959100"/>
            <a:ext cx="319498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31"/>
          <p:cNvSpPr/>
          <p:nvPr/>
        </p:nvSpPr>
        <p:spPr>
          <a:xfrm>
            <a:off x="8316913" y="2578100"/>
            <a:ext cx="588877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(i,*)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1" name="Google Shape;901;p31"/>
          <p:cNvCxnSpPr/>
          <p:nvPr/>
        </p:nvCxnSpPr>
        <p:spPr>
          <a:xfrm>
            <a:off x="7734300" y="2752725"/>
            <a:ext cx="5842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2" name="Google Shape;902;p31"/>
          <p:cNvSpPr/>
          <p:nvPr/>
        </p:nvSpPr>
        <p:spPr>
          <a:xfrm>
            <a:off x="5422900" y="2765425"/>
            <a:ext cx="50800" cy="50800"/>
          </a:xfrm>
          <a:prstGeom prst="rect">
            <a:avLst/>
          </a:prstGeom>
          <a:solidFill>
            <a:srgbClr val="FF0000"/>
          </a:solidFill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1"/>
          <p:cNvSpPr/>
          <p:nvPr/>
        </p:nvSpPr>
        <p:spPr>
          <a:xfrm>
            <a:off x="5289669" y="2349500"/>
            <a:ext cx="577731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(i,k)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31"/>
          <p:cNvSpPr/>
          <p:nvPr/>
        </p:nvSpPr>
        <p:spPr>
          <a:xfrm>
            <a:off x="7148513" y="2349500"/>
            <a:ext cx="646610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(k,*)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5" name="Google Shape;905;p31"/>
          <p:cNvCxnSpPr/>
          <p:nvPr/>
        </p:nvCxnSpPr>
        <p:spPr>
          <a:xfrm>
            <a:off x="6565900" y="2524125"/>
            <a:ext cx="5842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6" name="Google Shape;906;p31"/>
          <p:cNvSpPr/>
          <p:nvPr/>
        </p:nvSpPr>
        <p:spPr>
          <a:xfrm>
            <a:off x="5383213" y="1816100"/>
            <a:ext cx="1324630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 loop: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31"/>
          <p:cNvSpPr/>
          <p:nvPr/>
        </p:nvSpPr>
        <p:spPr>
          <a:xfrm>
            <a:off x="6324600" y="3863975"/>
            <a:ext cx="1177605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Row-wise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8" name="Google Shape;908;p31"/>
          <p:cNvCxnSpPr/>
          <p:nvPr/>
        </p:nvCxnSpPr>
        <p:spPr>
          <a:xfrm rot="10800000">
            <a:off x="6881813" y="3352800"/>
            <a:ext cx="0" cy="62706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9" name="Google Shape;909;p31"/>
          <p:cNvSpPr/>
          <p:nvPr/>
        </p:nvSpPr>
        <p:spPr>
          <a:xfrm>
            <a:off x="7467600" y="3863975"/>
            <a:ext cx="1177605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Row-wise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0" name="Google Shape;910;p31"/>
          <p:cNvCxnSpPr/>
          <p:nvPr/>
        </p:nvCxnSpPr>
        <p:spPr>
          <a:xfrm rot="10800000">
            <a:off x="8024813" y="3352800"/>
            <a:ext cx="0" cy="62706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1" name="Google Shape;911;p31"/>
          <p:cNvSpPr/>
          <p:nvPr/>
        </p:nvSpPr>
        <p:spPr>
          <a:xfrm>
            <a:off x="5293666" y="3871913"/>
            <a:ext cx="726134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2" name="Google Shape;912;p31"/>
          <p:cNvCxnSpPr/>
          <p:nvPr/>
        </p:nvCxnSpPr>
        <p:spPr>
          <a:xfrm rot="10800000">
            <a:off x="5632451" y="3360738"/>
            <a:ext cx="0" cy="62706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3" name="Google Shape;913;p31"/>
          <p:cNvSpPr/>
          <p:nvPr/>
        </p:nvSpPr>
        <p:spPr>
          <a:xfrm>
            <a:off x="444500" y="4868863"/>
            <a:ext cx="4965700" cy="12271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23838" lvl="0" marL="2238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Misses per inner loop iteration:</a:t>
            </a:r>
            <a:endParaRPr b="0" i="0" sz="2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47" lvl="1" marL="560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47" lvl="1" marL="560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0.0	0.25	0.25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31"/>
          <p:cNvSpPr/>
          <p:nvPr/>
        </p:nvSpPr>
        <p:spPr>
          <a:xfrm>
            <a:off x="2895600" y="3962400"/>
            <a:ext cx="1898426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matmult/mm.c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2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Matrix Multiplication (ikj)</a:t>
            </a:r>
            <a:endParaRPr/>
          </a:p>
        </p:txBody>
      </p:sp>
      <p:sp>
        <p:nvSpPr>
          <p:cNvPr id="920" name="Google Shape;920;p32"/>
          <p:cNvSpPr/>
          <p:nvPr/>
        </p:nvSpPr>
        <p:spPr>
          <a:xfrm>
            <a:off x="490538" y="1757363"/>
            <a:ext cx="4314825" cy="2515817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algn="ctr" dir="2700000" dist="107763">
              <a:srgbClr val="000000">
                <a:alpha val="74117"/>
              </a:srgbClr>
            </a:outerShdw>
          </a:effectLst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ikj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(i=0; i&lt;n;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(k=0; k&lt;n; k++)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 = a[i][k];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(j=0; j&lt;n; j++)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c[i][j] += r * b[k][j];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32"/>
          <p:cNvSpPr/>
          <p:nvPr/>
        </p:nvSpPr>
        <p:spPr>
          <a:xfrm>
            <a:off x="5340350" y="2378075"/>
            <a:ext cx="596900" cy="52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2"/>
          <p:cNvSpPr/>
          <p:nvPr/>
        </p:nvSpPr>
        <p:spPr>
          <a:xfrm>
            <a:off x="6559550" y="2378075"/>
            <a:ext cx="596900" cy="52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2"/>
          <p:cNvSpPr/>
          <p:nvPr/>
        </p:nvSpPr>
        <p:spPr>
          <a:xfrm>
            <a:off x="7727950" y="2378075"/>
            <a:ext cx="596900" cy="52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2"/>
          <p:cNvSpPr/>
          <p:nvPr/>
        </p:nvSpPr>
        <p:spPr>
          <a:xfrm>
            <a:off x="5472113" y="2959100"/>
            <a:ext cx="336630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32"/>
          <p:cNvSpPr/>
          <p:nvPr/>
        </p:nvSpPr>
        <p:spPr>
          <a:xfrm>
            <a:off x="6691313" y="2959100"/>
            <a:ext cx="322253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32"/>
          <p:cNvSpPr/>
          <p:nvPr/>
        </p:nvSpPr>
        <p:spPr>
          <a:xfrm>
            <a:off x="7848600" y="2959100"/>
            <a:ext cx="319498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32"/>
          <p:cNvSpPr/>
          <p:nvPr/>
        </p:nvSpPr>
        <p:spPr>
          <a:xfrm>
            <a:off x="8316913" y="2578100"/>
            <a:ext cx="588877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(i,*)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8" name="Google Shape;928;p32"/>
          <p:cNvCxnSpPr/>
          <p:nvPr/>
        </p:nvCxnSpPr>
        <p:spPr>
          <a:xfrm>
            <a:off x="7734300" y="2752725"/>
            <a:ext cx="5842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9" name="Google Shape;929;p32"/>
          <p:cNvSpPr/>
          <p:nvPr/>
        </p:nvSpPr>
        <p:spPr>
          <a:xfrm>
            <a:off x="5422900" y="2765425"/>
            <a:ext cx="50800" cy="50800"/>
          </a:xfrm>
          <a:prstGeom prst="rect">
            <a:avLst/>
          </a:prstGeom>
          <a:solidFill>
            <a:schemeClr val="dk1"/>
          </a:solidFill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2"/>
          <p:cNvSpPr/>
          <p:nvPr/>
        </p:nvSpPr>
        <p:spPr>
          <a:xfrm>
            <a:off x="5272088" y="2349500"/>
            <a:ext cx="577731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(i,k)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32"/>
          <p:cNvSpPr/>
          <p:nvPr/>
        </p:nvSpPr>
        <p:spPr>
          <a:xfrm>
            <a:off x="7148513" y="2349500"/>
            <a:ext cx="646610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(k,*)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2" name="Google Shape;932;p32"/>
          <p:cNvCxnSpPr/>
          <p:nvPr/>
        </p:nvCxnSpPr>
        <p:spPr>
          <a:xfrm>
            <a:off x="6565900" y="2524125"/>
            <a:ext cx="5842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3" name="Google Shape;933;p32"/>
          <p:cNvSpPr/>
          <p:nvPr/>
        </p:nvSpPr>
        <p:spPr>
          <a:xfrm>
            <a:off x="5383213" y="1816100"/>
            <a:ext cx="1324630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 loop: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32"/>
          <p:cNvSpPr/>
          <p:nvPr/>
        </p:nvSpPr>
        <p:spPr>
          <a:xfrm>
            <a:off x="6324600" y="4016375"/>
            <a:ext cx="1177605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Row-wise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5" name="Google Shape;935;p32"/>
          <p:cNvCxnSpPr/>
          <p:nvPr/>
        </p:nvCxnSpPr>
        <p:spPr>
          <a:xfrm rot="10800000">
            <a:off x="6881813" y="3352800"/>
            <a:ext cx="0" cy="62706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6" name="Google Shape;936;p32"/>
          <p:cNvSpPr/>
          <p:nvPr/>
        </p:nvSpPr>
        <p:spPr>
          <a:xfrm>
            <a:off x="7467600" y="4016375"/>
            <a:ext cx="1177605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Row-wise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7" name="Google Shape;937;p32"/>
          <p:cNvCxnSpPr/>
          <p:nvPr/>
        </p:nvCxnSpPr>
        <p:spPr>
          <a:xfrm rot="10800000">
            <a:off x="8024813" y="3352800"/>
            <a:ext cx="0" cy="62706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8" name="Google Shape;938;p32"/>
          <p:cNvSpPr/>
          <p:nvPr/>
        </p:nvSpPr>
        <p:spPr>
          <a:xfrm>
            <a:off x="5227638" y="4024313"/>
            <a:ext cx="726134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9" name="Google Shape;939;p32"/>
          <p:cNvCxnSpPr/>
          <p:nvPr/>
        </p:nvCxnSpPr>
        <p:spPr>
          <a:xfrm rot="10800000">
            <a:off x="5632450" y="3360738"/>
            <a:ext cx="0" cy="62706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0" name="Google Shape;940;p32"/>
          <p:cNvSpPr/>
          <p:nvPr/>
        </p:nvSpPr>
        <p:spPr>
          <a:xfrm>
            <a:off x="444500" y="4868863"/>
            <a:ext cx="5194300" cy="12271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23838" lvl="0" marL="2238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Misses per inner loop iteration: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47" lvl="1" marL="560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47" lvl="1" marL="560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0.0	0.25	0.25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32"/>
          <p:cNvSpPr/>
          <p:nvPr/>
        </p:nvSpPr>
        <p:spPr>
          <a:xfrm>
            <a:off x="2971800" y="3962400"/>
            <a:ext cx="1898426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matmult/mm.c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33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Matrix Multiplication (jki)</a:t>
            </a:r>
            <a:endParaRPr/>
          </a:p>
        </p:txBody>
      </p:sp>
      <p:sp>
        <p:nvSpPr>
          <p:cNvPr id="947" name="Google Shape;947;p33"/>
          <p:cNvSpPr/>
          <p:nvPr/>
        </p:nvSpPr>
        <p:spPr>
          <a:xfrm>
            <a:off x="566738" y="1766888"/>
            <a:ext cx="4352925" cy="2515817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algn="ctr" dir="2700000" dist="107763">
              <a:srgbClr val="000000">
                <a:alpha val="74117"/>
              </a:srgbClr>
            </a:outerShdw>
          </a:effectLst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jki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(j=0; j&lt;n; j++)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(k=0; k&lt;n; k++)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 = b[k][j];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(i=0; i&lt;n;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c[i][j] += a[i][k] * 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33"/>
          <p:cNvSpPr/>
          <p:nvPr/>
        </p:nvSpPr>
        <p:spPr>
          <a:xfrm>
            <a:off x="5340350" y="2432050"/>
            <a:ext cx="596900" cy="52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3"/>
          <p:cNvSpPr/>
          <p:nvPr/>
        </p:nvSpPr>
        <p:spPr>
          <a:xfrm>
            <a:off x="6559550" y="2432050"/>
            <a:ext cx="596900" cy="52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3"/>
          <p:cNvSpPr/>
          <p:nvPr/>
        </p:nvSpPr>
        <p:spPr>
          <a:xfrm>
            <a:off x="7727950" y="2432050"/>
            <a:ext cx="596900" cy="52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33"/>
          <p:cNvSpPr/>
          <p:nvPr/>
        </p:nvSpPr>
        <p:spPr>
          <a:xfrm>
            <a:off x="5472113" y="2959100"/>
            <a:ext cx="336630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3"/>
          <p:cNvSpPr/>
          <p:nvPr/>
        </p:nvSpPr>
        <p:spPr>
          <a:xfrm>
            <a:off x="6691313" y="2959100"/>
            <a:ext cx="322253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3"/>
          <p:cNvSpPr/>
          <p:nvPr/>
        </p:nvSpPr>
        <p:spPr>
          <a:xfrm>
            <a:off x="7848600" y="2959100"/>
            <a:ext cx="319498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33"/>
          <p:cNvSpPr/>
          <p:nvPr/>
        </p:nvSpPr>
        <p:spPr>
          <a:xfrm>
            <a:off x="7656513" y="2057400"/>
            <a:ext cx="591382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(*,j)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33"/>
          <p:cNvSpPr/>
          <p:nvPr/>
        </p:nvSpPr>
        <p:spPr>
          <a:xfrm>
            <a:off x="6692900" y="2832100"/>
            <a:ext cx="50800" cy="50800"/>
          </a:xfrm>
          <a:prstGeom prst="rect">
            <a:avLst/>
          </a:prstGeom>
          <a:solidFill>
            <a:srgbClr val="FF0000"/>
          </a:solidFill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3"/>
          <p:cNvSpPr/>
          <p:nvPr/>
        </p:nvSpPr>
        <p:spPr>
          <a:xfrm>
            <a:off x="6475413" y="2416175"/>
            <a:ext cx="580236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(k,j)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33"/>
          <p:cNvSpPr/>
          <p:nvPr/>
        </p:nvSpPr>
        <p:spPr>
          <a:xfrm>
            <a:off x="5268913" y="1600200"/>
            <a:ext cx="1324630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 loop: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8" name="Google Shape;958;p33"/>
          <p:cNvCxnSpPr/>
          <p:nvPr/>
        </p:nvCxnSpPr>
        <p:spPr>
          <a:xfrm rot="10800000">
            <a:off x="5803900" y="2425700"/>
            <a:ext cx="0" cy="5334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9" name="Google Shape;959;p33"/>
          <p:cNvCxnSpPr/>
          <p:nvPr/>
        </p:nvCxnSpPr>
        <p:spPr>
          <a:xfrm rot="10800000">
            <a:off x="7886700" y="2438400"/>
            <a:ext cx="0" cy="5334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0" name="Google Shape;960;p33"/>
          <p:cNvSpPr/>
          <p:nvPr/>
        </p:nvSpPr>
        <p:spPr>
          <a:xfrm>
            <a:off x="5522913" y="2057400"/>
            <a:ext cx="646610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(*,k)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33"/>
          <p:cNvSpPr/>
          <p:nvPr/>
        </p:nvSpPr>
        <p:spPr>
          <a:xfrm>
            <a:off x="5133853" y="3866679"/>
            <a:ext cx="1067599" cy="70532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Column-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2" name="Google Shape;962;p33"/>
          <p:cNvCxnSpPr/>
          <p:nvPr/>
        </p:nvCxnSpPr>
        <p:spPr>
          <a:xfrm rot="10800000">
            <a:off x="5638800" y="3335983"/>
            <a:ext cx="0" cy="62706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3" name="Google Shape;963;p33"/>
          <p:cNvSpPr/>
          <p:nvPr/>
        </p:nvSpPr>
        <p:spPr>
          <a:xfrm>
            <a:off x="7467600" y="3866679"/>
            <a:ext cx="1067599" cy="70532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4" name="Google Shape;964;p33"/>
          <p:cNvCxnSpPr/>
          <p:nvPr/>
        </p:nvCxnSpPr>
        <p:spPr>
          <a:xfrm rot="10800000">
            <a:off x="8024813" y="3335983"/>
            <a:ext cx="0" cy="62706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5" name="Google Shape;965;p33"/>
          <p:cNvSpPr/>
          <p:nvPr/>
        </p:nvSpPr>
        <p:spPr>
          <a:xfrm>
            <a:off x="6477000" y="3866679"/>
            <a:ext cx="726134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6" name="Google Shape;966;p33"/>
          <p:cNvCxnSpPr/>
          <p:nvPr/>
        </p:nvCxnSpPr>
        <p:spPr>
          <a:xfrm rot="10800000">
            <a:off x="6815785" y="3343921"/>
            <a:ext cx="0" cy="62706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7" name="Google Shape;967;p33"/>
          <p:cNvSpPr/>
          <p:nvPr/>
        </p:nvSpPr>
        <p:spPr>
          <a:xfrm>
            <a:off x="444500" y="4868863"/>
            <a:ext cx="5492750" cy="12271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23838" lvl="0" marL="2238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Misses per inner loop iteration: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47" lvl="1" marL="560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47" lvl="1" marL="560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1.0	0.0	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33"/>
          <p:cNvSpPr/>
          <p:nvPr/>
        </p:nvSpPr>
        <p:spPr>
          <a:xfrm>
            <a:off x="3122837" y="3985737"/>
            <a:ext cx="1898426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matmult/mm.c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34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Matrix Multiplication (kji)</a:t>
            </a:r>
            <a:endParaRPr/>
          </a:p>
        </p:txBody>
      </p:sp>
      <p:sp>
        <p:nvSpPr>
          <p:cNvPr id="974" name="Google Shape;974;p34"/>
          <p:cNvSpPr/>
          <p:nvPr/>
        </p:nvSpPr>
        <p:spPr>
          <a:xfrm>
            <a:off x="617538" y="1782763"/>
            <a:ext cx="4518025" cy="2515817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algn="ctr" dir="2700000" dist="107763">
              <a:srgbClr val="000000">
                <a:alpha val="74117"/>
              </a:srgbClr>
            </a:outerShdw>
          </a:effectLst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kji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(k=0; k&lt;n; k++)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(j=0; j&lt;n; j++)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 = b[k][j];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(i=0; i&lt;n;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c[i][j] += a[i][k] * 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34"/>
          <p:cNvSpPr/>
          <p:nvPr/>
        </p:nvSpPr>
        <p:spPr>
          <a:xfrm>
            <a:off x="5657850" y="2606675"/>
            <a:ext cx="596900" cy="52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4"/>
          <p:cNvSpPr/>
          <p:nvPr/>
        </p:nvSpPr>
        <p:spPr>
          <a:xfrm>
            <a:off x="6877050" y="2606675"/>
            <a:ext cx="596900" cy="52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34"/>
          <p:cNvSpPr/>
          <p:nvPr/>
        </p:nvSpPr>
        <p:spPr>
          <a:xfrm>
            <a:off x="8045450" y="2606675"/>
            <a:ext cx="596900" cy="52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4"/>
          <p:cNvSpPr/>
          <p:nvPr/>
        </p:nvSpPr>
        <p:spPr>
          <a:xfrm>
            <a:off x="5789613" y="3124200"/>
            <a:ext cx="336630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34"/>
          <p:cNvSpPr/>
          <p:nvPr/>
        </p:nvSpPr>
        <p:spPr>
          <a:xfrm>
            <a:off x="7008813" y="3124200"/>
            <a:ext cx="322253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34"/>
          <p:cNvSpPr/>
          <p:nvPr/>
        </p:nvSpPr>
        <p:spPr>
          <a:xfrm>
            <a:off x="8229600" y="3124200"/>
            <a:ext cx="319498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34"/>
          <p:cNvSpPr/>
          <p:nvPr/>
        </p:nvSpPr>
        <p:spPr>
          <a:xfrm>
            <a:off x="7974013" y="2273300"/>
            <a:ext cx="591382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(*,j)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34"/>
          <p:cNvSpPr/>
          <p:nvPr/>
        </p:nvSpPr>
        <p:spPr>
          <a:xfrm>
            <a:off x="7010400" y="3006725"/>
            <a:ext cx="50800" cy="50800"/>
          </a:xfrm>
          <a:prstGeom prst="rect">
            <a:avLst/>
          </a:prstGeom>
          <a:solidFill>
            <a:schemeClr val="dk1"/>
          </a:solidFill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4"/>
          <p:cNvSpPr/>
          <p:nvPr/>
        </p:nvSpPr>
        <p:spPr>
          <a:xfrm>
            <a:off x="6792913" y="2590800"/>
            <a:ext cx="580236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(k,j)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34"/>
          <p:cNvSpPr/>
          <p:nvPr/>
        </p:nvSpPr>
        <p:spPr>
          <a:xfrm>
            <a:off x="5586413" y="1828800"/>
            <a:ext cx="1324630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 loop: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5" name="Google Shape;985;p34"/>
          <p:cNvCxnSpPr/>
          <p:nvPr/>
        </p:nvCxnSpPr>
        <p:spPr>
          <a:xfrm rot="10800000">
            <a:off x="6121400" y="2600325"/>
            <a:ext cx="0" cy="5334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6" name="Google Shape;986;p34"/>
          <p:cNvCxnSpPr/>
          <p:nvPr/>
        </p:nvCxnSpPr>
        <p:spPr>
          <a:xfrm rot="10800000">
            <a:off x="8204200" y="2613025"/>
            <a:ext cx="0" cy="5334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7" name="Google Shape;987;p34"/>
          <p:cNvSpPr/>
          <p:nvPr/>
        </p:nvSpPr>
        <p:spPr>
          <a:xfrm>
            <a:off x="5840413" y="2273300"/>
            <a:ext cx="646610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(*,k)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34"/>
          <p:cNvSpPr/>
          <p:nvPr/>
        </p:nvSpPr>
        <p:spPr>
          <a:xfrm>
            <a:off x="6817666" y="4165600"/>
            <a:ext cx="726134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9" name="Google Shape;989;p34"/>
          <p:cNvCxnSpPr/>
          <p:nvPr/>
        </p:nvCxnSpPr>
        <p:spPr>
          <a:xfrm rot="10800000">
            <a:off x="7156451" y="3509963"/>
            <a:ext cx="0" cy="62706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0" name="Google Shape;990;p34"/>
          <p:cNvSpPr/>
          <p:nvPr/>
        </p:nvSpPr>
        <p:spPr>
          <a:xfrm>
            <a:off x="5410200" y="4165600"/>
            <a:ext cx="1067599" cy="70532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1" name="Google Shape;991;p34"/>
          <p:cNvCxnSpPr/>
          <p:nvPr/>
        </p:nvCxnSpPr>
        <p:spPr>
          <a:xfrm rot="10800000">
            <a:off x="5967413" y="3502025"/>
            <a:ext cx="0" cy="62706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2" name="Google Shape;992;p34"/>
          <p:cNvSpPr/>
          <p:nvPr/>
        </p:nvSpPr>
        <p:spPr>
          <a:xfrm>
            <a:off x="7924001" y="4165600"/>
            <a:ext cx="1067599" cy="70532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3" name="Google Shape;993;p34"/>
          <p:cNvCxnSpPr/>
          <p:nvPr/>
        </p:nvCxnSpPr>
        <p:spPr>
          <a:xfrm rot="10800000">
            <a:off x="8405813" y="3502025"/>
            <a:ext cx="0" cy="627063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4" name="Google Shape;994;p34"/>
          <p:cNvSpPr/>
          <p:nvPr/>
        </p:nvSpPr>
        <p:spPr>
          <a:xfrm>
            <a:off x="444500" y="4868863"/>
            <a:ext cx="4965700" cy="12271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23838" lvl="0" marL="2238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Misses per inner loop iteration:</a:t>
            </a:r>
            <a:endParaRPr b="0" i="0" sz="2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47" lvl="1" marL="560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47" lvl="1" marL="560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1.0	0.0	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34"/>
          <p:cNvSpPr/>
          <p:nvPr/>
        </p:nvSpPr>
        <p:spPr>
          <a:xfrm>
            <a:off x="3283174" y="3962400"/>
            <a:ext cx="1898426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matmult/mm.c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35"/>
          <p:cNvSpPr txBox="1"/>
          <p:nvPr>
            <p:ph type="title"/>
          </p:nvPr>
        </p:nvSpPr>
        <p:spPr>
          <a:xfrm>
            <a:off x="357018" y="3048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Summary of Matrix Multiplication</a:t>
            </a:r>
            <a:endParaRPr/>
          </a:p>
        </p:txBody>
      </p:sp>
      <p:sp>
        <p:nvSpPr>
          <p:cNvPr id="1001" name="Google Shape;1001;p35"/>
          <p:cNvSpPr/>
          <p:nvPr/>
        </p:nvSpPr>
        <p:spPr>
          <a:xfrm>
            <a:off x="5486400" y="1371600"/>
            <a:ext cx="2324353" cy="101309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ijk (&amp; jik):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loads, 0 stores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misses/iter =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35"/>
          <p:cNvSpPr/>
          <p:nvPr/>
        </p:nvSpPr>
        <p:spPr>
          <a:xfrm>
            <a:off x="5486400" y="3313113"/>
            <a:ext cx="2196113" cy="101309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kij (&amp; ikj):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loads, 1 store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misses/iter =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5"/>
          <p:cNvSpPr/>
          <p:nvPr/>
        </p:nvSpPr>
        <p:spPr>
          <a:xfrm>
            <a:off x="5486400" y="5184775"/>
            <a:ext cx="2221761" cy="101309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jki (&amp; kji):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loads, 1 store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misses/iter =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5"/>
          <p:cNvSpPr/>
          <p:nvPr/>
        </p:nvSpPr>
        <p:spPr>
          <a:xfrm>
            <a:off x="1295400" y="1058863"/>
            <a:ext cx="3481388" cy="20828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(i=0; i&lt;n;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(j=0; j&lt;n; j++)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sum = 0.0;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(k=0; k&lt;n; k++)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sum += a[i][k] * b[k][j];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c[i][j] = sum;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35"/>
          <p:cNvSpPr/>
          <p:nvPr/>
        </p:nvSpPr>
        <p:spPr>
          <a:xfrm>
            <a:off x="1295400" y="3221038"/>
            <a:ext cx="3481388" cy="178435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(k=0; k&lt;n; k++)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(i=0; i&lt;n;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 = a[i][k];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(j=0; j&lt;n; j++)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c[i][j] += r * b[k][j];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35"/>
          <p:cNvSpPr/>
          <p:nvPr/>
        </p:nvSpPr>
        <p:spPr>
          <a:xfrm>
            <a:off x="1295400" y="5073650"/>
            <a:ext cx="3481388" cy="178435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(j=0; j&lt;n; j++)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for (k=0; k&lt;n; k++)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r = b[k][j];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(i=0; i&lt;n;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c[i][j] += a[i][k] * 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36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Core i7 Matrix Multiply Performance</a:t>
            </a:r>
            <a:endParaRPr/>
          </a:p>
        </p:txBody>
      </p:sp>
      <p:graphicFrame>
        <p:nvGraphicFramePr>
          <p:cNvPr id="1012" name="Google Shape;1012;p36"/>
          <p:cNvGraphicFramePr/>
          <p:nvPr/>
        </p:nvGraphicFramePr>
        <p:xfrm>
          <a:off x="228600" y="1447800"/>
          <a:ext cx="8686800" cy="5250783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013" name="Google Shape;1013;p36"/>
          <p:cNvSpPr txBox="1"/>
          <p:nvPr/>
        </p:nvSpPr>
        <p:spPr>
          <a:xfrm>
            <a:off x="6413501" y="3124200"/>
            <a:ext cx="9140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ijk / jik</a:t>
            </a:r>
            <a:endParaRPr b="1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6"/>
          <p:cNvSpPr txBox="1"/>
          <p:nvPr/>
        </p:nvSpPr>
        <p:spPr>
          <a:xfrm>
            <a:off x="5562600" y="1549933"/>
            <a:ext cx="92685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jki / kji</a:t>
            </a:r>
            <a:endParaRPr b="1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6"/>
          <p:cNvSpPr txBox="1"/>
          <p:nvPr/>
        </p:nvSpPr>
        <p:spPr>
          <a:xfrm>
            <a:off x="7028628" y="5410200"/>
            <a:ext cx="9140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kij / ikj</a:t>
            </a:r>
            <a:endParaRPr b="1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37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1022" name="Google Shape;1022;p37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BFBFBF"/>
                </a:solidFill>
              </a:rPr>
              <a:t>Cache organization and operation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BFBFBF"/>
                </a:solidFill>
              </a:rPr>
              <a:t>Performance impact of caches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solidFill>
                  <a:srgbClr val="BFBFBF"/>
                </a:solidFill>
              </a:rPr>
              <a:t>The memory mountain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solidFill>
                  <a:srgbClr val="BFBFBF"/>
                </a:solidFill>
              </a:rPr>
              <a:t>Rearranging loops to improve spatial locality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Using blocking to improve temporal locality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38"/>
          <p:cNvSpPr txBox="1"/>
          <p:nvPr>
            <p:ph type="title"/>
          </p:nvPr>
        </p:nvSpPr>
        <p:spPr>
          <a:xfrm>
            <a:off x="324439" y="445070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Matrix Multiplication</a:t>
            </a:r>
            <a:endParaRPr/>
          </a:p>
        </p:txBody>
      </p:sp>
      <p:sp>
        <p:nvSpPr>
          <p:cNvPr id="1028" name="Google Shape;1028;p38"/>
          <p:cNvSpPr/>
          <p:nvPr/>
        </p:nvSpPr>
        <p:spPr>
          <a:xfrm>
            <a:off x="2284665" y="45720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38"/>
          <p:cNvSpPr/>
          <p:nvPr/>
        </p:nvSpPr>
        <p:spPr>
          <a:xfrm>
            <a:off x="3884865" y="45720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0" name="Google Shape;1030;p38"/>
          <p:cNvCxnSpPr/>
          <p:nvPr/>
        </p:nvCxnSpPr>
        <p:spPr>
          <a:xfrm>
            <a:off x="2284665" y="5427663"/>
            <a:ext cx="1143000" cy="1588"/>
          </a:xfrm>
          <a:prstGeom prst="straightConnector1">
            <a:avLst/>
          </a:prstGeom>
          <a:noFill/>
          <a:ln cap="flat" cmpd="sng" w="571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1" name="Google Shape;1031;p38"/>
          <p:cNvCxnSpPr/>
          <p:nvPr/>
        </p:nvCxnSpPr>
        <p:spPr>
          <a:xfrm rot="5400000">
            <a:off x="3998371" y="5142706"/>
            <a:ext cx="1143000" cy="1588"/>
          </a:xfrm>
          <a:prstGeom prst="straightConnector1">
            <a:avLst/>
          </a:prstGeom>
          <a:noFill/>
          <a:ln cap="flat" cmpd="sng" w="571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2" name="Google Shape;1032;p38"/>
          <p:cNvSpPr txBox="1"/>
          <p:nvPr/>
        </p:nvSpPr>
        <p:spPr>
          <a:xfrm>
            <a:off x="2087560" y="5242573"/>
            <a:ext cx="2407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38"/>
          <p:cNvSpPr txBox="1"/>
          <p:nvPr/>
        </p:nvSpPr>
        <p:spPr>
          <a:xfrm>
            <a:off x="4470399" y="3936999"/>
            <a:ext cx="2439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38"/>
          <p:cNvSpPr txBox="1"/>
          <p:nvPr/>
        </p:nvSpPr>
        <p:spPr>
          <a:xfrm>
            <a:off x="3469997" y="4986292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38"/>
          <p:cNvSpPr/>
          <p:nvPr/>
        </p:nvSpPr>
        <p:spPr>
          <a:xfrm>
            <a:off x="499532" y="45720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38"/>
          <p:cNvSpPr txBox="1"/>
          <p:nvPr/>
        </p:nvSpPr>
        <p:spPr>
          <a:xfrm>
            <a:off x="1765782" y="4876800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38"/>
          <p:cNvSpPr/>
          <p:nvPr/>
        </p:nvSpPr>
        <p:spPr>
          <a:xfrm>
            <a:off x="1185332" y="5410200"/>
            <a:ext cx="76200" cy="76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38"/>
          <p:cNvSpPr/>
          <p:nvPr/>
        </p:nvSpPr>
        <p:spPr>
          <a:xfrm>
            <a:off x="499532" y="1413396"/>
            <a:ext cx="6893212" cy="2798202"/>
          </a:xfrm>
          <a:prstGeom prst="rect">
            <a:avLst/>
          </a:prstGeom>
          <a:solidFill>
            <a:srgbClr val="F6F5BD"/>
          </a:solidFill>
          <a:ln cap="flat" cmpd="thickThin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 = (double *) calloc(sizeof(double), n*n);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Multiply n x n matrices a and b 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mmm(double *a, double *b, double *c, int n)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i, j, k;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(i = 0; i &lt; n; i++)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for (j = 0; j &lt; n; j++)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for (k = 0; k &lt; n; k++)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     c[i*n + j] += a[i*n + k] * b[k*n + j];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9" name="Google Shape;1039;p38"/>
          <p:cNvSpPr txBox="1"/>
          <p:nvPr/>
        </p:nvSpPr>
        <p:spPr>
          <a:xfrm>
            <a:off x="396875" y="5562599"/>
            <a:ext cx="78962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200"/>
              <a:buFont typeface="Noto San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39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Cache Miss Analysis</a:t>
            </a:r>
            <a:endParaRPr/>
          </a:p>
        </p:txBody>
      </p:sp>
      <p:sp>
        <p:nvSpPr>
          <p:cNvPr id="1045" name="Google Shape;1045;p39"/>
          <p:cNvSpPr txBox="1"/>
          <p:nvPr>
            <p:ph idx="1" type="body"/>
          </p:nvPr>
        </p:nvSpPr>
        <p:spPr>
          <a:xfrm>
            <a:off x="396875" y="1209675"/>
            <a:ext cx="7896225" cy="305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Assume: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Matrix elements are doubles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Cache block = 8 doubles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Cache size C &lt;&lt; n (much smaller than n)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First iteration: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n/8 + n = 9n/8 misses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Afterwards </a:t>
            </a:r>
            <a:r>
              <a:rPr lang="en-US">
                <a:solidFill>
                  <a:srgbClr val="C00000"/>
                </a:solidFill>
              </a:rPr>
              <a:t>in cache:</a:t>
            </a:r>
            <a:br>
              <a:rPr lang="en-US"/>
            </a:br>
            <a:r>
              <a:rPr lang="en-US"/>
              <a:t>(schematic)</a:t>
            </a:r>
            <a:endParaRPr/>
          </a:p>
        </p:txBody>
      </p:sp>
      <p:sp>
        <p:nvSpPr>
          <p:cNvPr id="1046" name="Google Shape;1046;p39"/>
          <p:cNvSpPr/>
          <p:nvPr/>
        </p:nvSpPr>
        <p:spPr>
          <a:xfrm>
            <a:off x="5710367" y="36576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47" name="Google Shape;1047;p39"/>
          <p:cNvSpPr/>
          <p:nvPr/>
        </p:nvSpPr>
        <p:spPr>
          <a:xfrm>
            <a:off x="7310567" y="36576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048" name="Google Shape;1048;p39"/>
          <p:cNvCxnSpPr/>
          <p:nvPr/>
        </p:nvCxnSpPr>
        <p:spPr>
          <a:xfrm>
            <a:off x="5710367" y="3657601"/>
            <a:ext cx="1143000" cy="1588"/>
          </a:xfrm>
          <a:prstGeom prst="straightConnector1">
            <a:avLst/>
          </a:prstGeom>
          <a:noFill/>
          <a:ln cap="flat" cmpd="sng" w="571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9" name="Google Shape;1049;p39"/>
          <p:cNvCxnSpPr/>
          <p:nvPr/>
        </p:nvCxnSpPr>
        <p:spPr>
          <a:xfrm rot="5400000">
            <a:off x="6741196" y="4228306"/>
            <a:ext cx="1143000" cy="1588"/>
          </a:xfrm>
          <a:prstGeom prst="straightConnector1">
            <a:avLst/>
          </a:prstGeom>
          <a:noFill/>
          <a:ln cap="flat" cmpd="sng" w="571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0" name="Google Shape;1050;p39"/>
          <p:cNvSpPr txBox="1"/>
          <p:nvPr/>
        </p:nvSpPr>
        <p:spPr>
          <a:xfrm>
            <a:off x="6895699" y="4071892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39"/>
          <p:cNvSpPr/>
          <p:nvPr/>
        </p:nvSpPr>
        <p:spPr>
          <a:xfrm>
            <a:off x="3925234" y="36576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52" name="Google Shape;1052;p39"/>
          <p:cNvSpPr txBox="1"/>
          <p:nvPr/>
        </p:nvSpPr>
        <p:spPr>
          <a:xfrm>
            <a:off x="5191484" y="3962400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39"/>
          <p:cNvSpPr/>
          <p:nvPr/>
        </p:nvSpPr>
        <p:spPr>
          <a:xfrm>
            <a:off x="3925234" y="3657601"/>
            <a:ext cx="76200" cy="76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39"/>
          <p:cNvSpPr/>
          <p:nvPr/>
        </p:nvSpPr>
        <p:spPr>
          <a:xfrm flipH="1" rot="-5400000">
            <a:off x="7755466" y="2819400"/>
            <a:ext cx="228600" cy="1143000"/>
          </a:xfrm>
          <a:prstGeom prst="leftBrace">
            <a:avLst>
              <a:gd fmla="val 75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39"/>
          <p:cNvSpPr txBox="1"/>
          <p:nvPr/>
        </p:nvSpPr>
        <p:spPr>
          <a:xfrm>
            <a:off x="7721601" y="2907268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39"/>
          <p:cNvSpPr/>
          <p:nvPr/>
        </p:nvSpPr>
        <p:spPr>
          <a:xfrm>
            <a:off x="5715000" y="52578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57" name="Google Shape;1057;p39"/>
          <p:cNvSpPr/>
          <p:nvPr/>
        </p:nvSpPr>
        <p:spPr>
          <a:xfrm>
            <a:off x="7315200" y="52578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058" name="Google Shape;1058;p39"/>
          <p:cNvCxnSpPr/>
          <p:nvPr/>
        </p:nvCxnSpPr>
        <p:spPr>
          <a:xfrm>
            <a:off x="5715000" y="5257801"/>
            <a:ext cx="1143000" cy="1588"/>
          </a:xfrm>
          <a:prstGeom prst="straightConnector1">
            <a:avLst/>
          </a:prstGeom>
          <a:noFill/>
          <a:ln cap="flat" cmpd="sng" w="571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9" name="Google Shape;1059;p39"/>
          <p:cNvCxnSpPr/>
          <p:nvPr/>
        </p:nvCxnSpPr>
        <p:spPr>
          <a:xfrm rot="5400000">
            <a:off x="6745829" y="5828506"/>
            <a:ext cx="1143000" cy="1588"/>
          </a:xfrm>
          <a:prstGeom prst="straightConnector1">
            <a:avLst/>
          </a:prstGeom>
          <a:noFill/>
          <a:ln cap="flat" cmpd="sng" w="571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0" name="Google Shape;1060;p39"/>
          <p:cNvSpPr txBox="1"/>
          <p:nvPr/>
        </p:nvSpPr>
        <p:spPr>
          <a:xfrm>
            <a:off x="6900332" y="5672092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39"/>
          <p:cNvSpPr/>
          <p:nvPr/>
        </p:nvSpPr>
        <p:spPr>
          <a:xfrm>
            <a:off x="3929867" y="52578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62" name="Google Shape;1062;p39"/>
          <p:cNvSpPr txBox="1"/>
          <p:nvPr/>
        </p:nvSpPr>
        <p:spPr>
          <a:xfrm>
            <a:off x="5196117" y="5562600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39"/>
          <p:cNvSpPr/>
          <p:nvPr/>
        </p:nvSpPr>
        <p:spPr>
          <a:xfrm>
            <a:off x="3929867" y="5257801"/>
            <a:ext cx="76200" cy="76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4" name="Google Shape;1064;p39"/>
          <p:cNvCxnSpPr/>
          <p:nvPr/>
        </p:nvCxnSpPr>
        <p:spPr>
          <a:xfrm>
            <a:off x="6477000" y="5257800"/>
            <a:ext cx="381000" cy="529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5" name="Google Shape;1065;p39"/>
          <p:cNvSpPr/>
          <p:nvPr/>
        </p:nvSpPr>
        <p:spPr>
          <a:xfrm>
            <a:off x="7298266" y="6155842"/>
            <a:ext cx="245534" cy="2534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39"/>
          <p:cNvSpPr txBox="1"/>
          <p:nvPr/>
        </p:nvSpPr>
        <p:spPr>
          <a:xfrm>
            <a:off x="7095064" y="6400800"/>
            <a:ext cx="67999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8 wide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40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Cache Miss Analysis</a:t>
            </a:r>
            <a:endParaRPr/>
          </a:p>
        </p:txBody>
      </p:sp>
      <p:sp>
        <p:nvSpPr>
          <p:cNvPr id="1072" name="Google Shape;1072;p40"/>
          <p:cNvSpPr txBox="1"/>
          <p:nvPr>
            <p:ph idx="1" type="body"/>
          </p:nvPr>
        </p:nvSpPr>
        <p:spPr>
          <a:xfrm>
            <a:off x="396875" y="1209675"/>
            <a:ext cx="7896225" cy="305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Assume: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Matrix elements are doubles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Cache block = 8 doubles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Cache size C &lt;&lt; n (much smaller than n)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Second iteration: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Again:</a:t>
            </a:r>
            <a:br>
              <a:rPr lang="en-US"/>
            </a:br>
            <a:r>
              <a:rPr lang="en-US"/>
              <a:t>n/8 + n = 9n/8 misses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Total misses: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9n/8 * n</a:t>
            </a:r>
            <a:r>
              <a:rPr baseline="30000" lang="en-US"/>
              <a:t>2</a:t>
            </a:r>
            <a:r>
              <a:rPr lang="en-US"/>
              <a:t> = (9/8) * n</a:t>
            </a:r>
            <a:r>
              <a:rPr baseline="30000" lang="en-US"/>
              <a:t>3</a:t>
            </a:r>
            <a:r>
              <a:rPr lang="en-US"/>
              <a:t> </a:t>
            </a:r>
            <a:endParaRPr/>
          </a:p>
        </p:txBody>
      </p:sp>
      <p:sp>
        <p:nvSpPr>
          <p:cNvPr id="1073" name="Google Shape;1073;p40"/>
          <p:cNvSpPr/>
          <p:nvPr/>
        </p:nvSpPr>
        <p:spPr>
          <a:xfrm flipH="1" rot="-5400000">
            <a:off x="7755466" y="2819400"/>
            <a:ext cx="228600" cy="1143000"/>
          </a:xfrm>
          <a:prstGeom prst="leftBrace">
            <a:avLst>
              <a:gd fmla="val 75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40"/>
          <p:cNvSpPr txBox="1"/>
          <p:nvPr/>
        </p:nvSpPr>
        <p:spPr>
          <a:xfrm>
            <a:off x="7721601" y="2907268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40"/>
          <p:cNvSpPr/>
          <p:nvPr/>
        </p:nvSpPr>
        <p:spPr>
          <a:xfrm>
            <a:off x="5715000" y="3654623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76" name="Google Shape;1076;p40"/>
          <p:cNvSpPr/>
          <p:nvPr/>
        </p:nvSpPr>
        <p:spPr>
          <a:xfrm>
            <a:off x="7315200" y="3654623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077" name="Google Shape;1077;p40"/>
          <p:cNvCxnSpPr/>
          <p:nvPr/>
        </p:nvCxnSpPr>
        <p:spPr>
          <a:xfrm>
            <a:off x="5715000" y="3654624"/>
            <a:ext cx="1143000" cy="1588"/>
          </a:xfrm>
          <a:prstGeom prst="straightConnector1">
            <a:avLst/>
          </a:prstGeom>
          <a:noFill/>
          <a:ln cap="flat" cmpd="sng" w="571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8" name="Google Shape;1078;p40"/>
          <p:cNvCxnSpPr/>
          <p:nvPr/>
        </p:nvCxnSpPr>
        <p:spPr>
          <a:xfrm rot="5400000">
            <a:off x="6836039" y="4225329"/>
            <a:ext cx="1143000" cy="1588"/>
          </a:xfrm>
          <a:prstGeom prst="straightConnector1">
            <a:avLst/>
          </a:prstGeom>
          <a:noFill/>
          <a:ln cap="flat" cmpd="sng" w="571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9" name="Google Shape;1079;p40"/>
          <p:cNvSpPr txBox="1"/>
          <p:nvPr/>
        </p:nvSpPr>
        <p:spPr>
          <a:xfrm>
            <a:off x="6900332" y="4068915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40"/>
          <p:cNvSpPr/>
          <p:nvPr/>
        </p:nvSpPr>
        <p:spPr>
          <a:xfrm>
            <a:off x="3929867" y="3654623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1" name="Google Shape;1081;p40"/>
          <p:cNvSpPr txBox="1"/>
          <p:nvPr/>
        </p:nvSpPr>
        <p:spPr>
          <a:xfrm>
            <a:off x="5196117" y="3959423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40"/>
          <p:cNvSpPr/>
          <p:nvPr/>
        </p:nvSpPr>
        <p:spPr>
          <a:xfrm>
            <a:off x="4004732" y="3654624"/>
            <a:ext cx="76200" cy="76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3" name="Google Shape;1083;p40"/>
          <p:cNvCxnSpPr/>
          <p:nvPr/>
        </p:nvCxnSpPr>
        <p:spPr>
          <a:xfrm>
            <a:off x="6477000" y="3654623"/>
            <a:ext cx="381000" cy="529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4" name="Google Shape;1084;p40"/>
          <p:cNvSpPr/>
          <p:nvPr/>
        </p:nvSpPr>
        <p:spPr>
          <a:xfrm>
            <a:off x="7298266" y="4552665"/>
            <a:ext cx="245534" cy="2534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40"/>
          <p:cNvSpPr txBox="1"/>
          <p:nvPr/>
        </p:nvSpPr>
        <p:spPr>
          <a:xfrm>
            <a:off x="7095064" y="4797623"/>
            <a:ext cx="67999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8 wide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41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Blocked Matrix Multiplication</a:t>
            </a:r>
            <a:endParaRPr/>
          </a:p>
        </p:txBody>
      </p:sp>
      <p:sp>
        <p:nvSpPr>
          <p:cNvPr id="1091" name="Google Shape;1091;p41"/>
          <p:cNvSpPr/>
          <p:nvPr/>
        </p:nvSpPr>
        <p:spPr>
          <a:xfrm>
            <a:off x="152400" y="1143000"/>
            <a:ext cx="8839200" cy="3536865"/>
          </a:xfrm>
          <a:prstGeom prst="rect">
            <a:avLst/>
          </a:prstGeom>
          <a:solidFill>
            <a:srgbClr val="F6F5BD"/>
          </a:solidFill>
          <a:ln cap="flat" cmpd="thickThin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 = (double *) calloc(sizeof(double), n*n);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Multiply n x n matrices a and b 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mmm(double *a, double *b, double *c, int n)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i, j, k;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(i = 0; i &lt; n; i+=B)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for (j = 0; j &lt; n; j+=B)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for (k = 0; k &lt; n; k+=B)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B x B mini matrix multiplications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for (i1 = i; i1 &lt; i+B;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for (j1 = j; j1 &lt; j+B; j++)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for (k1 = k; k1 &lt; k+B; k++)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            c[i1*n+j1] += a[i1*n + k1]*b[k1*n + j1];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41"/>
          <p:cNvSpPr/>
          <p:nvPr/>
        </p:nvSpPr>
        <p:spPr>
          <a:xfrm>
            <a:off x="2284665" y="51816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41"/>
          <p:cNvSpPr/>
          <p:nvPr/>
        </p:nvSpPr>
        <p:spPr>
          <a:xfrm>
            <a:off x="3884865" y="51816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41"/>
          <p:cNvSpPr txBox="1"/>
          <p:nvPr/>
        </p:nvSpPr>
        <p:spPr>
          <a:xfrm>
            <a:off x="1981200" y="5852173"/>
            <a:ext cx="3577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41"/>
          <p:cNvSpPr txBox="1"/>
          <p:nvPr/>
        </p:nvSpPr>
        <p:spPr>
          <a:xfrm>
            <a:off x="4394196" y="4659868"/>
            <a:ext cx="3609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41"/>
          <p:cNvSpPr txBox="1"/>
          <p:nvPr/>
        </p:nvSpPr>
        <p:spPr>
          <a:xfrm>
            <a:off x="3469997" y="5595892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41"/>
          <p:cNvSpPr/>
          <p:nvPr/>
        </p:nvSpPr>
        <p:spPr>
          <a:xfrm>
            <a:off x="499532" y="51816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41"/>
          <p:cNvSpPr txBox="1"/>
          <p:nvPr/>
        </p:nvSpPr>
        <p:spPr>
          <a:xfrm>
            <a:off x="1765782" y="5486400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41"/>
          <p:cNvSpPr/>
          <p:nvPr/>
        </p:nvSpPr>
        <p:spPr>
          <a:xfrm>
            <a:off x="1143000" y="5969001"/>
            <a:ext cx="186268" cy="18626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41"/>
          <p:cNvSpPr/>
          <p:nvPr/>
        </p:nvSpPr>
        <p:spPr>
          <a:xfrm>
            <a:off x="5528732" y="51816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41"/>
          <p:cNvSpPr txBox="1"/>
          <p:nvPr/>
        </p:nvSpPr>
        <p:spPr>
          <a:xfrm>
            <a:off x="5113864" y="5486400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41"/>
          <p:cNvSpPr/>
          <p:nvPr/>
        </p:nvSpPr>
        <p:spPr>
          <a:xfrm>
            <a:off x="2284665" y="5943600"/>
            <a:ext cx="1143000" cy="2286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41"/>
          <p:cNvSpPr/>
          <p:nvPr/>
        </p:nvSpPr>
        <p:spPr>
          <a:xfrm rot="5400000">
            <a:off x="3996268" y="5638800"/>
            <a:ext cx="1143000" cy="2286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4" name="Google Shape;1104;p41"/>
          <p:cNvCxnSpPr/>
          <p:nvPr/>
        </p:nvCxnSpPr>
        <p:spPr>
          <a:xfrm rot="5400000">
            <a:off x="2848242" y="6048639"/>
            <a:ext cx="2286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5" name="Google Shape;1105;p41"/>
          <p:cNvCxnSpPr/>
          <p:nvPr/>
        </p:nvCxnSpPr>
        <p:spPr>
          <a:xfrm rot="5400000">
            <a:off x="3085309" y="6048639"/>
            <a:ext cx="2286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6" name="Google Shape;1106;p41"/>
          <p:cNvCxnSpPr/>
          <p:nvPr/>
        </p:nvCxnSpPr>
        <p:spPr>
          <a:xfrm rot="5400000">
            <a:off x="2384163" y="6048639"/>
            <a:ext cx="2286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7" name="Google Shape;1107;p41"/>
          <p:cNvCxnSpPr/>
          <p:nvPr/>
        </p:nvCxnSpPr>
        <p:spPr>
          <a:xfrm rot="5400000">
            <a:off x="2612763" y="6048639"/>
            <a:ext cx="2286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8" name="Google Shape;1108;p41"/>
          <p:cNvGrpSpPr/>
          <p:nvPr/>
        </p:nvGrpSpPr>
        <p:grpSpPr>
          <a:xfrm rot="5400000">
            <a:off x="4207934" y="5647267"/>
            <a:ext cx="702734" cy="228600"/>
            <a:chOff x="2650069" y="6316133"/>
            <a:chExt cx="702734" cy="228600"/>
          </a:xfrm>
        </p:grpSpPr>
        <p:cxnSp>
          <p:nvCxnSpPr>
            <p:cNvPr id="1109" name="Google Shape;1109;p41"/>
            <p:cNvCxnSpPr/>
            <p:nvPr/>
          </p:nvCxnSpPr>
          <p:spPr>
            <a:xfrm rot="5400000">
              <a:off x="3000642" y="6429639"/>
              <a:ext cx="228600" cy="1588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0" name="Google Shape;1110;p41"/>
            <p:cNvCxnSpPr/>
            <p:nvPr/>
          </p:nvCxnSpPr>
          <p:spPr>
            <a:xfrm rot="5400000">
              <a:off x="3237709" y="6429639"/>
              <a:ext cx="228600" cy="1588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1" name="Google Shape;1111;p41"/>
            <p:cNvCxnSpPr/>
            <p:nvPr/>
          </p:nvCxnSpPr>
          <p:spPr>
            <a:xfrm rot="5400000">
              <a:off x="2536563" y="6429639"/>
              <a:ext cx="228600" cy="1588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2" name="Google Shape;1112;p41"/>
            <p:cNvCxnSpPr/>
            <p:nvPr/>
          </p:nvCxnSpPr>
          <p:spPr>
            <a:xfrm rot="5400000">
              <a:off x="2765163" y="6429639"/>
              <a:ext cx="228600" cy="1588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13" name="Google Shape;1113;p41"/>
          <p:cNvSpPr txBox="1"/>
          <p:nvPr/>
        </p:nvSpPr>
        <p:spPr>
          <a:xfrm>
            <a:off x="3756917" y="6488668"/>
            <a:ext cx="1627882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Block size B x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4" name="Google Shape;1114;p41"/>
          <p:cNvCxnSpPr>
            <a:stCxn id="1113" idx="0"/>
            <a:endCxn id="1103" idx="3"/>
          </p:cNvCxnSpPr>
          <p:nvPr/>
        </p:nvCxnSpPr>
        <p:spPr>
          <a:xfrm rot="10800000">
            <a:off x="4567858" y="6324568"/>
            <a:ext cx="3000" cy="1641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15" name="Google Shape;1115;p41"/>
          <p:cNvSpPr/>
          <p:nvPr/>
        </p:nvSpPr>
        <p:spPr>
          <a:xfrm>
            <a:off x="7010400" y="4343400"/>
            <a:ext cx="2036948" cy="35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matmult/bmm.c</a:t>
            </a:r>
            <a:endParaRPr b="1" i="1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42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Cache Miss Analysis</a:t>
            </a:r>
            <a:endParaRPr/>
          </a:p>
        </p:txBody>
      </p:sp>
      <p:sp>
        <p:nvSpPr>
          <p:cNvPr id="1121" name="Google Shape;1121;p42"/>
          <p:cNvSpPr txBox="1"/>
          <p:nvPr>
            <p:ph idx="1" type="body"/>
          </p:nvPr>
        </p:nvSpPr>
        <p:spPr>
          <a:xfrm>
            <a:off x="396875" y="1209675"/>
            <a:ext cx="7896225" cy="305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Assume: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Cache block = 8 doubles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Cache size C &lt;&lt; n (much smaller than 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Three blocks       fit into cache: 3B</a:t>
            </a:r>
            <a:r>
              <a:rPr baseline="30000" lang="en-US"/>
              <a:t>2</a:t>
            </a:r>
            <a:r>
              <a:rPr lang="en-US"/>
              <a:t> &lt; C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First (block) iteration: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B</a:t>
            </a:r>
            <a:r>
              <a:rPr baseline="30000" lang="en-US"/>
              <a:t>2</a:t>
            </a:r>
            <a:r>
              <a:rPr lang="en-US"/>
              <a:t>/8 misses for each block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2n/B * B</a:t>
            </a:r>
            <a:r>
              <a:rPr baseline="30000" lang="en-US"/>
              <a:t>2</a:t>
            </a:r>
            <a:r>
              <a:rPr lang="en-US"/>
              <a:t>/8 = nB/4</a:t>
            </a:r>
            <a:br>
              <a:rPr lang="en-US"/>
            </a:br>
            <a:r>
              <a:rPr lang="en-US"/>
              <a:t>(omitting matrix c)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Afterwards in cache</a:t>
            </a:r>
            <a:br>
              <a:rPr lang="en-US"/>
            </a:br>
            <a:r>
              <a:rPr lang="en-US"/>
              <a:t>(schematic)</a:t>
            </a:r>
            <a:endParaRPr/>
          </a:p>
        </p:txBody>
      </p:sp>
      <p:sp>
        <p:nvSpPr>
          <p:cNvPr id="1122" name="Google Shape;1122;p42"/>
          <p:cNvSpPr/>
          <p:nvPr/>
        </p:nvSpPr>
        <p:spPr>
          <a:xfrm>
            <a:off x="5899933" y="55626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23" name="Google Shape;1123;p42"/>
          <p:cNvSpPr/>
          <p:nvPr/>
        </p:nvSpPr>
        <p:spPr>
          <a:xfrm>
            <a:off x="7500133" y="55626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24" name="Google Shape;1124;p42"/>
          <p:cNvSpPr txBox="1"/>
          <p:nvPr/>
        </p:nvSpPr>
        <p:spPr>
          <a:xfrm>
            <a:off x="7085265" y="5976892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42"/>
          <p:cNvSpPr/>
          <p:nvPr/>
        </p:nvSpPr>
        <p:spPr>
          <a:xfrm>
            <a:off x="4114800" y="55626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26" name="Google Shape;1126;p42"/>
          <p:cNvSpPr txBox="1"/>
          <p:nvPr/>
        </p:nvSpPr>
        <p:spPr>
          <a:xfrm>
            <a:off x="5381050" y="5867400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42"/>
          <p:cNvSpPr/>
          <p:nvPr/>
        </p:nvSpPr>
        <p:spPr>
          <a:xfrm>
            <a:off x="4114800" y="5562600"/>
            <a:ext cx="186268" cy="18626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42"/>
          <p:cNvSpPr/>
          <p:nvPr/>
        </p:nvSpPr>
        <p:spPr>
          <a:xfrm>
            <a:off x="5899933" y="5560734"/>
            <a:ext cx="1143000" cy="2286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42"/>
          <p:cNvSpPr/>
          <p:nvPr/>
        </p:nvSpPr>
        <p:spPr>
          <a:xfrm rot="5400000">
            <a:off x="7029618" y="6019800"/>
            <a:ext cx="1143000" cy="2286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0" name="Google Shape;1130;p42"/>
          <p:cNvCxnSpPr/>
          <p:nvPr/>
        </p:nvCxnSpPr>
        <p:spPr>
          <a:xfrm rot="5400000">
            <a:off x="6463510" y="5665773"/>
            <a:ext cx="2286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1" name="Google Shape;1131;p42"/>
          <p:cNvCxnSpPr/>
          <p:nvPr/>
        </p:nvCxnSpPr>
        <p:spPr>
          <a:xfrm rot="5400000">
            <a:off x="6700577" y="5665773"/>
            <a:ext cx="2286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2" name="Google Shape;1132;p42"/>
          <p:cNvCxnSpPr/>
          <p:nvPr/>
        </p:nvCxnSpPr>
        <p:spPr>
          <a:xfrm rot="5400000">
            <a:off x="5999431" y="5665773"/>
            <a:ext cx="2286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3" name="Google Shape;1133;p42"/>
          <p:cNvCxnSpPr/>
          <p:nvPr/>
        </p:nvCxnSpPr>
        <p:spPr>
          <a:xfrm rot="5400000">
            <a:off x="6228031" y="5665773"/>
            <a:ext cx="2286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34" name="Google Shape;1134;p42"/>
          <p:cNvGrpSpPr/>
          <p:nvPr/>
        </p:nvGrpSpPr>
        <p:grpSpPr>
          <a:xfrm rot="5400000">
            <a:off x="7241284" y="6028267"/>
            <a:ext cx="702734" cy="228600"/>
            <a:chOff x="2650069" y="6316133"/>
            <a:chExt cx="702734" cy="228600"/>
          </a:xfrm>
        </p:grpSpPr>
        <p:cxnSp>
          <p:nvCxnSpPr>
            <p:cNvPr id="1135" name="Google Shape;1135;p42"/>
            <p:cNvCxnSpPr/>
            <p:nvPr/>
          </p:nvCxnSpPr>
          <p:spPr>
            <a:xfrm rot="5400000">
              <a:off x="3000642" y="6429639"/>
              <a:ext cx="228600" cy="1588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6" name="Google Shape;1136;p42"/>
            <p:cNvCxnSpPr/>
            <p:nvPr/>
          </p:nvCxnSpPr>
          <p:spPr>
            <a:xfrm rot="5400000">
              <a:off x="3237709" y="6429639"/>
              <a:ext cx="228600" cy="1588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7" name="Google Shape;1137;p42"/>
            <p:cNvCxnSpPr/>
            <p:nvPr/>
          </p:nvCxnSpPr>
          <p:spPr>
            <a:xfrm rot="5400000">
              <a:off x="2536563" y="6429639"/>
              <a:ext cx="228600" cy="1588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8" name="Google Shape;1138;p42"/>
            <p:cNvCxnSpPr/>
            <p:nvPr/>
          </p:nvCxnSpPr>
          <p:spPr>
            <a:xfrm rot="5400000">
              <a:off x="2765163" y="6429639"/>
              <a:ext cx="228600" cy="1588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39" name="Google Shape;1139;p42"/>
          <p:cNvSpPr/>
          <p:nvPr/>
        </p:nvSpPr>
        <p:spPr>
          <a:xfrm>
            <a:off x="2650066" y="2480732"/>
            <a:ext cx="186268" cy="18626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42"/>
          <p:cNvSpPr/>
          <p:nvPr/>
        </p:nvSpPr>
        <p:spPr>
          <a:xfrm>
            <a:off x="6814083" y="5552267"/>
            <a:ext cx="227262" cy="22689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42"/>
          <p:cNvSpPr/>
          <p:nvPr/>
        </p:nvSpPr>
        <p:spPr>
          <a:xfrm>
            <a:off x="5899933" y="37338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2" name="Google Shape;1142;p42"/>
          <p:cNvSpPr/>
          <p:nvPr/>
        </p:nvSpPr>
        <p:spPr>
          <a:xfrm>
            <a:off x="7500133" y="37338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3" name="Google Shape;1143;p42"/>
          <p:cNvSpPr txBox="1"/>
          <p:nvPr/>
        </p:nvSpPr>
        <p:spPr>
          <a:xfrm>
            <a:off x="7085265" y="4148092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42"/>
          <p:cNvSpPr/>
          <p:nvPr/>
        </p:nvSpPr>
        <p:spPr>
          <a:xfrm>
            <a:off x="4114800" y="37338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45" name="Google Shape;1145;p42"/>
          <p:cNvSpPr txBox="1"/>
          <p:nvPr/>
        </p:nvSpPr>
        <p:spPr>
          <a:xfrm>
            <a:off x="5381050" y="4038600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42"/>
          <p:cNvSpPr/>
          <p:nvPr/>
        </p:nvSpPr>
        <p:spPr>
          <a:xfrm>
            <a:off x="4114800" y="3733800"/>
            <a:ext cx="186268" cy="18626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42"/>
          <p:cNvSpPr/>
          <p:nvPr/>
        </p:nvSpPr>
        <p:spPr>
          <a:xfrm>
            <a:off x="5899933" y="3731934"/>
            <a:ext cx="1143000" cy="2286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42"/>
          <p:cNvSpPr/>
          <p:nvPr/>
        </p:nvSpPr>
        <p:spPr>
          <a:xfrm rot="5400000">
            <a:off x="7010400" y="4191000"/>
            <a:ext cx="1143000" cy="2286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9" name="Google Shape;1149;p42"/>
          <p:cNvCxnSpPr/>
          <p:nvPr/>
        </p:nvCxnSpPr>
        <p:spPr>
          <a:xfrm rot="5400000">
            <a:off x="6463510" y="3836973"/>
            <a:ext cx="2286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0" name="Google Shape;1150;p42"/>
          <p:cNvCxnSpPr/>
          <p:nvPr/>
        </p:nvCxnSpPr>
        <p:spPr>
          <a:xfrm rot="5400000">
            <a:off x="6700577" y="3836973"/>
            <a:ext cx="2286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1" name="Google Shape;1151;p42"/>
          <p:cNvCxnSpPr/>
          <p:nvPr/>
        </p:nvCxnSpPr>
        <p:spPr>
          <a:xfrm rot="5400000">
            <a:off x="5999431" y="3836973"/>
            <a:ext cx="2286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2" name="Google Shape;1152;p42"/>
          <p:cNvCxnSpPr/>
          <p:nvPr/>
        </p:nvCxnSpPr>
        <p:spPr>
          <a:xfrm rot="5400000">
            <a:off x="6228031" y="3836973"/>
            <a:ext cx="2286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53" name="Google Shape;1153;p42"/>
          <p:cNvGrpSpPr/>
          <p:nvPr/>
        </p:nvGrpSpPr>
        <p:grpSpPr>
          <a:xfrm rot="5400000">
            <a:off x="7230692" y="4199467"/>
            <a:ext cx="702734" cy="228600"/>
            <a:chOff x="2650069" y="6316133"/>
            <a:chExt cx="702734" cy="228600"/>
          </a:xfrm>
        </p:grpSpPr>
        <p:cxnSp>
          <p:nvCxnSpPr>
            <p:cNvPr id="1154" name="Google Shape;1154;p42"/>
            <p:cNvCxnSpPr/>
            <p:nvPr/>
          </p:nvCxnSpPr>
          <p:spPr>
            <a:xfrm rot="5400000">
              <a:off x="3000642" y="6429639"/>
              <a:ext cx="228600" cy="1588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5" name="Google Shape;1155;p42"/>
            <p:cNvCxnSpPr/>
            <p:nvPr/>
          </p:nvCxnSpPr>
          <p:spPr>
            <a:xfrm rot="5400000">
              <a:off x="3237709" y="6429639"/>
              <a:ext cx="228600" cy="1588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6" name="Google Shape;1156;p42"/>
            <p:cNvCxnSpPr/>
            <p:nvPr/>
          </p:nvCxnSpPr>
          <p:spPr>
            <a:xfrm rot="5400000">
              <a:off x="2536563" y="6429639"/>
              <a:ext cx="228600" cy="1588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7" name="Google Shape;1157;p42"/>
            <p:cNvCxnSpPr/>
            <p:nvPr/>
          </p:nvCxnSpPr>
          <p:spPr>
            <a:xfrm rot="5400000">
              <a:off x="2765163" y="6429639"/>
              <a:ext cx="228600" cy="1588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58" name="Google Shape;1158;p42"/>
          <p:cNvSpPr txBox="1"/>
          <p:nvPr/>
        </p:nvSpPr>
        <p:spPr>
          <a:xfrm>
            <a:off x="7058918" y="5252534"/>
            <a:ext cx="16278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Block size B x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9" name="Google Shape;1159;p42"/>
          <p:cNvCxnSpPr/>
          <p:nvPr/>
        </p:nvCxnSpPr>
        <p:spPr>
          <a:xfrm flipH="1" rot="5400000">
            <a:off x="7354845" y="5060489"/>
            <a:ext cx="381000" cy="309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60" name="Google Shape;1160;p42"/>
          <p:cNvSpPr/>
          <p:nvPr/>
        </p:nvSpPr>
        <p:spPr>
          <a:xfrm flipH="1" rot="-5400000">
            <a:off x="7941734" y="2960132"/>
            <a:ext cx="228600" cy="1143000"/>
          </a:xfrm>
          <a:prstGeom prst="leftBrace">
            <a:avLst>
              <a:gd fmla="val 75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42"/>
          <p:cNvSpPr txBox="1"/>
          <p:nvPr/>
        </p:nvSpPr>
        <p:spPr>
          <a:xfrm>
            <a:off x="7823199" y="3048000"/>
            <a:ext cx="11894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n/B blocks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42"/>
          <p:cNvSpPr/>
          <p:nvPr/>
        </p:nvSpPr>
        <p:spPr>
          <a:xfrm>
            <a:off x="7488157" y="6493935"/>
            <a:ext cx="227262" cy="22689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42"/>
          <p:cNvSpPr/>
          <p:nvPr/>
        </p:nvSpPr>
        <p:spPr>
          <a:xfrm>
            <a:off x="4116138" y="5560734"/>
            <a:ext cx="227262" cy="22689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43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Cache Miss Analysis</a:t>
            </a:r>
            <a:endParaRPr/>
          </a:p>
        </p:txBody>
      </p:sp>
      <p:sp>
        <p:nvSpPr>
          <p:cNvPr id="1169" name="Google Shape;1169;p43"/>
          <p:cNvSpPr txBox="1"/>
          <p:nvPr>
            <p:ph idx="1" type="body"/>
          </p:nvPr>
        </p:nvSpPr>
        <p:spPr>
          <a:xfrm>
            <a:off x="396875" y="1209675"/>
            <a:ext cx="7896225" cy="534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Assume: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Cache block = 8 doubles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Cache size C &lt;&lt; n (much smaller than 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Three blocks       fit into cache: 3B</a:t>
            </a:r>
            <a:r>
              <a:rPr baseline="30000" lang="en-US"/>
              <a:t>2</a:t>
            </a:r>
            <a:r>
              <a:rPr lang="en-US"/>
              <a:t> &lt; C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Second (block) iteration: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Same as first iteration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2n/B * B</a:t>
            </a:r>
            <a:r>
              <a:rPr baseline="30000" lang="en-US"/>
              <a:t>2</a:t>
            </a:r>
            <a:r>
              <a:rPr lang="en-US"/>
              <a:t>/8 = nB/4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Total misses: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nB/4 * (n/B)</a:t>
            </a:r>
            <a:r>
              <a:rPr baseline="30000" lang="en-US"/>
              <a:t>2</a:t>
            </a:r>
            <a:r>
              <a:rPr lang="en-US"/>
              <a:t> = n</a:t>
            </a:r>
            <a:r>
              <a:rPr baseline="30000" lang="en-US"/>
              <a:t>3</a:t>
            </a:r>
            <a:r>
              <a:rPr lang="en-US"/>
              <a:t>/(4B)</a:t>
            </a:r>
            <a:endParaRPr/>
          </a:p>
        </p:txBody>
      </p:sp>
      <p:sp>
        <p:nvSpPr>
          <p:cNvPr id="1170" name="Google Shape;1170;p43"/>
          <p:cNvSpPr/>
          <p:nvPr/>
        </p:nvSpPr>
        <p:spPr>
          <a:xfrm>
            <a:off x="5899933" y="37338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1" name="Google Shape;1171;p43"/>
          <p:cNvSpPr/>
          <p:nvPr/>
        </p:nvSpPr>
        <p:spPr>
          <a:xfrm>
            <a:off x="7500133" y="37338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2" name="Google Shape;1172;p43"/>
          <p:cNvSpPr txBox="1"/>
          <p:nvPr/>
        </p:nvSpPr>
        <p:spPr>
          <a:xfrm>
            <a:off x="7085265" y="4148092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43"/>
          <p:cNvSpPr/>
          <p:nvPr/>
        </p:nvSpPr>
        <p:spPr>
          <a:xfrm>
            <a:off x="4114800" y="3733800"/>
            <a:ext cx="1143000" cy="114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4" name="Google Shape;1174;p43"/>
          <p:cNvSpPr txBox="1"/>
          <p:nvPr/>
        </p:nvSpPr>
        <p:spPr>
          <a:xfrm>
            <a:off x="5381050" y="4038600"/>
            <a:ext cx="389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43"/>
          <p:cNvSpPr/>
          <p:nvPr/>
        </p:nvSpPr>
        <p:spPr>
          <a:xfrm>
            <a:off x="4114800" y="3733800"/>
            <a:ext cx="186268" cy="18626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43"/>
          <p:cNvSpPr/>
          <p:nvPr/>
        </p:nvSpPr>
        <p:spPr>
          <a:xfrm>
            <a:off x="5899933" y="3740560"/>
            <a:ext cx="1143000" cy="2286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43"/>
          <p:cNvSpPr/>
          <p:nvPr/>
        </p:nvSpPr>
        <p:spPr>
          <a:xfrm rot="5400000">
            <a:off x="7264401" y="4191000"/>
            <a:ext cx="1143000" cy="2286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8" name="Google Shape;1178;p43"/>
          <p:cNvCxnSpPr/>
          <p:nvPr/>
        </p:nvCxnSpPr>
        <p:spPr>
          <a:xfrm rot="5400000">
            <a:off x="6463510" y="3845599"/>
            <a:ext cx="2286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9" name="Google Shape;1179;p43"/>
          <p:cNvCxnSpPr/>
          <p:nvPr/>
        </p:nvCxnSpPr>
        <p:spPr>
          <a:xfrm rot="5400000">
            <a:off x="6700577" y="3845599"/>
            <a:ext cx="2286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0" name="Google Shape;1180;p43"/>
          <p:cNvCxnSpPr/>
          <p:nvPr/>
        </p:nvCxnSpPr>
        <p:spPr>
          <a:xfrm rot="5400000">
            <a:off x="5999431" y="3845599"/>
            <a:ext cx="2286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1" name="Google Shape;1181;p43"/>
          <p:cNvCxnSpPr/>
          <p:nvPr/>
        </p:nvCxnSpPr>
        <p:spPr>
          <a:xfrm rot="5400000">
            <a:off x="6228031" y="3845599"/>
            <a:ext cx="228600" cy="1588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82" name="Google Shape;1182;p43"/>
          <p:cNvGrpSpPr/>
          <p:nvPr/>
        </p:nvGrpSpPr>
        <p:grpSpPr>
          <a:xfrm rot="5400000">
            <a:off x="7476067" y="4199467"/>
            <a:ext cx="702734" cy="228600"/>
            <a:chOff x="2650069" y="6316133"/>
            <a:chExt cx="702734" cy="228600"/>
          </a:xfrm>
        </p:grpSpPr>
        <p:cxnSp>
          <p:nvCxnSpPr>
            <p:cNvPr id="1183" name="Google Shape;1183;p43"/>
            <p:cNvCxnSpPr/>
            <p:nvPr/>
          </p:nvCxnSpPr>
          <p:spPr>
            <a:xfrm rot="5400000">
              <a:off x="3000642" y="6429639"/>
              <a:ext cx="228600" cy="1588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4" name="Google Shape;1184;p43"/>
            <p:cNvCxnSpPr/>
            <p:nvPr/>
          </p:nvCxnSpPr>
          <p:spPr>
            <a:xfrm rot="5400000">
              <a:off x="3237709" y="6429639"/>
              <a:ext cx="228600" cy="1588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5" name="Google Shape;1185;p43"/>
            <p:cNvCxnSpPr/>
            <p:nvPr/>
          </p:nvCxnSpPr>
          <p:spPr>
            <a:xfrm rot="5400000">
              <a:off x="2536563" y="6429639"/>
              <a:ext cx="228600" cy="1588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6" name="Google Shape;1186;p43"/>
            <p:cNvCxnSpPr/>
            <p:nvPr/>
          </p:nvCxnSpPr>
          <p:spPr>
            <a:xfrm rot="5400000">
              <a:off x="2765163" y="6429639"/>
              <a:ext cx="228600" cy="1588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87" name="Google Shape;1187;p43"/>
          <p:cNvSpPr txBox="1"/>
          <p:nvPr/>
        </p:nvSpPr>
        <p:spPr>
          <a:xfrm>
            <a:off x="7016583" y="5252534"/>
            <a:ext cx="16278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Block size B x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8" name="Google Shape;1188;p43"/>
          <p:cNvCxnSpPr>
            <a:stCxn id="1187" idx="0"/>
          </p:cNvCxnSpPr>
          <p:nvPr/>
        </p:nvCxnSpPr>
        <p:spPr>
          <a:xfrm rot="10800000">
            <a:off x="7827524" y="4871534"/>
            <a:ext cx="3000" cy="381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89" name="Google Shape;1189;p43"/>
          <p:cNvSpPr/>
          <p:nvPr/>
        </p:nvSpPr>
        <p:spPr>
          <a:xfrm>
            <a:off x="2650066" y="2480732"/>
            <a:ext cx="186268" cy="18626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43"/>
          <p:cNvSpPr/>
          <p:nvPr/>
        </p:nvSpPr>
        <p:spPr>
          <a:xfrm flipH="1" rot="-5400000">
            <a:off x="7941734" y="2960132"/>
            <a:ext cx="228600" cy="1143000"/>
          </a:xfrm>
          <a:prstGeom prst="leftBrace">
            <a:avLst>
              <a:gd fmla="val 75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43"/>
          <p:cNvSpPr txBox="1"/>
          <p:nvPr/>
        </p:nvSpPr>
        <p:spPr>
          <a:xfrm>
            <a:off x="7823199" y="3048000"/>
            <a:ext cx="11894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n/B blocks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44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Blocking Summary</a:t>
            </a:r>
            <a:endParaRPr/>
          </a:p>
        </p:txBody>
      </p:sp>
      <p:sp>
        <p:nvSpPr>
          <p:cNvPr id="1197" name="Google Shape;1197;p44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No blocking: (9/8) * n</a:t>
            </a:r>
            <a:r>
              <a:rPr baseline="30000" lang="en-US"/>
              <a:t>3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Blocking: 1/(4B) * n</a:t>
            </a:r>
            <a:r>
              <a:rPr baseline="30000" lang="en-US"/>
              <a:t>3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Suggest largest possible block size B, but limit 3B</a:t>
            </a:r>
            <a:r>
              <a:rPr baseline="30000" lang="en-US"/>
              <a:t>2</a:t>
            </a:r>
            <a:r>
              <a:rPr lang="en-US"/>
              <a:t> &lt; C!</a:t>
            </a:r>
            <a:endParaRPr b="0" sz="2000"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Reason for dramatic difference: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Matrix multiplication has inherent temporal locality: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Input data: 3n</a:t>
            </a:r>
            <a:r>
              <a:rPr baseline="30000" lang="en-US"/>
              <a:t>2</a:t>
            </a:r>
            <a:r>
              <a:rPr lang="en-US"/>
              <a:t>, computation 2n</a:t>
            </a:r>
            <a:r>
              <a:rPr baseline="30000" lang="en-US"/>
              <a:t>3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Every array elements used O(n) times!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But program has to be written properly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45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Cache Summary	</a:t>
            </a:r>
            <a:endParaRPr/>
          </a:p>
        </p:txBody>
      </p:sp>
      <p:sp>
        <p:nvSpPr>
          <p:cNvPr id="1203" name="Google Shape;1203;p45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Cache memories can have significant performance impact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You can write your programs to exploit this!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Focus on the inner loops, where bulk of computations and memory accesses occur.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Try to maximize spatial locality by reading data objects with sequentially with stride 1.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Try to maximize temporal locality by using a data object as often as possible once it’s read from memory.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2012-10-02T17:26:51Z</dcterms:created>
  <dc:creator>Markus Pueschel</dc:creator>
</cp:coreProperties>
</file>